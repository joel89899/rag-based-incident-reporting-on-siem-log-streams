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214" d="100"/>
          <a:sy n="214" d="100"/>
        </p:scale>
        <p:origin x="918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5760085" cy="376555"/>
          </a:xfrm>
          <a:custGeom>
            <a:avLst/>
            <a:gdLst/>
            <a:ahLst/>
            <a:cxnLst/>
            <a:rect l="l" t="t" r="r" b="b"/>
            <a:pathLst>
              <a:path w="5760085" h="376555">
                <a:moveTo>
                  <a:pt x="5759996" y="0"/>
                </a:moveTo>
                <a:lnTo>
                  <a:pt x="0" y="0"/>
                </a:lnTo>
                <a:lnTo>
                  <a:pt x="0" y="376339"/>
                </a:lnTo>
                <a:lnTo>
                  <a:pt x="5759996" y="376339"/>
                </a:lnTo>
                <a:lnTo>
                  <a:pt x="5759996" y="0"/>
                </a:lnTo>
                <a:close/>
              </a:path>
            </a:pathLst>
          </a:custGeom>
          <a:solidFill>
            <a:srgbClr val="1F4D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770" y="76349"/>
            <a:ext cx="2785745" cy="207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7294" y="619389"/>
            <a:ext cx="5071211" cy="15487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307723" y="3024750"/>
            <a:ext cx="330200" cy="1504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doi.org/10.18653/v1/2023.emnlp-main.674" TargetMode="External"/><Relationship Id="rId7" Type="http://schemas.openxmlformats.org/officeDocument/2006/relationships/image" Target="../media/image5.png"/><Relationship Id="rId2" Type="http://schemas.openxmlformats.org/officeDocument/2006/relationships/hyperlink" Target="https://doi.org/10.18653/v1/2023.acl-long.99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https://www.mitre.org/sites/default/files/publications/pr-18-0944-11-mitre-attack-design-and-philosophy.pdf" TargetMode="External"/><Relationship Id="rId4" Type="http://schemas.openxmlformats.org/officeDocument/2006/relationships/hyperlink" Target="https://doi.org/10.18653/v1/D19-1410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doi.org/10.1109/ICAIC67076.2026.11395762" TargetMode="External"/><Relationship Id="rId7" Type="http://schemas.openxmlformats.org/officeDocument/2006/relationships/image" Target="../media/image4.png"/><Relationship Id="rId2" Type="http://schemas.openxmlformats.org/officeDocument/2006/relationships/hyperlink" Target="https://doi.org/10.1016/j.future.2025.108186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109/TIFS.2025.3618381" TargetMode="External"/><Relationship Id="rId5" Type="http://schemas.openxmlformats.org/officeDocument/2006/relationships/hyperlink" Target="https://doi.org/10.3390/s25030870" TargetMode="External"/><Relationship Id="rId4" Type="http://schemas.openxmlformats.org/officeDocument/2006/relationships/hyperlink" Target="https://ieeexplore.ieee.org/document/11395762" TargetMode="External"/><Relationship Id="rId9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10254" y="2535539"/>
            <a:ext cx="535306" cy="41393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425556" y="2535544"/>
            <a:ext cx="413928" cy="4139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19471" y="2535472"/>
            <a:ext cx="414000" cy="414000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347294" y="505406"/>
            <a:ext cx="45154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22373A"/>
                </a:solidFill>
              </a:rPr>
              <a:t>From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Fragmented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Alerts</a:t>
            </a:r>
            <a:r>
              <a:rPr sz="1400" spc="190" dirty="0">
                <a:solidFill>
                  <a:srgbClr val="22373A"/>
                </a:solidFill>
              </a:rPr>
              <a:t> </a:t>
            </a:r>
            <a:r>
              <a:rPr sz="1400" spc="50" dirty="0">
                <a:solidFill>
                  <a:srgbClr val="22373A"/>
                </a:solidFill>
              </a:rPr>
              <a:t>to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Actionable</a:t>
            </a:r>
            <a:r>
              <a:rPr sz="1400" spc="190" dirty="0">
                <a:solidFill>
                  <a:srgbClr val="22373A"/>
                </a:solidFill>
              </a:rPr>
              <a:t> </a:t>
            </a:r>
            <a:r>
              <a:rPr sz="1400" spc="-10" dirty="0">
                <a:solidFill>
                  <a:srgbClr val="22373A"/>
                </a:solidFill>
              </a:rPr>
              <a:t>Intelligence:</a:t>
            </a:r>
            <a:endParaRPr sz="1400"/>
          </a:p>
        </p:txBody>
      </p:sp>
      <p:sp>
        <p:nvSpPr>
          <p:cNvPr id="7" name="object 7"/>
          <p:cNvSpPr txBox="1"/>
          <p:nvPr/>
        </p:nvSpPr>
        <p:spPr>
          <a:xfrm>
            <a:off x="347294" y="844128"/>
            <a:ext cx="46869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65" dirty="0">
                <a:solidFill>
                  <a:srgbClr val="22373A"/>
                </a:solidFill>
                <a:latin typeface="Arial MT"/>
                <a:cs typeface="Arial MT"/>
              </a:rPr>
              <a:t>Behaviour-Anchored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4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2373A"/>
                </a:solidFill>
                <a:latin typeface="Arial MT"/>
                <a:cs typeface="Arial MT"/>
              </a:rPr>
              <a:t>for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35" dirty="0">
                <a:solidFill>
                  <a:srgbClr val="22373A"/>
                </a:solidFill>
                <a:latin typeface="Arial MT"/>
                <a:cs typeface="Arial MT"/>
              </a:rPr>
              <a:t>Incident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45" dirty="0">
                <a:solidFill>
                  <a:srgbClr val="22373A"/>
                </a:solidFill>
                <a:latin typeface="Arial MT"/>
                <a:cs typeface="Arial MT"/>
              </a:rPr>
              <a:t>Reporting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50" dirty="0">
                <a:solidFill>
                  <a:srgbClr val="22373A"/>
                </a:solidFill>
                <a:latin typeface="Arial MT"/>
                <a:cs typeface="Arial MT"/>
              </a:rPr>
              <a:t>SIEM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30" dirty="0">
                <a:solidFill>
                  <a:srgbClr val="22373A"/>
                </a:solidFill>
                <a:latin typeface="Arial MT"/>
                <a:cs typeface="Arial MT"/>
              </a:rPr>
              <a:t>Log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50" dirty="0">
                <a:solidFill>
                  <a:srgbClr val="22373A"/>
                </a:solidFill>
                <a:latin typeface="Arial MT"/>
                <a:cs typeface="Arial MT"/>
              </a:rPr>
              <a:t>Streams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1275797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2D7DB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1546434"/>
            <a:ext cx="3898900" cy="1099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118870">
              <a:lnSpc>
                <a:spcPct val="114599"/>
              </a:lnSpc>
              <a:spcBef>
                <a:spcPts val="100"/>
              </a:spcBef>
              <a:tabLst>
                <a:tab pos="1297940" algn="l"/>
                <a:tab pos="1544320" algn="l"/>
              </a:tabLst>
            </a:pPr>
            <a:r>
              <a:rPr sz="1000" b="1" spc="-10" dirty="0">
                <a:solidFill>
                  <a:srgbClr val="22373A"/>
                </a:solidFill>
                <a:latin typeface="Arial"/>
                <a:cs typeface="Arial"/>
              </a:rPr>
              <a:t>Joel </a:t>
            </a:r>
            <a:r>
              <a:rPr sz="1000" b="1" spc="-25" dirty="0">
                <a:solidFill>
                  <a:srgbClr val="22373A"/>
                </a:solidFill>
                <a:latin typeface="Arial"/>
                <a:cs typeface="Arial"/>
              </a:rPr>
              <a:t>Isaria</a:t>
            </a:r>
            <a:r>
              <a:rPr sz="1000" b="1" spc="-10" dirty="0">
                <a:solidFill>
                  <a:srgbClr val="22373A"/>
                </a:solidFill>
                <a:latin typeface="Arial"/>
                <a:cs typeface="Arial"/>
              </a:rPr>
              <a:t> Mwende</a:t>
            </a:r>
            <a:r>
              <a:rPr sz="1000" b="1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Prof. Dr.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Reiner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Creutzburg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Navaneeth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Shivananjappa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	Prof. Dr.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Tuğçe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Ballı</a:t>
            </a:r>
            <a:endParaRPr sz="100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1085"/>
              </a:spcBef>
            </a:pPr>
            <a:r>
              <a:rPr sz="900" spc="-25" dirty="0">
                <a:solidFill>
                  <a:srgbClr val="22373A"/>
                </a:solidFill>
                <a:latin typeface="Arial MT"/>
                <a:cs typeface="Arial MT"/>
              </a:rPr>
              <a:t>SRH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Berlin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University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of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Applied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Sciences</a:t>
            </a:r>
            <a:r>
              <a:rPr sz="900" spc="125" dirty="0">
                <a:solidFill>
                  <a:srgbClr val="22373A"/>
                </a:solidFill>
                <a:latin typeface="Arial MT"/>
                <a:cs typeface="Arial MT"/>
              </a:rPr>
              <a:t>  </a:t>
            </a:r>
            <a:r>
              <a:rPr sz="900" i="1" dirty="0">
                <a:solidFill>
                  <a:srgbClr val="22373A"/>
                </a:solidFill>
                <a:latin typeface="Georgia"/>
                <a:cs typeface="Georgia"/>
              </a:rPr>
              <a:t>·</a:t>
            </a:r>
            <a:r>
              <a:rPr sz="900" i="1" spc="155" dirty="0">
                <a:solidFill>
                  <a:srgbClr val="22373A"/>
                </a:solidFill>
                <a:latin typeface="Georgia"/>
                <a:cs typeface="Georgia"/>
              </a:rPr>
              <a:t> 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Kadir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Has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University</a:t>
            </a:r>
            <a:endParaRPr sz="90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  <a:spcBef>
                <a:spcPts val="285"/>
              </a:spcBef>
            </a:pP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IACyC</a:t>
            </a:r>
            <a:r>
              <a:rPr sz="900" spc="-1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6C6C6C"/>
                </a:solidFill>
                <a:latin typeface="Arial MT"/>
                <a:cs typeface="Arial MT"/>
              </a:rPr>
              <a:t>2026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–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2nd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CyberMACS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International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Applied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Cybersecurity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Conference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Kadir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Has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University,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Istanbul,</a:t>
            </a:r>
            <a:endParaRPr sz="9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900" spc="-45" dirty="0">
                <a:solidFill>
                  <a:srgbClr val="6C6C6C"/>
                </a:solidFill>
                <a:latin typeface="Arial MT"/>
                <a:cs typeface="Arial MT"/>
              </a:rPr>
              <a:t>17–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20 </a:t>
            </a:r>
            <a:r>
              <a:rPr sz="900" spc="-35" dirty="0">
                <a:solidFill>
                  <a:srgbClr val="6C6C6C"/>
                </a:solidFill>
                <a:latin typeface="Arial MT"/>
                <a:cs typeface="Arial MT"/>
              </a:rPr>
              <a:t>September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2026</a:t>
            </a:r>
            <a:endParaRPr sz="900">
              <a:latin typeface="Arial MT"/>
              <a:cs typeface="Arial MT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35" dirty="0"/>
              <a:t>problem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60045" cy="5080"/>
            </a:xfrm>
            <a:custGeom>
              <a:avLst/>
              <a:gdLst/>
              <a:ahLst/>
              <a:cxnLst/>
              <a:rect l="l" t="t" r="r" b="b"/>
              <a:pathLst>
                <a:path w="360045" h="5079">
                  <a:moveTo>
                    <a:pt x="0" y="5060"/>
                  </a:moveTo>
                  <a:lnTo>
                    <a:pt x="0" y="0"/>
                  </a:lnTo>
                  <a:lnTo>
                    <a:pt x="360004" y="0"/>
                  </a:lnTo>
                  <a:lnTo>
                    <a:pt x="36000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795954"/>
            <a:ext cx="4801235" cy="12109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A </a:t>
            </a:r>
            <a:r>
              <a:rPr sz="900" spc="-20" dirty="0">
                <a:solidFill>
                  <a:srgbClr val="22373A"/>
                </a:solidFill>
                <a:latin typeface="Arial MT"/>
                <a:cs typeface="Arial MT"/>
              </a:rPr>
              <a:t>security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 MT"/>
                <a:cs typeface="Arial MT"/>
              </a:rPr>
              <a:t>operations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 MT"/>
                <a:cs typeface="Arial MT"/>
              </a:rPr>
              <a:t>centre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 MT"/>
                <a:cs typeface="Arial MT"/>
              </a:rPr>
              <a:t>receives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 MT"/>
                <a:cs typeface="Arial MT"/>
              </a:rPr>
              <a:t>more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alerts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 MT"/>
                <a:cs typeface="Arial MT"/>
              </a:rPr>
              <a:t>each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 MT"/>
                <a:cs typeface="Arial MT"/>
              </a:rPr>
              <a:t>day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than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its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analysts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 MT"/>
                <a:cs typeface="Arial MT"/>
              </a:rPr>
              <a:t>can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read:</a:t>
            </a:r>
            <a:endParaRPr sz="9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900"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buClr>
                <a:srgbClr val="22373A"/>
              </a:buClr>
              <a:buChar char="•"/>
              <a:tabLst>
                <a:tab pos="288925" algn="l"/>
              </a:tabLst>
            </a:pPr>
            <a:r>
              <a:rPr sz="900" dirty="0">
                <a:solidFill>
                  <a:srgbClr val="2D7DB8"/>
                </a:solidFill>
                <a:latin typeface="Arial MT"/>
                <a:cs typeface="Arial MT"/>
              </a:rPr>
              <a:t>10,000+</a:t>
            </a:r>
            <a:r>
              <a:rPr sz="900" spc="-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D7DB8"/>
                </a:solidFill>
                <a:latin typeface="Arial MT"/>
                <a:cs typeface="Arial MT"/>
              </a:rPr>
              <a:t>alerts</a:t>
            </a:r>
            <a:r>
              <a:rPr sz="900" spc="-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D7DB8"/>
                </a:solidFill>
                <a:latin typeface="Arial MT"/>
                <a:cs typeface="Arial MT"/>
              </a:rPr>
              <a:t>per</a:t>
            </a:r>
            <a:r>
              <a:rPr sz="900" spc="-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2D7DB8"/>
                </a:solidFill>
                <a:latin typeface="Arial MT"/>
                <a:cs typeface="Arial MT"/>
              </a:rPr>
              <a:t>day</a:t>
            </a:r>
            <a:r>
              <a:rPr sz="900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is</a:t>
            </a:r>
            <a:r>
              <a:rPr sz="9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routine,</a:t>
            </a:r>
            <a:r>
              <a:rPr sz="9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up</a:t>
            </a:r>
            <a:r>
              <a:rPr sz="9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to </a:t>
            </a:r>
            <a:r>
              <a:rPr sz="900" spc="-10" dirty="0">
                <a:solidFill>
                  <a:srgbClr val="2D7DB8"/>
                </a:solidFill>
                <a:latin typeface="Arial MT"/>
                <a:cs typeface="Arial MT"/>
              </a:rPr>
              <a:t>70%</a:t>
            </a:r>
            <a:r>
              <a:rPr sz="900" spc="-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false</a:t>
            </a:r>
            <a:r>
              <a:rPr sz="9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positives</a:t>
            </a:r>
            <a:endParaRPr sz="900"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spcBef>
                <a:spcPts val="515"/>
              </a:spcBef>
              <a:buChar char="•"/>
              <a:tabLst>
                <a:tab pos="288925" algn="l"/>
              </a:tabLst>
            </a:pP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Most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tools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classify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 MT"/>
                <a:cs typeface="Arial MT"/>
              </a:rPr>
              <a:t>each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alert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alone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 MT"/>
                <a:cs typeface="Arial MT"/>
              </a:rPr>
              <a:t>lose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thread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that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 MT"/>
                <a:cs typeface="Arial MT"/>
              </a:rPr>
              <a:t>makes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report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actionable</a:t>
            </a:r>
            <a:endParaRPr sz="900">
              <a:latin typeface="Arial MT"/>
              <a:cs typeface="Arial MT"/>
            </a:endParaRPr>
          </a:p>
          <a:p>
            <a:pPr marL="288290" marR="5080" indent="-127000">
              <a:lnSpc>
                <a:spcPct val="116700"/>
              </a:lnSpc>
              <a:spcBef>
                <a:spcPts val="340"/>
              </a:spcBef>
              <a:buChar char="•"/>
              <a:tabLst>
                <a:tab pos="289560" algn="l"/>
              </a:tabLst>
            </a:pP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Report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quality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 MT"/>
                <a:cs typeface="Arial MT"/>
              </a:rPr>
              <a:t>judged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by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text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similarity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or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expert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opinion,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not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against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authoritative</a:t>
            </a:r>
            <a:r>
              <a:rPr sz="9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threat 	knowledge</a:t>
            </a:r>
            <a:endParaRPr sz="900"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spcBef>
                <a:spcPts val="515"/>
              </a:spcBef>
              <a:buChar char="•"/>
              <a:tabLst>
                <a:tab pos="288925" algn="l"/>
              </a:tabLst>
            </a:pPr>
            <a:r>
              <a:rPr sz="900" spc="-20" dirty="0">
                <a:solidFill>
                  <a:srgbClr val="22373A"/>
                </a:solidFill>
                <a:latin typeface="Arial MT"/>
                <a:cs typeface="Arial MT"/>
              </a:rPr>
              <a:t>Cloud-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API tools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are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a </a:t>
            </a:r>
            <a:r>
              <a:rPr sz="900" spc="-40" dirty="0">
                <a:solidFill>
                  <a:srgbClr val="22373A"/>
                </a:solidFill>
                <a:latin typeface="Arial MT"/>
                <a:cs typeface="Arial MT"/>
              </a:rPr>
              <a:t>non-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starter for </a:t>
            </a:r>
            <a:r>
              <a:rPr sz="900" spc="-35" dirty="0">
                <a:solidFill>
                  <a:srgbClr val="22373A"/>
                </a:solidFill>
                <a:latin typeface="Arial MT"/>
                <a:cs typeface="Arial MT"/>
              </a:rPr>
              <a:t>defence,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healthcare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critical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infrastructure</a:t>
            </a:r>
            <a:endParaRPr sz="9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2294191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437744"/>
            <a:ext cx="26739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This</a:t>
            </a:r>
            <a:r>
              <a:rPr sz="1000" spc="-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paper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85" dirty="0">
                <a:solidFill>
                  <a:srgbClr val="22373A"/>
                </a:solidFill>
                <a:latin typeface="Microsoft Sans Serif"/>
                <a:cs typeface="Microsoft Sans Serif"/>
              </a:rPr>
              <a:t>addresses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all four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in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local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pipeline.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7385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10" dirty="0"/>
              <a:t>claim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720090" cy="5080"/>
            </a:xfrm>
            <a:custGeom>
              <a:avLst/>
              <a:gdLst/>
              <a:ahLst/>
              <a:cxnLst/>
              <a:rect l="l" t="t" r="r" b="b"/>
              <a:pathLst>
                <a:path w="720090" h="5079">
                  <a:moveTo>
                    <a:pt x="0" y="5060"/>
                  </a:moveTo>
                  <a:lnTo>
                    <a:pt x="0" y="0"/>
                  </a:lnTo>
                  <a:lnTo>
                    <a:pt x="720009" y="0"/>
                  </a:lnTo>
                  <a:lnTo>
                    <a:pt x="7200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04762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pc="-60" dirty="0"/>
              <a:t>Retrieval-augmented</a:t>
            </a:r>
            <a:r>
              <a:rPr spc="5" dirty="0"/>
              <a:t> </a:t>
            </a:r>
            <a:r>
              <a:rPr spc="-55" dirty="0"/>
              <a:t>generation</a:t>
            </a:r>
            <a:r>
              <a:rPr spc="5" dirty="0"/>
              <a:t> </a:t>
            </a:r>
            <a:r>
              <a:rPr spc="-55" dirty="0"/>
              <a:t>over</a:t>
            </a:r>
            <a:r>
              <a:rPr spc="5" dirty="0"/>
              <a:t> </a:t>
            </a:r>
            <a:r>
              <a:rPr dirty="0"/>
              <a:t>a</a:t>
            </a:r>
            <a:r>
              <a:rPr spc="10" dirty="0"/>
              <a:t> </a:t>
            </a:r>
            <a:r>
              <a:rPr spc="-60" dirty="0"/>
              <a:t>technique</a:t>
            </a:r>
            <a:r>
              <a:rPr spc="5" dirty="0"/>
              <a:t> </a:t>
            </a:r>
            <a:r>
              <a:rPr spc="-60" dirty="0"/>
              <a:t>catalogue</a:t>
            </a:r>
            <a:r>
              <a:rPr spc="5" dirty="0"/>
              <a:t> </a:t>
            </a:r>
            <a:r>
              <a:rPr spc="-20" dirty="0"/>
              <a:t>is</a:t>
            </a:r>
            <a:r>
              <a:rPr spc="10" dirty="0"/>
              <a:t> </a:t>
            </a:r>
            <a:r>
              <a:rPr spc="-50" dirty="0"/>
              <a:t>an</a:t>
            </a:r>
            <a:r>
              <a:rPr spc="5" dirty="0"/>
              <a:t> </a:t>
            </a:r>
            <a:r>
              <a:rPr spc="-65" dirty="0"/>
              <a:t>open-</a:t>
            </a:r>
            <a:r>
              <a:rPr spc="-55" dirty="0"/>
              <a:t>domain</a:t>
            </a:r>
            <a:r>
              <a:rPr spc="5" dirty="0"/>
              <a:t> </a:t>
            </a:r>
            <a:r>
              <a:rPr spc="-10" dirty="0"/>
              <a:t>similarity </a:t>
            </a:r>
            <a:r>
              <a:rPr spc="-60" dirty="0"/>
              <a:t>search:</a:t>
            </a:r>
            <a:r>
              <a:rPr spc="70" dirty="0"/>
              <a:t> </a:t>
            </a:r>
            <a:r>
              <a:rPr dirty="0"/>
              <a:t>a</a:t>
            </a:r>
            <a:r>
              <a:rPr spc="-15" dirty="0"/>
              <a:t> </a:t>
            </a:r>
            <a:r>
              <a:rPr spc="-25" dirty="0"/>
              <a:t>short</a:t>
            </a:r>
            <a:r>
              <a:rPr spc="-15" dirty="0"/>
              <a:t> </a:t>
            </a:r>
            <a:r>
              <a:rPr spc="-45" dirty="0"/>
              <a:t>query</a:t>
            </a:r>
            <a:r>
              <a:rPr spc="-20" dirty="0"/>
              <a:t> </a:t>
            </a:r>
            <a:r>
              <a:rPr spc="-45" dirty="0"/>
              <a:t>against</a:t>
            </a:r>
            <a:r>
              <a:rPr spc="-15" dirty="0"/>
              <a:t> </a:t>
            </a:r>
            <a:r>
              <a:rPr spc="-55" dirty="0">
                <a:solidFill>
                  <a:srgbClr val="2D7DB8"/>
                </a:solidFill>
              </a:rPr>
              <a:t>691</a:t>
            </a:r>
            <a:r>
              <a:rPr spc="-15" dirty="0">
                <a:solidFill>
                  <a:srgbClr val="2D7DB8"/>
                </a:solidFill>
              </a:rPr>
              <a:t> </a:t>
            </a:r>
            <a:r>
              <a:rPr dirty="0">
                <a:solidFill>
                  <a:srgbClr val="2D7DB8"/>
                </a:solidFill>
              </a:rPr>
              <a:t>ATT&amp;CK</a:t>
            </a:r>
            <a:r>
              <a:rPr spc="-20" dirty="0">
                <a:solidFill>
                  <a:srgbClr val="2D7DB8"/>
                </a:solidFill>
              </a:rPr>
              <a:t> </a:t>
            </a:r>
            <a:r>
              <a:rPr spc="-50" dirty="0">
                <a:solidFill>
                  <a:srgbClr val="2D7DB8"/>
                </a:solidFill>
              </a:rPr>
              <a:t>technique</a:t>
            </a:r>
            <a:r>
              <a:rPr spc="-15" dirty="0">
                <a:solidFill>
                  <a:srgbClr val="2D7DB8"/>
                </a:solidFill>
              </a:rPr>
              <a:t> </a:t>
            </a:r>
            <a:r>
              <a:rPr spc="-50" dirty="0">
                <a:solidFill>
                  <a:srgbClr val="2D7DB8"/>
                </a:solidFill>
              </a:rPr>
              <a:t>descriptions</a:t>
            </a:r>
            <a:r>
              <a:rPr spc="-50" dirty="0"/>
              <a:t>,</a:t>
            </a:r>
            <a:r>
              <a:rPr spc="-20" dirty="0"/>
              <a:t> </a:t>
            </a:r>
            <a:r>
              <a:rPr dirty="0"/>
              <a:t>with</a:t>
            </a:r>
            <a:r>
              <a:rPr spc="-15" dirty="0"/>
              <a:t> </a:t>
            </a:r>
            <a:r>
              <a:rPr spc="-10" dirty="0"/>
              <a:t>no</a:t>
            </a:r>
            <a:r>
              <a:rPr spc="-15" dirty="0"/>
              <a:t> </a:t>
            </a:r>
            <a:r>
              <a:rPr spc="-20" dirty="0"/>
              <a:t>notion </a:t>
            </a:r>
            <a:r>
              <a:rPr spc="-25" dirty="0"/>
              <a:t>of </a:t>
            </a:r>
            <a:r>
              <a:rPr spc="-40" dirty="0"/>
              <a:t>which</a:t>
            </a:r>
            <a:r>
              <a:rPr spc="-25" dirty="0"/>
              <a:t> </a:t>
            </a:r>
            <a:r>
              <a:rPr spc="-60" dirty="0"/>
              <a:t>techniques</a:t>
            </a:r>
            <a:r>
              <a:rPr spc="-5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85" dirty="0"/>
              <a:t>observed</a:t>
            </a:r>
            <a:r>
              <a:rPr spc="10" dirty="0"/>
              <a:t> </a:t>
            </a:r>
            <a:r>
              <a:rPr spc="-75" dirty="0"/>
              <a:t>evidence</a:t>
            </a:r>
            <a:r>
              <a:rPr dirty="0"/>
              <a:t> </a:t>
            </a:r>
            <a:r>
              <a:rPr spc="-40" dirty="0"/>
              <a:t>could</a:t>
            </a:r>
            <a:r>
              <a:rPr spc="-5" dirty="0"/>
              <a:t> </a:t>
            </a:r>
            <a:r>
              <a:rPr spc="-40" dirty="0"/>
              <a:t>plausibly</a:t>
            </a:r>
            <a:r>
              <a:rPr spc="-5" dirty="0"/>
              <a:t> </a:t>
            </a:r>
            <a:r>
              <a:rPr spc="-10" dirty="0"/>
              <a:t>support.</a:t>
            </a:r>
          </a:p>
          <a:p>
            <a:pPr marL="12700" marR="275590">
              <a:lnSpc>
                <a:spcPct val="118000"/>
              </a:lnSpc>
              <a:spcBef>
                <a:spcPts val="1195"/>
              </a:spcBef>
            </a:pPr>
            <a:r>
              <a:rPr spc="-65" dirty="0"/>
              <a:t>We</a:t>
            </a:r>
            <a:r>
              <a:rPr dirty="0"/>
              <a:t> </a:t>
            </a:r>
            <a:r>
              <a:rPr spc="-70" dirty="0"/>
              <a:t>replace</a:t>
            </a:r>
            <a:r>
              <a:rPr spc="10" dirty="0"/>
              <a:t> </a:t>
            </a:r>
            <a:r>
              <a:rPr dirty="0"/>
              <a:t>that</a:t>
            </a:r>
            <a:r>
              <a:rPr spc="5" dirty="0"/>
              <a:t> </a:t>
            </a:r>
            <a:r>
              <a:rPr spc="-85" dirty="0"/>
              <a:t>search</a:t>
            </a:r>
            <a:r>
              <a:rPr spc="10" dirty="0"/>
              <a:t> </a:t>
            </a:r>
            <a:r>
              <a:rPr dirty="0"/>
              <a:t>with</a:t>
            </a:r>
            <a:r>
              <a:rPr spc="10" dirty="0"/>
              <a:t> </a:t>
            </a:r>
            <a:r>
              <a:rPr dirty="0"/>
              <a:t>a</a:t>
            </a:r>
            <a:r>
              <a:rPr spc="5" dirty="0"/>
              <a:t> </a:t>
            </a:r>
            <a:r>
              <a:rPr spc="-80" dirty="0">
                <a:solidFill>
                  <a:srgbClr val="2D7DB8"/>
                </a:solidFill>
              </a:rPr>
              <a:t>closed-</a:t>
            </a:r>
            <a:r>
              <a:rPr spc="-45" dirty="0">
                <a:solidFill>
                  <a:srgbClr val="2D7DB8"/>
                </a:solidFill>
              </a:rPr>
              <a:t>set</a:t>
            </a:r>
            <a:r>
              <a:rPr spc="10" dirty="0">
                <a:solidFill>
                  <a:srgbClr val="2D7DB8"/>
                </a:solidFill>
              </a:rPr>
              <a:t> </a:t>
            </a:r>
            <a:r>
              <a:rPr spc="-40" dirty="0">
                <a:solidFill>
                  <a:srgbClr val="2D7DB8"/>
                </a:solidFill>
              </a:rPr>
              <a:t>choice</a:t>
            </a:r>
            <a:r>
              <a:rPr spc="-40" dirty="0"/>
              <a:t>.</a:t>
            </a:r>
            <a:r>
              <a:rPr spc="105" dirty="0"/>
              <a:t> </a:t>
            </a:r>
            <a:r>
              <a:rPr dirty="0"/>
              <a:t>A</a:t>
            </a:r>
            <a:r>
              <a:rPr spc="5" dirty="0"/>
              <a:t> </a:t>
            </a:r>
            <a:r>
              <a:rPr spc="-70" dirty="0"/>
              <a:t>knowledge</a:t>
            </a:r>
            <a:r>
              <a:rPr spc="10" dirty="0"/>
              <a:t> </a:t>
            </a:r>
            <a:r>
              <a:rPr spc="-45" dirty="0"/>
              <a:t>graph</a:t>
            </a:r>
            <a:r>
              <a:rPr spc="5" dirty="0"/>
              <a:t> </a:t>
            </a:r>
            <a:r>
              <a:rPr dirty="0"/>
              <a:t>built</a:t>
            </a:r>
            <a:r>
              <a:rPr spc="10" dirty="0"/>
              <a:t> </a:t>
            </a:r>
            <a:r>
              <a:rPr spc="-20" dirty="0"/>
              <a:t>from </a:t>
            </a:r>
            <a:r>
              <a:rPr spc="-50" dirty="0"/>
              <a:t>behaviour</a:t>
            </a:r>
            <a:r>
              <a:rPr spc="-20" dirty="0"/>
              <a:t> </a:t>
            </a:r>
            <a:r>
              <a:rPr spc="-40" dirty="0"/>
              <a:t>extracted</a:t>
            </a:r>
            <a:r>
              <a:rPr spc="-5" dirty="0"/>
              <a:t> </a:t>
            </a:r>
            <a:r>
              <a:rPr dirty="0"/>
              <a:t>from</a:t>
            </a:r>
            <a:r>
              <a:rPr spc="-10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35" dirty="0"/>
              <a:t>alerts</a:t>
            </a:r>
            <a:r>
              <a:rPr spc="-5" dirty="0"/>
              <a:t> </a:t>
            </a:r>
            <a:r>
              <a:rPr spc="-85" dirty="0"/>
              <a:t>decides</a:t>
            </a:r>
            <a:r>
              <a:rPr spc="10" dirty="0"/>
              <a:t> </a:t>
            </a:r>
            <a:r>
              <a:rPr spc="-40" dirty="0"/>
              <a:t>which</a:t>
            </a:r>
            <a:r>
              <a:rPr spc="-5" dirty="0"/>
              <a:t> </a:t>
            </a:r>
            <a:r>
              <a:rPr spc="-60" dirty="0"/>
              <a:t>techniques</a:t>
            </a:r>
            <a:r>
              <a:rPr spc="-5" dirty="0"/>
              <a:t> </a:t>
            </a:r>
            <a:r>
              <a:rPr spc="-35" dirty="0"/>
              <a:t>retrieval</a:t>
            </a:r>
            <a:r>
              <a:rPr spc="-5" dirty="0"/>
              <a:t> </a:t>
            </a:r>
            <a:r>
              <a:rPr spc="-10" dirty="0"/>
              <a:t>is</a:t>
            </a:r>
            <a:r>
              <a:rPr spc="-5" dirty="0"/>
              <a:t> </a:t>
            </a:r>
            <a:r>
              <a:rPr spc="-70" dirty="0"/>
              <a:t>allowed</a:t>
            </a:r>
            <a:r>
              <a:rPr spc="-5" dirty="0"/>
              <a:t> </a:t>
            </a:r>
            <a:r>
              <a:rPr spc="-25" dirty="0"/>
              <a:t>to </a:t>
            </a:r>
            <a:r>
              <a:rPr spc="-10" dirty="0"/>
              <a:t>return </a:t>
            </a:r>
            <a:r>
              <a:rPr dirty="0"/>
              <a:t>at</a:t>
            </a:r>
            <a:r>
              <a:rPr spc="-5" dirty="0"/>
              <a:t> </a:t>
            </a:r>
            <a:r>
              <a:rPr spc="-20" dirty="0"/>
              <a:t>all.</a:t>
            </a:r>
          </a:p>
        </p:txBody>
      </p:sp>
      <p:sp>
        <p:nvSpPr>
          <p:cNvPr id="8" name="object 8"/>
          <p:cNvSpPr/>
          <p:nvPr/>
        </p:nvSpPr>
        <p:spPr>
          <a:xfrm>
            <a:off x="359994" y="2354033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503784"/>
            <a:ext cx="39846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Tested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by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removing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while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holding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scoring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function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fixed.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2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30" dirty="0"/>
              <a:t>pipeline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080135" cy="5080"/>
            </a:xfrm>
            <a:custGeom>
              <a:avLst/>
              <a:gdLst/>
              <a:ahLst/>
              <a:cxnLst/>
              <a:rect l="l" t="t" r="r" b="b"/>
              <a:pathLst>
                <a:path w="1080135" h="5079">
                  <a:moveTo>
                    <a:pt x="0" y="5060"/>
                  </a:moveTo>
                  <a:lnTo>
                    <a:pt x="0" y="0"/>
                  </a:lnTo>
                  <a:lnTo>
                    <a:pt x="1080013" y="0"/>
                  </a:lnTo>
                  <a:lnTo>
                    <a:pt x="10800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642088" y="734620"/>
            <a:ext cx="1310640" cy="1292860"/>
            <a:chOff x="1642088" y="734620"/>
            <a:chExt cx="1310640" cy="1292860"/>
          </a:xfrm>
        </p:grpSpPr>
        <p:sp>
          <p:nvSpPr>
            <p:cNvPr id="8" name="object 8"/>
            <p:cNvSpPr/>
            <p:nvPr/>
          </p:nvSpPr>
          <p:spPr>
            <a:xfrm>
              <a:off x="1644628" y="737160"/>
              <a:ext cx="1305560" cy="1287780"/>
            </a:xfrm>
            <a:custGeom>
              <a:avLst/>
              <a:gdLst/>
              <a:ahLst/>
              <a:cxnLst/>
              <a:rect l="l" t="t" r="r" b="b"/>
              <a:pathLst>
                <a:path w="1305560" h="1287780">
                  <a:moveTo>
                    <a:pt x="1279687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262152"/>
                  </a:lnTo>
                  <a:lnTo>
                    <a:pt x="1988" y="1272002"/>
                  </a:lnTo>
                  <a:lnTo>
                    <a:pt x="7411" y="1280046"/>
                  </a:lnTo>
                  <a:lnTo>
                    <a:pt x="15455" y="1285469"/>
                  </a:lnTo>
                  <a:lnTo>
                    <a:pt x="25305" y="1287457"/>
                  </a:lnTo>
                  <a:lnTo>
                    <a:pt x="1279687" y="1287457"/>
                  </a:lnTo>
                  <a:lnTo>
                    <a:pt x="1289537" y="1285469"/>
                  </a:lnTo>
                  <a:lnTo>
                    <a:pt x="1297580" y="1280046"/>
                  </a:lnTo>
                  <a:lnTo>
                    <a:pt x="1303003" y="1272002"/>
                  </a:lnTo>
                  <a:lnTo>
                    <a:pt x="1304992" y="1262152"/>
                  </a:lnTo>
                  <a:lnTo>
                    <a:pt x="1304992" y="25305"/>
                  </a:lnTo>
                  <a:lnTo>
                    <a:pt x="1303003" y="15455"/>
                  </a:lnTo>
                  <a:lnTo>
                    <a:pt x="1297580" y="7411"/>
                  </a:lnTo>
                  <a:lnTo>
                    <a:pt x="1289537" y="1988"/>
                  </a:lnTo>
                  <a:lnTo>
                    <a:pt x="1279687" y="0"/>
                  </a:lnTo>
                  <a:close/>
                </a:path>
              </a:pathLst>
            </a:custGeom>
            <a:solidFill>
              <a:srgbClr val="F7F7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44628" y="737160"/>
              <a:ext cx="1305560" cy="1287780"/>
            </a:xfrm>
            <a:custGeom>
              <a:avLst/>
              <a:gdLst/>
              <a:ahLst/>
              <a:cxnLst/>
              <a:rect l="l" t="t" r="r" b="b"/>
              <a:pathLst>
                <a:path w="1305560" h="1287780">
                  <a:moveTo>
                    <a:pt x="1279687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262152"/>
                  </a:lnTo>
                  <a:lnTo>
                    <a:pt x="1988" y="1272002"/>
                  </a:lnTo>
                  <a:lnTo>
                    <a:pt x="7411" y="1280046"/>
                  </a:lnTo>
                  <a:lnTo>
                    <a:pt x="15455" y="1285469"/>
                  </a:lnTo>
                  <a:lnTo>
                    <a:pt x="25305" y="1287457"/>
                  </a:lnTo>
                  <a:lnTo>
                    <a:pt x="1279687" y="1287457"/>
                  </a:lnTo>
                  <a:lnTo>
                    <a:pt x="1289537" y="1285469"/>
                  </a:lnTo>
                  <a:lnTo>
                    <a:pt x="1297580" y="1280046"/>
                  </a:lnTo>
                  <a:lnTo>
                    <a:pt x="1303003" y="1272002"/>
                  </a:lnTo>
                  <a:lnTo>
                    <a:pt x="1304992" y="1262152"/>
                  </a:lnTo>
                  <a:lnTo>
                    <a:pt x="1304992" y="25305"/>
                  </a:lnTo>
                  <a:lnTo>
                    <a:pt x="1303003" y="15455"/>
                  </a:lnTo>
                  <a:lnTo>
                    <a:pt x="1297580" y="7411"/>
                  </a:lnTo>
                  <a:lnTo>
                    <a:pt x="1289537" y="1988"/>
                  </a:lnTo>
                  <a:lnTo>
                    <a:pt x="1279687" y="0"/>
                  </a:lnTo>
                  <a:close/>
                </a:path>
              </a:pathLst>
            </a:custGeom>
            <a:ln w="5060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719160" y="504227"/>
            <a:ext cx="1156335" cy="224790"/>
          </a:xfrm>
          <a:prstGeom prst="rect">
            <a:avLst/>
          </a:prstGeom>
          <a:solidFill>
            <a:srgbClr val="EFEFEF"/>
          </a:solidFill>
          <a:ln w="5060">
            <a:solidFill>
              <a:srgbClr val="22373A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376555">
              <a:lnSpc>
                <a:spcPct val="100000"/>
              </a:lnSpc>
              <a:spcBef>
                <a:spcPts val="254"/>
              </a:spcBef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Raw</a:t>
            </a:r>
            <a:r>
              <a:rPr sz="8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logs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716620" y="809151"/>
            <a:ext cx="1161415" cy="1450975"/>
            <a:chOff x="1716620" y="809151"/>
            <a:chExt cx="1161415" cy="1450975"/>
          </a:xfrm>
        </p:grpSpPr>
        <p:sp>
          <p:nvSpPr>
            <p:cNvPr id="12" name="object 12"/>
            <p:cNvSpPr/>
            <p:nvPr/>
          </p:nvSpPr>
          <p:spPr>
            <a:xfrm>
              <a:off x="1719160" y="811691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6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6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719160" y="811691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6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6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719160" y="1119156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719160" y="1119156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719160" y="1426620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719160" y="1426620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719160" y="1734084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4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4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719160" y="1734084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4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4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719160" y="2041549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719160" y="2041549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722684" y="841932"/>
            <a:ext cx="1149350" cy="1367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3345" indent="-93345" algn="ctr">
              <a:lnSpc>
                <a:spcPct val="100000"/>
              </a:lnSpc>
              <a:spcBef>
                <a:spcPts val="95"/>
              </a:spcBef>
              <a:buFont typeface="Microsoft Tai Le"/>
              <a:buAutoNum type="arabicPlain"/>
              <a:tabLst>
                <a:tab pos="93345" algn="l"/>
              </a:tabLst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Alert</a:t>
            </a:r>
            <a:r>
              <a:rPr sz="800" spc="10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i="1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sz="800" i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text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65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Embedding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615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spcBef>
                <a:spcPts val="5"/>
              </a:spcBef>
              <a:buFont typeface="Microsoft Tai Le"/>
              <a:buAutoNum type="arabicPlain"/>
              <a:tabLst>
                <a:tab pos="93345" algn="l"/>
              </a:tabLst>
            </a:pP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Communities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50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Triples</a:t>
            </a:r>
            <a:r>
              <a:rPr sz="8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(LLM)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50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Knowledge</a:t>
            </a:r>
            <a:r>
              <a:rPr sz="800" spc="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graph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716620" y="2346473"/>
            <a:ext cx="1161415" cy="221615"/>
            <a:chOff x="1716620" y="2346473"/>
            <a:chExt cx="1161415" cy="221615"/>
          </a:xfrm>
        </p:grpSpPr>
        <p:sp>
          <p:nvSpPr>
            <p:cNvPr id="24" name="object 24"/>
            <p:cNvSpPr/>
            <p:nvPr/>
          </p:nvSpPr>
          <p:spPr>
            <a:xfrm>
              <a:off x="1719160" y="2349013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719160" y="2349013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2041182" y="2379242"/>
            <a:ext cx="5124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22373A"/>
                </a:solidFill>
                <a:latin typeface="Microsoft Tai Le"/>
                <a:cs typeface="Microsoft Tai Le"/>
              </a:rPr>
              <a:t>6</a:t>
            </a:r>
            <a:r>
              <a:rPr sz="800" b="1" spc="45" dirty="0">
                <a:solidFill>
                  <a:srgbClr val="22373A"/>
                </a:solidFill>
                <a:latin typeface="Microsoft Tai Le"/>
                <a:cs typeface="Microsoft Tai Le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1716620" y="2653937"/>
            <a:ext cx="1161415" cy="221615"/>
            <a:chOff x="1716620" y="2653937"/>
            <a:chExt cx="1161415" cy="221615"/>
          </a:xfrm>
        </p:grpSpPr>
        <p:sp>
          <p:nvSpPr>
            <p:cNvPr id="28" name="object 28"/>
            <p:cNvSpPr/>
            <p:nvPr/>
          </p:nvSpPr>
          <p:spPr>
            <a:xfrm>
              <a:off x="1719160" y="2656477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719160" y="2656477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2086686" y="2676853"/>
            <a:ext cx="4210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22373A"/>
                </a:solidFill>
                <a:latin typeface="Microsoft Tai Le"/>
                <a:cs typeface="Microsoft Tai Le"/>
              </a:rPr>
              <a:t>7</a:t>
            </a:r>
            <a:r>
              <a:rPr sz="800" b="1" spc="45" dirty="0">
                <a:solidFill>
                  <a:srgbClr val="22373A"/>
                </a:solidFill>
                <a:latin typeface="Microsoft Tai Le"/>
                <a:cs typeface="Microsoft Tai Le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Report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2282552" y="722760"/>
            <a:ext cx="852169" cy="1922780"/>
            <a:chOff x="2282552" y="722760"/>
            <a:chExt cx="852169" cy="1922780"/>
          </a:xfrm>
        </p:grpSpPr>
        <p:sp>
          <p:nvSpPr>
            <p:cNvPr id="32" name="object 32"/>
            <p:cNvSpPr/>
            <p:nvPr/>
          </p:nvSpPr>
          <p:spPr>
            <a:xfrm>
              <a:off x="2297125" y="722760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287109" y="769873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70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2287109" y="769873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70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297125" y="1030224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287109" y="1077338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2287109" y="1077338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297125" y="1337689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287109" y="1384802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287109" y="1384802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297125" y="1645153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287109" y="1692266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2287109" y="1692266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297125" y="1952617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287109" y="1999730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287109" y="1999730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2297125" y="2260082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2287109" y="2307195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287109" y="2307195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2297125" y="2567546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2287109" y="2614659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287109" y="2614659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2877620" y="2149550"/>
              <a:ext cx="252095" cy="307975"/>
            </a:xfrm>
            <a:custGeom>
              <a:avLst/>
              <a:gdLst/>
              <a:ahLst/>
              <a:cxnLst/>
              <a:rect l="l" t="t" r="r" b="b"/>
              <a:pathLst>
                <a:path w="252094" h="307975">
                  <a:moveTo>
                    <a:pt x="0" y="0"/>
                  </a:moveTo>
                  <a:lnTo>
                    <a:pt x="252003" y="0"/>
                  </a:lnTo>
                  <a:lnTo>
                    <a:pt x="252003" y="307464"/>
                  </a:lnTo>
                  <a:lnTo>
                    <a:pt x="32699" y="307464"/>
                  </a:lnTo>
                </a:path>
              </a:pathLst>
            </a:custGeom>
            <a:ln w="10122">
              <a:solidFill>
                <a:srgbClr val="2D7DB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2890597" y="2446998"/>
              <a:ext cx="26670" cy="20320"/>
            </a:xfrm>
            <a:custGeom>
              <a:avLst/>
              <a:gdLst/>
              <a:ahLst/>
              <a:cxnLst/>
              <a:rect l="l" t="t" r="r" b="b"/>
              <a:pathLst>
                <a:path w="26669" h="20319">
                  <a:moveTo>
                    <a:pt x="26311" y="20032"/>
                  </a:moveTo>
                  <a:lnTo>
                    <a:pt x="17445" y="10016"/>
                  </a:lnTo>
                  <a:lnTo>
                    <a:pt x="26311" y="0"/>
                  </a:lnTo>
                  <a:lnTo>
                    <a:pt x="0" y="10016"/>
                  </a:lnTo>
                  <a:lnTo>
                    <a:pt x="26311" y="20032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2890597" y="2446998"/>
              <a:ext cx="26670" cy="20320"/>
            </a:xfrm>
            <a:custGeom>
              <a:avLst/>
              <a:gdLst/>
              <a:ahLst/>
              <a:cxnLst/>
              <a:rect l="l" t="t" r="r" b="b"/>
              <a:pathLst>
                <a:path w="26669" h="20319">
                  <a:moveTo>
                    <a:pt x="0" y="10016"/>
                  </a:moveTo>
                  <a:lnTo>
                    <a:pt x="26311" y="20032"/>
                  </a:lnTo>
                  <a:lnTo>
                    <a:pt x="17445" y="10016"/>
                  </a:lnTo>
                  <a:lnTo>
                    <a:pt x="26311" y="0"/>
                  </a:lnTo>
                  <a:lnTo>
                    <a:pt x="0" y="10016"/>
                  </a:lnTo>
                  <a:close/>
                </a:path>
              </a:pathLst>
            </a:custGeom>
            <a:ln w="9112">
              <a:solidFill>
                <a:srgbClr val="2D7DB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6" name="object 56"/>
          <p:cNvSpPr txBox="1"/>
          <p:nvPr/>
        </p:nvSpPr>
        <p:spPr>
          <a:xfrm>
            <a:off x="3191281" y="2239784"/>
            <a:ext cx="885190" cy="3022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99"/>
              </a:lnSpc>
              <a:spcBef>
                <a:spcPts val="100"/>
              </a:spcBef>
            </a:pPr>
            <a:r>
              <a:rPr sz="800" i="1" spc="-10" dirty="0">
                <a:solidFill>
                  <a:srgbClr val="2D7DB8"/>
                </a:solidFill>
                <a:latin typeface="Trebuchet MS"/>
                <a:cs typeface="Trebuchet MS"/>
              </a:rPr>
              <a:t>constrains</a:t>
            </a:r>
            <a:r>
              <a:rPr sz="800" i="1" spc="-50" dirty="0">
                <a:solidFill>
                  <a:srgbClr val="2D7DB8"/>
                </a:solidFill>
                <a:latin typeface="Trebuchet MS"/>
                <a:cs typeface="Trebuchet MS"/>
              </a:rPr>
              <a:t> </a:t>
            </a:r>
            <a:r>
              <a:rPr sz="800" i="1" spc="-10" dirty="0">
                <a:solidFill>
                  <a:srgbClr val="2D7DB8"/>
                </a:solidFill>
                <a:latin typeface="Trebuchet MS"/>
                <a:cs typeface="Trebuchet MS"/>
              </a:rPr>
              <a:t>what</a:t>
            </a:r>
            <a:r>
              <a:rPr sz="800" i="1" spc="-50" dirty="0">
                <a:solidFill>
                  <a:srgbClr val="2D7DB8"/>
                </a:solidFill>
                <a:latin typeface="Trebuchet MS"/>
                <a:cs typeface="Trebuchet MS"/>
              </a:rPr>
              <a:t> </a:t>
            </a:r>
            <a:r>
              <a:rPr sz="800" i="1" spc="-45" dirty="0">
                <a:solidFill>
                  <a:srgbClr val="2D7DB8"/>
                </a:solidFill>
                <a:latin typeface="Trebuchet MS"/>
                <a:cs typeface="Trebuchet MS"/>
              </a:rPr>
              <a:t>re-</a:t>
            </a:r>
            <a:r>
              <a:rPr sz="800" i="1" spc="-30" dirty="0">
                <a:solidFill>
                  <a:srgbClr val="2D7DB8"/>
                </a:solidFill>
                <a:latin typeface="Trebuchet MS"/>
                <a:cs typeface="Trebuchet MS"/>
              </a:rPr>
              <a:t>trieval</a:t>
            </a:r>
            <a:r>
              <a:rPr sz="800" i="1" spc="-15" dirty="0">
                <a:solidFill>
                  <a:srgbClr val="2D7DB8"/>
                </a:solidFill>
                <a:latin typeface="Trebuchet MS"/>
                <a:cs typeface="Trebuchet MS"/>
              </a:rPr>
              <a:t> </a:t>
            </a:r>
            <a:r>
              <a:rPr sz="800" i="1" dirty="0">
                <a:solidFill>
                  <a:srgbClr val="2D7DB8"/>
                </a:solidFill>
                <a:latin typeface="Trebuchet MS"/>
                <a:cs typeface="Trebuchet MS"/>
              </a:rPr>
              <a:t>may</a:t>
            </a:r>
            <a:r>
              <a:rPr sz="800" i="1" spc="-10" dirty="0">
                <a:solidFill>
                  <a:srgbClr val="2D7DB8"/>
                </a:solidFill>
                <a:latin typeface="Trebuchet MS"/>
                <a:cs typeface="Trebuchet MS"/>
              </a:rPr>
              <a:t> return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1442838" y="1082745"/>
            <a:ext cx="150495" cy="596265"/>
          </a:xfrm>
          <a:prstGeom prst="rect">
            <a:avLst/>
          </a:prstGeom>
        </p:spPr>
        <p:txBody>
          <a:bodyPr vert="vert270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800" i="1" spc="-20" dirty="0">
                <a:solidFill>
                  <a:srgbClr val="6C6C6C"/>
                </a:solidFill>
                <a:latin typeface="Trebuchet MS"/>
                <a:cs typeface="Trebuchet MS"/>
              </a:rPr>
              <a:t>unsupervised</a:t>
            </a:r>
            <a:endParaRPr sz="800">
              <a:latin typeface="Trebuchet MS"/>
              <a:cs typeface="Trebuchet MS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59" name="object 5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60" name="object 6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61" name="object 6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3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From</a:t>
            </a:r>
            <a:r>
              <a:rPr spc="40" dirty="0"/>
              <a:t> </a:t>
            </a:r>
            <a:r>
              <a:rPr spc="-10" dirty="0"/>
              <a:t>alerts</a:t>
            </a:r>
            <a:r>
              <a:rPr spc="50" dirty="0"/>
              <a:t> </a:t>
            </a:r>
            <a:r>
              <a:rPr dirty="0"/>
              <a:t>to</a:t>
            </a:r>
            <a:r>
              <a:rPr spc="50" dirty="0"/>
              <a:t> </a:t>
            </a:r>
            <a:r>
              <a:rPr dirty="0"/>
              <a:t>a</a:t>
            </a:r>
            <a:r>
              <a:rPr spc="45" dirty="0"/>
              <a:t> </a:t>
            </a:r>
            <a:r>
              <a:rPr spc="-50" dirty="0"/>
              <a:t>scoped</a:t>
            </a:r>
            <a:r>
              <a:rPr spc="40" dirty="0"/>
              <a:t> </a:t>
            </a:r>
            <a:r>
              <a:rPr spc="-20" dirty="0"/>
              <a:t>candidate</a:t>
            </a:r>
            <a:r>
              <a:rPr spc="45" dirty="0"/>
              <a:t> </a:t>
            </a:r>
            <a:r>
              <a:rPr spc="-25" dirty="0"/>
              <a:t>set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440180" cy="5080"/>
            </a:xfrm>
            <a:custGeom>
              <a:avLst/>
              <a:gdLst/>
              <a:ahLst/>
              <a:cxnLst/>
              <a:rect l="l" t="t" r="r" b="b"/>
              <a:pathLst>
                <a:path w="1440180" h="5079">
                  <a:moveTo>
                    <a:pt x="0" y="5060"/>
                  </a:moveTo>
                  <a:lnTo>
                    <a:pt x="0" y="0"/>
                  </a:lnTo>
                  <a:lnTo>
                    <a:pt x="1440018" y="0"/>
                  </a:lnTo>
                  <a:lnTo>
                    <a:pt x="144001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56730" y="513581"/>
            <a:ext cx="4917440" cy="161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0" marR="594995" indent="-165735">
              <a:lnSpc>
                <a:spcPct val="114599"/>
              </a:lnSpc>
              <a:spcBef>
                <a:spcPts val="100"/>
              </a:spcBef>
              <a:buAutoNum type="arabicPeriod"/>
              <a:tabLst>
                <a:tab pos="180340" algn="l"/>
              </a:tabLst>
            </a:pP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Alerts</a:t>
            </a:r>
            <a:r>
              <a:rPr sz="1000" spc="3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65" dirty="0">
                <a:solidFill>
                  <a:srgbClr val="22373A"/>
                </a:solidFill>
                <a:latin typeface="Microsoft Sans Serif"/>
                <a:cs typeface="Microsoft Sans Serif"/>
              </a:rPr>
              <a:t>sentences</a:t>
            </a:r>
            <a:r>
              <a:rPr sz="1000" spc="3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(fixed</a:t>
            </a:r>
            <a:r>
              <a:rPr sz="1000" spc="3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template)</a:t>
            </a:r>
            <a:r>
              <a:rPr sz="1000" spc="3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384-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d</a:t>
            </a:r>
            <a:r>
              <a:rPr sz="1000" spc="3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embeddings</a:t>
            </a:r>
            <a:r>
              <a:rPr sz="1000" spc="3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65" dirty="0">
                <a:solidFill>
                  <a:srgbClr val="22373A"/>
                </a:solidFill>
                <a:latin typeface="Microsoft Sans Serif"/>
                <a:cs typeface="Microsoft Sans Serif"/>
              </a:rPr>
              <a:t>cosine-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threshold 	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communities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rgbClr val="22373A"/>
                </a:solidFill>
                <a:latin typeface="Microsoft Sans Serif"/>
                <a:cs typeface="Microsoft Sans Serif"/>
              </a:rPr>
              <a:t>–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no</a:t>
            </a:r>
            <a:r>
              <a:rPr sz="1000" spc="2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LLM,</a:t>
            </a:r>
            <a:r>
              <a:rPr sz="1000" spc="2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no</a:t>
            </a:r>
            <a:r>
              <a:rPr sz="1000" spc="2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D7DB8"/>
                </a:solidFill>
                <a:latin typeface="Microsoft Sans Serif"/>
                <a:cs typeface="Microsoft Sans Serif"/>
              </a:rPr>
              <a:t>ground</a:t>
            </a:r>
            <a:r>
              <a:rPr sz="1000" spc="2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D7DB8"/>
                </a:solidFill>
                <a:latin typeface="Microsoft Sans Serif"/>
                <a:cs typeface="Microsoft Sans Serif"/>
              </a:rPr>
              <a:t>truth</a:t>
            </a:r>
            <a:endParaRPr sz="1000">
              <a:latin typeface="Microsoft Sans Serif"/>
              <a:cs typeface="Microsoft Sans Serif"/>
            </a:endParaRPr>
          </a:p>
          <a:p>
            <a:pPr marL="178435" indent="-165735">
              <a:lnSpc>
                <a:spcPct val="100000"/>
              </a:lnSpc>
              <a:spcBef>
                <a:spcPts val="670"/>
              </a:spcBef>
              <a:buAutoNum type="arabicPeriod"/>
              <a:tabLst>
                <a:tab pos="178435" algn="l"/>
              </a:tabLst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local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LLM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reads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each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and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triples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under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endParaRPr sz="1000">
              <a:latin typeface="Microsoft Sans Serif"/>
              <a:cs typeface="Microsoft Sans Serif"/>
            </a:endParaRPr>
          </a:p>
          <a:p>
            <a:pPr marL="180340">
              <a:lnSpc>
                <a:spcPct val="100000"/>
              </a:lnSpc>
              <a:spcBef>
                <a:spcPts val="175"/>
              </a:spcBef>
            </a:pPr>
            <a:r>
              <a:rPr sz="1000" spc="-60" dirty="0">
                <a:solidFill>
                  <a:srgbClr val="2D7DB8"/>
                </a:solidFill>
                <a:latin typeface="Microsoft Sans Serif"/>
                <a:cs typeface="Microsoft Sans Serif"/>
              </a:rPr>
              <a:t>JSON-</a:t>
            </a:r>
            <a:r>
              <a:rPr sz="1000" spc="-45" dirty="0">
                <a:solidFill>
                  <a:srgbClr val="2D7DB8"/>
                </a:solidFill>
                <a:latin typeface="Microsoft Sans Serif"/>
                <a:cs typeface="Microsoft Sans Serif"/>
              </a:rPr>
              <a:t>schema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D7DB8"/>
                </a:solidFill>
                <a:latin typeface="Microsoft Sans Serif"/>
                <a:cs typeface="Microsoft Sans Serif"/>
              </a:rPr>
              <a:t>grammar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:</a:t>
            </a:r>
            <a:r>
              <a:rPr sz="1000" spc="8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relation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drawn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from a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fixed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vocabulary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(7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network,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10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host)</a:t>
            </a:r>
            <a:endParaRPr sz="1000">
              <a:latin typeface="Microsoft Sans Serif"/>
              <a:cs typeface="Microsoft Sans Serif"/>
            </a:endParaRPr>
          </a:p>
          <a:p>
            <a:pPr marL="177800" marR="690880" indent="-165735">
              <a:lnSpc>
                <a:spcPct val="114599"/>
              </a:lnSpc>
              <a:spcBef>
                <a:spcPts val="500"/>
              </a:spcBef>
              <a:buAutoNum type="arabicPeriod" startAt="3"/>
              <a:tabLst>
                <a:tab pos="180340" algn="l"/>
              </a:tabLst>
            </a:pP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Triples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build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graph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bridged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to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D7DB8"/>
                </a:solidFill>
                <a:latin typeface="Microsoft Sans Serif"/>
                <a:cs typeface="Microsoft Sans Serif"/>
              </a:rPr>
              <a:t>691</a:t>
            </a:r>
            <a:r>
              <a:rPr sz="1000" spc="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MITRE</a:t>
            </a:r>
            <a:r>
              <a:rPr sz="1000" spc="1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ATT&amp;CK</a:t>
            </a:r>
            <a:r>
              <a:rPr sz="1000" spc="1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fixed 	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relation-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to-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</a:t>
            </a:r>
            <a:r>
              <a:rPr sz="1000" spc="4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mapping</a:t>
            </a:r>
            <a:endParaRPr sz="1000">
              <a:latin typeface="Microsoft Sans Serif"/>
              <a:cs typeface="Microsoft Sans Serif"/>
            </a:endParaRPr>
          </a:p>
          <a:p>
            <a:pPr marL="177800" marR="5080" indent="-165735">
              <a:lnSpc>
                <a:spcPct val="114599"/>
              </a:lnSpc>
              <a:spcBef>
                <a:spcPts val="495"/>
              </a:spcBef>
              <a:buAutoNum type="arabicPeriod" startAt="3"/>
              <a:tabLst>
                <a:tab pos="180340" algn="l"/>
              </a:tabLst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That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bridge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D7DB8"/>
                </a:solidFill>
                <a:latin typeface="Microsoft Sans Serif"/>
                <a:cs typeface="Microsoft Sans Serif"/>
              </a:rPr>
              <a:t>restricts</a:t>
            </a:r>
            <a:r>
              <a:rPr sz="1000" spc="1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which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retrieval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may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return;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report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is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generated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under 	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second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schema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245416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577788"/>
            <a:ext cx="476631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Schema-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valid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output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in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100%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85" dirty="0">
                <a:solidFill>
                  <a:srgbClr val="22373A"/>
                </a:solidFill>
                <a:latin typeface="Microsoft Sans Serif"/>
                <a:cs typeface="Microsoft Sans Serif"/>
              </a:rPr>
              <a:t>cases;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691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become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handful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behaviourally justified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candidates.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4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139636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Experimental </a:t>
            </a:r>
            <a:r>
              <a:rPr spc="-25" dirty="0"/>
              <a:t>setup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800225" cy="5080"/>
            </a:xfrm>
            <a:custGeom>
              <a:avLst/>
              <a:gdLst/>
              <a:ahLst/>
              <a:cxnLst/>
              <a:rect l="l" t="t" r="r" b="b"/>
              <a:pathLst>
                <a:path w="1800225" h="5079">
                  <a:moveTo>
                    <a:pt x="0" y="5060"/>
                  </a:moveTo>
                  <a:lnTo>
                    <a:pt x="0" y="0"/>
                  </a:lnTo>
                  <a:lnTo>
                    <a:pt x="1800022" y="0"/>
                  </a:lnTo>
                  <a:lnTo>
                    <a:pt x="18000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359994" y="948499"/>
          <a:ext cx="2364104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2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08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b="1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CIC-IDS-</a:t>
                      </a:r>
                      <a:r>
                        <a:rPr sz="1000" b="1" spc="-20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2017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b="1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DARPA</a:t>
                      </a:r>
                      <a:r>
                        <a:rPr sz="1000" b="1" spc="10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00" b="1" spc="-25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E3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Level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network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flows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host</a:t>
                      </a:r>
                      <a:r>
                        <a:rPr sz="1000" spc="-3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audit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Scale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ts val="1175"/>
                        </a:lnSpc>
                      </a:pPr>
                      <a:r>
                        <a:rPr sz="1000" spc="-4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14,182</a:t>
                      </a:r>
                      <a:r>
                        <a:rPr sz="1000" spc="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flows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4</a:t>
                      </a:r>
                      <a:r>
                        <a:rPr sz="1000" spc="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windows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7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Used</a:t>
                      </a:r>
                      <a:r>
                        <a:rPr sz="1000" spc="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for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full</a:t>
                      </a:r>
                      <a:r>
                        <a:rPr sz="1000" spc="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pipeline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4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core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transfer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3270503" y="872306"/>
            <a:ext cx="2129790" cy="600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9050">
              <a:lnSpc>
                <a:spcPct val="114599"/>
              </a:lnSpc>
              <a:spcBef>
                <a:spcPts val="100"/>
              </a:spcBef>
            </a:pP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Mistral-Nemo-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12B,</a:t>
            </a:r>
            <a:r>
              <a:rPr sz="1000" spc="15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Qwen2.5-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Coder-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7B,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Qwen2.5-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3B</a:t>
            </a:r>
            <a:endParaRPr sz="100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570"/>
              </a:spcBef>
            </a:pP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laptop,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RTX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3050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Ti,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D7DB8"/>
                </a:solidFill>
                <a:latin typeface="Microsoft Sans Serif"/>
                <a:cs typeface="Microsoft Sans Serif"/>
              </a:rPr>
              <a:t>4</a:t>
            </a:r>
            <a:r>
              <a:rPr sz="1000" spc="-10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D7DB8"/>
                </a:solidFill>
                <a:latin typeface="Microsoft Sans Serif"/>
                <a:cs typeface="Microsoft Sans Serif"/>
              </a:rPr>
              <a:t>GB</a:t>
            </a:r>
            <a:r>
              <a:rPr sz="1000" spc="1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D7DB8"/>
                </a:solidFill>
                <a:latin typeface="Microsoft Sans Serif"/>
                <a:cs typeface="Microsoft Sans Serif"/>
              </a:rPr>
              <a:t>VRAM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882544"/>
            <a:ext cx="4806950" cy="619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8000"/>
              </a:lnSpc>
              <a:spcBef>
                <a:spcPts val="100"/>
              </a:spcBef>
            </a:pPr>
            <a:r>
              <a:rPr sz="1100" spc="-75" dirty="0">
                <a:solidFill>
                  <a:srgbClr val="22373A"/>
                </a:solidFill>
                <a:latin typeface="Arial MT"/>
                <a:cs typeface="Arial MT"/>
              </a:rPr>
              <a:t>Each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grounded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condition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vs.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D7DB8"/>
                </a:solidFill>
                <a:latin typeface="Arial MT"/>
                <a:cs typeface="Arial MT"/>
              </a:rPr>
              <a:t>non-</a:t>
            </a:r>
            <a:r>
              <a:rPr sz="1100" spc="-55" dirty="0">
                <a:solidFill>
                  <a:srgbClr val="2D7DB8"/>
                </a:solidFill>
                <a:latin typeface="Arial MT"/>
                <a:cs typeface="Arial MT"/>
              </a:rPr>
              <a:t>grounded</a:t>
            </a:r>
            <a:r>
              <a:rPr sz="1100" spc="-10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D7DB8"/>
                </a:solidFill>
                <a:latin typeface="Arial MT"/>
                <a:cs typeface="Arial MT"/>
              </a:rPr>
              <a:t>baseline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:</a:t>
            </a:r>
            <a:r>
              <a:rPr sz="1100" spc="8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model,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evidence,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constraint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removed.</a:t>
            </a:r>
            <a:r>
              <a:rPr sz="1100" spc="7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Measured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exact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match,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macro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F1,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hit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rate,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report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grounding,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with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bootstrap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confidence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intervals.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5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0" dirty="0"/>
              <a:t>Classification</a:t>
            </a:r>
            <a:r>
              <a:rPr spc="130" dirty="0"/>
              <a:t> </a:t>
            </a:r>
            <a:r>
              <a:rPr spc="-35" dirty="0"/>
              <a:t>results</a:t>
            </a:r>
            <a:r>
              <a:rPr spc="135" dirty="0"/>
              <a:t> </a:t>
            </a:r>
            <a:r>
              <a:rPr dirty="0"/>
              <a:t>(CIC-</a:t>
            </a:r>
            <a:r>
              <a:rPr spc="-20" dirty="0"/>
              <a:t>IDS)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160270" cy="5080"/>
            </a:xfrm>
            <a:custGeom>
              <a:avLst/>
              <a:gdLst/>
              <a:ahLst/>
              <a:cxnLst/>
              <a:rect l="l" t="t" r="r" b="b"/>
              <a:pathLst>
                <a:path w="2160270" h="5079">
                  <a:moveTo>
                    <a:pt x="0" y="5060"/>
                  </a:moveTo>
                  <a:lnTo>
                    <a:pt x="0" y="0"/>
                  </a:lnTo>
                  <a:lnTo>
                    <a:pt x="2160027" y="0"/>
                  </a:lnTo>
                  <a:lnTo>
                    <a:pt x="21600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1058379" y="829297"/>
            <a:ext cx="3643629" cy="0"/>
          </a:xfrm>
          <a:custGeom>
            <a:avLst/>
            <a:gdLst/>
            <a:ahLst/>
            <a:cxnLst/>
            <a:rect l="l" t="t" r="r" b="b"/>
            <a:pathLst>
              <a:path w="3643629">
                <a:moveTo>
                  <a:pt x="0" y="0"/>
                </a:moveTo>
                <a:lnTo>
                  <a:pt x="3643236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489377" y="857851"/>
            <a:ext cx="6921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Exact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match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810615" y="857851"/>
            <a:ext cx="5372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Macro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 F1</a:t>
            </a:r>
            <a:endParaRPr sz="1000">
              <a:latin typeface="Microsoft Sans Serif"/>
              <a:cs typeface="Microsoft Sans Serif"/>
            </a:endParaRPr>
          </a:p>
        </p:txBody>
      </p: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1058379" y="1076172"/>
          <a:ext cx="3646169" cy="8407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24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1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56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9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Grounded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Baseline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Grounded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Baseline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286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731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0.556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223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0.400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921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0.114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object 11"/>
          <p:cNvSpPr/>
          <p:nvPr/>
        </p:nvSpPr>
        <p:spPr>
          <a:xfrm>
            <a:off x="359994" y="2178634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47294" y="2305615"/>
            <a:ext cx="5065395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spc="-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covers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14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18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communities,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so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read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macro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F1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first.</a:t>
            </a:r>
            <a:r>
              <a:rPr sz="1000" spc="9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Both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Qwen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0" dirty="0">
                <a:solidFill>
                  <a:srgbClr val="22373A"/>
                </a:solidFill>
                <a:latin typeface="Microsoft Sans Serif"/>
                <a:cs typeface="Microsoft Sans Serif"/>
              </a:rPr>
              <a:t>baselines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score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exactly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zero.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6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Where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35" dirty="0"/>
              <a:t>errors</a:t>
            </a:r>
            <a:r>
              <a:rPr spc="30" dirty="0"/>
              <a:t> </a:t>
            </a:r>
            <a:r>
              <a:rPr spc="-20" dirty="0"/>
              <a:t>come</a:t>
            </a:r>
            <a:r>
              <a:rPr spc="30" dirty="0"/>
              <a:t> </a:t>
            </a:r>
            <a:r>
              <a:rPr spc="-20" dirty="0"/>
              <a:t>from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520315" cy="5080"/>
            </a:xfrm>
            <a:custGeom>
              <a:avLst/>
              <a:gdLst/>
              <a:ahLst/>
              <a:cxnLst/>
              <a:rect l="l" t="t" r="r" b="b"/>
              <a:pathLst>
                <a:path w="2520315" h="5079">
                  <a:moveTo>
                    <a:pt x="0" y="5060"/>
                  </a:moveTo>
                  <a:lnTo>
                    <a:pt x="0" y="0"/>
                  </a:lnTo>
                  <a:lnTo>
                    <a:pt x="2520032" y="0"/>
                  </a:lnTo>
                  <a:lnTo>
                    <a:pt x="25200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1088618" y="676109"/>
          <a:ext cx="3583304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91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Reachable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4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Rerank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correct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Exact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match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15/18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15/15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2/18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5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2/2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5/18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5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5/5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347294" y="1641409"/>
            <a:ext cx="506730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Every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model’s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accuracy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i="1" spc="-85" dirty="0">
                <a:solidFill>
                  <a:srgbClr val="22373A"/>
                </a:solidFill>
                <a:latin typeface="Arial"/>
                <a:cs typeface="Arial"/>
              </a:rPr>
              <a:t>equals</a:t>
            </a:r>
            <a:r>
              <a:rPr sz="11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its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reachability.</a:t>
            </a:r>
            <a:r>
              <a:rPr sz="1100" spc="1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Across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all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three,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the </a:t>
            </a:r>
            <a:r>
              <a:rPr sz="1100" spc="-90" dirty="0">
                <a:solidFill>
                  <a:srgbClr val="22373A"/>
                </a:solidFill>
                <a:latin typeface="Arial MT"/>
                <a:cs typeface="Arial MT"/>
              </a:rPr>
              <a:t>scoped</a:t>
            </a:r>
            <a:r>
              <a:rPr sz="1100" spc="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reranker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was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handed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22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solvable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communities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got </a:t>
            </a:r>
            <a:r>
              <a:rPr sz="1100" spc="-30" dirty="0">
                <a:solidFill>
                  <a:srgbClr val="2D7DB8"/>
                </a:solidFill>
                <a:latin typeface="Arial MT"/>
                <a:cs typeface="Arial MT"/>
              </a:rPr>
              <a:t>22</a:t>
            </a:r>
            <a:r>
              <a:rPr sz="1100" spc="-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D7DB8"/>
                </a:solidFill>
                <a:latin typeface="Arial MT"/>
                <a:cs typeface="Arial MT"/>
              </a:rPr>
              <a:t>right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59994" y="234061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7294" y="2467565"/>
            <a:ext cx="478282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No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0" dirty="0">
                <a:solidFill>
                  <a:srgbClr val="22373A"/>
                </a:solidFill>
                <a:latin typeface="Microsoft Sans Serif"/>
                <a:cs typeface="Microsoft Sans Serif"/>
              </a:rPr>
              <a:t>ever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misclassified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community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whose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it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had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extracted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correctly.</a:t>
            </a:r>
            <a:r>
              <a:rPr sz="1000" spc="1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The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bottleneck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extraction,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not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retrieval.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7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268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Is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20" dirty="0"/>
              <a:t>graph</a:t>
            </a:r>
            <a:r>
              <a:rPr spc="25" dirty="0"/>
              <a:t> </a:t>
            </a:r>
            <a:r>
              <a:rPr spc="-10" dirty="0"/>
              <a:t>actually</a:t>
            </a:r>
            <a:r>
              <a:rPr spc="25" dirty="0"/>
              <a:t> </a:t>
            </a:r>
            <a:r>
              <a:rPr spc="-30" dirty="0"/>
              <a:t>doing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25" dirty="0"/>
              <a:t>work?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79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462456"/>
            <a:ext cx="327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14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scoring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function,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inputs,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constraint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removed:</a:t>
            </a:r>
            <a:endParaRPr sz="1100">
              <a:latin typeface="Arial MT"/>
              <a:cs typeface="Arial MT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1241577" y="829906"/>
          <a:ext cx="3275965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1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Scoped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Unscoped</a:t>
                      </a:r>
                      <a:r>
                        <a:rPr sz="1000" spc="-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(691</a:t>
                      </a: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techniques)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0.056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47294" y="1785465"/>
            <a:ext cx="453771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Unconstrained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similarity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lands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right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neighbourhood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(T1205,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T1049)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but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essentially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never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right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identifier.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59994" y="248464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47294" y="2611621"/>
            <a:ext cx="490982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ranking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machinery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contributes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almost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nothing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without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constraint.</a:t>
            </a:r>
            <a:r>
              <a:rPr sz="1000" spc="9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is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mechanism.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8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Transfer</a:t>
            </a:r>
            <a:r>
              <a:rPr spc="15" dirty="0"/>
              <a:t> </a:t>
            </a:r>
            <a:r>
              <a:rPr dirty="0"/>
              <a:t>to</a:t>
            </a:r>
            <a:r>
              <a:rPr spc="25" dirty="0"/>
              <a:t> </a:t>
            </a:r>
            <a:r>
              <a:rPr spc="-10" dirty="0"/>
              <a:t>host</a:t>
            </a:r>
            <a:r>
              <a:rPr spc="25" dirty="0"/>
              <a:t> </a:t>
            </a:r>
            <a:r>
              <a:rPr dirty="0"/>
              <a:t>audit</a:t>
            </a:r>
            <a:r>
              <a:rPr spc="25" dirty="0"/>
              <a:t> </a:t>
            </a:r>
            <a:r>
              <a:rPr spc="-50" dirty="0"/>
              <a:t>logs</a:t>
            </a:r>
            <a:r>
              <a:rPr spc="20" dirty="0"/>
              <a:t> </a:t>
            </a:r>
            <a:r>
              <a:rPr spc="-10" dirty="0"/>
              <a:t>(DARPA)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240405" cy="5080"/>
            </a:xfrm>
            <a:custGeom>
              <a:avLst/>
              <a:gdLst/>
              <a:ahLst/>
              <a:cxnLst/>
              <a:rect l="l" t="t" r="r" b="b"/>
              <a:pathLst>
                <a:path w="3240405" h="5079">
                  <a:moveTo>
                    <a:pt x="0" y="5060"/>
                  </a:moveTo>
                  <a:lnTo>
                    <a:pt x="0" y="0"/>
                  </a:lnTo>
                  <a:lnTo>
                    <a:pt x="3240041" y="0"/>
                  </a:lnTo>
                  <a:lnTo>
                    <a:pt x="32400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359994" y="990485"/>
            <a:ext cx="2415540" cy="0"/>
          </a:xfrm>
          <a:custGeom>
            <a:avLst/>
            <a:gdLst/>
            <a:ahLst/>
            <a:cxnLst/>
            <a:rect l="l" t="t" r="r" b="b"/>
            <a:pathLst>
              <a:path w="2415540">
                <a:moveTo>
                  <a:pt x="0" y="0"/>
                </a:moveTo>
                <a:lnTo>
                  <a:pt x="2415108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23214" y="1019053"/>
            <a:ext cx="3549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416967" y="1019053"/>
            <a:ext cx="7112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Grounded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F1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254411" y="1019053"/>
            <a:ext cx="45783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Baseline</a:t>
            </a:r>
            <a:endParaRPr sz="1000">
              <a:latin typeface="Microsoft Sans Serif"/>
              <a:cs typeface="Microsoft Sans Serif"/>
            </a:endParaRPr>
          </a:p>
        </p:txBody>
      </p:sp>
      <p:graphicFrame>
        <p:nvGraphicFramePr>
          <p:cNvPr id="11" name="object 11"/>
          <p:cNvGraphicFramePr>
            <a:graphicFrameLocks noGrp="1"/>
          </p:cNvGraphicFramePr>
          <p:nvPr/>
        </p:nvGraphicFramePr>
        <p:xfrm>
          <a:off x="359994" y="1238757"/>
          <a:ext cx="2415539" cy="5962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2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0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</a:t>
                      </a: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Nemo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0.635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0.209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6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0.710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0.272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0.685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0.254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object 12"/>
          <p:cNvSpPr txBox="1"/>
          <p:nvPr/>
        </p:nvSpPr>
        <p:spPr>
          <a:xfrm>
            <a:off x="3314255" y="1012995"/>
            <a:ext cx="1885314" cy="6788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145" dirty="0">
                <a:solidFill>
                  <a:srgbClr val="22373A"/>
                </a:solidFill>
                <a:latin typeface="Microsoft Sans Serif"/>
                <a:cs typeface="Microsoft Sans Serif"/>
              </a:rPr>
              <a:t>•</a:t>
            </a:r>
            <a:r>
              <a:rPr sz="1000" spc="2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+0.43</a:t>
            </a:r>
            <a:r>
              <a:rPr sz="1000" spc="2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F1</a:t>
            </a:r>
            <a:r>
              <a:rPr sz="1000" spc="2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for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every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endParaRPr sz="1000">
              <a:latin typeface="Microsoft Sans Serif"/>
              <a:cs typeface="Microsoft Sans Serif"/>
            </a:endParaRPr>
          </a:p>
          <a:p>
            <a:pPr marL="143510" indent="-130810">
              <a:lnSpc>
                <a:spcPct val="100000"/>
              </a:lnSpc>
              <a:spcBef>
                <a:spcPts val="770"/>
              </a:spcBef>
              <a:buChar char="•"/>
              <a:tabLst>
                <a:tab pos="143510" algn="l"/>
              </a:tabLst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Confidence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intervals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disjoint</a:t>
            </a:r>
            <a:endParaRPr sz="1000">
              <a:latin typeface="Microsoft Sans Serif"/>
              <a:cs typeface="Microsoft Sans Serif"/>
            </a:endParaRPr>
          </a:p>
          <a:p>
            <a:pPr marL="143510" indent="-130810">
              <a:lnSpc>
                <a:spcPct val="100000"/>
              </a:lnSpc>
              <a:spcBef>
                <a:spcPts val="775"/>
              </a:spcBef>
              <a:buChar char="•"/>
              <a:tabLst>
                <a:tab pos="143510" algn="l"/>
              </a:tabLst>
            </a:pP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Precision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0.96–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1.00,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recall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i="1" spc="220" dirty="0">
                <a:solidFill>
                  <a:srgbClr val="22373A"/>
                </a:solidFill>
                <a:latin typeface="Arial"/>
                <a:cs typeface="Arial"/>
              </a:rPr>
              <a:t>≈</a:t>
            </a:r>
            <a:r>
              <a:rPr sz="10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0.5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9994" y="1982546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47294" y="2109527"/>
            <a:ext cx="4693285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improvement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5" dirty="0">
                <a:solidFill>
                  <a:srgbClr val="22373A"/>
                </a:solidFill>
                <a:latin typeface="Microsoft Sans Serif"/>
                <a:cs typeface="Microsoft Sans Serif"/>
              </a:rPr>
              <a:t>does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not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depend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on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scale,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and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ranking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flips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between datasets.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9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Correctness</a:t>
            </a:r>
            <a:r>
              <a:rPr dirty="0"/>
              <a:t> and </a:t>
            </a:r>
            <a:r>
              <a:rPr spc="-35" dirty="0"/>
              <a:t>grounding</a:t>
            </a:r>
            <a:r>
              <a:rPr dirty="0"/>
              <a:t> can </a:t>
            </a:r>
            <a:r>
              <a:rPr spc="-20" dirty="0"/>
              <a:t>diverge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600450" cy="5080"/>
            </a:xfrm>
            <a:custGeom>
              <a:avLst/>
              <a:gdLst/>
              <a:ahLst/>
              <a:cxnLst/>
              <a:rect l="l" t="t" r="r" b="b"/>
              <a:pathLst>
                <a:path w="3600450" h="5079">
                  <a:moveTo>
                    <a:pt x="0" y="5060"/>
                  </a:moveTo>
                  <a:lnTo>
                    <a:pt x="0" y="0"/>
                  </a:lnTo>
                  <a:lnTo>
                    <a:pt x="3600046" y="0"/>
                  </a:lnTo>
                  <a:lnTo>
                    <a:pt x="36000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16900"/>
            <a:ext cx="2111375" cy="101536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coder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writes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endParaRPr sz="1100">
              <a:latin typeface="Arial MT"/>
              <a:cs typeface="Arial MT"/>
            </a:endParaRPr>
          </a:p>
          <a:p>
            <a:pPr marL="12700" marR="5080">
              <a:lnSpc>
                <a:spcPct val="118000"/>
              </a:lnSpc>
            </a:pPr>
            <a:r>
              <a:rPr sz="1100" spc="-55" dirty="0">
                <a:solidFill>
                  <a:srgbClr val="2D7DB8"/>
                </a:solidFill>
                <a:latin typeface="Arial MT"/>
                <a:cs typeface="Arial MT"/>
              </a:rPr>
              <a:t>best-</a:t>
            </a:r>
            <a:r>
              <a:rPr sz="1100" spc="-60" dirty="0">
                <a:solidFill>
                  <a:srgbClr val="2D7DB8"/>
                </a:solidFill>
                <a:latin typeface="Arial MT"/>
                <a:cs typeface="Arial MT"/>
              </a:rPr>
              <a:t>grounded</a:t>
            </a:r>
            <a:r>
              <a:rPr sz="1100" spc="-1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reports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D7DB8"/>
                </a:solidFill>
                <a:latin typeface="Arial MT"/>
                <a:cs typeface="Arial MT"/>
              </a:rPr>
              <a:t>worst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classifications:</a:t>
            </a:r>
            <a:r>
              <a:rPr sz="1100" spc="9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internally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consistent,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well-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evidenced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reports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about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the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wrong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attack.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77617" y="560988"/>
            <a:ext cx="2822432" cy="1854741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359994" y="255651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7294" y="2706260"/>
            <a:ext cx="50304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system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reporting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only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grounding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would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rank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worst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first.</a:t>
            </a:r>
            <a:r>
              <a:rPr sz="1000" spc="9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Both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metrics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are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needed.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10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Limitations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960495" cy="5080"/>
            </a:xfrm>
            <a:custGeom>
              <a:avLst/>
              <a:gdLst/>
              <a:ahLst/>
              <a:cxnLst/>
              <a:rect l="l" t="t" r="r" b="b"/>
              <a:pathLst>
                <a:path w="3960495" h="5079">
                  <a:moveTo>
                    <a:pt x="0" y="5060"/>
                  </a:moveTo>
                  <a:lnTo>
                    <a:pt x="0" y="0"/>
                  </a:lnTo>
                  <a:lnTo>
                    <a:pt x="3960050" y="0"/>
                  </a:lnTo>
                  <a:lnTo>
                    <a:pt x="39600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b="1" dirty="0">
                <a:latin typeface="Arial"/>
                <a:cs typeface="Arial"/>
              </a:rPr>
              <a:t>The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alert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text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is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the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ceiling.</a:t>
            </a:r>
            <a:r>
              <a:rPr b="1" spc="100" dirty="0">
                <a:latin typeface="Arial"/>
                <a:cs typeface="Arial"/>
              </a:rPr>
              <a:t> </a:t>
            </a:r>
            <a:r>
              <a:rPr dirty="0"/>
              <a:t>A </a:t>
            </a:r>
            <a:r>
              <a:rPr spc="-60" dirty="0"/>
              <a:t>single</a:t>
            </a:r>
            <a:r>
              <a:rPr dirty="0"/>
              <a:t> </a:t>
            </a:r>
            <a:r>
              <a:rPr spc="-50" dirty="0"/>
              <a:t>SYN</a:t>
            </a:r>
            <a:r>
              <a:rPr dirty="0"/>
              <a:t> </a:t>
            </a:r>
            <a:r>
              <a:rPr spc="-45" dirty="0"/>
              <a:t>packet</a:t>
            </a:r>
            <a:r>
              <a:rPr dirty="0"/>
              <a:t> to</a:t>
            </a:r>
            <a:r>
              <a:rPr spc="5" dirty="0"/>
              <a:t> </a:t>
            </a:r>
            <a:r>
              <a:rPr dirty="0"/>
              <a:t>port </a:t>
            </a:r>
            <a:r>
              <a:rPr spc="-30" dirty="0"/>
              <a:t>21</a:t>
            </a:r>
            <a:r>
              <a:rPr dirty="0"/>
              <a:t> </a:t>
            </a:r>
            <a:r>
              <a:rPr spc="-50" dirty="0"/>
              <a:t>looks</a:t>
            </a:r>
            <a:r>
              <a:rPr dirty="0"/>
              <a:t> </a:t>
            </a:r>
            <a:r>
              <a:rPr spc="-35" dirty="0"/>
              <a:t>identical</a:t>
            </a:r>
            <a:r>
              <a:rPr dirty="0"/>
              <a:t> </a:t>
            </a:r>
            <a:r>
              <a:rPr spc="-10" dirty="0"/>
              <a:t>whether </a:t>
            </a:r>
            <a:r>
              <a:rPr dirty="0"/>
              <a:t>it</a:t>
            </a:r>
            <a:r>
              <a:rPr spc="-25" dirty="0"/>
              <a:t> </a:t>
            </a:r>
            <a:r>
              <a:rPr spc="-10" dirty="0"/>
              <a:t>is </a:t>
            </a:r>
            <a:r>
              <a:rPr spc="-75" dirty="0"/>
              <a:t>reconnaissance,</a:t>
            </a:r>
            <a:r>
              <a:rPr dirty="0"/>
              <a:t> </a:t>
            </a:r>
            <a:r>
              <a:rPr spc="-25" dirty="0"/>
              <a:t>brute</a:t>
            </a:r>
            <a:r>
              <a:rPr spc="-10" dirty="0"/>
              <a:t> </a:t>
            </a:r>
            <a:r>
              <a:rPr spc="-35" dirty="0"/>
              <a:t>force,</a:t>
            </a:r>
            <a:r>
              <a:rPr spc="-10" dirty="0"/>
              <a:t> </a:t>
            </a:r>
            <a:r>
              <a:rPr dirty="0"/>
              <a:t>or</a:t>
            </a:r>
            <a:r>
              <a:rPr spc="-10" dirty="0"/>
              <a:t> </a:t>
            </a:r>
            <a:r>
              <a:rPr dirty="0"/>
              <a:t>a</a:t>
            </a:r>
            <a:r>
              <a:rPr spc="-10" dirty="0"/>
              <a:t> </a:t>
            </a:r>
            <a:r>
              <a:rPr dirty="0"/>
              <a:t>botnet</a:t>
            </a:r>
            <a:r>
              <a:rPr spc="-10" dirty="0"/>
              <a:t> </a:t>
            </a:r>
            <a:r>
              <a:rPr spc="-55" dirty="0"/>
              <a:t>beacon;</a:t>
            </a:r>
            <a:r>
              <a:rPr spc="-15" dirty="0"/>
              <a:t> </a:t>
            </a:r>
            <a:r>
              <a:rPr dirty="0"/>
              <a:t>the</a:t>
            </a:r>
            <a:r>
              <a:rPr spc="-10" dirty="0"/>
              <a:t> </a:t>
            </a:r>
            <a:r>
              <a:rPr spc="-35" dirty="0"/>
              <a:t>template</a:t>
            </a:r>
            <a:r>
              <a:rPr spc="-10" dirty="0"/>
              <a:t> </a:t>
            </a:r>
            <a:r>
              <a:rPr spc="-55" dirty="0"/>
              <a:t>captures</a:t>
            </a:r>
            <a:r>
              <a:rPr spc="-10" dirty="0"/>
              <a:t> </a:t>
            </a:r>
            <a:r>
              <a:rPr spc="-20" dirty="0"/>
              <a:t>flow </a:t>
            </a:r>
            <a:r>
              <a:rPr spc="-25" dirty="0"/>
              <a:t>statistics,</a:t>
            </a:r>
            <a:r>
              <a:rPr dirty="0"/>
              <a:t> not </a:t>
            </a:r>
            <a:r>
              <a:rPr spc="-70" dirty="0"/>
              <a:t>payload</a:t>
            </a:r>
            <a:r>
              <a:rPr dirty="0"/>
              <a:t> or</a:t>
            </a:r>
            <a:r>
              <a:rPr spc="5" dirty="0"/>
              <a:t> </a:t>
            </a:r>
            <a:r>
              <a:rPr spc="-20" dirty="0"/>
              <a:t>multi-</a:t>
            </a:r>
            <a:r>
              <a:rPr spc="-10" dirty="0"/>
              <a:t>flow</a:t>
            </a:r>
            <a:r>
              <a:rPr dirty="0"/>
              <a:t> </a:t>
            </a:r>
            <a:r>
              <a:rPr spc="-10" dirty="0"/>
              <a:t>state.</a:t>
            </a:r>
          </a:p>
          <a:p>
            <a:pPr marL="12700" marR="55244">
              <a:lnSpc>
                <a:spcPct val="118000"/>
              </a:lnSpc>
              <a:spcBef>
                <a:spcPts val="1090"/>
              </a:spcBef>
            </a:pPr>
            <a:r>
              <a:rPr b="1" dirty="0">
                <a:latin typeface="Arial"/>
                <a:cs typeface="Arial"/>
              </a:rPr>
              <a:t>The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spc="-45" dirty="0">
                <a:latin typeface="Arial"/>
                <a:cs typeface="Arial"/>
              </a:rPr>
              <a:t>bridge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and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the</a:t>
            </a:r>
            <a:r>
              <a:rPr b="1" spc="10" dirty="0">
                <a:latin typeface="Arial"/>
                <a:cs typeface="Arial"/>
              </a:rPr>
              <a:t> </a:t>
            </a:r>
            <a:r>
              <a:rPr b="1" spc="-40" dirty="0">
                <a:latin typeface="Arial"/>
                <a:cs typeface="Arial"/>
              </a:rPr>
              <a:t>ground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truth</a:t>
            </a:r>
            <a:r>
              <a:rPr b="1" spc="10" dirty="0">
                <a:latin typeface="Arial"/>
                <a:cs typeface="Arial"/>
              </a:rPr>
              <a:t> </a:t>
            </a:r>
            <a:r>
              <a:rPr b="1" spc="-60" dirty="0">
                <a:latin typeface="Arial"/>
                <a:cs typeface="Arial"/>
              </a:rPr>
              <a:t>share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an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author.</a:t>
            </a:r>
            <a:r>
              <a:rPr b="1" spc="70" dirty="0">
                <a:latin typeface="Arial"/>
                <a:cs typeface="Arial"/>
              </a:rPr>
              <a:t> </a:t>
            </a:r>
            <a:r>
              <a:rPr dirty="0"/>
              <a:t>On</a:t>
            </a:r>
            <a:r>
              <a:rPr spc="-25" dirty="0"/>
              <a:t> </a:t>
            </a:r>
            <a:r>
              <a:rPr spc="-65" dirty="0"/>
              <a:t>CIC-</a:t>
            </a:r>
            <a:r>
              <a:rPr spc="-35" dirty="0"/>
              <a:t>IDS</a:t>
            </a:r>
            <a:r>
              <a:rPr spc="-20" dirty="0"/>
              <a:t> they </a:t>
            </a:r>
            <a:r>
              <a:rPr spc="-10" dirty="0"/>
              <a:t>share </a:t>
            </a:r>
            <a:r>
              <a:rPr spc="-25" dirty="0"/>
              <a:t>structure</a:t>
            </a:r>
            <a:r>
              <a:rPr spc="-10" dirty="0"/>
              <a:t> </a:t>
            </a:r>
            <a:r>
              <a:rPr dirty="0"/>
              <a:t>–</a:t>
            </a:r>
            <a:r>
              <a:rPr spc="-5" dirty="0"/>
              <a:t> </a:t>
            </a:r>
            <a:r>
              <a:rPr dirty="0"/>
              <a:t>but</a:t>
            </a:r>
            <a:r>
              <a:rPr spc="-10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50" dirty="0"/>
              <a:t>mapping</a:t>
            </a:r>
            <a:r>
              <a:rPr spc="-10" dirty="0"/>
              <a:t> is</a:t>
            </a:r>
            <a:r>
              <a:rPr spc="-5" dirty="0"/>
              <a:t> </a:t>
            </a:r>
            <a:r>
              <a:rPr spc="-55" dirty="0"/>
              <a:t>one-</a:t>
            </a:r>
            <a:r>
              <a:rPr spc="-45" dirty="0"/>
              <a:t>to-</a:t>
            </a:r>
            <a:r>
              <a:rPr spc="-60" dirty="0"/>
              <a:t>many,</a:t>
            </a:r>
            <a:r>
              <a:rPr spc="-10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75" dirty="0"/>
              <a:t>preference-</a:t>
            </a:r>
            <a:r>
              <a:rPr spc="-45" dirty="0"/>
              <a:t>rule</a:t>
            </a:r>
            <a:r>
              <a:rPr spc="-5" dirty="0"/>
              <a:t> </a:t>
            </a:r>
            <a:r>
              <a:rPr spc="-30" dirty="0"/>
              <a:t>ablation</a:t>
            </a:r>
            <a:r>
              <a:rPr spc="-10" dirty="0"/>
              <a:t> changes </a:t>
            </a:r>
            <a:r>
              <a:rPr spc="-35" dirty="0"/>
              <a:t>almost</a:t>
            </a:r>
            <a:r>
              <a:rPr spc="-40" dirty="0"/>
              <a:t> </a:t>
            </a:r>
            <a:r>
              <a:rPr spc="-10" dirty="0"/>
              <a:t>no </a:t>
            </a:r>
            <a:r>
              <a:rPr spc="-30" dirty="0"/>
              <a:t>prediction,</a:t>
            </a:r>
            <a:r>
              <a:rPr spc="-5" dirty="0"/>
              <a:t> </a:t>
            </a:r>
            <a:r>
              <a:rPr spc="-55" dirty="0"/>
              <a:t>and</a:t>
            </a:r>
            <a:r>
              <a:rPr spc="-5" dirty="0"/>
              <a:t> </a:t>
            </a:r>
            <a:r>
              <a:rPr spc="-10" dirty="0"/>
              <a:t>on</a:t>
            </a:r>
            <a:r>
              <a:rPr spc="-5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50" dirty="0"/>
              <a:t>independently</a:t>
            </a:r>
            <a:r>
              <a:rPr spc="-5" dirty="0"/>
              <a:t> </a:t>
            </a:r>
            <a:r>
              <a:rPr spc="-75" dirty="0"/>
              <a:t>sourced</a:t>
            </a:r>
            <a:r>
              <a:rPr dirty="0"/>
              <a:t> </a:t>
            </a:r>
            <a:r>
              <a:rPr spc="-65" dirty="0"/>
              <a:t>DARPA</a:t>
            </a:r>
            <a:r>
              <a:rPr spc="-5" dirty="0"/>
              <a:t> </a:t>
            </a:r>
            <a:r>
              <a:rPr dirty="0"/>
              <a:t>truth</a:t>
            </a:r>
            <a:r>
              <a:rPr spc="-5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105" dirty="0"/>
              <a:t>same</a:t>
            </a:r>
            <a:r>
              <a:rPr spc="30" dirty="0"/>
              <a:t> </a:t>
            </a:r>
            <a:r>
              <a:rPr spc="-10" dirty="0"/>
              <a:t>bridge </a:t>
            </a:r>
            <a:r>
              <a:rPr spc="-95" dirty="0"/>
              <a:t>reaches</a:t>
            </a:r>
            <a:r>
              <a:rPr spc="50" dirty="0"/>
              <a:t> </a:t>
            </a:r>
            <a:r>
              <a:rPr spc="-20" dirty="0"/>
              <a:t>only</a:t>
            </a:r>
            <a:r>
              <a:rPr spc="50" dirty="0"/>
              <a:t> </a:t>
            </a:r>
            <a:r>
              <a:rPr i="1" dirty="0">
                <a:latin typeface="Arial"/>
                <a:cs typeface="Arial"/>
              </a:rPr>
              <a:t>≈</a:t>
            </a:r>
            <a:r>
              <a:rPr dirty="0"/>
              <a:t>0.5</a:t>
            </a:r>
            <a:r>
              <a:rPr spc="55" dirty="0"/>
              <a:t> </a:t>
            </a:r>
            <a:r>
              <a:rPr spc="-10" dirty="0"/>
              <a:t>recall.</a:t>
            </a:r>
          </a:p>
        </p:txBody>
      </p:sp>
      <p:sp>
        <p:nvSpPr>
          <p:cNvPr id="8" name="object 8"/>
          <p:cNvSpPr/>
          <p:nvPr/>
        </p:nvSpPr>
        <p:spPr>
          <a:xfrm>
            <a:off x="359994" y="2446096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11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0" dirty="0"/>
              <a:t>Contributions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4320540" cy="5080"/>
            </a:xfrm>
            <a:custGeom>
              <a:avLst/>
              <a:gdLst/>
              <a:ahLst/>
              <a:cxnLst/>
              <a:rect l="l" t="t" r="r" b="b"/>
              <a:pathLst>
                <a:path w="4320540" h="5079">
                  <a:moveTo>
                    <a:pt x="0" y="5060"/>
                  </a:moveTo>
                  <a:lnTo>
                    <a:pt x="0" y="0"/>
                  </a:lnTo>
                  <a:lnTo>
                    <a:pt x="4320055" y="0"/>
                  </a:lnTo>
                  <a:lnTo>
                    <a:pt x="432005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852853"/>
            <a:ext cx="5064125" cy="168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Architectural.</a:t>
            </a:r>
            <a:r>
              <a:rPr sz="1100" b="1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Anchoring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extracted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behaviour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turns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an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open-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domain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search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over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691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techniques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into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closed-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set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choice;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ranking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without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constraint </a:t>
            </a:r>
            <a:r>
              <a:rPr sz="1100" spc="-95" dirty="0">
                <a:solidFill>
                  <a:srgbClr val="22373A"/>
                </a:solidFill>
                <a:latin typeface="Arial MT"/>
                <a:cs typeface="Arial MT"/>
              </a:rPr>
              <a:t>scores</a:t>
            </a:r>
            <a:r>
              <a:rPr sz="1100" spc="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near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zero.</a:t>
            </a:r>
            <a:endParaRPr sz="1100">
              <a:latin typeface="Arial MT"/>
              <a:cs typeface="Arial MT"/>
            </a:endParaRPr>
          </a:p>
          <a:p>
            <a:pPr marL="12700" marR="460375">
              <a:lnSpc>
                <a:spcPct val="118000"/>
              </a:lnSpc>
              <a:spcBef>
                <a:spcPts val="1090"/>
              </a:spcBef>
            </a:pP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Empirical.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Three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models,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two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datasets,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one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consumer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laptop;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ranking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is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dataset-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dependent,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3B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remains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viable.</a:t>
            </a:r>
            <a:endParaRPr sz="1100">
              <a:latin typeface="Arial MT"/>
              <a:cs typeface="Arial MT"/>
            </a:endParaRPr>
          </a:p>
          <a:p>
            <a:pPr marL="12700" marR="255270">
              <a:lnSpc>
                <a:spcPct val="118000"/>
              </a:lnSpc>
              <a:spcBef>
                <a:spcPts val="1085"/>
              </a:spcBef>
            </a:pP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Evaluative.</a:t>
            </a:r>
            <a:r>
              <a:rPr sz="11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dual-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metric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framework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separating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correctness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from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grounding,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using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only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ground-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truth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labels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retrieved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context.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12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60" dirty="0"/>
              <a:t>Conclusions</a:t>
            </a:r>
            <a:r>
              <a:rPr spc="15" dirty="0"/>
              <a:t> </a:t>
            </a:r>
            <a:r>
              <a:rPr dirty="0"/>
              <a:t>and</a:t>
            </a:r>
            <a:r>
              <a:rPr spc="10" dirty="0"/>
              <a:t> </a:t>
            </a:r>
            <a:r>
              <a:rPr dirty="0"/>
              <a:t>future</a:t>
            </a:r>
            <a:r>
              <a:rPr spc="15" dirty="0"/>
              <a:t> </a:t>
            </a:r>
            <a:r>
              <a:rPr spc="-20" dirty="0"/>
              <a:t>work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4680585" cy="5080"/>
            </a:xfrm>
            <a:custGeom>
              <a:avLst/>
              <a:gdLst/>
              <a:ahLst/>
              <a:cxnLst/>
              <a:rect l="l" t="t" r="r" b="b"/>
              <a:pathLst>
                <a:path w="4680585" h="5079">
                  <a:moveTo>
                    <a:pt x="0" y="5060"/>
                  </a:moveTo>
                  <a:lnTo>
                    <a:pt x="0" y="0"/>
                  </a:lnTo>
                  <a:lnTo>
                    <a:pt x="4680059" y="0"/>
                  </a:lnTo>
                  <a:lnTo>
                    <a:pt x="46800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909863"/>
            <a:ext cx="5044440" cy="14973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24790">
              <a:lnSpc>
                <a:spcPct val="118000"/>
              </a:lnSpc>
              <a:spcBef>
                <a:spcPts val="100"/>
              </a:spcBef>
            </a:pP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Behaviour-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anchored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improved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classification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D7DB8"/>
                </a:solidFill>
                <a:latin typeface="Arial MT"/>
                <a:cs typeface="Arial MT"/>
              </a:rPr>
              <a:t>every</a:t>
            </a:r>
            <a:r>
              <a:rPr sz="1100" spc="30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tested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condition;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every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remaining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error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traces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to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extraction,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not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retrieval.</a:t>
            </a:r>
            <a:endParaRPr sz="11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100">
              <a:latin typeface="Arial MT"/>
              <a:cs typeface="Arial MT"/>
            </a:endParaRPr>
          </a:p>
          <a:p>
            <a:pPr marL="287655" marR="791210" indent="-130810">
              <a:lnSpc>
                <a:spcPct val="114599"/>
              </a:lnSpc>
              <a:buChar char="•"/>
              <a:tabLst>
                <a:tab pos="289560" algn="l"/>
              </a:tabLst>
            </a:pP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Richer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alert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representation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rgbClr val="22373A"/>
                </a:solidFill>
                <a:latin typeface="Microsoft Sans Serif"/>
                <a:cs typeface="Microsoft Sans Serif"/>
              </a:rPr>
              <a:t>–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payload,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temporal,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cross-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host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context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rgbClr val="22373A"/>
                </a:solidFill>
                <a:latin typeface="Microsoft Sans Serif"/>
                <a:cs typeface="Microsoft Sans Serif"/>
              </a:rPr>
              <a:t>–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the 	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highest-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leverage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next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step</a:t>
            </a:r>
            <a:endParaRPr sz="1000">
              <a:latin typeface="Microsoft Sans Serif"/>
              <a:cs typeface="Microsoft Sans Serif"/>
            </a:endParaRPr>
          </a:p>
          <a:p>
            <a:pPr marL="287655" indent="-130810">
              <a:lnSpc>
                <a:spcPct val="100000"/>
              </a:lnSpc>
              <a:spcBef>
                <a:spcPts val="770"/>
              </a:spcBef>
              <a:buChar char="•"/>
              <a:tabLst>
                <a:tab pos="287655" algn="l"/>
              </a:tabLst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bridge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curated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blind to 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evaluation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data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would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settle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circularity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question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directly</a:t>
            </a:r>
            <a:endParaRPr sz="1000">
              <a:latin typeface="Microsoft Sans Serif"/>
              <a:cs typeface="Microsoft Sans Serif"/>
            </a:endParaRPr>
          </a:p>
          <a:p>
            <a:pPr marL="287655" indent="-130810">
              <a:lnSpc>
                <a:spcPct val="100000"/>
              </a:lnSpc>
              <a:spcBef>
                <a:spcPts val="775"/>
              </a:spcBef>
              <a:buChar char="•"/>
              <a:tabLst>
                <a:tab pos="287655" algn="l"/>
              </a:tabLst>
            </a:pP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Iterative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retrieval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and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expert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evaluation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of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report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quality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13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5040630" cy="5080"/>
            </a:xfrm>
            <a:custGeom>
              <a:avLst/>
              <a:gdLst/>
              <a:ahLst/>
              <a:cxnLst/>
              <a:rect l="l" t="t" r="r" b="b"/>
              <a:pathLst>
                <a:path w="5040630" h="5079">
                  <a:moveTo>
                    <a:pt x="0" y="5060"/>
                  </a:moveTo>
                  <a:lnTo>
                    <a:pt x="0" y="0"/>
                  </a:lnTo>
                  <a:lnTo>
                    <a:pt x="5040064" y="0"/>
                  </a:lnTo>
                  <a:lnTo>
                    <a:pt x="50400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401966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980667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557488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7294" y="2251594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3311" y="380452"/>
            <a:ext cx="4799330" cy="256413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ct val="83900"/>
              </a:lnSpc>
              <a:spcBef>
                <a:spcPts val="30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L.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Gao,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X.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Ma, J.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Lin,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J.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Callan,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Precise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Zero-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Shot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Dense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Retrieval without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Relevance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Labels,”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of the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61st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Annual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Meeting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of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the </a:t>
            </a:r>
            <a:r>
              <a:rPr sz="1000" i="1" spc="-35" dirty="0">
                <a:solidFill>
                  <a:srgbClr val="6E7B7D"/>
                </a:solidFill>
                <a:latin typeface="Arial"/>
                <a:cs typeface="Arial"/>
              </a:rPr>
              <a:t>Association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for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Computational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Linguistics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(Volume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1: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Long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Papers)</a:t>
            </a:r>
            <a:r>
              <a:rPr sz="1000" spc="-4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Association</a:t>
            </a:r>
            <a:r>
              <a:rPr sz="1000" spc="1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for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Computational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Linguistics,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2023,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pp.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1762–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1777.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2"/>
              </a:rPr>
              <a:t>10.18653/v1/2023.acl-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2"/>
              </a:rPr>
              <a:t>long.99</a:t>
            </a:r>
            <a:endParaRPr sz="1000">
              <a:latin typeface="Georgia"/>
              <a:cs typeface="Georgia"/>
            </a:endParaRPr>
          </a:p>
          <a:p>
            <a:pPr marL="12700" marR="146685">
              <a:lnSpc>
                <a:spcPct val="83500"/>
              </a:lnSpc>
              <a:spcBef>
                <a:spcPts val="34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Geng,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Josifoski,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M.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Peyrard,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West,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Grammar-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Constrained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Decoding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Structured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NLP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Finetuning,”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EMNLP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2023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-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2023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on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Empirical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Methods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Processing,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2023.</a:t>
            </a:r>
            <a:r>
              <a:rPr sz="1000" spc="17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7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10.18653/v1/2023.emnlp-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main.674</a:t>
            </a:r>
            <a:endParaRPr sz="1000">
              <a:latin typeface="Georgia"/>
              <a:cs typeface="Georgia"/>
            </a:endParaRPr>
          </a:p>
          <a:p>
            <a:pPr marL="12700" marR="71755">
              <a:lnSpc>
                <a:spcPct val="83300"/>
              </a:lnSpc>
              <a:spcBef>
                <a:spcPts val="34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N.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5" dirty="0">
                <a:solidFill>
                  <a:srgbClr val="22373A"/>
                </a:solidFill>
                <a:latin typeface="Arial MT"/>
                <a:cs typeface="Arial MT"/>
              </a:rPr>
              <a:t>Reimers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Gurevych,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Sentence-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BERT: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Sentence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5" dirty="0">
                <a:solidFill>
                  <a:srgbClr val="22373A"/>
                </a:solidFill>
                <a:latin typeface="Arial"/>
                <a:cs typeface="Arial"/>
              </a:rPr>
              <a:t>embeddings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using </a:t>
            </a:r>
            <a:r>
              <a:rPr sz="1100" b="1" spc="-65" dirty="0">
                <a:solidFill>
                  <a:srgbClr val="22373A"/>
                </a:solidFill>
                <a:latin typeface="Arial"/>
                <a:cs typeface="Arial"/>
              </a:rPr>
              <a:t>siamese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BERT-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networks,”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EMNLP-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IJCNLP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2019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-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2019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on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Empirical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Methods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Processing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and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9th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International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Joint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on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Processing,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of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the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spc="-5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2019.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3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: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10.18653/v1/D19-</a:t>
            </a:r>
            <a:r>
              <a:rPr sz="1000" spc="-2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1410</a:t>
            </a:r>
            <a:endParaRPr sz="1000">
              <a:latin typeface="Georgia"/>
              <a:cs typeface="Georgia"/>
            </a:endParaRPr>
          </a:p>
          <a:p>
            <a:pPr marL="12700">
              <a:lnSpc>
                <a:spcPts val="1215"/>
              </a:lnSpc>
              <a:spcBef>
                <a:spcPts val="5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B.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E.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Strom,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Applebaum,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D.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P.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Miller,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K.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C.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Nickels,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G.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Pennington,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endParaRPr sz="1100">
              <a:latin typeface="Arial MT"/>
              <a:cs typeface="Arial MT"/>
            </a:endParaRPr>
          </a:p>
          <a:p>
            <a:pPr marL="12700" marR="177165">
              <a:lnSpc>
                <a:spcPct val="83500"/>
              </a:lnSpc>
              <a:spcBef>
                <a:spcPts val="11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C.</a:t>
            </a:r>
            <a:r>
              <a:rPr sz="1100" spc="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B.</a:t>
            </a:r>
            <a:r>
              <a:rPr sz="1100" spc="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Thomas,</a:t>
            </a:r>
            <a:r>
              <a:rPr sz="1100" spc="8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MITRE</a:t>
            </a:r>
            <a:r>
              <a:rPr sz="11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ATT&amp;CK: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Design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Philosophy,”</a:t>
            </a:r>
            <a:r>
              <a:rPr sz="11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The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MITRE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Corporation,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Tech.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Rep.,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2018.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[Online].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Available: </a:t>
            </a:r>
            <a:r>
              <a:rPr sz="1000" spc="6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https://www.mitre.org/sites/default/files/publications/pr-</a:t>
            </a:r>
            <a:r>
              <a:rPr sz="1000" spc="65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18-</a:t>
            </a:r>
            <a:r>
              <a:rPr sz="1000" spc="-2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0944-</a:t>
            </a:r>
            <a:r>
              <a:rPr sz="1000" spc="105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11-</a:t>
            </a:r>
            <a:r>
              <a:rPr sz="1000" spc="55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mitre-</a:t>
            </a:r>
            <a:r>
              <a:rPr sz="1000" spc="85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attack-</a:t>
            </a:r>
            <a:r>
              <a:rPr sz="1000" spc="55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design-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and-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philosophy.pdf</a:t>
            </a:r>
            <a:endParaRPr sz="1000">
              <a:latin typeface="Georgia"/>
              <a:cs typeface="Georgi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14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5400675" cy="5080"/>
            </a:xfrm>
            <a:custGeom>
              <a:avLst/>
              <a:gdLst/>
              <a:ahLst/>
              <a:cxnLst/>
              <a:rect l="l" t="t" r="r" b="b"/>
              <a:pathLst>
                <a:path w="5400675" h="5079">
                  <a:moveTo>
                    <a:pt x="0" y="5060"/>
                  </a:moveTo>
                  <a:lnTo>
                    <a:pt x="0" y="0"/>
                  </a:lnTo>
                  <a:lnTo>
                    <a:pt x="5400069" y="0"/>
                  </a:lnTo>
                  <a:lnTo>
                    <a:pt x="54000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584554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161210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886837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7294" y="2326118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3311" y="563040"/>
            <a:ext cx="4784090" cy="220218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 marR="79375">
              <a:lnSpc>
                <a:spcPct val="83400"/>
              </a:lnSpc>
              <a:spcBef>
                <a:spcPts val="31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F.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Blefari,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C.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Cosentino,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 Pironti, A.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Furfaro,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F.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Marozzo,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CyberRAG: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agentic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RAG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cyber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attack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classification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reporting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tool,”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Future </a:t>
            </a:r>
            <a:r>
              <a:rPr sz="1000" i="1" spc="-45" dirty="0">
                <a:solidFill>
                  <a:srgbClr val="6E7B7D"/>
                </a:solidFill>
                <a:latin typeface="Arial"/>
                <a:cs typeface="Arial"/>
              </a:rPr>
              <a:t>Generation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5" dirty="0">
                <a:solidFill>
                  <a:srgbClr val="6E7B7D"/>
                </a:solidFill>
                <a:latin typeface="Arial"/>
                <a:cs typeface="Arial"/>
              </a:rPr>
              <a:t>Computer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Systems</a:t>
            </a:r>
            <a:r>
              <a:rPr sz="1000" spc="-5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176,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2026,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6E7B7D"/>
                </a:solidFill>
                <a:latin typeface="Microsoft Sans Serif"/>
                <a:cs typeface="Microsoft Sans Serif"/>
              </a:rPr>
              <a:t>0167739X.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3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: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2"/>
              </a:rPr>
              <a:t>10.1016/j.future.2025.108186</a:t>
            </a:r>
            <a:endParaRPr sz="1000">
              <a:latin typeface="Georgia"/>
              <a:cs typeface="Georgia"/>
            </a:endParaRPr>
          </a:p>
          <a:p>
            <a:pPr marL="12700" marR="120650">
              <a:lnSpc>
                <a:spcPct val="87000"/>
              </a:lnSpc>
              <a:spcBef>
                <a:spcPts val="29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S.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Bussari,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P.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Punj,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G.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Balakumar,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RAGSec: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Retrieval-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Augmented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Generation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Cybersecurity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Threat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Enterprise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Networks,”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2026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IEEE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5th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International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on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AI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5" dirty="0">
                <a:solidFill>
                  <a:srgbClr val="6E7B7D"/>
                </a:solidFill>
                <a:latin typeface="Arial"/>
                <a:cs typeface="Arial"/>
              </a:rPr>
              <a:t>Cybersecurity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(ICAIC)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3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pp.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1–6,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Feb.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2026.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10.1109/ICAIC67076.2026.11395762</a:t>
            </a:r>
            <a:r>
              <a:rPr sz="1000" spc="145" dirty="0">
                <a:solidFill>
                  <a:srgbClr val="6E7B7D"/>
                </a:solidFill>
                <a:latin typeface="Georgia"/>
                <a:cs typeface="Georgia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[Online].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Available:</a:t>
            </a:r>
            <a:endParaRPr sz="1000">
              <a:latin typeface="Microsoft Sans Serif"/>
              <a:cs typeface="Microsoft Sans Serif"/>
            </a:endParaRPr>
          </a:p>
          <a:p>
            <a:pPr marL="12700">
              <a:lnSpc>
                <a:spcPts val="1040"/>
              </a:lnSpc>
            </a:pP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https://ieeexplore.ieee.org/document/11395762</a:t>
            </a:r>
            <a:endParaRPr sz="1000">
              <a:latin typeface="Georgia"/>
              <a:cs typeface="Georgia"/>
            </a:endParaRPr>
          </a:p>
          <a:p>
            <a:pPr marL="12700" marR="5080">
              <a:lnSpc>
                <a:spcPct val="84100"/>
              </a:lnSpc>
              <a:spcBef>
                <a:spcPts val="330"/>
              </a:spcBef>
            </a:pP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Ismail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et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al.,</a:t>
            </a:r>
            <a:r>
              <a:rPr sz="1100" spc="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5" dirty="0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11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Operations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Center:</a:t>
            </a:r>
            <a:r>
              <a:rPr sz="11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Wazuh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Event </a:t>
            </a:r>
            <a:r>
              <a:rPr sz="1100" b="1" spc="-75" dirty="0">
                <a:solidFill>
                  <a:srgbClr val="22373A"/>
                </a:solidFill>
                <a:latin typeface="Arial"/>
                <a:cs typeface="Arial"/>
              </a:rPr>
              <a:t>Response</a:t>
            </a:r>
            <a:r>
              <a:rPr sz="11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Retrieval-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Augmented-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Generation-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Driven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Copilot,”</a:t>
            </a:r>
            <a:r>
              <a:rPr sz="11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Sensors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25,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no.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3,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2025,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6E7B7D"/>
                </a:solidFill>
                <a:latin typeface="Microsoft Sans Serif"/>
                <a:cs typeface="Microsoft Sans Serif"/>
              </a:rPr>
              <a:t>14248220.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10.3390/s25030870</a:t>
            </a:r>
            <a:endParaRPr sz="1000">
              <a:latin typeface="Georgia"/>
              <a:cs typeface="Georgia"/>
            </a:endParaRPr>
          </a:p>
          <a:p>
            <a:pPr marL="12700" marR="97790">
              <a:lnSpc>
                <a:spcPct val="84100"/>
              </a:lnSpc>
              <a:spcBef>
                <a:spcPts val="235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Qiao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et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al.,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60" dirty="0">
                <a:solidFill>
                  <a:srgbClr val="22373A"/>
                </a:solidFill>
                <a:latin typeface="Arial"/>
                <a:cs typeface="Arial"/>
              </a:rPr>
              <a:t>SauronEyes: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Disentangling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Voluminous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60" dirty="0">
                <a:solidFill>
                  <a:srgbClr val="22373A"/>
                </a:solidFill>
                <a:latin typeface="Arial"/>
                <a:cs typeface="Arial"/>
              </a:rPr>
              <a:t>Logs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Unveil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Camouflaged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Intentions,”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IEEE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Transactions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on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Information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70" dirty="0">
                <a:solidFill>
                  <a:srgbClr val="6E7B7D"/>
                </a:solidFill>
                <a:latin typeface="Arial"/>
                <a:cs typeface="Arial"/>
              </a:rPr>
              <a:t>Forensics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and Security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20,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2025,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6E7B7D"/>
                </a:solidFill>
                <a:latin typeface="Microsoft Sans Serif"/>
                <a:cs typeface="Microsoft Sans Serif"/>
              </a:rPr>
              <a:t>15566021.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10.1109/TIFS.2025.3618381</a:t>
            </a:r>
            <a:endParaRPr sz="1000">
              <a:latin typeface="Georgia"/>
              <a:cs typeface="Georgi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15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047849" y="1542700"/>
            <a:ext cx="1665605" cy="354584"/>
          </a:xfrm>
          <a:prstGeom prst="rect">
            <a:avLst/>
          </a:prstGeom>
        </p:spPr>
        <p:txBody>
          <a:bodyPr vert="horz" wrap="square" lIns="0" tIns="13779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85"/>
              </a:spcBef>
            </a:pPr>
            <a:r>
              <a:rPr sz="1400" b="1" spc="50" dirty="0">
                <a:solidFill>
                  <a:srgbClr val="FFFFFF"/>
                </a:solidFill>
                <a:latin typeface="Arial"/>
                <a:cs typeface="Arial"/>
              </a:rPr>
              <a:t>Thank</a:t>
            </a:r>
            <a:r>
              <a:rPr sz="1400" b="1" spc="1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400" b="1" spc="-25" dirty="0">
                <a:solidFill>
                  <a:srgbClr val="FFFFFF"/>
                </a:solidFill>
                <a:latin typeface="Arial"/>
                <a:cs typeface="Arial"/>
              </a:rPr>
              <a:t>you</a:t>
            </a:r>
            <a:endParaRPr sz="1400" dirty="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16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1467</Words>
  <Application>Microsoft Office PowerPoint</Application>
  <PresentationFormat>Custom</PresentationFormat>
  <Paragraphs>185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Arial MT</vt:lpstr>
      <vt:lpstr>Arial</vt:lpstr>
      <vt:lpstr>Cambria</vt:lpstr>
      <vt:lpstr>Georgia</vt:lpstr>
      <vt:lpstr>Lucida Sans Unicode</vt:lpstr>
      <vt:lpstr>Microsoft Sans Serif</vt:lpstr>
      <vt:lpstr>Microsoft Tai Le</vt:lpstr>
      <vt:lpstr>Times New Roman</vt:lpstr>
      <vt:lpstr>Trebuchet MS</vt:lpstr>
      <vt:lpstr>Office Theme</vt:lpstr>
      <vt:lpstr>From Fragmented Alerts to Actionable Intelligence:</vt:lpstr>
      <vt:lpstr>The problem</vt:lpstr>
      <vt:lpstr>The claim</vt:lpstr>
      <vt:lpstr>The pipeline</vt:lpstr>
      <vt:lpstr>From alerts to a scoped candidate set</vt:lpstr>
      <vt:lpstr>Experimental setup</vt:lpstr>
      <vt:lpstr>Classification results (CIC-IDS)</vt:lpstr>
      <vt:lpstr>Where the errors come from</vt:lpstr>
      <vt:lpstr>Is the graph actually doing the work?</vt:lpstr>
      <vt:lpstr>Transfer to host audit logs (DARPA)</vt:lpstr>
      <vt:lpstr>Correctness and grounding can diverge</vt:lpstr>
      <vt:lpstr>Limitations</vt:lpstr>
      <vt:lpstr>Contributions</vt:lpstr>
      <vt:lpstr>Conclusions and future work</vt:lpstr>
      <vt:lpstr>References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Fragmented Alerts to Actionable Intelligence: - Behaviour-Anchored Retrieval for Incident Reporting on SIEM Log Streams</dc:title>
  <dc:creator>Joel Isaria Mwende, Prof. Dr. Reiner Creutzburg , Navaneeth Shivananjappa, Prof. Dr. Tuğçe Ballı</dc:creator>
  <cp:lastModifiedBy>MWENDE JOEL ISARIA</cp:lastModifiedBy>
  <cp:revision>2</cp:revision>
  <dcterms:created xsi:type="dcterms:W3CDTF">2026-09-07T10:13:25Z</dcterms:created>
  <dcterms:modified xsi:type="dcterms:W3CDTF">2026-09-07T10:16:01Z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2026-09-07T00:00:00Z</vt:filetime>
  </property>
  <property fmtid="{D5CDD505-2E9C-101B-9397-08002B2CF9AE}" pid="4" name="Creator">
    <vt:lpwstr>LaTeX with Beamer class</vt:lpwstr>
  </property>
  <property fmtid="{D5CDD505-2E9C-101B-9397-08002B2CF9AE}" pid="5" name="LastSaved">
    <vt:filetime>2026-09-07T00:00:00Z</vt:filetime>
  </property>
  <property fmtid="{D5CDD505-2E9C-101B-9397-08002B2CF9AE}" pid="6" name="PTEX.Fullbanner">
    <vt:lpwstr>This is pdfTeX, Version 3.141592653-2.6-1.40.29 (TeX Live 2026) kpathsea version 6.4.2</vt:lpwstr>
  </property>
  <property fmtid="{D5CDD505-2E9C-101B-9397-08002B2CF9AE}" pid="7" name="Producer">
    <vt:lpwstr>pdfTeX-1.40.29</vt:lpwstr>
  </property>
</Properties>
</file>