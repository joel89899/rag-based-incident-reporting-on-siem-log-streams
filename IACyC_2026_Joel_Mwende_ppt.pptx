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14" d="100"/>
          <a:sy n="214" d="100"/>
        </p:scale>
        <p:origin x="918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77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TO USE THESE NOTES</a:t>
            </a:r>
          </a:p>
          <a:p>
            <a:r>
              <a:t>Every slide has a [~X min] tag: that is your ON-STAGE time budget for a 20-minute</a:t>
            </a:r>
          </a:p>
          <a:p>
            <a:r>
              <a:t>talk (about 18 minutes of talking, leaving a couple of minutes of slack for</a:t>
            </a:r>
          </a:p>
          <a:p>
            <a:r>
              <a:t>nerves, a slow laptop, or the chair running late). The "WHAT TO SAY" section is</a:t>
            </a:r>
          </a:p>
          <a:p>
            <a:r>
              <a:t>what to actually try to say out loud in that time - keep it conversational, not</a:t>
            </a:r>
          </a:p>
          <a:p>
            <a:r>
              <a:t>read word for word. Everything under "KEY TERMS" and "WHAT THE RESULT MEANS" is</a:t>
            </a:r>
          </a:p>
          <a:p>
            <a:r>
              <a:t>for YOU to read beforehand so you understand the material cold and can answer</a:t>
            </a:r>
          </a:p>
          <a:p>
            <a:r>
              <a:t>follow-up questions confidently - you do not need to recite those definitions on</a:t>
            </a:r>
          </a:p>
          <a:p>
            <a:r>
              <a:t>stage unless someone in the room clearly does not know the term.</a:t>
            </a:r>
          </a:p>
          <a:p>
            <a:endParaRPr/>
          </a:p>
          <a:p>
            <a:r>
              <a:t>[~0:30]</a:t>
            </a:r>
          </a:p>
          <a:p>
            <a:endParaRPr/>
          </a:p>
          <a:p>
            <a:r>
              <a:t>WHY THIS SLIDE</a:t>
            </a:r>
          </a:p>
          <a:p>
            <a:r>
              <a:t>This is the only slide where the room is not yet listening for content - they are</a:t>
            </a:r>
          </a:p>
          <a:p>
            <a:r>
              <a:t>sizing you up. Speak slowly, make eye contact, do not rush the title.</a:t>
            </a:r>
          </a:p>
          <a:p>
            <a:endParaRPr/>
          </a:p>
          <a:p>
            <a:r>
              <a:t>WHAT TO SAY</a:t>
            </a:r>
          </a:p>
          <a:p>
            <a:r>
              <a:t>"Good [morning/afternoon], I'm Joel Mwende. This is joint work with my</a:t>
            </a:r>
          </a:p>
          <a:p>
            <a:r>
              <a:t>supervisors, Professor Reiner Creutzburg and Professor Tuğçe Ballı, and my</a:t>
            </a:r>
          </a:p>
          <a:p>
            <a:r>
              <a:t>co-supervisor Navaneeth Shivananjappa - I did this as my master's thesis in the</a:t>
            </a:r>
          </a:p>
          <a:p>
            <a:r>
              <a:t>CyberMACS programme, jointly between SRH Berlin and Kadir Has University, so it's</a:t>
            </a:r>
          </a:p>
          <a:p>
            <a:r>
              <a:t>good to be presenting it here in Istanbul. The title's a mouthful, so let me</a:t>
            </a:r>
          </a:p>
          <a:p>
            <a:r>
              <a:t>translate it into one sentence: we take a pile of raw security alerts, and we</a:t>
            </a:r>
          </a:p>
          <a:p>
            <a:r>
              <a:t>build a system that turns them into a trustworthy incident report, and the trick</a:t>
            </a:r>
          </a:p>
          <a:p>
            <a:r>
              <a:t>that makes it trustworthy is anchoring the AI's search step in the actual</a:t>
            </a:r>
          </a:p>
          <a:p>
            <a:r>
              <a:t>behaviour it sees - rather than letting it search freely and hope for the best."</a:t>
            </a:r>
          </a:p>
          <a:p>
            <a:endParaRPr/>
          </a:p>
          <a:p>
            <a:r>
              <a:t>KEY TERMS</a:t>
            </a:r>
          </a:p>
          <a:p>
            <a:r>
              <a:t>SIEM: Security Information and Event Management - the software a company's</a:t>
            </a:r>
          </a:p>
          <a:p>
            <a:r>
              <a:t>security team uses to collect every security-relevant log (failed logins,</a:t>
            </a:r>
          </a:p>
          <a:p>
            <a:r>
              <a:t>network traffic, firewall alerts) into one place, so analysts have one screen</a:t>
            </a:r>
          </a:p>
          <a:p>
            <a:r>
              <a:t>to watch instead of a hundred different systems.</a:t>
            </a:r>
          </a:p>
          <a:p>
            <a:r>
              <a:t>SOC: Security Operations Centre - the team of analysts who watch a SIEM around</a:t>
            </a:r>
          </a:p>
          <a:p>
            <a:r>
              <a:t>the clock and decide which alerts are real problems.</a:t>
            </a:r>
          </a:p>
          <a:p>
            <a:endParaRPr/>
          </a:p>
          <a:p>
            <a:r>
              <a:t>IF ASKED / IF STUCK</a:t>
            </a:r>
          </a:p>
          <a:p>
            <a:r>
              <a:t>If your mind blanks here, just say your name and "this is about making AI</a:t>
            </a:r>
          </a:p>
          <a:p>
            <a:r>
              <a:t>security tools that can be trusted, and that run without sending your data to</a:t>
            </a:r>
          </a:p>
          <a:p>
            <a:r>
              <a:t>the cloud" - that one sentence is the entire talk in miniature, and everything</a:t>
            </a:r>
          </a:p>
          <a:p>
            <a:r>
              <a:t>else is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[~1:00]</a:t>
            </a:r>
          </a:p>
          <a:p>
            <a:endParaRPr dirty="0"/>
          </a:p>
          <a:p>
            <a:r>
              <a:rPr dirty="0"/>
              <a:t>WHY THIS SLIDE</a:t>
            </a:r>
          </a:p>
          <a:p>
            <a:r>
              <a:rPr dirty="0"/>
              <a:t>Before anyone cares about your solution, they need to feel the problem. This is</a:t>
            </a:r>
          </a:p>
          <a:p>
            <a:r>
              <a:rPr dirty="0"/>
              <a:t>the classic opening move in any research talk: establish why anyone in the room</a:t>
            </a:r>
          </a:p>
          <a:p>
            <a:r>
              <a:rPr dirty="0"/>
              <a:t>should spend the next 18 minutes listening to you.</a:t>
            </a:r>
          </a:p>
          <a:p>
            <a:endParaRPr dirty="0"/>
          </a:p>
          <a:p>
            <a:r>
              <a:rPr dirty="0"/>
              <a:t>WHAT TO SAY</a:t>
            </a:r>
          </a:p>
          <a:p>
            <a:r>
              <a:rPr dirty="0"/>
              <a:t>Paint a concrete picture rather than reading the bullets: "Imagine a bank's</a:t>
            </a:r>
          </a:p>
          <a:p>
            <a:r>
              <a:rPr dirty="0"/>
              <a:t>security team. Every second, alerts are firing - someone's VPN login looked odd,</a:t>
            </a:r>
          </a:p>
          <a:p>
            <a:r>
              <a:rPr dirty="0"/>
              <a:t>a server got an unusual number of connections, a file changed permissions.</a:t>
            </a:r>
          </a:p>
          <a:p>
            <a:r>
              <a:rPr dirty="0"/>
              <a:t>Thousands of these a day. The vast majority are nothing - a false alarm - but</a:t>
            </a:r>
          </a:p>
          <a:p>
            <a:r>
              <a:rPr dirty="0"/>
              <a:t>somewhere in that pile might be one real attacker. Four things make this</a:t>
            </a:r>
          </a:p>
          <a:p>
            <a:r>
              <a:rPr dirty="0"/>
              <a:t>genuinely hard today." Then hit the four bullets in your own words: </a:t>
            </a:r>
            <a:endParaRPr lang="en-GB" dirty="0"/>
          </a:p>
          <a:p>
            <a:r>
              <a:rPr dirty="0"/>
              <a:t>(1) </a:t>
            </a:r>
            <a:r>
              <a:rPr lang="en-GB" dirty="0"/>
              <a:t>T</a:t>
            </a:r>
            <a:r>
              <a:rPr dirty="0"/>
              <a:t>he</a:t>
            </a:r>
            <a:r>
              <a:rPr lang="en-GB" dirty="0"/>
              <a:t> </a:t>
            </a:r>
            <a:r>
              <a:rPr dirty="0"/>
              <a:t>sheer volume plus how many are noise, </a:t>
            </a:r>
            <a:endParaRPr lang="en-GB" dirty="0"/>
          </a:p>
          <a:p>
            <a:r>
              <a:rPr dirty="0"/>
              <a:t>(2) tools look at each alert in isolation</a:t>
            </a:r>
            <a:r>
              <a:rPr lang="en-GB" dirty="0"/>
              <a:t> </a:t>
            </a:r>
            <a:r>
              <a:rPr dirty="0"/>
              <a:t>and lose the story of an attack that unfolds across many alerts, (3) when an AI</a:t>
            </a:r>
            <a:r>
              <a:rPr lang="en-GB" dirty="0"/>
              <a:t> </a:t>
            </a:r>
            <a:r>
              <a:rPr dirty="0"/>
              <a:t>writes a report, we currently judge it by whether it "reads well," not whether</a:t>
            </a:r>
          </a:p>
          <a:p>
            <a:r>
              <a:rPr dirty="0"/>
              <a:t>it's actually correct against a real authority, and </a:t>
            </a:r>
            <a:endParaRPr lang="en-GB" dirty="0"/>
          </a:p>
          <a:p>
            <a:r>
              <a:rPr dirty="0"/>
              <a:t>(4) most AI tools for this</a:t>
            </a:r>
            <a:r>
              <a:rPr lang="en-GB" dirty="0"/>
              <a:t> </a:t>
            </a:r>
            <a:r>
              <a:rPr dirty="0"/>
              <a:t>send your logs to someone else's cloud server, which is simply not allowed for</a:t>
            </a:r>
          </a:p>
          <a:p>
            <a:r>
              <a:rPr dirty="0"/>
              <a:t>a bank, a hospital, or a government network.</a:t>
            </a:r>
          </a:p>
          <a:p>
            <a:endParaRPr dirty="0"/>
          </a:p>
          <a:p>
            <a:r>
              <a:rPr dirty="0"/>
              <a:t>KEY TERMS</a:t>
            </a:r>
          </a:p>
          <a:p>
            <a:r>
              <a:rPr dirty="0"/>
              <a:t>False positive: an alert that LOOKS suspicious but turns out to be harmless -</a:t>
            </a:r>
          </a:p>
          <a:p>
            <a:r>
              <a:rPr dirty="0"/>
              <a:t>e.g. an employee mistypes their password three times in a row and it looks</a:t>
            </a:r>
          </a:p>
          <a:p>
            <a:r>
              <a:rPr dirty="0"/>
              <a:t>identical, statistically, to the start of a brute-force attack.</a:t>
            </a:r>
          </a:p>
          <a:p>
            <a:r>
              <a:rPr dirty="0"/>
              <a:t>False positive rate: of all the alerts the system flagged as suspicious, what</a:t>
            </a:r>
          </a:p>
          <a:p>
            <a:r>
              <a:rPr dirty="0"/>
              <a:t>fraction were actually harmless. "Up to 70%" means for every 10 alerts a real</a:t>
            </a:r>
          </a:p>
          <a:p>
            <a:r>
              <a:rPr dirty="0"/>
              <a:t>SOC investigates, as many as 7 can turn out to be nothing - which is exactly</a:t>
            </a:r>
          </a:p>
          <a:p>
            <a:r>
              <a:rPr dirty="0"/>
              <a:t>why analysts get worn down and start ignoring alerts (this is sometimes called</a:t>
            </a:r>
          </a:p>
          <a:p>
            <a:r>
              <a:rPr dirty="0"/>
              <a:t>"alert fatigue," though the slide does not use that exact word).</a:t>
            </a:r>
          </a:p>
          <a:p>
            <a:endParaRPr dirty="0"/>
          </a:p>
          <a:p>
            <a:r>
              <a:rPr dirty="0"/>
              <a:t>WHAT THE RESULT MEANS</a:t>
            </a:r>
          </a:p>
          <a:p>
            <a:r>
              <a:rPr dirty="0"/>
              <a:t>There is no result to interpret here yet - this slide is pure motivation. Do</a:t>
            </a:r>
          </a:p>
          <a:p>
            <a:r>
              <a:rPr dirty="0"/>
              <a:t>not spend time justifying the "10,000" or "70%" numbers; they are industry</a:t>
            </a:r>
          </a:p>
          <a:p>
            <a:r>
              <a:rPr dirty="0"/>
              <a:t>context from the paper's cited sources, not something we measured ourselves.</a:t>
            </a:r>
          </a:p>
          <a:p>
            <a:endParaRPr dirty="0"/>
          </a:p>
          <a:p>
            <a:r>
              <a:rPr dirty="0"/>
              <a:t>IF ASKED / IF STUCK</a:t>
            </a:r>
          </a:p>
          <a:p>
            <a:r>
              <a:rPr dirty="0"/>
              <a:t>If someone asks "is 70% a number you measured?" - no, that is a widely cited</a:t>
            </a:r>
          </a:p>
          <a:p>
            <a:r>
              <a:rPr dirty="0"/>
              <a:t>industry figure from prior published work (cited in the paper), used here only</a:t>
            </a:r>
          </a:p>
          <a:p>
            <a:r>
              <a:rPr dirty="0"/>
              <a:t>to establish the scale of the problem, not as one of our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[~1:15]</a:t>
            </a:r>
          </a:p>
          <a:p>
            <a:endParaRPr dirty="0"/>
          </a:p>
          <a:p>
            <a:r>
              <a:rPr dirty="0"/>
              <a:t>WHY THIS SLIDE</a:t>
            </a:r>
          </a:p>
          <a:p>
            <a:r>
              <a:rPr dirty="0"/>
              <a:t>This is the single sentence of the whole talk a listener should remember even</a:t>
            </a:r>
          </a:p>
          <a:p>
            <a:r>
              <a:rPr dirty="0"/>
              <a:t>if they forget everything else. Slow down here. This is the paper's thesis</a:t>
            </a:r>
          </a:p>
          <a:p>
            <a:r>
              <a:rPr dirty="0"/>
              <a:t>statement.</a:t>
            </a:r>
          </a:p>
          <a:p>
            <a:endParaRPr dirty="0"/>
          </a:p>
          <a:p>
            <a:r>
              <a:rPr dirty="0"/>
              <a:t>WHAT TO SAY</a:t>
            </a:r>
          </a:p>
          <a:p>
            <a:r>
              <a:rPr dirty="0"/>
              <a:t>First explain RAG in one breath, because everything else depends on it: </a:t>
            </a:r>
            <a:endParaRPr lang="en-GB" dirty="0"/>
          </a:p>
          <a:p>
            <a:r>
              <a:rPr dirty="0"/>
              <a:t>"RAG,</a:t>
            </a:r>
            <a:r>
              <a:rPr lang="en-GB" dirty="0"/>
              <a:t> </a:t>
            </a:r>
            <a:r>
              <a:rPr dirty="0"/>
              <a:t>Retrieval-Augmented Generation, means instead of asking an AI to just guess an</a:t>
            </a:r>
            <a:r>
              <a:rPr lang="en-GB" dirty="0"/>
              <a:t> </a:t>
            </a:r>
            <a:r>
              <a:rPr dirty="0"/>
              <a:t>answer from what it </a:t>
            </a:r>
            <a:r>
              <a:rPr dirty="0" err="1"/>
              <a:t>memorised</a:t>
            </a:r>
            <a:r>
              <a:rPr dirty="0"/>
              <a:t> during training, you first go fetch some</a:t>
            </a:r>
            <a:r>
              <a:rPr lang="en-GB" dirty="0"/>
              <a:t> </a:t>
            </a:r>
            <a:r>
              <a:rPr dirty="0"/>
              <a:t>relevant reference material and hand it to the AI as context before it</a:t>
            </a:r>
            <a:r>
              <a:rPr lang="en-GB" dirty="0"/>
              <a:t> </a:t>
            </a:r>
            <a:r>
              <a:rPr dirty="0"/>
              <a:t>answers - like an open-book exam instead of a closed-book one." </a:t>
            </a:r>
            <a:endParaRPr lang="en-GB" dirty="0"/>
          </a:p>
          <a:p>
            <a:endParaRPr lang="en-GB" dirty="0"/>
          </a:p>
          <a:p>
            <a:r>
              <a:rPr dirty="0"/>
              <a:t>Then name the</a:t>
            </a:r>
            <a:r>
              <a:rPr lang="en-GB" dirty="0"/>
              <a:t> </a:t>
            </a:r>
            <a:r>
              <a:rPr dirty="0"/>
              <a:t>problem with how RAG is normally used for this task: "Existing systems search</a:t>
            </a:r>
            <a:r>
              <a:rPr lang="en-GB" dirty="0"/>
              <a:t>. </a:t>
            </a:r>
            <a:r>
              <a:rPr dirty="0"/>
              <a:t>ALL 691 official attack-technique descriptions, blind, for every single alert -</a:t>
            </a:r>
            <a:r>
              <a:rPr lang="en-GB" dirty="0"/>
              <a:t> </a:t>
            </a:r>
            <a:r>
              <a:rPr dirty="0"/>
              <a:t>nothing is ruled out ahead of time." Then state the idea: "We build a small</a:t>
            </a:r>
            <a:r>
              <a:rPr lang="en-GB" dirty="0"/>
              <a:t> </a:t>
            </a:r>
            <a:r>
              <a:rPr dirty="0"/>
              <a:t>knowledge graph from what the alert actually shows the attacker doing, and we</a:t>
            </a:r>
          </a:p>
          <a:p>
            <a:r>
              <a:rPr dirty="0"/>
              <a:t>use that graph to shrink the search down to only the techniques that are</a:t>
            </a:r>
            <a:r>
              <a:rPr lang="en-GB" dirty="0"/>
              <a:t> </a:t>
            </a:r>
            <a:r>
              <a:rPr dirty="0"/>
              <a:t>plausible given the evidence. An open search over 691 options becomes a short,</a:t>
            </a:r>
            <a:r>
              <a:rPr lang="en-GB" dirty="0"/>
              <a:t> </a:t>
            </a:r>
            <a:r>
              <a:rPr dirty="0"/>
              <a:t>justified shortlist." </a:t>
            </a:r>
            <a:endParaRPr lang="en-GB" dirty="0"/>
          </a:p>
          <a:p>
            <a:endParaRPr lang="en-GB" dirty="0"/>
          </a:p>
          <a:p>
            <a:r>
              <a:rPr dirty="0"/>
              <a:t>Close with the falsifiability point: "And we don't just</a:t>
            </a:r>
            <a:r>
              <a:rPr lang="en-GB" dirty="0"/>
              <a:t> </a:t>
            </a:r>
            <a:r>
              <a:rPr dirty="0"/>
              <a:t>claim this helps - we test it directly, by ripping the constraint back out and</a:t>
            </a:r>
            <a:r>
              <a:rPr lang="en-GB" dirty="0"/>
              <a:t> </a:t>
            </a:r>
            <a:r>
              <a:rPr dirty="0"/>
              <a:t>seeing what happens. If performance collapses, that's proof the constraint</a:t>
            </a:r>
          </a:p>
          <a:p>
            <a:r>
              <a:rPr dirty="0"/>
              <a:t>itself is doing the work, not just having a good AI model underneath it."</a:t>
            </a:r>
          </a:p>
          <a:p>
            <a:endParaRPr dirty="0"/>
          </a:p>
          <a:p>
            <a:r>
              <a:rPr dirty="0"/>
              <a:t>KEY TERMS</a:t>
            </a:r>
          </a:p>
          <a:p>
            <a:r>
              <a:rPr dirty="0"/>
              <a:t>MITRE ATT&amp;CK: a free, industry-standard catalogue of about 691 known attacker</a:t>
            </a:r>
          </a:p>
          <a:p>
            <a:r>
              <a:rPr dirty="0"/>
              <a:t>techniques (things like "brute-force a password" or "scan a network for open</a:t>
            </a:r>
          </a:p>
          <a:p>
            <a:r>
              <a:rPr dirty="0"/>
              <a:t>ports"), each with an ID like T1046, maintained by the MITRE Corporation and</a:t>
            </a:r>
          </a:p>
          <a:p>
            <a:r>
              <a:rPr dirty="0"/>
              <a:t>used across the whole cybersecurity industry as a shared vocabulary for</a:t>
            </a:r>
          </a:p>
          <a:p>
            <a:r>
              <a:rPr dirty="0"/>
              <a:t>describing what an attacker did.</a:t>
            </a:r>
          </a:p>
          <a:p>
            <a:r>
              <a:rPr dirty="0"/>
              <a:t>Knowledge graph: a way of storing facts as small (subject, relationship,</a:t>
            </a:r>
          </a:p>
          <a:p>
            <a:r>
              <a:rPr dirty="0"/>
              <a:t>object) statements - e.g. (attacker, scans, port-22-service) - wired together</a:t>
            </a:r>
          </a:p>
          <a:p>
            <a:r>
              <a:rPr dirty="0"/>
              <a:t>into a network, so a computer can follow the connections between facts rather</a:t>
            </a:r>
          </a:p>
          <a:p>
            <a:r>
              <a:rPr dirty="0"/>
              <a:t>than just reading loose paragraphs of text.</a:t>
            </a:r>
          </a:p>
          <a:p>
            <a:r>
              <a:rPr dirty="0"/>
              <a:t>Open-domain similarity search: searching a huge pile of candidates by how</a:t>
            </a:r>
          </a:p>
          <a:p>
            <a:r>
              <a:rPr dirty="0"/>
              <a:t>similar each one numerically "sounds" to your query (via embeddings - defined</a:t>
            </a:r>
          </a:p>
          <a:p>
            <a:r>
              <a:rPr dirty="0"/>
              <a:t>on slide 5/6), with nothing ruled out in advance. The whole haystack is always</a:t>
            </a:r>
          </a:p>
          <a:p>
            <a:r>
              <a:rPr dirty="0"/>
              <a:t>in play.</a:t>
            </a:r>
          </a:p>
          <a:p>
            <a:r>
              <a:rPr dirty="0"/>
              <a:t>Closed-set choice: the opposite - only a short, pre-filtered list of</a:t>
            </a:r>
          </a:p>
          <a:p>
            <a:r>
              <a:rPr dirty="0"/>
              <a:t>candidates is even allowed to be considered, which sharply cuts the chance of</a:t>
            </a:r>
          </a:p>
          <a:p>
            <a:r>
              <a:rPr dirty="0"/>
              <a:t>picking something irrelevant.</a:t>
            </a:r>
          </a:p>
          <a:p>
            <a:endParaRPr dirty="0"/>
          </a:p>
          <a:p>
            <a:r>
              <a:rPr dirty="0"/>
              <a:t>WHAT THE RESULT MEANS</a:t>
            </a:r>
          </a:p>
          <a:p>
            <a:r>
              <a:rPr dirty="0"/>
              <a:t>This slide states the HYPOTHESIS, not a result. The rest of the talk is the</a:t>
            </a:r>
          </a:p>
          <a:p>
            <a:r>
              <a:rPr dirty="0"/>
              <a:t>evidence for and against it.</a:t>
            </a:r>
          </a:p>
          <a:p>
            <a:endParaRPr dirty="0"/>
          </a:p>
          <a:p>
            <a:r>
              <a:rPr dirty="0"/>
              <a:t>IF ASKED / IF STUCK</a:t>
            </a:r>
          </a:p>
          <a:p>
            <a:r>
              <a:rPr dirty="0"/>
              <a:t>If pressed "how is this different from normal RAG?" - normal RAG restricts</a:t>
            </a:r>
          </a:p>
          <a:p>
            <a:r>
              <a:rPr dirty="0"/>
              <a:t>WHAT TEXT gets embedded and searched; we additionally restrict WHICH ANSWERS</a:t>
            </a:r>
          </a:p>
          <a:p>
            <a:r>
              <a:rPr dirty="0"/>
              <a:t>are even eligible to be returned, using evidence extracted from the alert</a:t>
            </a:r>
          </a:p>
          <a:p>
            <a:r>
              <a:rPr dirty="0"/>
              <a:t>itself, before the search ever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[~1:15]</a:t>
            </a:r>
          </a:p>
          <a:p>
            <a:endParaRPr/>
          </a:p>
          <a:p>
            <a:r>
              <a:t>WHY THIS SLIDE</a:t>
            </a:r>
          </a:p>
          <a:p>
            <a:r>
              <a:t>Give the audience a map before the deep dive on the next slide. Nobody should</a:t>
            </a:r>
          </a:p>
          <a:p>
            <a:r>
              <a:t>be confused about where they are in the pipeline once you start giving detail.</a:t>
            </a:r>
          </a:p>
          <a:p>
            <a:endParaRPr/>
          </a:p>
          <a:p>
            <a:r>
              <a:t>WHAT TO SAY</a:t>
            </a:r>
          </a:p>
          <a:p>
            <a:r>
              <a:t>Walk left to right, one short phrase per box - do not over-explain yet, slide 5</a:t>
            </a:r>
          </a:p>
          <a:p>
            <a:r>
              <a:t>does that: "Raw logs come in. Step 1 turns each one into a plain-English</a:t>
            </a:r>
          </a:p>
          <a:p>
            <a:r>
              <a:t>sentence. Step 2 turns that sentence into a list of numbers capturing its</a:t>
            </a:r>
          </a:p>
          <a:p>
            <a:r>
              <a:t>meaning. Step 3 groups similar alerts into incidents. Step 4 is where a local</a:t>
            </a:r>
          </a:p>
          <a:p>
            <a:r>
              <a:t>AI model reads a group and writes down, in a strict format, what behaviour it</a:t>
            </a:r>
          </a:p>
          <a:p>
            <a:r>
              <a:t>thinks it's seeing. Step 5 wires those behaviours into a graph connected to the</a:t>
            </a:r>
          </a:p>
          <a:p>
            <a:r>
              <a:t>official ATT&amp;CK catalogue. That graph then constrains step 6, the search - see</a:t>
            </a:r>
          </a:p>
          <a:p>
            <a:r>
              <a:t>the arrow looping back - so only plausible techniques are considered. Step 7</a:t>
            </a:r>
          </a:p>
          <a:p>
            <a:r>
              <a:t>writes the final report." Then explicitly call out the "unsupervised" box:</a:t>
            </a:r>
          </a:p>
          <a:p>
            <a:r>
              <a:t>"Steps 1 through 4 never see the correct answer. They only see raw evidence.</a:t>
            </a:r>
          </a:p>
          <a:p>
            <a:r>
              <a:t>The true label is used only afterwards, to SCORE the system - never to help it</a:t>
            </a:r>
          </a:p>
          <a:p>
            <a:r>
              <a:t>decide. That matters because it proves the system isn't just memorising</a:t>
            </a:r>
          </a:p>
          <a:p>
            <a:r>
              <a:t>answers; it has to actually reason from evidence."</a:t>
            </a:r>
          </a:p>
          <a:p>
            <a:endParaRPr/>
          </a:p>
          <a:p>
            <a:r>
              <a:t>KEY TERMS</a:t>
            </a:r>
          </a:p>
          <a:p>
            <a:r>
              <a:t>Unsupervised: the model is never shown the correct label while it is doing its</a:t>
            </a:r>
          </a:p>
          <a:p>
            <a:r>
              <a:t>job - only the raw evidence. The label exists somewhere in our test data, but</a:t>
            </a:r>
          </a:p>
          <a:p>
            <a:r>
              <a:t>it is locked away and used only afterward, for grading.</a:t>
            </a:r>
          </a:p>
          <a:p>
            <a:endParaRPr/>
          </a:p>
          <a:p>
            <a:r>
              <a:t>WHAT THE RESULT MEANS</a:t>
            </a:r>
          </a:p>
          <a:p>
            <a:r>
              <a:t>No results yet - this is architecture. Save the numbers for slides 7 onward.</a:t>
            </a:r>
          </a:p>
          <a:p>
            <a:endParaRPr/>
          </a:p>
          <a:p>
            <a:r>
              <a:t>IF ASKED / IF STUCK</a:t>
            </a:r>
          </a:p>
          <a:p>
            <a:r>
              <a:t>If you lose your place, just point at the diagram and say "there are seven</a:t>
            </a:r>
          </a:p>
          <a:p>
            <a:r>
              <a:t>steps; the first four figure out what happened, the last three decide what to</a:t>
            </a:r>
          </a:p>
          <a:p>
            <a:r>
              <a:t>call it and how to report it" - that framing recovers you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[~1:30]</a:t>
            </a:r>
          </a:p>
          <a:p>
            <a:endParaRPr dirty="0"/>
          </a:p>
          <a:p>
            <a:r>
              <a:rPr dirty="0"/>
              <a:t>WHY THIS SLIDE</a:t>
            </a:r>
          </a:p>
          <a:p>
            <a:r>
              <a:rPr dirty="0"/>
              <a:t>This is the mechanism slide - HOW each step actually works, condensed. This is</a:t>
            </a:r>
          </a:p>
          <a:p>
            <a:r>
              <a:rPr dirty="0"/>
              <a:t>also where two of the most important technical terms in the whole talk</a:t>
            </a:r>
          </a:p>
          <a:p>
            <a:r>
              <a:rPr dirty="0"/>
              <a:t>(embeddings, JSON schema) need to land clearly, because everything after this</a:t>
            </a:r>
          </a:p>
          <a:p>
            <a:r>
              <a:rPr dirty="0"/>
              <a:t>slide assumes the audience has them.</a:t>
            </a:r>
          </a:p>
          <a:p>
            <a:endParaRPr dirty="0"/>
          </a:p>
          <a:p>
            <a:r>
              <a:rPr dirty="0"/>
              <a:t>WHAT TO SAY</a:t>
            </a:r>
          </a:p>
          <a:p>
            <a:r>
              <a:rPr dirty="0"/>
              <a:t>Point 1 (steps 1-3): "Every alert becomes a sentence using a fixed, deterministic</a:t>
            </a:r>
            <a:r>
              <a:rPr lang="en-GB" dirty="0"/>
              <a:t> </a:t>
            </a:r>
            <a:r>
              <a:rPr dirty="0"/>
              <a:t>template - no AI writing here, no randomness. Same input always gives the exact</a:t>
            </a:r>
            <a:r>
              <a:rPr lang="en-GB" dirty="0"/>
              <a:t> </a:t>
            </a:r>
            <a:r>
              <a:rPr dirty="0"/>
              <a:t>same sentence. That's on purpose: it means the process is fully reproducible,</a:t>
            </a:r>
            <a:r>
              <a:rPr lang="en-GB" dirty="0"/>
              <a:t> </a:t>
            </a:r>
            <a:r>
              <a:rPr dirty="0"/>
              <a:t>and it means we can definitively withhold the true label from these early</a:t>
            </a:r>
            <a:r>
              <a:rPr lang="en-GB" dirty="0"/>
              <a:t> </a:t>
            </a:r>
            <a:r>
              <a:rPr dirty="0"/>
              <a:t>steps and prove nothing is leaking through." </a:t>
            </a:r>
            <a:endParaRPr lang="en-GB" dirty="0"/>
          </a:p>
          <a:p>
            <a:endParaRPr lang="en-GB" dirty="0"/>
          </a:p>
          <a:p>
            <a:r>
              <a:rPr dirty="0"/>
              <a:t>Point 2 (step 4): "A local AI</a:t>
            </a:r>
            <a:r>
              <a:rPr lang="en-GB" dirty="0"/>
              <a:t> </a:t>
            </a:r>
            <a:r>
              <a:rPr dirty="0"/>
              <a:t>model reads a group of alerts and has to fill in a strict form: pick ONE</a:t>
            </a:r>
            <a:r>
              <a:rPr lang="en-GB" dirty="0"/>
              <a:t> </a:t>
            </a:r>
            <a:r>
              <a:rPr dirty="0" err="1"/>
              <a:t>behaviour</a:t>
            </a:r>
            <a:r>
              <a:rPr dirty="0"/>
              <a:t> label from a fixed list - seven options for network alerts, ten for</a:t>
            </a:r>
            <a:r>
              <a:rPr lang="en-GB" dirty="0"/>
              <a:t> </a:t>
            </a:r>
            <a:r>
              <a:rPr dirty="0"/>
              <a:t>host-level alerts - and name a subject and a target. It is not allowed to</a:t>
            </a:r>
            <a:r>
              <a:rPr lang="en-GB" dirty="0"/>
              <a:t> </a:t>
            </a:r>
            <a:r>
              <a:rPr dirty="0"/>
              <a:t>freestyle in plain English." Explain WHY this matters in one sentence: "If you</a:t>
            </a:r>
            <a:r>
              <a:rPr lang="en-GB" dirty="0"/>
              <a:t> </a:t>
            </a:r>
            <a:r>
              <a:rPr dirty="0"/>
              <a:t>just ask an AI 'what happened here?' in free text, you get a different phrasing</a:t>
            </a:r>
            <a:r>
              <a:rPr lang="en-GB" dirty="0"/>
              <a:t> </a:t>
            </a:r>
            <a:r>
              <a:rPr dirty="0"/>
              <a:t>every time, and you can't compare or count anything. Forcing a fixed vocabulary</a:t>
            </a:r>
            <a:r>
              <a:rPr lang="en-GB" dirty="0"/>
              <a:t> </a:t>
            </a:r>
            <a:r>
              <a:rPr dirty="0"/>
              <a:t>makes every answer directly comparable, and machine-checkable."</a:t>
            </a:r>
            <a:endParaRPr lang="en-GB" dirty="0"/>
          </a:p>
          <a:p>
            <a:endParaRPr lang="en-GB" dirty="0"/>
          </a:p>
          <a:p>
            <a:r>
              <a:rPr dirty="0"/>
              <a:t>Point 3 (step</a:t>
            </a:r>
            <a:r>
              <a:rPr lang="en-GB" dirty="0"/>
              <a:t> </a:t>
            </a:r>
            <a:r>
              <a:rPr dirty="0"/>
              <a:t>5): "We built, by hand, a lookup table: if the </a:t>
            </a:r>
            <a:r>
              <a:rPr dirty="0" err="1"/>
              <a:t>behaviour</a:t>
            </a:r>
            <a:r>
              <a:rPr dirty="0"/>
              <a:t> is 'brute-forces</a:t>
            </a:r>
            <a:r>
              <a:rPr lang="en-GB" dirty="0"/>
              <a:t> </a:t>
            </a:r>
            <a:r>
              <a:rPr dirty="0"/>
              <a:t>credential,' only these THREE specific official ATT&amp;CK IDs are allowed as</a:t>
            </a:r>
            <a:r>
              <a:rPr lang="en-GB" dirty="0"/>
              <a:t> </a:t>
            </a:r>
            <a:r>
              <a:rPr dirty="0"/>
              <a:t>candidates, out of the full 691. That's the constraint from the previous</a:t>
            </a:r>
            <a:r>
              <a:rPr lang="en-GB" dirty="0"/>
              <a:t> </a:t>
            </a:r>
            <a:r>
              <a:rPr dirty="0"/>
              <a:t>slide, made concrete." </a:t>
            </a:r>
            <a:endParaRPr lang="en-GB" dirty="0"/>
          </a:p>
          <a:p>
            <a:endParaRPr lang="en-GB" dirty="0"/>
          </a:p>
          <a:p>
            <a:r>
              <a:rPr dirty="0"/>
              <a:t>Point 4 (steps 6-7): give a vivid example: "So if the</a:t>
            </a:r>
            <a:r>
              <a:rPr lang="en-GB" dirty="0"/>
              <a:t> </a:t>
            </a:r>
            <a:r>
              <a:rPr dirty="0"/>
              <a:t>evidence only shows port-scanning </a:t>
            </a:r>
            <a:r>
              <a:rPr dirty="0" err="1"/>
              <a:t>behaviour</a:t>
            </a:r>
            <a:r>
              <a:rPr dirty="0"/>
              <a:t>, the system will never even</a:t>
            </a:r>
            <a:r>
              <a:rPr lang="en-GB" dirty="0"/>
              <a:t> </a:t>
            </a:r>
            <a:r>
              <a:rPr dirty="0"/>
              <a:t>consider 'data theft' as a possible answer - it's simply not on that</a:t>
            </a:r>
          </a:p>
          <a:p>
            <a:r>
              <a:rPr dirty="0" err="1"/>
              <a:t>behaviour's</a:t>
            </a:r>
            <a:r>
              <a:rPr dirty="0"/>
              <a:t> allowed list."</a:t>
            </a:r>
          </a:p>
          <a:p>
            <a:endParaRPr dirty="0"/>
          </a:p>
          <a:p>
            <a:r>
              <a:rPr dirty="0"/>
              <a:t>KEY TERMS</a:t>
            </a:r>
          </a:p>
          <a:p>
            <a:r>
              <a:rPr dirty="0"/>
              <a:t>Embedding: turning a sentence into a list of numbers (a vector) that captures</a:t>
            </a:r>
          </a:p>
          <a:p>
            <a:r>
              <a:rPr dirty="0"/>
              <a:t>its MEANING, so that two sentences which mean similar things end up numerically</a:t>
            </a:r>
          </a:p>
          <a:p>
            <a:r>
              <a:rPr dirty="0"/>
              <a:t>close together, even if they use completely different words. Think of it as</a:t>
            </a:r>
          </a:p>
          <a:p>
            <a:r>
              <a:rPr dirty="0"/>
              <a:t>plotting every sentence as a point on a map, where similar meanings live near</a:t>
            </a:r>
          </a:p>
          <a:p>
            <a:r>
              <a:rPr dirty="0"/>
              <a:t>each other.</a:t>
            </a:r>
          </a:p>
          <a:p>
            <a:r>
              <a:rPr dirty="0"/>
              <a:t>JSON: a simple, structured text format computers use to exchange data - like a</a:t>
            </a:r>
          </a:p>
          <a:p>
            <a:r>
              <a:rPr dirty="0"/>
              <a:t>form with fixed, named fields, instead of a free paragraph.</a:t>
            </a:r>
          </a:p>
          <a:p>
            <a:r>
              <a:rPr dirty="0"/>
              <a:t>Schema: a strict template that says exactly which fields must exist in that</a:t>
            </a:r>
          </a:p>
          <a:p>
            <a:r>
              <a:rPr dirty="0"/>
              <a:t>form and what values are allowed in each one - e.g. "the relation field can</a:t>
            </a:r>
          </a:p>
          <a:p>
            <a:r>
              <a:rPr dirty="0"/>
              <a:t>ONLY be one of these seven exact words, nothing else."</a:t>
            </a:r>
          </a:p>
          <a:p>
            <a:r>
              <a:rPr dirty="0"/>
              <a:t>Grammar-constrained decoding: the technical name for forcing the AI model to</a:t>
            </a:r>
          </a:p>
          <a:p>
            <a:r>
              <a:rPr dirty="0"/>
              <a:t>only ever produce text that fits the schema - it is mechanically incapable of</a:t>
            </a:r>
          </a:p>
          <a:p>
            <a:r>
              <a:rPr dirty="0"/>
              <a:t>writing something outside the allowed format, the same way a multiple-choice</a:t>
            </a:r>
          </a:p>
          <a:p>
            <a:r>
              <a:rPr dirty="0"/>
              <a:t>exam mechanically prevents an essay answer.</a:t>
            </a:r>
          </a:p>
          <a:p>
            <a:endParaRPr dirty="0"/>
          </a:p>
          <a:p>
            <a:r>
              <a:rPr dirty="0"/>
              <a:t>WHAT THE RESULT MEANS</a:t>
            </a:r>
          </a:p>
          <a:p>
            <a:r>
              <a:rPr dirty="0"/>
              <a:t>"Schema-valid output in 100% of cases" means every single time we asked the</a:t>
            </a:r>
          </a:p>
          <a:p>
            <a:r>
              <a:rPr dirty="0"/>
              <a:t>model to fill in this structured form, across every alert group tested, it did</a:t>
            </a:r>
          </a:p>
          <a:p>
            <a:r>
              <a:rPr dirty="0"/>
              <a:t>so with zero formatting errors. We never had to throw away a broken answer or</a:t>
            </a:r>
          </a:p>
          <a:p>
            <a:r>
              <a:rPr dirty="0"/>
              <a:t>patch one by hand. That is what lets this run unattended and at scale - a</a:t>
            </a:r>
          </a:p>
          <a:p>
            <a:r>
              <a:rPr dirty="0"/>
              <a:t>system that occasionally produces garbled output would need constant human</a:t>
            </a:r>
          </a:p>
          <a:p>
            <a:r>
              <a:rPr dirty="0"/>
              <a:t>babysitting.</a:t>
            </a:r>
          </a:p>
          <a:p>
            <a:endParaRPr dirty="0"/>
          </a:p>
          <a:p>
            <a:r>
              <a:rPr dirty="0"/>
              <a:t>IF ASKED / IF STUCK</a:t>
            </a:r>
          </a:p>
          <a:p>
            <a:r>
              <a:rPr dirty="0"/>
              <a:t>If asked "what if the AI wants to describe something not in the seven-word</a:t>
            </a:r>
          </a:p>
          <a:p>
            <a:r>
              <a:rPr dirty="0"/>
              <a:t>list?" - it literally cannot; the decoding is mechanically constrained, the</a:t>
            </a:r>
          </a:p>
          <a:p>
            <a:r>
              <a:rPr dirty="0"/>
              <a:t>same way a dropdown menu on a website only lets you pick a listed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[~1:45]</a:t>
            </a:r>
          </a:p>
          <a:p>
            <a:endParaRPr/>
          </a:p>
          <a:p>
            <a:r>
              <a:t>WHY THIS SLIDE</a:t>
            </a:r>
          </a:p>
          <a:p>
            <a:r>
              <a:t>The "how we tested it" methods slide. This slide also has to carry almost all</a:t>
            </a:r>
          </a:p>
          <a:p>
            <a:r>
              <a:t>of the statistics vocabulary the results slides will assume you already know -</a:t>
            </a:r>
          </a:p>
          <a:p>
            <a:r>
              <a:t>front-load it here so slides 7-11 move fast.</a:t>
            </a:r>
          </a:p>
          <a:p>
            <a:endParaRPr/>
          </a:p>
          <a:p>
            <a:r>
              <a:t>WHAT TO SAY</a:t>
            </a:r>
          </a:p>
          <a:p>
            <a:r>
              <a:t>Datasets: "CIC-IDS-2017 is a public benchmark of recorded network traffic, some</a:t>
            </a:r>
          </a:p>
          <a:p>
            <a:r>
              <a:t>normal, some real attacks like brute force, port scans, denial of service -</a:t>
            </a:r>
          </a:p>
          <a:p>
            <a:r>
              <a:t>used across the security research community so our numbers are comparable to</a:t>
            </a:r>
          </a:p>
          <a:p>
            <a:r>
              <a:t>other papers. Our sample was about 14,000 individual network connections, or</a:t>
            </a:r>
          </a:p>
          <a:p>
            <a:r>
              <a:t>'flows.' DARPA E3 is a completely different, harder benchmark: real ethical</a:t>
            </a:r>
          </a:p>
          <a:p>
            <a:r>
              <a:t>hackers were hired to break into a network, and every action on the machines</a:t>
            </a:r>
          </a:p>
          <a:p>
            <a:r>
              <a:t>was logged - a different kind of evidence entirely, host activity instead of</a:t>
            </a:r>
          </a:p>
          <a:p>
            <a:r>
              <a:t>network traffic. We use it to test whether the idea generalises to a totally</a:t>
            </a:r>
          </a:p>
          <a:p>
            <a:r>
              <a:t>different kind of data, not just the one we designed around." Models: "We</a:t>
            </a:r>
          </a:p>
          <a:p>
            <a:r>
              <a:t>tested three different open, freely available AI models, at three sizes - 12</a:t>
            </a:r>
          </a:p>
          <a:p>
            <a:r>
              <a:t>billion, 7.6 billion, and 3.1 billion parameters - to check whether this needs</a:t>
            </a:r>
          </a:p>
          <a:p>
            <a:r>
              <a:t>an expensive giant model, or whether even a small one benefits." Hardware:</a:t>
            </a:r>
          </a:p>
          <a:p>
            <a:r>
              <a:t>"Everything ran on one ordinary laptop, an entry-level gaming GPU with only 4</a:t>
            </a:r>
          </a:p>
          <a:p>
            <a:r>
              <a:t>gigabytes of video memory. That's deliberate: it proves this can run</a:t>
            </a:r>
          </a:p>
          <a:p>
            <a:r>
              <a:t>completely on-premises, with no log data ever leaving the building, which</a:t>
            </a:r>
          </a:p>
          <a:p>
            <a:r>
              <a:t>matters enormously for the privacy point from slide 2." Baseline: "Every result</a:t>
            </a:r>
          </a:p>
          <a:p>
            <a:r>
              <a:t>we show compares our full method against a baseline - the exact same model,</a:t>
            </a:r>
          </a:p>
          <a:p>
            <a:r>
              <a:t>the exact same evidence, with ONLY the graph constraint switched off. That's</a:t>
            </a:r>
          </a:p>
          <a:p>
            <a:r>
              <a:t>the scientific control: if something changes, we know exactly what caused it."</a:t>
            </a:r>
          </a:p>
          <a:p>
            <a:endParaRPr/>
          </a:p>
          <a:p>
            <a:r>
              <a:t>KEY TERMS</a:t>
            </a:r>
          </a:p>
          <a:p>
            <a:r>
              <a:t>Parameters: the adjustable internal numbers a neural network learns during</a:t>
            </a:r>
          </a:p>
          <a:p>
            <a:r>
              <a:t>training - loosely, more parameters usually means a more capable but slower,</a:t>
            </a:r>
          </a:p>
          <a:p>
            <a:r>
              <a:t>more memory-hungry model.</a:t>
            </a:r>
          </a:p>
          <a:p>
            <a:r>
              <a:t>VRAM: video memory, the memory on a graphics card - the main bottleneck for</a:t>
            </a:r>
          </a:p>
          <a:p>
            <a:r>
              <a:t>running AI models on your own machine rather than a data-centre server. 4GB is</a:t>
            </a:r>
          </a:p>
          <a:p>
            <a:r>
              <a:t>a modest, consumer-laptop amount.</a:t>
            </a:r>
          </a:p>
          <a:p>
            <a:r>
              <a:t>Exact match: did the model's final answer EXACTLY equal the one correct</a:t>
            </a:r>
          </a:p>
          <a:p>
            <a:r>
              <a:t>official technique ID? All or nothing, no partial credit.</a:t>
            </a:r>
          </a:p>
          <a:p>
            <a:r>
              <a:t>Macro F1: a single score that treats every category equally, even rare ones -</a:t>
            </a:r>
          </a:p>
          <a:p>
            <a:r>
              <a:t>properly defined on the next slide, where it matters most.</a:t>
            </a:r>
          </a:p>
          <a:p>
            <a:r>
              <a:t>Retrieval hit rate: when we searched for the answer, was the correct one</a:t>
            </a:r>
          </a:p>
          <a:p>
            <a:r>
              <a:t>present ANYWHERE in the shortlist at all, regardless of whether the system</a:t>
            </a:r>
          </a:p>
          <a:p>
            <a:r>
              <a:t>picked it correctly at the end.</a:t>
            </a:r>
          </a:p>
          <a:p>
            <a:r>
              <a:t>Report grounding / faithfulness: whether the AI's WRITTEN explanation actually</a:t>
            </a:r>
          </a:p>
          <a:p>
            <a:r>
              <a:t>matches the evidence it was given, rather than inventing things - explained in</a:t>
            </a:r>
          </a:p>
          <a:p>
            <a:r>
              <a:t>full on slide 11.</a:t>
            </a:r>
          </a:p>
          <a:p>
            <a:r>
              <a:t>Bootstrap confidence interval: since we only have a small number of test</a:t>
            </a:r>
          </a:p>
          <a:p>
            <a:r>
              <a:t>examples, any single score could be a bit lucky or unlucky. A confidence</a:t>
            </a:r>
          </a:p>
          <a:p>
            <a:r>
              <a:t>interval is a range that says "we're confident the true performance sits</a:t>
            </a:r>
          </a:p>
          <a:p>
            <a:r>
              <a:t>somewhere in here." Bootstrap is the specific method: a computer resamples</a:t>
            </a:r>
          </a:p>
          <a:p>
            <a:r>
              <a:t>(with replacement) from our real test results thousands of times, recomputes</a:t>
            </a:r>
          </a:p>
          <a:p>
            <a:r>
              <a:t>the score each time, and looks at how much those recomputed scores spread out.</a:t>
            </a:r>
          </a:p>
          <a:p>
            <a:r>
              <a:t>That spread tells us how much the number could plausibly wobble by chance</a:t>
            </a:r>
          </a:p>
          <a:p>
            <a:r>
              <a:t>alone, without needing to assume any textbook bell-curve shape. With only 18</a:t>
            </a:r>
          </a:p>
          <a:p>
            <a:r>
              <a:t>test cases in the network-flow dataset, a raw number like "83%" sounds very</a:t>
            </a:r>
          </a:p>
          <a:p>
            <a:r>
              <a:t>precise but could swing a lot from luck - the interval is what tells us whether</a:t>
            </a:r>
          </a:p>
          <a:p>
            <a:r>
              <a:t>a difference between two methods is REAL or just noise.</a:t>
            </a:r>
          </a:p>
          <a:p>
            <a:endParaRPr/>
          </a:p>
          <a:p>
            <a:r>
              <a:t>WHAT THE RESULT MEANS</a:t>
            </a:r>
          </a:p>
          <a:p>
            <a:r>
              <a:t>No results yet - this is the rulebook for reading every table from here on.</a:t>
            </a:r>
          </a:p>
          <a:p>
            <a:endParaRPr/>
          </a:p>
          <a:p>
            <a:r>
              <a:t>IF ASKED / IF STUCK</a:t>
            </a:r>
          </a:p>
          <a:p>
            <a:r>
              <a:t>If asked "why 4GB VRAM specifically?" - that's simply the hardware Joel owns; the</a:t>
            </a:r>
          </a:p>
          <a:p>
            <a:r>
              <a:t>point being made is that no special data-centre hardware was needed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[~1:45]</a:t>
            </a:r>
          </a:p>
          <a:p>
            <a:endParaRPr dirty="0"/>
          </a:p>
          <a:p>
            <a:r>
              <a:rPr dirty="0"/>
              <a:t>WHY THIS SLIDE</a:t>
            </a:r>
          </a:p>
          <a:p>
            <a:r>
              <a:rPr dirty="0"/>
              <a:t>The first hard numbers. The audience needs to be able to actually READ this</a:t>
            </a:r>
          </a:p>
          <a:p>
            <a:r>
              <a:rPr dirty="0"/>
              <a:t>table, not just be told "our numbers are good" - so teach the table, don't just</a:t>
            </a:r>
          </a:p>
          <a:p>
            <a:r>
              <a:rPr dirty="0"/>
              <a:t>recite it.</a:t>
            </a:r>
          </a:p>
          <a:p>
            <a:endParaRPr dirty="0"/>
          </a:p>
          <a:p>
            <a:r>
              <a:rPr dirty="0"/>
              <a:t>WHAT TO SAY</a:t>
            </a:r>
          </a:p>
          <a:p>
            <a:r>
              <a:rPr dirty="0"/>
              <a:t>"Grounded means our full method, with the graph restriction switched on.</a:t>
            </a:r>
          </a:p>
          <a:p>
            <a:r>
              <a:rPr dirty="0"/>
              <a:t>Baseline means the same model with it switched off - a direct guess, no graph</a:t>
            </a:r>
          </a:p>
          <a:p>
            <a:r>
              <a:rPr dirty="0"/>
              <a:t>help. Take the top row: with grounding, Mistral-Nemo gets the exact right</a:t>
            </a:r>
          </a:p>
          <a:p>
            <a:r>
              <a:rPr dirty="0"/>
              <a:t>answer 83.3% of the time; without it, only 55.6%. That's about 28 percentage</a:t>
            </a:r>
          </a:p>
          <a:p>
            <a:r>
              <a:rPr dirty="0"/>
              <a:t>points of raw accuracy gained just by adding the constraint." </a:t>
            </a:r>
            <a:endParaRPr lang="en-GB" dirty="0"/>
          </a:p>
          <a:p>
            <a:endParaRPr lang="en-GB" dirty="0"/>
          </a:p>
          <a:p>
            <a:r>
              <a:rPr dirty="0"/>
              <a:t>Then explain WHY</a:t>
            </a:r>
          </a:p>
          <a:p>
            <a:r>
              <a:rPr dirty="0"/>
              <a:t>you should look at macro F1, not exact match, as the real headline - this is</a:t>
            </a:r>
          </a:p>
          <a:p>
            <a:r>
              <a:rPr dirty="0"/>
              <a:t>the single most important explanatory move on this slide: "One attack type</a:t>
            </a:r>
          </a:p>
          <a:p>
            <a:r>
              <a:rPr dirty="0"/>
              <a:t>covers 14 of our 18 test cases. That's an imbalanced test set - a model could</a:t>
            </a:r>
          </a:p>
          <a:p>
            <a:r>
              <a:rPr dirty="0"/>
              <a:t>score deceptively well on exact match just by always guessing that one common</a:t>
            </a:r>
          </a:p>
          <a:p>
            <a:r>
              <a:rPr dirty="0"/>
              <a:t>type, without being any good at </a:t>
            </a:r>
            <a:r>
              <a:rPr dirty="0" err="1"/>
              <a:t>recognising</a:t>
            </a:r>
            <a:r>
              <a:rPr dirty="0"/>
              <a:t> anything else. </a:t>
            </a:r>
            <a:endParaRPr lang="en-GB" dirty="0"/>
          </a:p>
          <a:p>
            <a:endParaRPr lang="en-GB" dirty="0"/>
          </a:p>
          <a:p>
            <a:r>
              <a:rPr dirty="0"/>
              <a:t>Macro F1 fixes</a:t>
            </a:r>
          </a:p>
          <a:p>
            <a:r>
              <a:rPr dirty="0"/>
              <a:t>that: it scores each category SEPARATELY, then averages those scores equally,</a:t>
            </a:r>
          </a:p>
          <a:p>
            <a:r>
              <a:rPr dirty="0"/>
              <a:t>so getting a rare category wrong counts just as much as getting the common one</a:t>
            </a:r>
          </a:p>
          <a:p>
            <a:r>
              <a:rPr dirty="0"/>
              <a:t>wrong. That's why we report Mistral-Nemo's macro F1 DOUBLING, from 0.200 to</a:t>
            </a:r>
          </a:p>
          <a:p>
            <a:r>
              <a:rPr dirty="0"/>
              <a:t>0.400, as the real headline number of this table." Close on the two baselines</a:t>
            </a:r>
          </a:p>
          <a:p>
            <a:r>
              <a:rPr dirty="0"/>
              <a:t>scoring exactly zero: "Without our method's help, the two smaller models never</a:t>
            </a:r>
          </a:p>
          <a:p>
            <a:r>
              <a:rPr dirty="0"/>
              <a:t>correctly named a single attack technique, for any category, on their own. The</a:t>
            </a:r>
          </a:p>
          <a:p>
            <a:r>
              <a:rPr dirty="0"/>
              <a:t>raw AI guess alone was essentially useless here - which is exactly why the</a:t>
            </a:r>
          </a:p>
          <a:p>
            <a:r>
              <a:rPr dirty="0"/>
              <a:t>improvement from grounding looks so dramatic for them. Slide 8 explains why."</a:t>
            </a:r>
          </a:p>
          <a:p>
            <a:endParaRPr dirty="0"/>
          </a:p>
          <a:p>
            <a:r>
              <a:rPr dirty="0"/>
              <a:t>KEY TERMS</a:t>
            </a:r>
          </a:p>
          <a:p>
            <a:r>
              <a:rPr dirty="0"/>
              <a:t>F1 score: the "harmonic mean" of precision and recall (a way of averaging that</a:t>
            </a:r>
          </a:p>
          <a:p>
            <a:r>
              <a:rPr dirty="0"/>
              <a:t>punishes a big gap between the two, rather than a simple average, which is what</a:t>
            </a:r>
          </a:p>
          <a:p>
            <a:r>
              <a:rPr dirty="0"/>
              <a:t>"harmonic mean" specifically means here in one line).</a:t>
            </a:r>
          </a:p>
          <a:p>
            <a:r>
              <a:rPr dirty="0"/>
              <a:t>Precision: of everything the model CLAIMED was attack type X, how much of that</a:t>
            </a:r>
          </a:p>
          <a:p>
            <a:r>
              <a:rPr dirty="0"/>
              <a:t>actually WAS X - are you trustworthy when you speak up.</a:t>
            </a:r>
          </a:p>
          <a:p>
            <a:r>
              <a:rPr dirty="0"/>
              <a:t>Recall: of everything that ACTUALLY was attack type X, how much did the model</a:t>
            </a:r>
          </a:p>
          <a:p>
            <a:r>
              <a:rPr dirty="0"/>
              <a:t>correctly catch - are you thorough, or do you miss things.</a:t>
            </a:r>
          </a:p>
          <a:p>
            <a:r>
              <a:rPr dirty="0"/>
              <a:t>Why F1 combines both: a model could cheat by being ultra-cautious (rarely</a:t>
            </a:r>
          </a:p>
          <a:p>
            <a:r>
              <a:rPr dirty="0"/>
              <a:t>wrong when it speaks, but misses almost everything - high precision, terrible</a:t>
            </a:r>
          </a:p>
          <a:p>
            <a:r>
              <a:rPr dirty="0"/>
              <a:t>recall) or ultra-aggressive (catches everything but cries wolf constantly -</a:t>
            </a:r>
          </a:p>
          <a:p>
            <a:r>
              <a:rPr dirty="0"/>
              <a:t>high recall, terrible precision). F1 stops either extreme from looking falsely</a:t>
            </a:r>
          </a:p>
          <a:p>
            <a:r>
              <a:rPr dirty="0"/>
              <a:t>good on its own.</a:t>
            </a:r>
          </a:p>
          <a:p>
            <a:r>
              <a:rPr dirty="0"/>
              <a:t>Macro-averaged: computing a metric separately for EACH category and then</a:t>
            </a:r>
          </a:p>
          <a:p>
            <a:r>
              <a:rPr dirty="0"/>
              <a:t>averaging those per-category scores with equal weight, so a common category</a:t>
            </a:r>
          </a:p>
          <a:p>
            <a:r>
              <a:rPr dirty="0"/>
              <a:t>can't drown out the rare ones the way a single combined average would.</a:t>
            </a:r>
          </a:p>
          <a:p>
            <a:endParaRPr dirty="0"/>
          </a:p>
          <a:p>
            <a:r>
              <a:rPr dirty="0"/>
              <a:t>WHAT THE RESULT MEANS</a:t>
            </a:r>
          </a:p>
          <a:p>
            <a:r>
              <a:rPr dirty="0"/>
              <a:t>Mistral-Nemo genuinely gets better with grounding on both measures. The two</a:t>
            </a:r>
          </a:p>
          <a:p>
            <a:r>
              <a:rPr dirty="0"/>
              <a:t>Qwen models go from "useless alone" to "somewhat useful with help" - a bigger</a:t>
            </a:r>
          </a:p>
          <a:p>
            <a:r>
              <a:rPr dirty="0"/>
              <a:t>relative jump, even though their absolute numbers stay lower than</a:t>
            </a:r>
          </a:p>
          <a:p>
            <a:r>
              <a:rPr dirty="0"/>
              <a:t>Mistral-Nemo's. Slide 8 explains exactly why the three models differ this much.</a:t>
            </a:r>
          </a:p>
          <a:p>
            <a:endParaRPr dirty="0"/>
          </a:p>
          <a:p>
            <a:r>
              <a:rPr dirty="0"/>
              <a:t>IF ASKED / IF STUCK</a:t>
            </a:r>
          </a:p>
          <a:p>
            <a:r>
              <a:rPr dirty="0"/>
              <a:t>If asked "why not just always report exact match, it's simpler?" - because</a:t>
            </a:r>
          </a:p>
          <a:p>
            <a:r>
              <a:rPr dirty="0"/>
              <a:t>exact match can be inflated by an imbalanced test set, exactly as shown here;</a:t>
            </a:r>
          </a:p>
          <a:p>
            <a:r>
              <a:rPr dirty="0"/>
              <a:t>macro F1 is the fairer number when one category dominates.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[~2:00 - the most important slide in the talk, do not rush]</a:t>
            </a:r>
          </a:p>
          <a:p>
            <a:endParaRPr dirty="0"/>
          </a:p>
          <a:p>
            <a:r>
              <a:rPr dirty="0"/>
              <a:t>WHY THIS SLIDE</a:t>
            </a:r>
          </a:p>
          <a:p>
            <a:r>
              <a:rPr dirty="0"/>
              <a:t>This is the paper's central empirical finding - the one insight worth</a:t>
            </a:r>
          </a:p>
          <a:p>
            <a:r>
              <a:rPr dirty="0"/>
              <a:t>remembering if the audience remembers only one thing. Slow down, make eye</a:t>
            </a:r>
          </a:p>
          <a:p>
            <a:r>
              <a:rPr dirty="0"/>
              <a:t>contact, say this one clearly.</a:t>
            </a:r>
          </a:p>
          <a:p>
            <a:endParaRPr dirty="0"/>
          </a:p>
          <a:p>
            <a:r>
              <a:rPr dirty="0"/>
              <a:t>WHAT TO SAY</a:t>
            </a:r>
          </a:p>
          <a:p>
            <a:r>
              <a:rPr dirty="0"/>
              <a:t>Explain "Reachable" first, with a concrete framing: "For each of our 18 test</a:t>
            </a:r>
            <a:r>
              <a:rPr lang="en-GB" dirty="0"/>
              <a:t> </a:t>
            </a:r>
          </a:p>
          <a:p>
            <a:r>
              <a:rPr lang="en-GB" dirty="0"/>
              <a:t>cases, we ask: did the AI even manage to describe the RIGHT KIND of behaviour,</a:t>
            </a:r>
          </a:p>
          <a:p>
            <a:r>
              <a:rPr dirty="0"/>
              <a:t>such that the correct answer was somewhere on its shortlist at all? If the</a:t>
            </a:r>
          </a:p>
          <a:p>
            <a:r>
              <a:rPr dirty="0"/>
              <a:t>model completely misread the evidence - say, called a brute-force attack a</a:t>
            </a:r>
          </a:p>
          <a:p>
            <a:r>
              <a:rPr dirty="0"/>
              <a:t>port scan - then the correct answer was never even an option, no matter how</a:t>
            </a:r>
          </a:p>
          <a:p>
            <a:r>
              <a:rPr dirty="0"/>
              <a:t>good the final pick is. Mistral-Nemo's evidence was reachable in 15 of the 18</a:t>
            </a:r>
          </a:p>
          <a:p>
            <a:r>
              <a:rPr dirty="0"/>
              <a:t>cases; Qwen-Coder's, only 2 of 18." </a:t>
            </a:r>
            <a:endParaRPr lang="en-GB" dirty="0"/>
          </a:p>
          <a:p>
            <a:endParaRPr lang="en-GB" dirty="0"/>
          </a:p>
          <a:p>
            <a:r>
              <a:rPr dirty="0"/>
              <a:t>Then "</a:t>
            </a:r>
            <a:r>
              <a:rPr dirty="0" err="1"/>
              <a:t>Rerank</a:t>
            </a:r>
            <a:r>
              <a:rPr dirty="0"/>
              <a:t> correct": "Of the cases where</a:t>
            </a:r>
          </a:p>
          <a:p>
            <a:r>
              <a:rPr dirty="0"/>
              <a:t>the right answer WAS reachable, how often did the final selection step</a:t>
            </a:r>
          </a:p>
          <a:p>
            <a:r>
              <a:rPr dirty="0"/>
              <a:t>actually pick it? Mistral got 15 out of 15 - it never missed once the right</a:t>
            </a:r>
          </a:p>
          <a:p>
            <a:r>
              <a:rPr dirty="0"/>
              <a:t>option was available to it. Same story for the other two: 2 out of 2, and 5</a:t>
            </a:r>
          </a:p>
          <a:p>
            <a:r>
              <a:rPr dirty="0"/>
              <a:t>out of 5." </a:t>
            </a:r>
            <a:endParaRPr lang="en-GB" dirty="0"/>
          </a:p>
          <a:p>
            <a:endParaRPr lang="en-GB" dirty="0"/>
          </a:p>
          <a:p>
            <a:r>
              <a:rPr dirty="0"/>
              <a:t>Now say the key insight slowly, word for word close to this: "Every</a:t>
            </a:r>
          </a:p>
          <a:p>
            <a:r>
              <a:rPr dirty="0"/>
              <a:t>model's accuracy exactly equals its reachability. The number of times a model</a:t>
            </a:r>
          </a:p>
          <a:p>
            <a:r>
              <a:rPr dirty="0"/>
              <a:t>got the final answer exactly right is exactly equal to the number of times the</a:t>
            </a:r>
          </a:p>
          <a:p>
            <a:r>
              <a:rPr dirty="0"/>
              <a:t>right answer was even on its list to begin with. That means the final</a:t>
            </a:r>
          </a:p>
          <a:p>
            <a:r>
              <a:rPr dirty="0"/>
              <a:t>picking step - the search and reranking - made ZERO mistakes, across all</a:t>
            </a:r>
          </a:p>
          <a:p>
            <a:r>
              <a:rPr dirty="0"/>
              <a:t>three models, all 22 solvable cases combined. Every single error, one hundred</a:t>
            </a:r>
          </a:p>
          <a:p>
            <a:r>
              <a:rPr dirty="0"/>
              <a:t>percent of them, happened earlier, when the AI was reading the raw alert and</a:t>
            </a:r>
          </a:p>
          <a:p>
            <a:r>
              <a:rPr dirty="0"/>
              <a:t>deciding what </a:t>
            </a:r>
            <a:r>
              <a:rPr dirty="0" err="1"/>
              <a:t>behaviour</a:t>
            </a:r>
            <a:r>
              <a:rPr dirty="0"/>
              <a:t> it was looking at." Land the implication: "That tells</a:t>
            </a:r>
          </a:p>
          <a:p>
            <a:r>
              <a:rPr dirty="0"/>
              <a:t>us exactly where to spend future effort: not on the search machinery, which</a:t>
            </a:r>
          </a:p>
          <a:p>
            <a:r>
              <a:rPr dirty="0"/>
              <a:t>already works essentially perfectly - on making the AI read raw evidence more</a:t>
            </a:r>
          </a:p>
          <a:p>
            <a:r>
              <a:rPr dirty="0"/>
              <a:t>carefully in the first place."</a:t>
            </a:r>
          </a:p>
          <a:p>
            <a:endParaRPr dirty="0"/>
          </a:p>
          <a:p>
            <a:r>
              <a:rPr dirty="0"/>
              <a:t>KEY TERMS</a:t>
            </a:r>
          </a:p>
          <a:p>
            <a:r>
              <a:rPr dirty="0"/>
              <a:t>Reachable: the correct answer was present somewhere in the model's restricted</a:t>
            </a:r>
          </a:p>
          <a:p>
            <a:r>
              <a:rPr dirty="0"/>
              <a:t>candidate shortlist, whether or not it was ultimately chosen.</a:t>
            </a:r>
          </a:p>
          <a:p>
            <a:r>
              <a:rPr dirty="0"/>
              <a:t>Reranking: the final step where the system scores its shortlist and picks the</a:t>
            </a:r>
          </a:p>
          <a:p>
            <a:r>
              <a:rPr dirty="0"/>
              <a:t>single best candidate.</a:t>
            </a:r>
          </a:p>
          <a:p>
            <a:endParaRPr dirty="0"/>
          </a:p>
          <a:p>
            <a:r>
              <a:rPr dirty="0"/>
              <a:t>WHAT THE RESULT MEANS</a:t>
            </a:r>
          </a:p>
          <a:p>
            <a:r>
              <a:rPr dirty="0"/>
              <a:t>This is a clean, complete error attribution: it locates 100% of the mistakes in</a:t>
            </a:r>
          </a:p>
          <a:p>
            <a:r>
              <a:rPr dirty="0"/>
              <a:t>ONE stage of a seven-stage pipeline (the </a:t>
            </a:r>
            <a:r>
              <a:rPr dirty="0" err="1"/>
              <a:t>behaviour</a:t>
            </a:r>
            <a:r>
              <a:rPr dirty="0"/>
              <a:t>-extraction step, step 4),</a:t>
            </a:r>
          </a:p>
          <a:p>
            <a:r>
              <a:rPr dirty="0"/>
              <a:t>and shows the remaining six stages are, in this evaluation, essentially</a:t>
            </a:r>
          </a:p>
          <a:p>
            <a:r>
              <a:rPr dirty="0"/>
              <a:t>flawless. That is a strong, specific, falsifiable claim - and it is exactly</a:t>
            </a:r>
          </a:p>
          <a:p>
            <a:r>
              <a:rPr dirty="0"/>
              <a:t>the kind of finding reviewers value, because it tells the field precisely</a:t>
            </a:r>
          </a:p>
          <a:p>
            <a:r>
              <a:rPr dirty="0"/>
              <a:t>where to invest next, rather than vaguely saying "the system could be better."</a:t>
            </a:r>
          </a:p>
          <a:p>
            <a:endParaRPr dirty="0"/>
          </a:p>
          <a:p>
            <a:r>
              <a:rPr dirty="0"/>
              <a:t>IF ASKED / IF STUCK</a:t>
            </a:r>
          </a:p>
          <a:p>
            <a:r>
              <a:rPr dirty="0"/>
              <a:t>Likely question: "why is Qwen-Coder so much worse at reading the evidence?"</a:t>
            </a:r>
          </a:p>
          <a:p>
            <a:r>
              <a:rPr dirty="0"/>
              <a:t>Answer: this coder-</a:t>
            </a:r>
            <a:r>
              <a:rPr dirty="0" err="1"/>
              <a:t>specialised</a:t>
            </a:r>
            <a:r>
              <a:rPr dirty="0"/>
              <a:t> model tends to misread almost every alert as</a:t>
            </a:r>
          </a:p>
          <a:p>
            <a:r>
              <a:rPr dirty="0"/>
              <a:t>one specific pattern (a traffic flood) even when it's actually a port scan,</a:t>
            </a:r>
          </a:p>
          <a:p>
            <a:r>
              <a:rPr dirty="0"/>
              <a:t>because the two look nearly identical in raw statistics except for one subtle</a:t>
            </a:r>
          </a:p>
          <a:p>
            <a:r>
              <a:rPr dirty="0"/>
              <a:t>signal - how many DIFFERENT destination ports were touched - which this model</a:t>
            </a:r>
          </a:p>
          <a:p>
            <a:r>
              <a:rPr dirty="0"/>
              <a:t>does not weigh properly, while the general-purpose model does. If you get</a:t>
            </a:r>
          </a:p>
          <a:p>
            <a:r>
              <a:rPr dirty="0"/>
              <a:t>stuck mid-explanation, fall back to the one-line version: "the search step is</a:t>
            </a:r>
          </a:p>
          <a:p>
            <a:r>
              <a:rPr dirty="0"/>
              <a:t>basically perfect; all our errors come from the AI misreading the evidence</a:t>
            </a:r>
          </a:p>
          <a:p>
            <a:r>
              <a:rPr dirty="0"/>
              <a:t>before search even starts."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[~1:30]</a:t>
            </a:r>
          </a:p>
          <a:p>
            <a:endParaRPr/>
          </a:p>
          <a:p>
            <a:r>
              <a:t>WHY THIS SLIDE</a:t>
            </a:r>
          </a:p>
          <a:p>
            <a:r>
              <a:t>This directly answers the sceptic's obvious pushback: "maybe your results just</a:t>
            </a:r>
          </a:p>
          <a:p>
            <a:r>
              <a:t>come from having a good AI model, not from your graph idea." This slide proves</a:t>
            </a:r>
          </a:p>
          <a:p>
            <a:r>
              <a:t>that alternative explanation wrong. Framing this correctly matters a lot for</a:t>
            </a:r>
          </a:p>
          <a:p>
            <a:r>
              <a:t>how the paper is judged.</a:t>
            </a:r>
          </a:p>
          <a:p>
            <a:endParaRPr/>
          </a:p>
          <a:p>
            <a:r>
              <a:t>WHAT TO SAY</a:t>
            </a:r>
          </a:p>
          <a:p>
            <a:r>
              <a:t>Define ablation up front, in plain words: "An ablation means deliberately</a:t>
            </a:r>
          </a:p>
          <a:p>
            <a:r>
              <a:t>switching off one specific piece of a system to see how much worse things get</a:t>
            </a:r>
          </a:p>
          <a:p>
            <a:r>
              <a:t>without it - it's how you PROVE a component is actually doing something,</a:t>
            </a:r>
          </a:p>
          <a:p>
            <a:r>
              <a:t>instead of just assuming it. Here we switched off only the graph's</a:t>
            </a:r>
          </a:p>
          <a:p>
            <a:r>
              <a:t>restriction, and changed nothing else - same model, same embeddings, same</a:t>
            </a:r>
          </a:p>
          <a:p>
            <a:r>
              <a:t>alerts, same scoring method underneath." Then the result: "Without the</a:t>
            </a:r>
          </a:p>
          <a:p>
            <a:r>
              <a:t>restriction, the system is allowed to search freely across all 691 official</a:t>
            </a:r>
          </a:p>
          <a:p>
            <a:r>
              <a:t>techniques. Accuracy collapses to essentially zero for two of the three</a:t>
            </a:r>
          </a:p>
          <a:p>
            <a:r>
              <a:t>models, and only about 5.6% for the third - compare that to 83.3%, 11.1%, and</a:t>
            </a:r>
          </a:p>
          <a:p>
            <a:r>
              <a:t>27.8% with the constraint switched on, from two slides ago." Explain the</a:t>
            </a:r>
          </a:p>
          <a:p>
            <a:r>
              <a:t>"right neighbourhood" line: "Even when unrestricted, the free search doesn't</a:t>
            </a:r>
          </a:p>
          <a:p>
            <a:r>
              <a:t>pick randomly - it tends to land on something THEMATICALLY related, like a</a:t>
            </a:r>
          </a:p>
          <a:p>
            <a:r>
              <a:t>different networking-discovery technique - but it essentially never lands on</a:t>
            </a:r>
          </a:p>
          <a:p>
            <a:r>
              <a:t>the exact right one. It's like knowing someone lives somewhere in the same</a:t>
            </a:r>
          </a:p>
          <a:p>
            <a:r>
              <a:t>city, versus knowing their exact street address." Close with the conclusion,</a:t>
            </a:r>
          </a:p>
          <a:p>
            <a:r>
              <a:t>stated plainly: "This is the proof that the constraint itself, not just having</a:t>
            </a:r>
          </a:p>
          <a:p>
            <a:r>
              <a:t>a decent AI model, is what produces the improvement. The exact same search</a:t>
            </a:r>
          </a:p>
          <a:p>
            <a:r>
              <a:t>code is running in both cases - only the size of the allowed candidate list</a:t>
            </a:r>
          </a:p>
          <a:p>
            <a:r>
              <a:t>changed, and that alone explains almost the entire gap."</a:t>
            </a:r>
          </a:p>
          <a:p>
            <a:endParaRPr/>
          </a:p>
          <a:p>
            <a:r>
              <a:t>KEY TERMS</a:t>
            </a:r>
          </a:p>
          <a:p>
            <a:r>
              <a:t>Ablation study: an experiment where you remove one component to measure its</a:t>
            </a:r>
          </a:p>
          <a:p>
            <a:r>
              <a:t>individual contribution to the overall result.</a:t>
            </a:r>
          </a:p>
          <a:p>
            <a:r>
              <a:t>Unscoped / unconstrained retrieval: search with no restriction on which</a:t>
            </a:r>
          </a:p>
          <a:p>
            <a:r>
              <a:t>answers are eligible - the "open-domain similarity search" from slide 3, made</a:t>
            </a:r>
          </a:p>
          <a:p>
            <a:r>
              <a:t>concrete as an actual tested condition rather than just a described idea.</a:t>
            </a:r>
          </a:p>
          <a:p>
            <a:endParaRPr/>
          </a:p>
          <a:p>
            <a:r>
              <a:t>WHAT THE RESULT MEANS</a:t>
            </a:r>
          </a:p>
          <a:p>
            <a:r>
              <a:t>This is the paper's strongest piece of causal evidence. It's not just a</a:t>
            </a:r>
          </a:p>
          <a:p>
            <a:r>
              <a:t>correlation ("systems with graphs tend to score higher") - it's a controlled</a:t>
            </a:r>
          </a:p>
          <a:p>
            <a:r>
              <a:t>experiment on the SAME system, with ONE thing removed, isolating exactly what</a:t>
            </a:r>
          </a:p>
          <a:p>
            <a:r>
              <a:t>caused the improvement.</a:t>
            </a:r>
          </a:p>
          <a:p>
            <a:endParaRPr/>
          </a:p>
          <a:p>
            <a:r>
              <a:t>IF ASKED / IF STUCK</a:t>
            </a:r>
          </a:p>
          <a:p>
            <a:r>
              <a:t>If asked "couldn't a bigger model fix the unscoped version?" - the paper does</a:t>
            </a:r>
          </a:p>
          <a:p>
            <a:r>
              <a:t>not directly test that, but the point stands regardless of model size: the</a:t>
            </a:r>
          </a:p>
          <a:p>
            <a:r>
              <a:t>core issue is that 691 unrestricted options is simply too large a haystack for</a:t>
            </a:r>
          </a:p>
          <a:p>
            <a:r>
              <a:t>similarity search alone to reliably find the one right needle, whatever</a:t>
            </a:r>
          </a:p>
          <a:p>
            <a:r>
              <a:t>model is doing the searching.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[~1:30]</a:t>
            </a:r>
          </a:p>
          <a:p>
            <a:endParaRPr/>
          </a:p>
          <a:p>
            <a:r>
              <a:t>WHY THIS SLIDE</a:t>
            </a:r>
          </a:p>
          <a:p>
            <a:r>
              <a:t>The generalisation test: does the idea only work on the one dataset it was</a:t>
            </a:r>
          </a:p>
          <a:p>
            <a:r>
              <a:t>designed around, or does it transfer to a genuinely different kind of</a:t>
            </a:r>
          </a:p>
          <a:p>
            <a:r>
              <a:t>evidence? This answers "isn't this just overfit to one benchmark?" before</a:t>
            </a:r>
          </a:p>
          <a:p>
            <a:r>
              <a:t>anyone has to ask it.</a:t>
            </a:r>
          </a:p>
          <a:p>
            <a:endParaRPr/>
          </a:p>
          <a:p>
            <a:r>
              <a:t>WHAT TO SAY</a:t>
            </a:r>
          </a:p>
          <a:p>
            <a:r>
              <a:t>Remind the room this is the OTHER dataset from slide 6 - host-level system</a:t>
            </a:r>
          </a:p>
          <a:p>
            <a:r>
              <a:t>logs from the red-team exercise, a different "language" of evidence than</a:t>
            </a:r>
          </a:p>
          <a:p>
            <a:r>
              <a:t>network flows. "Grounded F1 is our method on; Baseline is the same unscoped-</a:t>
            </a:r>
          </a:p>
          <a:p>
            <a:r>
              <a:t>search idea from the last slide, applied here instead. Every single model</a:t>
            </a:r>
          </a:p>
          <a:p>
            <a:r>
              <a:t>improves by about 0.43 in F1 - on a scale of 0 to 1, that is a large jump, not</a:t>
            </a:r>
          </a:p>
          <a:p>
            <a:r>
              <a:t>a marginal one: it's the difference between getting roughly a quarter of</a:t>
            </a:r>
          </a:p>
          <a:p>
            <a:r>
              <a:t>cases right and getting roughly two-thirds or more right." Then: "The</a:t>
            </a:r>
          </a:p>
          <a:p>
            <a:r>
              <a:t>confidence intervals for grounded and baseline don't overlap at all for any</a:t>
            </a:r>
          </a:p>
          <a:p>
            <a:r>
              <a:t>model - so despite this being a small evaluation, we can be confident this</a:t>
            </a:r>
          </a:p>
          <a:p>
            <a:r>
              <a:t>improvement is real, not just lucky sampling." Then explain the</a:t>
            </a:r>
          </a:p>
          <a:p>
            <a:r>
              <a:t>precision/recall pair concretely, since this is a "define the result" moment:</a:t>
            </a:r>
          </a:p>
          <a:p>
            <a:r>
              <a:t>"Precision near 1.00 means when this system DOES name a specific technique, it</a:t>
            </a:r>
          </a:p>
          <a:p>
            <a:r>
              <a:t>is almost always right - very trustworthy when it speaks up. Recall around</a:t>
            </a:r>
          </a:p>
          <a:p>
            <a:r>
              <a:t>0.5 means it only catches about half of the real cases it should flag - it</a:t>
            </a:r>
          </a:p>
          <a:p>
            <a:r>
              <a:t>stays quiet rather than guess when it's not confident." Explain why that's</a:t>
            </a:r>
          </a:p>
          <a:p>
            <a:r>
              <a:t>actually the right tradeoff for this use case: "For a real analyst, a</a:t>
            </a:r>
          </a:p>
          <a:p>
            <a:r>
              <a:t>cautious assistant that's almost always right when it does speak is more</a:t>
            </a:r>
          </a:p>
          <a:p>
            <a:r>
              <a:t>useful than one that guesses constantly and cries wolf - false alarms are</a:t>
            </a:r>
          </a:p>
          <a:p>
            <a:r>
              <a:t>exactly the alert-fatigue problem from the start of the talk." Close with the</a:t>
            </a:r>
          </a:p>
          <a:p>
            <a:r>
              <a:t>surprising bit: "Interestingly, the model ranking flips - the WORST model on</a:t>
            </a:r>
          </a:p>
          <a:p>
            <a:r>
              <a:t>network flows becomes the BEST model here, which tells us the 'best AI model'</a:t>
            </a:r>
          </a:p>
          <a:p>
            <a:r>
              <a:t>isn't a fixed, universal answer; it depends on the kind of evidence."</a:t>
            </a:r>
          </a:p>
          <a:p>
            <a:endParaRPr/>
          </a:p>
          <a:p>
            <a:r>
              <a:t>KEY TERMS</a:t>
            </a:r>
          </a:p>
          <a:p>
            <a:r>
              <a:t>(Precision, recall, and confidence intervals were defined on slides 6 and 7 -</a:t>
            </a:r>
          </a:p>
          <a:p>
            <a:r>
              <a:t>this slide is where you actually USE those definitions on a new result, so</a:t>
            </a:r>
          </a:p>
          <a:p>
            <a:r>
              <a:t>lean on the earlier explanation rather than re-deriving it from scratch.)</a:t>
            </a:r>
          </a:p>
          <a:p>
            <a:endParaRPr/>
          </a:p>
          <a:p>
            <a:r>
              <a:t>WHAT THE RESULT MEANS</a:t>
            </a:r>
          </a:p>
          <a:p>
            <a:r>
              <a:t>The idea is not a one-dataset trick - it holds up on a structurally different</a:t>
            </a:r>
          </a:p>
          <a:p>
            <a:r>
              <a:t>kind of security data, which is the strongest kind of evidence for</a:t>
            </a:r>
          </a:p>
          <a:p>
            <a:r>
              <a:t>generalisation a single paper can offer without testing a third dataset.</a:t>
            </a:r>
          </a:p>
          <a:p>
            <a:endParaRPr/>
          </a:p>
          <a:p>
            <a:r>
              <a:t>IF ASKED / IF STUCK</a:t>
            </a:r>
          </a:p>
          <a:p>
            <a:r>
              <a:t>If asked "why does the model ranking flip?" - the honest, cited answer: this</a:t>
            </a:r>
          </a:p>
          <a:p>
            <a:r>
              <a:t>dataset's finer-grained behaviour vocabulary rewards the kind of varied</a:t>
            </a:r>
          </a:p>
          <a:p>
            <a:r>
              <a:t>relation use that looked like noise on the simpler network-flow data - a</a:t>
            </a:r>
          </a:p>
          <a:p>
            <a:r>
              <a:t>model being "too eager" to use different behaviour labels hurt it on one</a:t>
            </a:r>
          </a:p>
          <a:p>
            <a:r>
              <a:t>dataset and helped it on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[~1:30]</a:t>
            </a:r>
          </a:p>
          <a:p>
            <a:endParaRPr dirty="0"/>
          </a:p>
          <a:p>
            <a:r>
              <a:rPr dirty="0"/>
              <a:t>WHY THIS SLIDE</a:t>
            </a:r>
          </a:p>
          <a:p>
            <a:r>
              <a:rPr dirty="0"/>
              <a:t>A genuinely counter-intuitive, memorable finding, and a warning to the field</a:t>
            </a:r>
          </a:p>
          <a:p>
            <a:r>
              <a:rPr dirty="0"/>
              <a:t>about a real evaluation mistake. This is a good slide to sound confident and a</a:t>
            </a:r>
          </a:p>
          <a:p>
            <a:r>
              <a:rPr dirty="0"/>
              <a:t>little bit pleased about - it's a nice piece of intellectual honesty.</a:t>
            </a:r>
          </a:p>
          <a:p>
            <a:endParaRPr dirty="0"/>
          </a:p>
          <a:p>
            <a:r>
              <a:rPr dirty="0"/>
              <a:t>WHAT TO SAY</a:t>
            </a:r>
          </a:p>
          <a:p>
            <a:r>
              <a:rPr dirty="0"/>
              <a:t>Define grounding/faithfulness properly here, since this is its full</a:t>
            </a:r>
          </a:p>
          <a:p>
            <a:r>
              <a:rPr dirty="0"/>
              <a:t>introduction: "Grounding, or faithfulness, measures whether the AI's WRITTEN</a:t>
            </a:r>
          </a:p>
          <a:p>
            <a:r>
              <a:rPr dirty="0"/>
              <a:t>explanation actually matches the evidence it was given - is it being honest</a:t>
            </a:r>
          </a:p>
          <a:p>
            <a:r>
              <a:rPr dirty="0"/>
              <a:t>and consistent with its own sources, or is it 'hallucinating,' the term the</a:t>
            </a:r>
          </a:p>
          <a:p>
            <a:r>
              <a:rPr dirty="0"/>
              <a:t>AI field uses for a model confidently making things up. We measure it using</a:t>
            </a:r>
          </a:p>
          <a:p>
            <a:r>
              <a:rPr dirty="0"/>
              <a:t>the same embeddings idea from earlier: how numerically similar is the written</a:t>
            </a:r>
          </a:p>
          <a:p>
            <a:r>
              <a:rPr dirty="0"/>
              <a:t>summary to the reference text it's supposed to be grounded in." Then state the</a:t>
            </a:r>
          </a:p>
          <a:p>
            <a:r>
              <a:rPr dirty="0"/>
              <a:t>crucial distinction clearly, because it's the entire point of the slide:</a:t>
            </a:r>
            <a:endParaRPr lang="en-GB" dirty="0"/>
          </a:p>
          <a:p>
            <a:endParaRPr dirty="0"/>
          </a:p>
          <a:p>
            <a:r>
              <a:rPr dirty="0"/>
              <a:t>"Grounding does NOT measure whether the final answer was correct. It only</a:t>
            </a:r>
          </a:p>
          <a:p>
            <a:r>
              <a:rPr dirty="0"/>
              <a:t>measures whether the explanation is internally consistent with whatever</a:t>
            </a:r>
          </a:p>
          <a:p>
            <a:r>
              <a:rPr dirty="0"/>
              <a:t>evidence it was handed - even if that evidence led to the wrong conclusion."</a:t>
            </a:r>
          </a:p>
          <a:p>
            <a:r>
              <a:rPr dirty="0"/>
              <a:t>Walk through the finding: </a:t>
            </a:r>
            <a:endParaRPr lang="en-GB" dirty="0"/>
          </a:p>
          <a:p>
            <a:endParaRPr lang="en-GB" dirty="0"/>
          </a:p>
          <a:p>
            <a:r>
              <a:rPr dirty="0"/>
              <a:t>"The coder model writes the best-grounded, most</a:t>
            </a:r>
          </a:p>
          <a:p>
            <a:r>
              <a:rPr dirty="0"/>
              <a:t>coherent-sounding reports of the three - and it also has the worst</a:t>
            </a:r>
          </a:p>
          <a:p>
            <a:r>
              <a:rPr dirty="0"/>
              <a:t>classification accuracy. It is very good at confidently and convincingly</a:t>
            </a:r>
          </a:p>
          <a:p>
            <a:r>
              <a:rPr dirty="0"/>
              <a:t>explaining the wrong attack." Close with the practical warning: </a:t>
            </a:r>
            <a:endParaRPr lang="en-GB" dirty="0"/>
          </a:p>
          <a:p>
            <a:endParaRPr lang="en-GB" dirty="0"/>
          </a:p>
          <a:p>
            <a:r>
              <a:rPr dirty="0"/>
              <a:t>"If a company</a:t>
            </a:r>
          </a:p>
          <a:p>
            <a:r>
              <a:rPr dirty="0"/>
              <a:t>evaluating these tools only checked 'does the report read well and cite its</a:t>
            </a:r>
          </a:p>
          <a:p>
            <a:r>
              <a:rPr dirty="0"/>
              <a:t>sources,' without separately checking 'did it name the right attack,' they</a:t>
            </a:r>
          </a:p>
          <a:p>
            <a:r>
              <a:rPr dirty="0"/>
              <a:t>would rank the worst-performing model as the best one - purely because it</a:t>
            </a:r>
          </a:p>
          <a:p>
            <a:r>
              <a:rPr dirty="0"/>
              <a:t>writes convincing prose. That's a real risk in how these systems tend to get</a:t>
            </a:r>
          </a:p>
          <a:p>
            <a:r>
              <a:rPr dirty="0"/>
              <a:t>judged in practice, and it's exactly why we insist on reporting both metrics</a:t>
            </a:r>
          </a:p>
          <a:p>
            <a:r>
              <a:rPr dirty="0"/>
              <a:t>side by side, never grounding alone."</a:t>
            </a:r>
          </a:p>
          <a:p>
            <a:endParaRPr dirty="0"/>
          </a:p>
          <a:p>
            <a:r>
              <a:rPr dirty="0"/>
              <a:t>KEY TERMS</a:t>
            </a:r>
          </a:p>
          <a:p>
            <a:r>
              <a:rPr dirty="0"/>
              <a:t>Grounding / faithfulness: agreement between an AI's written output and the</a:t>
            </a:r>
          </a:p>
          <a:p>
            <a:r>
              <a:rPr dirty="0"/>
              <a:t>actual evidence or reference material it was given.</a:t>
            </a:r>
          </a:p>
          <a:p>
            <a:r>
              <a:rPr dirty="0"/>
              <a:t>Hallucination: when an AI model states something confidently and fluently that</a:t>
            </a:r>
          </a:p>
          <a:p>
            <a:r>
              <a:rPr dirty="0"/>
              <a:t>is not actually supported by its input - a well-known failure mode across the</a:t>
            </a:r>
          </a:p>
          <a:p>
            <a:r>
              <a:rPr dirty="0"/>
              <a:t>whole field, not specific to this paper.</a:t>
            </a:r>
          </a:p>
          <a:p>
            <a:endParaRPr dirty="0"/>
          </a:p>
          <a:p>
            <a:r>
              <a:rPr dirty="0"/>
              <a:t>WHAT THE RESULT MEANS</a:t>
            </a:r>
          </a:p>
          <a:p>
            <a:r>
              <a:rPr dirty="0"/>
              <a:t>Correctness and grounding are NOT the same thing and can point in opposite</a:t>
            </a:r>
          </a:p>
          <a:p>
            <a:r>
              <a:rPr dirty="0"/>
              <a:t>directions. A system can be simultaneously well-written and wrong. This is the</a:t>
            </a:r>
          </a:p>
          <a:p>
            <a:r>
              <a:rPr dirty="0"/>
              <a:t>paper's argument for why any serious evaluation of AI-generated security</a:t>
            </a:r>
          </a:p>
          <a:p>
            <a:r>
              <a:rPr dirty="0"/>
              <a:t>reports needs BOTH an accuracy check and a </a:t>
            </a:r>
            <a:r>
              <a:rPr dirty="0" err="1"/>
              <a:t>groundedness</a:t>
            </a:r>
            <a:r>
              <a:rPr dirty="0"/>
              <a:t> check - one alone can</a:t>
            </a:r>
          </a:p>
          <a:p>
            <a:r>
              <a:rPr dirty="0"/>
              <a:t>be actively misleading.</a:t>
            </a:r>
          </a:p>
          <a:p>
            <a:endParaRPr dirty="0"/>
          </a:p>
          <a:p>
            <a:r>
              <a:rPr dirty="0"/>
              <a:t>IF ASKED / IF STUCK</a:t>
            </a:r>
          </a:p>
          <a:p>
            <a:r>
              <a:rPr dirty="0"/>
              <a:t>If asked "so is grounding a useless metric then?" - no: it is still valuable</a:t>
            </a:r>
          </a:p>
          <a:p>
            <a:r>
              <a:rPr dirty="0"/>
              <a:t>for catching a DIFFERENT failure mode (the AI inventing evidence that was</a:t>
            </a:r>
          </a:p>
          <a:p>
            <a:r>
              <a:rPr dirty="0"/>
              <a:t>never there at all), it just cannot substitute for checking correctness, and</a:t>
            </a:r>
          </a:p>
          <a:p>
            <a:r>
              <a:rPr dirty="0"/>
              <a:t>the two need to be read together, not as a replacement for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[~1:00]</a:t>
            </a:r>
          </a:p>
          <a:p>
            <a:endParaRPr dirty="0"/>
          </a:p>
          <a:p>
            <a:r>
              <a:rPr dirty="0"/>
              <a:t>WHY THIS SLIDE</a:t>
            </a:r>
          </a:p>
          <a:p>
            <a:r>
              <a:rPr dirty="0"/>
              <a:t>Academic honesty, and pre-empting the two hardest questions a sharp reviewer</a:t>
            </a:r>
          </a:p>
          <a:p>
            <a:r>
              <a:rPr dirty="0"/>
              <a:t>in the audience is likely to ask. Handling this well BEFORE Q&amp;A makes the</a:t>
            </a:r>
          </a:p>
          <a:p>
            <a:r>
              <a:rPr dirty="0"/>
              <a:t>actual Q&amp;A much easier.</a:t>
            </a:r>
          </a:p>
          <a:p>
            <a:endParaRPr dirty="0"/>
          </a:p>
          <a:p>
            <a:r>
              <a:rPr dirty="0"/>
              <a:t>WHAT TO SAY</a:t>
            </a:r>
          </a:p>
          <a:p>
            <a:r>
              <a:rPr dirty="0"/>
              <a:t>First limitation: "Our system's understanding is limited by what information</a:t>
            </a:r>
          </a:p>
          <a:p>
            <a:r>
              <a:rPr dirty="0"/>
              <a:t>even makes it into the sentence at step 1. Concretely: at the level of 'which</a:t>
            </a:r>
          </a:p>
          <a:p>
            <a:r>
              <a:rPr dirty="0"/>
              <a:t>port, how many packets, how big,' several genuinely different attacker actions</a:t>
            </a:r>
          </a:p>
          <a:p>
            <a:r>
              <a:rPr dirty="0"/>
              <a:t>look almost statistically identical - so no amount of clever AI reasoning</a:t>
            </a:r>
          </a:p>
          <a:p>
            <a:r>
              <a:rPr dirty="0"/>
              <a:t>downstream can recover information that was simply never captured in the first</a:t>
            </a:r>
          </a:p>
          <a:p>
            <a:r>
              <a:rPr dirty="0"/>
              <a:t>place. Fixing this means capturing richer detail per alert, which is future</a:t>
            </a:r>
          </a:p>
          <a:p>
            <a:r>
              <a:rPr dirty="0"/>
              <a:t>work." </a:t>
            </a:r>
            <a:endParaRPr lang="en-GB" dirty="0"/>
          </a:p>
          <a:p>
            <a:endParaRPr lang="en-GB" dirty="0"/>
          </a:p>
          <a:p>
            <a:r>
              <a:rPr dirty="0"/>
              <a:t>Second limitation, the harder one, worth explaining carefully rather</a:t>
            </a:r>
          </a:p>
          <a:p>
            <a:r>
              <a:rPr dirty="0"/>
              <a:t>than rushing: "The small lookup table connecting </a:t>
            </a:r>
            <a:r>
              <a:rPr dirty="0" err="1"/>
              <a:t>behaviours</a:t>
            </a:r>
            <a:r>
              <a:rPr dirty="0"/>
              <a:t> to official</a:t>
            </a:r>
          </a:p>
          <a:p>
            <a:r>
              <a:rPr dirty="0"/>
              <a:t>technique IDs was built by hand, by the same person who also decided what the</a:t>
            </a:r>
          </a:p>
          <a:p>
            <a:r>
              <a:rPr dirty="0"/>
              <a:t>correct answer is for each test case. That's a legitimate worry - maybe the</a:t>
            </a:r>
          </a:p>
          <a:p>
            <a:r>
              <a:rPr dirty="0"/>
              <a:t>map already secretly knows the answer, rather than the system genuinely</a:t>
            </a:r>
          </a:p>
          <a:p>
            <a:r>
              <a:rPr dirty="0"/>
              <a:t>reasoning. Three things push back on that concern: first, the map is</a:t>
            </a:r>
          </a:p>
          <a:p>
            <a:r>
              <a:rPr dirty="0"/>
              <a:t>one-to-many - one </a:t>
            </a:r>
            <a:r>
              <a:rPr dirty="0" err="1"/>
              <a:t>behaviour</a:t>
            </a:r>
            <a:r>
              <a:rPr dirty="0"/>
              <a:t> can point to several possible techniques, it</a:t>
            </a:r>
          </a:p>
          <a:p>
            <a:r>
              <a:rPr dirty="0"/>
              <a:t>doesn't just hand over a single unique answer. Second, we separately tested</a:t>
            </a:r>
          </a:p>
          <a:p>
            <a:r>
              <a:rPr dirty="0"/>
              <a:t>removing a hand-tuned preference rule from the final scoring step, and it</a:t>
            </a:r>
          </a:p>
          <a:p>
            <a:r>
              <a:rPr dirty="0"/>
              <a:t>barely changed any predictions - so the results aren't propped up by some</a:t>
            </a:r>
          </a:p>
          <a:p>
            <a:r>
              <a:rPr dirty="0"/>
              <a:t>hidden manual shortcut. Third, and most convincingly, on the DARPA dataset,</a:t>
            </a:r>
          </a:p>
          <a:p>
            <a:r>
              <a:rPr dirty="0"/>
              <a:t>where the correct answers came from an independent official report rather</a:t>
            </a:r>
          </a:p>
          <a:p>
            <a:r>
              <a:rPr dirty="0"/>
              <a:t>than our own judgement, that same lookup table only reaches about 50% recall -</a:t>
            </a:r>
          </a:p>
          <a:p>
            <a:r>
              <a:rPr dirty="0"/>
              <a:t>if it really were secretly encoding the answer key, it should have scored</a:t>
            </a:r>
          </a:p>
          <a:p>
            <a:r>
              <a:rPr dirty="0"/>
              <a:t>close to 100% there too, and it doesn't."</a:t>
            </a:r>
          </a:p>
          <a:p>
            <a:endParaRPr dirty="0"/>
          </a:p>
          <a:p>
            <a:r>
              <a:rPr dirty="0"/>
              <a:t>KEY TERMS</a:t>
            </a:r>
          </a:p>
          <a:p>
            <a:r>
              <a:rPr dirty="0"/>
              <a:t>Circularity (the general concern, not a term used on the slide itself): when</a:t>
            </a:r>
          </a:p>
          <a:p>
            <a:r>
              <a:rPr dirty="0"/>
              <a:t>the thing being tested and the standard it's tested against are built by the</a:t>
            </a:r>
          </a:p>
          <a:p>
            <a:r>
              <a:rPr dirty="0"/>
              <a:t>same process or person, so a good score might just reflect that shared</a:t>
            </a:r>
          </a:p>
          <a:p>
            <a:r>
              <a:rPr dirty="0"/>
              <a:t>construction rather than genuine capability.</a:t>
            </a:r>
          </a:p>
          <a:p>
            <a:r>
              <a:rPr dirty="0"/>
              <a:t>Recall (reminder from slide 7): of everything that was actually true, how much</a:t>
            </a:r>
          </a:p>
          <a:p>
            <a:r>
              <a:rPr dirty="0"/>
              <a:t>did we correctly identify - here, of all the real DARPA attack techniques,</a:t>
            </a:r>
          </a:p>
          <a:p>
            <a:r>
              <a:rPr dirty="0"/>
              <a:t>how many did the hand-built map correctly reach.</a:t>
            </a:r>
          </a:p>
          <a:p>
            <a:endParaRPr dirty="0"/>
          </a:p>
          <a:p>
            <a:r>
              <a:rPr dirty="0"/>
              <a:t>WHAT THE RESULT MEANS</a:t>
            </a:r>
          </a:p>
          <a:p>
            <a:r>
              <a:rPr dirty="0"/>
              <a:t>Both limitations are honestly reported constraints on how far the results</a:t>
            </a:r>
          </a:p>
          <a:p>
            <a:r>
              <a:rPr dirty="0" err="1"/>
              <a:t>generalise</a:t>
            </a:r>
            <a:r>
              <a:rPr dirty="0"/>
              <a:t>, not flaws that invalidate the findings - and the paper gives</a:t>
            </a:r>
          </a:p>
          <a:p>
            <a:r>
              <a:rPr dirty="0"/>
              <a:t>concrete evidence (the DARPA recall figure especially) rather than just</a:t>
            </a:r>
          </a:p>
          <a:p>
            <a:r>
              <a:rPr dirty="0"/>
              <a:t>asserting the concern away.</a:t>
            </a:r>
          </a:p>
          <a:p>
            <a:endParaRPr dirty="0"/>
          </a:p>
          <a:p>
            <a:r>
              <a:rPr dirty="0"/>
              <a:t>IF ASKED / IF STUCK</a:t>
            </a:r>
          </a:p>
          <a:p>
            <a:r>
              <a:rPr dirty="0"/>
              <a:t>If a reviewer pushes hard on circularity: the single strongest one-line answer</a:t>
            </a:r>
          </a:p>
          <a:p>
            <a:r>
              <a:rPr dirty="0"/>
              <a:t>is "the same mapping only reaches 50% recall on an independently-sourced</a:t>
            </a:r>
          </a:p>
          <a:p>
            <a:r>
              <a:rPr dirty="0"/>
              <a:t>ground truth - a mapping that was secretly cheating would not fail on data it</a:t>
            </a:r>
          </a:p>
          <a:p>
            <a:r>
              <a:rPr dirty="0"/>
              <a:t>had no hand in labelling."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[~0:45]</a:t>
            </a:r>
          </a:p>
          <a:p>
            <a:endParaRPr dirty="0"/>
          </a:p>
          <a:p>
            <a:r>
              <a:rPr dirty="0"/>
              <a:t>WHY THIS SLIDE</a:t>
            </a:r>
          </a:p>
          <a:p>
            <a:r>
              <a:rPr dirty="0"/>
              <a:t>The "what did we actually add to the field" slide - </a:t>
            </a:r>
            <a:r>
              <a:rPr dirty="0" err="1"/>
              <a:t>summarised</a:t>
            </a:r>
            <a:r>
              <a:rPr dirty="0"/>
              <a:t> in the</a:t>
            </a:r>
          </a:p>
          <a:p>
            <a:r>
              <a:rPr dirty="0"/>
              <a:t>categories researchers use to judge a paper's contribution, rather than</a:t>
            </a:r>
          </a:p>
          <a:p>
            <a:r>
              <a:rPr dirty="0"/>
              <a:t>restating numbers already shown.</a:t>
            </a:r>
          </a:p>
          <a:p>
            <a:endParaRPr dirty="0"/>
          </a:p>
          <a:p>
            <a:r>
              <a:rPr dirty="0"/>
              <a:t>WHAT TO SAY</a:t>
            </a:r>
          </a:p>
          <a:p>
            <a:r>
              <a:rPr dirty="0"/>
              <a:t>Explain the three words as CATEGORIES of contribution, then tie each to one</a:t>
            </a:r>
          </a:p>
          <a:p>
            <a:r>
              <a:rPr dirty="0"/>
              <a:t>thing already shown: </a:t>
            </a:r>
            <a:endParaRPr lang="en-GB" dirty="0"/>
          </a:p>
          <a:p>
            <a:r>
              <a:rPr dirty="0"/>
              <a:t>"Architectural means a methods or design idea - ours is</a:t>
            </a:r>
          </a:p>
          <a:p>
            <a:r>
              <a:rPr dirty="0"/>
              <a:t>that anchoring retrieval in extracted </a:t>
            </a:r>
            <a:r>
              <a:rPr dirty="0" err="1"/>
              <a:t>behaviour</a:t>
            </a:r>
            <a:r>
              <a:rPr dirty="0"/>
              <a:t> turns an open search over 691</a:t>
            </a:r>
          </a:p>
          <a:p>
            <a:r>
              <a:rPr dirty="0"/>
              <a:t>techniques into a closed-set choice, and we proved that with the ablation a</a:t>
            </a:r>
          </a:p>
          <a:p>
            <a:r>
              <a:rPr dirty="0"/>
              <a:t>few slides back, where removing the constraint collapsed performance.</a:t>
            </a:r>
          </a:p>
          <a:p>
            <a:endParaRPr lang="en-GB" dirty="0"/>
          </a:p>
          <a:p>
            <a:r>
              <a:rPr dirty="0"/>
              <a:t>Empirical means a set of measured results - ours span three models and two</a:t>
            </a:r>
          </a:p>
          <a:p>
            <a:r>
              <a:rPr dirty="0"/>
              <a:t>very different datasets, all on one consumer laptop, and show the model</a:t>
            </a:r>
          </a:p>
          <a:p>
            <a:r>
              <a:rPr dirty="0"/>
              <a:t>ranking is not fixed, it depends on the data. </a:t>
            </a:r>
            <a:endParaRPr lang="en-GB" dirty="0"/>
          </a:p>
          <a:p>
            <a:endParaRPr lang="en-GB" dirty="0"/>
          </a:p>
          <a:p>
            <a:r>
              <a:rPr dirty="0"/>
              <a:t>Evaluative means a way of</a:t>
            </a:r>
          </a:p>
          <a:p>
            <a:r>
              <a:rPr dirty="0"/>
              <a:t>judging or measuring things - ours is the dual-metric warning from the</a:t>
            </a:r>
          </a:p>
          <a:p>
            <a:r>
              <a:rPr dirty="0"/>
              <a:t>correctness-versus-grounding slide: report both, because grounding alone can</a:t>
            </a:r>
          </a:p>
          <a:p>
            <a:r>
              <a:rPr dirty="0"/>
              <a:t>rank the worst model first."</a:t>
            </a:r>
          </a:p>
          <a:p>
            <a:endParaRPr dirty="0"/>
          </a:p>
          <a:p>
            <a:r>
              <a:rPr dirty="0"/>
              <a:t>KEY TERMS</a:t>
            </a:r>
          </a:p>
          <a:p>
            <a:r>
              <a:rPr dirty="0"/>
              <a:t>(No new terms - this slide is a summary label for findings already explained</a:t>
            </a:r>
          </a:p>
          <a:p>
            <a:r>
              <a:rPr dirty="0"/>
              <a:t>in detail on slides 8, 9, 10, and 11.)</a:t>
            </a:r>
          </a:p>
          <a:p>
            <a:endParaRPr dirty="0"/>
          </a:p>
          <a:p>
            <a:r>
              <a:rPr dirty="0"/>
              <a:t>WHAT THE RESULT MEANS</a:t>
            </a:r>
          </a:p>
          <a:p>
            <a:r>
              <a:rPr dirty="0"/>
              <a:t>This is not a new finding - it's how to correctly </a:t>
            </a:r>
            <a:r>
              <a:rPr dirty="0" err="1"/>
              <a:t>categorise</a:t>
            </a:r>
            <a:r>
              <a:rPr dirty="0"/>
              <a:t> the findings</a:t>
            </a:r>
          </a:p>
          <a:p>
            <a:r>
              <a:rPr dirty="0"/>
              <a:t>you've already shown when someone later asks "so what's the contribution of</a:t>
            </a:r>
          </a:p>
          <a:p>
            <a:r>
              <a:rPr dirty="0"/>
              <a:t>this paper?"</a:t>
            </a:r>
          </a:p>
          <a:p>
            <a:endParaRPr dirty="0"/>
          </a:p>
          <a:p>
            <a:r>
              <a:rPr dirty="0"/>
              <a:t>IF ASKED / IF STUCK</a:t>
            </a:r>
          </a:p>
          <a:p>
            <a:r>
              <a:rPr dirty="0"/>
              <a:t>If you're short on time, this slide can be compressed to one sentence: "Three</a:t>
            </a:r>
          </a:p>
          <a:p>
            <a:r>
              <a:rPr dirty="0"/>
              <a:t>things: the constraint itself is what works, it works across models and</a:t>
            </a:r>
          </a:p>
          <a:p>
            <a:r>
              <a:rPr dirty="0"/>
              <a:t>datasets, and correctness and grounding need to be measured separately."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[~0:45]</a:t>
            </a:r>
          </a:p>
          <a:p>
            <a:endParaRPr/>
          </a:p>
          <a:p>
            <a:r>
              <a:t>WHY THIS SLIDE</a:t>
            </a:r>
          </a:p>
          <a:p>
            <a:r>
              <a:t>The closing summary and the forward-looking view - leave the room with the one</a:t>
            </a:r>
          </a:p>
          <a:p>
            <a:r>
              <a:t>sentence to remember, and the sense that this is a live research direction,</a:t>
            </a:r>
          </a:p>
          <a:p>
            <a:r>
              <a:t>not a closed, finished topic.</a:t>
            </a:r>
          </a:p>
          <a:p>
            <a:endParaRPr/>
          </a:p>
          <a:p>
            <a:r>
              <a:t>WHAT TO SAY</a:t>
            </a:r>
          </a:p>
          <a:p>
            <a:r>
              <a:t>Restate the main finding even more simply than the slide text: "The short</a:t>
            </a:r>
          </a:p>
          <a:p>
            <a:r>
              <a:t>version: giving the AI a graph built from real observed behaviour, instead of</a:t>
            </a:r>
          </a:p>
          <a:p>
            <a:r>
              <a:t>letting it search everything, made every single model we tried better - and</a:t>
            </a:r>
          </a:p>
          <a:p>
            <a:r>
              <a:t>every mistake that's left traces back to one specific step, reading the raw</a:t>
            </a:r>
          </a:p>
          <a:p>
            <a:r>
              <a:t>evidence, not to the search itself." Then one plain sentence per future-work</a:t>
            </a:r>
          </a:p>
          <a:p>
            <a:r>
              <a:t>bullet: "Capturing richer detail per alert would raise the ceiling from the</a:t>
            </a:r>
          </a:p>
          <a:p>
            <a:r>
              <a:t>first limitation slide. Having someone who has never seen the test answers</a:t>
            </a:r>
          </a:p>
          <a:p>
            <a:r>
              <a:t>build the lookup table would directly settle the circularity question for</a:t>
            </a:r>
          </a:p>
          <a:p>
            <a:r>
              <a:t>good. Letting the system take multiple passes instead of one shot could catch</a:t>
            </a:r>
          </a:p>
          <a:p>
            <a:r>
              <a:t>its own mistakes. And having real human security analysts judge whether the</a:t>
            </a:r>
          </a:p>
          <a:p>
            <a:r>
              <a:t>reports are actually useful in practice - not just automated metrics - is</a:t>
            </a:r>
          </a:p>
          <a:p>
            <a:r>
              <a:t>the natural next validation step."</a:t>
            </a:r>
          </a:p>
          <a:p>
            <a:endParaRPr/>
          </a:p>
          <a:p>
            <a:r>
              <a:t>KEY TERMS</a:t>
            </a:r>
          </a:p>
          <a:p>
            <a:r>
              <a:t>(No new terms.)</a:t>
            </a:r>
          </a:p>
          <a:p>
            <a:endParaRPr/>
          </a:p>
          <a:p>
            <a:r>
              <a:t>WHAT THE RESULT MEANS</a:t>
            </a:r>
          </a:p>
          <a:p>
            <a:r>
              <a:t>This slide has no new numbers - it is the "so what happens next" close.</a:t>
            </a:r>
          </a:p>
          <a:p>
            <a:endParaRPr/>
          </a:p>
          <a:p>
            <a:r>
              <a:t>IF ASKED / IF STUCK</a:t>
            </a:r>
          </a:p>
          <a:p>
            <a:r>
              <a:t>If time is short, you can skip straight from the first sentence to "thank</a:t>
            </a:r>
          </a:p>
          <a:p>
            <a:r>
              <a:t>you" and mention future work only if someone asks about it 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[~0:10]</a:t>
            </a:r>
          </a:p>
          <a:p>
            <a:endParaRPr/>
          </a:p>
          <a:p>
            <a:r>
              <a:t>WHY THIS SLIDE</a:t>
            </a:r>
          </a:p>
          <a:p>
            <a:r>
              <a:t>A formal requirement, not a teaching moment - nobody expects you to read a</a:t>
            </a:r>
          </a:p>
          <a:p>
            <a:r>
              <a:t>reference list aloud.</a:t>
            </a:r>
          </a:p>
          <a:p>
            <a:endParaRPr/>
          </a:p>
          <a:p>
            <a:r>
              <a:t>WHAT TO SAY</a:t>
            </a:r>
          </a:p>
          <a:p>
            <a:r>
              <a:t>"I won't read through every citation here, but this and the next slide cover</a:t>
            </a:r>
          </a:p>
          <a:p>
            <a:r>
              <a:t>the key related work this builds on - happy to point anyone to a specific one</a:t>
            </a:r>
          </a:p>
          <a:p>
            <a:r>
              <a:t>afterwards." Move on immediately.</a:t>
            </a:r>
          </a:p>
          <a:p>
            <a:endParaRPr/>
          </a:p>
          <a:p>
            <a:r>
              <a:t>KEY TERMS / WHAT THE RESULT MEANS</a:t>
            </a:r>
          </a:p>
          <a:p>
            <a:r>
              <a:t>Not applicable.</a:t>
            </a:r>
          </a:p>
          <a:p>
            <a:endParaRPr/>
          </a:p>
          <a:p>
            <a:r>
              <a:t>IF ASKED / IF STUCK</a:t>
            </a:r>
          </a:p>
          <a:p>
            <a:r>
              <a:t>If someone in Q&amp;A asks about a specific related system by name, you can say</a:t>
            </a:r>
          </a:p>
          <a:p>
            <a:r>
              <a:t>"that's on the references slide, let's connect afterwards and I'll send you</a:t>
            </a:r>
          </a:p>
          <a:p>
            <a:r>
              <a:t>the exact citation."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[~0:10]</a:t>
            </a:r>
          </a:p>
          <a:p>
            <a:endParaRPr/>
          </a:p>
          <a:p>
            <a:r>
              <a:t>WHY THIS SLIDE</a:t>
            </a:r>
          </a:p>
          <a:p>
            <a:r>
              <a:t>Continuation of the reference list (it did not fit on one slide).</a:t>
            </a:r>
          </a:p>
          <a:p>
            <a:endParaRPr/>
          </a:p>
          <a:p>
            <a:r>
              <a:t>WHAT TO SAY</a:t>
            </a:r>
          </a:p>
          <a:p>
            <a:r>
              <a:t>Same as the previous slide - do not read it aloud, briefly acknowledge it and</a:t>
            </a:r>
          </a:p>
          <a:p>
            <a:r>
              <a:t>move to the closing slide.</a:t>
            </a:r>
          </a:p>
          <a:p>
            <a:endParaRPr/>
          </a:p>
          <a:p>
            <a:r>
              <a:t>KEY TERMS / WHAT THE RESULT MEANS</a:t>
            </a:r>
          </a:p>
          <a:p>
            <a:r>
              <a:t>Not applicable.</a:t>
            </a:r>
          </a:p>
          <a:p>
            <a:endParaRPr/>
          </a:p>
          <a:p>
            <a:r>
              <a:t>IF ASKED / IF STUCK</a:t>
            </a:r>
          </a:p>
          <a:p>
            <a:r>
              <a:t>If you're running long on time, you can skip straight past both reference</a:t>
            </a:r>
          </a:p>
          <a:p>
            <a:r>
              <a:t>slides with just "full reference list is here" while advancing.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[~0:15]</a:t>
            </a:r>
          </a:p>
          <a:p>
            <a:endParaRPr/>
          </a:p>
          <a:p>
            <a:r>
              <a:t>WHY THIS SLIDE</a:t>
            </a:r>
          </a:p>
          <a:p>
            <a:r>
              <a:t>Signal clearly that the talk is over and invite questions - respect the</a:t>
            </a:r>
          </a:p>
          <a:p>
            <a:r>
              <a:t>moderator's time and don't let the ending trail off awkwardly.</a:t>
            </a:r>
          </a:p>
          <a:p>
            <a:endParaRPr/>
          </a:p>
          <a:p>
            <a:r>
              <a:t>WHAT TO SAY</a:t>
            </a:r>
          </a:p>
          <a:p>
            <a:r>
              <a:t>"Thank you - I'm happy to take any questions." If time is genuinely short, add:</a:t>
            </a:r>
          </a:p>
          <a:p>
            <a:r>
              <a:t>"and if we run out of time, please do find me afterwards, or during the coffee</a:t>
            </a:r>
          </a:p>
          <a:p>
            <a:r>
              <a:t>break - I'd love to talk about it more."</a:t>
            </a:r>
          </a:p>
          <a:p>
            <a:endParaRPr/>
          </a:p>
          <a:p>
            <a:r>
              <a:t>KEY TERMS / WHAT THE RESULT MEANS</a:t>
            </a:r>
          </a:p>
          <a:p>
            <a:r>
              <a:t>Not applicable.</a:t>
            </a:r>
          </a:p>
          <a:p>
            <a:endParaRPr/>
          </a:p>
          <a:p>
            <a:r>
              <a:t>IF ASKED / IF STUCK</a:t>
            </a:r>
          </a:p>
          <a:p>
            <a:r>
              <a:t>The three questions most likely to come up, with where to point back to if</a:t>
            </a:r>
          </a:p>
          <a:p>
            <a:r>
              <a:t>your mind goes blank in the moment: (1) "Isn't your bridge mapping circular?"</a:t>
            </a:r>
          </a:p>
          <a:p>
            <a:r>
              <a:t>- point back to slide 12, lead with the DARPA 50% recall figure. (2) "Where do</a:t>
            </a:r>
          </a:p>
          <a:p>
            <a:r>
              <a:t>your errors actually come from?" - point back to slide 8, lead with "every</a:t>
            </a:r>
          </a:p>
          <a:p>
            <a:r>
              <a:t>model's accuracy equals its reachability." (3) "Does this only work on your</a:t>
            </a:r>
          </a:p>
          <a:p>
            <a:r>
              <a:t>one dataset?" - point back to slide 10, lead with the +0.43 F1 transfer result</a:t>
            </a:r>
          </a:p>
          <a:p>
            <a:r>
              <a:t>with disjoint confidence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C6C6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5" dirty="0"/>
              <a:t>‹#›</a:t>
            </a:fld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2373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C6C6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5" dirty="0"/>
              <a:t>‹#›</a:t>
            </a:fld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C6C6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5" dirty="0"/>
              <a:t>‹#›</a:t>
            </a:fld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C6C6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5" dirty="0"/>
              <a:t>‹#›</a:t>
            </a:fld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C6C6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5" dirty="0"/>
              <a:t>‹#›</a:t>
            </a:fld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5760085" cy="376555"/>
          </a:xfrm>
          <a:custGeom>
            <a:avLst/>
            <a:gdLst/>
            <a:ahLst/>
            <a:cxnLst/>
            <a:rect l="l" t="t" r="r" b="b"/>
            <a:pathLst>
              <a:path w="5760085" h="376555">
                <a:moveTo>
                  <a:pt x="5759996" y="0"/>
                </a:moveTo>
                <a:lnTo>
                  <a:pt x="0" y="0"/>
                </a:lnTo>
                <a:lnTo>
                  <a:pt x="0" y="376339"/>
                </a:lnTo>
                <a:lnTo>
                  <a:pt x="5759996" y="376339"/>
                </a:lnTo>
                <a:lnTo>
                  <a:pt x="5759996" y="0"/>
                </a:lnTo>
                <a:close/>
              </a:path>
            </a:pathLst>
          </a:custGeom>
          <a:solidFill>
            <a:srgbClr val="1F4D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770" y="76349"/>
            <a:ext cx="278574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619389"/>
            <a:ext cx="5071211" cy="1548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07723" y="3024750"/>
            <a:ext cx="330200" cy="150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C6C6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5" dirty="0"/>
              <a:t>‹#›</a:t>
            </a:fld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doi.org/10.18653/v1/2023.acl-long.99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itre.org/sites/default/files/publications/pr-18-0944-11-mitre-attack-design-and-philosophy.pdf" TargetMode="External"/><Relationship Id="rId5" Type="http://schemas.openxmlformats.org/officeDocument/2006/relationships/hyperlink" Target="https://doi.org/10.18653/v1/D19-1410" TargetMode="External"/><Relationship Id="rId4" Type="http://schemas.openxmlformats.org/officeDocument/2006/relationships/hyperlink" Target="https://doi.org/10.18653/v1/2023.emnlp-main.674" TargetMode="External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doi.org/10.1016/j.future.2025.108186" TargetMode="External"/><Relationship Id="rId7" Type="http://schemas.openxmlformats.org/officeDocument/2006/relationships/hyperlink" Target="https://doi.org/10.1109/TIFS.2025.361838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90/s25030870" TargetMode="External"/><Relationship Id="rId5" Type="http://schemas.openxmlformats.org/officeDocument/2006/relationships/hyperlink" Target="https://ieeexplore.ieee.org/document/11395762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doi.org/10.1109/ICAIC67076.2026.11395762" TargetMode="External"/><Relationship Id="rId9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0254" y="2535539"/>
            <a:ext cx="535306" cy="4139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25556" y="2535544"/>
            <a:ext cx="413928" cy="4139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19471" y="2535472"/>
            <a:ext cx="414000" cy="41400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47294" y="505406"/>
            <a:ext cx="45154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22373A"/>
                </a:solidFill>
              </a:rPr>
              <a:t>From</a:t>
            </a:r>
            <a:r>
              <a:rPr sz="1400" spc="185" dirty="0">
                <a:solidFill>
                  <a:srgbClr val="22373A"/>
                </a:solidFill>
              </a:rPr>
              <a:t> </a:t>
            </a:r>
            <a:r>
              <a:rPr sz="1400" dirty="0">
                <a:solidFill>
                  <a:srgbClr val="22373A"/>
                </a:solidFill>
              </a:rPr>
              <a:t>Fragmented</a:t>
            </a:r>
            <a:r>
              <a:rPr sz="1400" spc="185" dirty="0">
                <a:solidFill>
                  <a:srgbClr val="22373A"/>
                </a:solidFill>
              </a:rPr>
              <a:t> </a:t>
            </a:r>
            <a:r>
              <a:rPr sz="1400" dirty="0">
                <a:solidFill>
                  <a:srgbClr val="22373A"/>
                </a:solidFill>
              </a:rPr>
              <a:t>Alerts</a:t>
            </a:r>
            <a:r>
              <a:rPr sz="1400" spc="190" dirty="0">
                <a:solidFill>
                  <a:srgbClr val="22373A"/>
                </a:solidFill>
              </a:rPr>
              <a:t> </a:t>
            </a:r>
            <a:r>
              <a:rPr sz="1400" spc="50" dirty="0">
                <a:solidFill>
                  <a:srgbClr val="22373A"/>
                </a:solidFill>
              </a:rPr>
              <a:t>to</a:t>
            </a:r>
            <a:r>
              <a:rPr sz="1400" spc="185" dirty="0">
                <a:solidFill>
                  <a:srgbClr val="22373A"/>
                </a:solidFill>
              </a:rPr>
              <a:t> </a:t>
            </a:r>
            <a:r>
              <a:rPr sz="1400" dirty="0">
                <a:solidFill>
                  <a:srgbClr val="22373A"/>
                </a:solidFill>
              </a:rPr>
              <a:t>Actionable</a:t>
            </a:r>
            <a:r>
              <a:rPr sz="1400" spc="190" dirty="0">
                <a:solidFill>
                  <a:srgbClr val="22373A"/>
                </a:solidFill>
              </a:rPr>
              <a:t> </a:t>
            </a:r>
            <a:r>
              <a:rPr sz="1400" spc="-10" dirty="0">
                <a:solidFill>
                  <a:srgbClr val="22373A"/>
                </a:solidFill>
              </a:rPr>
              <a:t>Intelligence:</a:t>
            </a:r>
            <a:endParaRPr sz="1400"/>
          </a:p>
        </p:txBody>
      </p:sp>
      <p:sp>
        <p:nvSpPr>
          <p:cNvPr id="7" name="object 7"/>
          <p:cNvSpPr txBox="1"/>
          <p:nvPr/>
        </p:nvSpPr>
        <p:spPr>
          <a:xfrm>
            <a:off x="347294" y="844128"/>
            <a:ext cx="46869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65" dirty="0">
                <a:solidFill>
                  <a:srgbClr val="22373A"/>
                </a:solidFill>
                <a:latin typeface="Arial MT"/>
                <a:cs typeface="Arial MT"/>
              </a:rPr>
              <a:t>Behaviour-Anchored</a:t>
            </a:r>
            <a:r>
              <a:rPr sz="12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22373A"/>
                </a:solidFill>
                <a:latin typeface="Arial MT"/>
                <a:cs typeface="Arial MT"/>
              </a:rPr>
              <a:t>Retrieval</a:t>
            </a:r>
            <a:r>
              <a:rPr sz="12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2373A"/>
                </a:solidFill>
                <a:latin typeface="Arial MT"/>
                <a:cs typeface="Arial MT"/>
              </a:rPr>
              <a:t>for</a:t>
            </a:r>
            <a:r>
              <a:rPr sz="12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200" spc="-35" dirty="0">
                <a:solidFill>
                  <a:srgbClr val="22373A"/>
                </a:solidFill>
                <a:latin typeface="Arial MT"/>
                <a:cs typeface="Arial MT"/>
              </a:rPr>
              <a:t>Incident</a:t>
            </a:r>
            <a:r>
              <a:rPr sz="12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22373A"/>
                </a:solidFill>
                <a:latin typeface="Arial MT"/>
                <a:cs typeface="Arial MT"/>
              </a:rPr>
              <a:t>Reporting</a:t>
            </a:r>
            <a:r>
              <a:rPr sz="12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Arial MT"/>
                <a:cs typeface="Arial MT"/>
              </a:rPr>
              <a:t>on</a:t>
            </a:r>
            <a:r>
              <a:rPr sz="12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Arial MT"/>
                <a:cs typeface="Arial MT"/>
              </a:rPr>
              <a:t>SIEM</a:t>
            </a:r>
            <a:r>
              <a:rPr sz="12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200" spc="-30" dirty="0">
                <a:solidFill>
                  <a:srgbClr val="22373A"/>
                </a:solidFill>
                <a:latin typeface="Arial MT"/>
                <a:cs typeface="Arial MT"/>
              </a:rPr>
              <a:t>Log</a:t>
            </a:r>
            <a:r>
              <a:rPr sz="12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22373A"/>
                </a:solidFill>
                <a:latin typeface="Arial MT"/>
                <a:cs typeface="Arial MT"/>
              </a:rPr>
              <a:t>Streams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994" y="1275797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2D7D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294" y="1546434"/>
            <a:ext cx="3898900" cy="109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18870">
              <a:lnSpc>
                <a:spcPct val="114599"/>
              </a:lnSpc>
              <a:spcBef>
                <a:spcPts val="100"/>
              </a:spcBef>
              <a:tabLst>
                <a:tab pos="1297940" algn="l"/>
                <a:tab pos="1544320" algn="l"/>
              </a:tabLst>
            </a:pP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Joel </a:t>
            </a:r>
            <a:r>
              <a:rPr sz="1000" b="1" spc="-25" dirty="0">
                <a:solidFill>
                  <a:srgbClr val="22373A"/>
                </a:solidFill>
                <a:latin typeface="Arial"/>
                <a:cs typeface="Arial"/>
              </a:rPr>
              <a:t>Isaria</a:t>
            </a:r>
            <a:r>
              <a:rPr sz="1000" b="1" spc="-10" dirty="0">
                <a:solidFill>
                  <a:srgbClr val="22373A"/>
                </a:solidFill>
                <a:latin typeface="Arial"/>
                <a:cs typeface="Arial"/>
              </a:rPr>
              <a:t> Mwende</a:t>
            </a:r>
            <a:r>
              <a:rPr sz="1000" b="1" dirty="0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Prof. Dr.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Microsoft Sans Serif"/>
                <a:cs typeface="Microsoft Sans Serif"/>
              </a:rPr>
              <a:t>Reiner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Microsoft Sans Serif"/>
                <a:cs typeface="Microsoft Sans Serif"/>
              </a:rPr>
              <a:t>Creutzburg </a:t>
            </a:r>
            <a:r>
              <a:rPr sz="1000" spc="-45" dirty="0">
                <a:solidFill>
                  <a:srgbClr val="22373A"/>
                </a:solidFill>
                <a:latin typeface="Microsoft Sans Serif"/>
                <a:cs typeface="Microsoft Sans Serif"/>
              </a:rPr>
              <a:t>Navaneeth</a:t>
            </a:r>
            <a:r>
              <a:rPr sz="10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Shivananjappa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	Prof. Dr. </a:t>
            </a:r>
            <a:r>
              <a:rPr sz="1000" spc="-40" dirty="0">
                <a:solidFill>
                  <a:srgbClr val="22373A"/>
                </a:solidFill>
                <a:latin typeface="Microsoft Sans Serif"/>
                <a:cs typeface="Microsoft Sans Serif"/>
              </a:rPr>
              <a:t>Tuğçe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Ballı</a:t>
            </a:r>
            <a:endParaRPr sz="1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900" spc="-25" dirty="0">
                <a:solidFill>
                  <a:srgbClr val="22373A"/>
                </a:solidFill>
                <a:latin typeface="Arial MT"/>
                <a:cs typeface="Arial MT"/>
              </a:rPr>
              <a:t>SRH</a:t>
            </a:r>
            <a:r>
              <a:rPr sz="900" dirty="0">
                <a:solidFill>
                  <a:srgbClr val="22373A"/>
                </a:solidFill>
                <a:latin typeface="Arial MT"/>
                <a:cs typeface="Arial MT"/>
              </a:rPr>
              <a:t> Berlin </a:t>
            </a:r>
            <a:r>
              <a:rPr sz="900" spc="-10" dirty="0">
                <a:solidFill>
                  <a:srgbClr val="22373A"/>
                </a:solidFill>
                <a:latin typeface="Arial MT"/>
                <a:cs typeface="Arial MT"/>
              </a:rPr>
              <a:t>University</a:t>
            </a:r>
            <a:r>
              <a:rPr sz="900" dirty="0">
                <a:solidFill>
                  <a:srgbClr val="22373A"/>
                </a:solidFill>
                <a:latin typeface="Arial MT"/>
                <a:cs typeface="Arial MT"/>
              </a:rPr>
              <a:t> of </a:t>
            </a:r>
            <a:r>
              <a:rPr sz="900" spc="-10" dirty="0">
                <a:solidFill>
                  <a:srgbClr val="22373A"/>
                </a:solidFill>
                <a:latin typeface="Arial MT"/>
                <a:cs typeface="Arial MT"/>
              </a:rPr>
              <a:t>Applied</a:t>
            </a:r>
            <a:r>
              <a:rPr sz="90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 MT"/>
                <a:cs typeface="Arial MT"/>
              </a:rPr>
              <a:t>Sciences</a:t>
            </a:r>
            <a:r>
              <a:rPr sz="900" spc="125" dirty="0">
                <a:solidFill>
                  <a:srgbClr val="22373A"/>
                </a:solidFill>
                <a:latin typeface="Arial MT"/>
                <a:cs typeface="Arial MT"/>
              </a:rPr>
              <a:t>  </a:t>
            </a:r>
            <a:r>
              <a:rPr sz="900" i="1" dirty="0">
                <a:solidFill>
                  <a:srgbClr val="22373A"/>
                </a:solidFill>
                <a:latin typeface="Georgia"/>
                <a:cs typeface="Georgia"/>
              </a:rPr>
              <a:t>·</a:t>
            </a:r>
            <a:r>
              <a:rPr sz="900" i="1" spc="155" dirty="0">
                <a:solidFill>
                  <a:srgbClr val="22373A"/>
                </a:solidFill>
                <a:latin typeface="Georgia"/>
                <a:cs typeface="Georgia"/>
              </a:rPr>
              <a:t>  </a:t>
            </a:r>
            <a:r>
              <a:rPr sz="900" dirty="0">
                <a:solidFill>
                  <a:srgbClr val="22373A"/>
                </a:solidFill>
                <a:latin typeface="Arial MT"/>
                <a:cs typeface="Arial MT"/>
              </a:rPr>
              <a:t>Kadir</a:t>
            </a:r>
            <a:r>
              <a:rPr sz="900" spc="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22373A"/>
                </a:solidFill>
                <a:latin typeface="Arial MT"/>
                <a:cs typeface="Arial MT"/>
              </a:rPr>
              <a:t>Has</a:t>
            </a:r>
            <a:r>
              <a:rPr sz="90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Arial MT"/>
                <a:cs typeface="Arial MT"/>
              </a:rPr>
              <a:t>University</a:t>
            </a:r>
            <a:endParaRPr sz="9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85"/>
              </a:spcBef>
            </a:pPr>
            <a:r>
              <a:rPr sz="900" spc="-20" dirty="0">
                <a:solidFill>
                  <a:srgbClr val="6C6C6C"/>
                </a:solidFill>
                <a:latin typeface="Arial MT"/>
                <a:cs typeface="Arial MT"/>
              </a:rPr>
              <a:t>IACyC</a:t>
            </a:r>
            <a:r>
              <a:rPr sz="900" spc="-15" dirty="0">
                <a:solidFill>
                  <a:srgbClr val="6C6C6C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6C6C6C"/>
                </a:solidFill>
                <a:latin typeface="Arial MT"/>
                <a:cs typeface="Arial MT"/>
              </a:rPr>
              <a:t>2026</a:t>
            </a:r>
            <a:r>
              <a:rPr sz="900" spc="-10" dirty="0">
                <a:solidFill>
                  <a:srgbClr val="6C6C6C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C6C6C"/>
                </a:solidFill>
                <a:latin typeface="Arial MT"/>
                <a:cs typeface="Arial MT"/>
              </a:rPr>
              <a:t>–</a:t>
            </a:r>
            <a:r>
              <a:rPr sz="900" spc="-10" dirty="0">
                <a:solidFill>
                  <a:srgbClr val="6C6C6C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C6C6C"/>
                </a:solidFill>
                <a:latin typeface="Arial MT"/>
                <a:cs typeface="Arial MT"/>
              </a:rPr>
              <a:t>2nd</a:t>
            </a:r>
            <a:r>
              <a:rPr sz="900" spc="-10" dirty="0">
                <a:solidFill>
                  <a:srgbClr val="6C6C6C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6C6C6C"/>
                </a:solidFill>
                <a:latin typeface="Arial MT"/>
                <a:cs typeface="Arial MT"/>
              </a:rPr>
              <a:t>CyberMACS</a:t>
            </a:r>
            <a:r>
              <a:rPr sz="900" spc="-10" dirty="0">
                <a:solidFill>
                  <a:srgbClr val="6C6C6C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6C6C6C"/>
                </a:solidFill>
                <a:latin typeface="Arial MT"/>
                <a:cs typeface="Arial MT"/>
              </a:rPr>
              <a:t>International</a:t>
            </a:r>
            <a:r>
              <a:rPr sz="900" spc="-10" dirty="0">
                <a:solidFill>
                  <a:srgbClr val="6C6C6C"/>
                </a:solidFill>
                <a:latin typeface="Arial MT"/>
                <a:cs typeface="Arial MT"/>
              </a:rPr>
              <a:t> Applied </a:t>
            </a:r>
            <a:r>
              <a:rPr sz="900" spc="-30" dirty="0">
                <a:solidFill>
                  <a:srgbClr val="6C6C6C"/>
                </a:solidFill>
                <a:latin typeface="Arial MT"/>
                <a:cs typeface="Arial MT"/>
              </a:rPr>
              <a:t>Cybersecurity</a:t>
            </a:r>
            <a:r>
              <a:rPr sz="900" spc="-10" dirty="0">
                <a:solidFill>
                  <a:srgbClr val="6C6C6C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6C6C6C"/>
                </a:solidFill>
                <a:latin typeface="Arial MT"/>
                <a:cs typeface="Arial MT"/>
              </a:rPr>
              <a:t>Conference </a:t>
            </a:r>
            <a:r>
              <a:rPr sz="900" dirty="0">
                <a:solidFill>
                  <a:srgbClr val="6C6C6C"/>
                </a:solidFill>
                <a:latin typeface="Arial MT"/>
                <a:cs typeface="Arial MT"/>
              </a:rPr>
              <a:t>Kadir</a:t>
            </a:r>
            <a:r>
              <a:rPr sz="900" spc="5" dirty="0">
                <a:solidFill>
                  <a:srgbClr val="6C6C6C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rgbClr val="6C6C6C"/>
                </a:solidFill>
                <a:latin typeface="Arial MT"/>
                <a:cs typeface="Arial MT"/>
              </a:rPr>
              <a:t>Has</a:t>
            </a:r>
            <a:r>
              <a:rPr sz="900" spc="5" dirty="0">
                <a:solidFill>
                  <a:srgbClr val="6C6C6C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6C6C6C"/>
                </a:solidFill>
                <a:latin typeface="Arial MT"/>
                <a:cs typeface="Arial MT"/>
              </a:rPr>
              <a:t>University,</a:t>
            </a:r>
            <a:r>
              <a:rPr sz="900" spc="5" dirty="0">
                <a:solidFill>
                  <a:srgbClr val="6C6C6C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6C6C6C"/>
                </a:solidFill>
                <a:latin typeface="Arial MT"/>
                <a:cs typeface="Arial MT"/>
              </a:rPr>
              <a:t>Istanbul,</a:t>
            </a:r>
            <a:endParaRPr sz="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45" dirty="0">
                <a:solidFill>
                  <a:srgbClr val="6C6C6C"/>
                </a:solidFill>
                <a:latin typeface="Arial MT"/>
                <a:cs typeface="Arial MT"/>
              </a:rPr>
              <a:t>17</a:t>
            </a:r>
            <a:r>
              <a:rPr sz="900" dirty="0">
                <a:solidFill>
                  <a:srgbClr val="6C6C6C"/>
                </a:solidFill>
                <a:latin typeface="Arial MT"/>
                <a:cs typeface="Arial MT"/>
              </a:rPr>
              <a:t> </a:t>
            </a:r>
            <a:r>
              <a:rPr sz="900" spc="-35" dirty="0">
                <a:solidFill>
                  <a:srgbClr val="6C6C6C"/>
                </a:solidFill>
                <a:latin typeface="Arial MT"/>
                <a:cs typeface="Arial MT"/>
              </a:rPr>
              <a:t>September</a:t>
            </a:r>
            <a:r>
              <a:rPr sz="900" dirty="0">
                <a:solidFill>
                  <a:srgbClr val="6C6C6C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6C6C6C"/>
                </a:solidFill>
                <a:latin typeface="Arial MT"/>
                <a:cs typeface="Arial MT"/>
              </a:rPr>
              <a:t>2026</a:t>
            </a:r>
            <a:endParaRPr sz="9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160" dirty="0"/>
              <a:t> </a:t>
            </a:r>
            <a:r>
              <a:rPr spc="-35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360045" cy="5080"/>
            </a:xfrm>
            <a:custGeom>
              <a:avLst/>
              <a:gdLst/>
              <a:ahLst/>
              <a:cxnLst/>
              <a:rect l="l" t="t" r="r" b="b"/>
              <a:pathLst>
                <a:path w="360045" h="5079">
                  <a:moveTo>
                    <a:pt x="0" y="5060"/>
                  </a:moveTo>
                  <a:lnTo>
                    <a:pt x="0" y="0"/>
                  </a:lnTo>
                  <a:lnTo>
                    <a:pt x="360004" y="0"/>
                  </a:lnTo>
                  <a:lnTo>
                    <a:pt x="36000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795954"/>
            <a:ext cx="4801235" cy="1210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A </a:t>
            </a:r>
            <a:r>
              <a:rPr sz="900" spc="-20" dirty="0">
                <a:solidFill>
                  <a:schemeClr val="tx1"/>
                </a:solidFill>
                <a:latin typeface="Arial MT"/>
                <a:cs typeface="Arial MT"/>
              </a:rPr>
              <a:t>security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chemeClr val="tx1"/>
                </a:solidFill>
                <a:latin typeface="Arial MT"/>
                <a:cs typeface="Arial MT"/>
              </a:rPr>
              <a:t>operations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chemeClr val="tx1"/>
                </a:solidFill>
                <a:latin typeface="Arial MT"/>
                <a:cs typeface="Arial MT"/>
              </a:rPr>
              <a:t>centre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chemeClr val="tx1"/>
                </a:solidFill>
                <a:latin typeface="Arial MT"/>
                <a:cs typeface="Arial MT"/>
              </a:rPr>
              <a:t>receives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chemeClr val="tx1"/>
                </a:solidFill>
                <a:latin typeface="Arial MT"/>
                <a:cs typeface="Arial MT"/>
              </a:rPr>
              <a:t>more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alerts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40" dirty="0">
                <a:solidFill>
                  <a:schemeClr val="tx1"/>
                </a:solidFill>
                <a:latin typeface="Arial MT"/>
                <a:cs typeface="Arial MT"/>
              </a:rPr>
              <a:t>each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chemeClr val="tx1"/>
                </a:solidFill>
                <a:latin typeface="Arial MT"/>
                <a:cs typeface="Arial MT"/>
              </a:rPr>
              <a:t>day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 than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its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chemeClr val="tx1"/>
                </a:solidFill>
                <a:latin typeface="Arial MT"/>
                <a:cs typeface="Arial MT"/>
              </a:rPr>
              <a:t>analysts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chemeClr val="tx1"/>
                </a:solidFill>
                <a:latin typeface="Arial MT"/>
                <a:cs typeface="Arial MT"/>
              </a:rPr>
              <a:t>can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read:</a:t>
            </a:r>
            <a:endParaRPr sz="900" dirty="0">
              <a:solidFill>
                <a:schemeClr val="tx1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9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288925" indent="-127000">
              <a:lnSpc>
                <a:spcPct val="100000"/>
              </a:lnSpc>
              <a:buClr>
                <a:srgbClr val="22373A"/>
              </a:buClr>
              <a:buChar char="•"/>
              <a:tabLst>
                <a:tab pos="288925" algn="l"/>
              </a:tabLst>
            </a:pP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10,000+</a:t>
            </a:r>
            <a:r>
              <a:rPr sz="9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alerts</a:t>
            </a:r>
            <a:r>
              <a:rPr sz="9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per</a:t>
            </a:r>
            <a:r>
              <a:rPr sz="9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chemeClr val="tx1"/>
                </a:solidFill>
                <a:latin typeface="Arial MT"/>
                <a:cs typeface="Arial MT"/>
              </a:rPr>
              <a:t>day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 is</a:t>
            </a:r>
            <a:r>
              <a:rPr sz="9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routine,</a:t>
            </a:r>
            <a:r>
              <a:rPr sz="9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up</a:t>
            </a:r>
            <a:r>
              <a:rPr sz="9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to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70%</a:t>
            </a:r>
            <a:r>
              <a:rPr sz="9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chemeClr val="tx1"/>
                </a:solidFill>
                <a:latin typeface="Arial MT"/>
                <a:cs typeface="Arial MT"/>
              </a:rPr>
              <a:t>false</a:t>
            </a:r>
            <a:r>
              <a:rPr sz="9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positives</a:t>
            </a:r>
            <a:endParaRPr sz="9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288925" indent="-127000">
              <a:lnSpc>
                <a:spcPct val="100000"/>
              </a:lnSpc>
              <a:spcBef>
                <a:spcPts val="515"/>
              </a:spcBef>
              <a:buChar char="•"/>
              <a:tabLst>
                <a:tab pos="288925" algn="l"/>
              </a:tabLst>
            </a:pP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Most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tools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chemeClr val="tx1"/>
                </a:solidFill>
                <a:latin typeface="Arial MT"/>
                <a:cs typeface="Arial MT"/>
              </a:rPr>
              <a:t>classify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40" dirty="0">
                <a:solidFill>
                  <a:schemeClr val="tx1"/>
                </a:solidFill>
                <a:latin typeface="Arial MT"/>
                <a:cs typeface="Arial MT"/>
              </a:rPr>
              <a:t>each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alert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i="1" spc="-30" dirty="0">
                <a:solidFill>
                  <a:schemeClr val="tx1"/>
                </a:solidFill>
                <a:latin typeface="Arial"/>
                <a:cs typeface="Arial"/>
              </a:rPr>
              <a:t>alone</a:t>
            </a:r>
            <a:r>
              <a:rPr sz="900" i="1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40" dirty="0">
                <a:solidFill>
                  <a:schemeClr val="tx1"/>
                </a:solidFill>
                <a:latin typeface="Arial MT"/>
                <a:cs typeface="Arial MT"/>
              </a:rPr>
              <a:t>lose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thread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that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chemeClr val="tx1"/>
                </a:solidFill>
                <a:latin typeface="Arial MT"/>
                <a:cs typeface="Arial MT"/>
              </a:rPr>
              <a:t>makes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a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report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actionable</a:t>
            </a:r>
            <a:endParaRPr sz="9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288290" marR="5080" indent="-127000">
              <a:lnSpc>
                <a:spcPct val="116700"/>
              </a:lnSpc>
              <a:spcBef>
                <a:spcPts val="340"/>
              </a:spcBef>
              <a:buChar char="•"/>
              <a:tabLst>
                <a:tab pos="289560" algn="l"/>
              </a:tabLst>
            </a:pP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Report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quality</a:t>
            </a:r>
            <a:r>
              <a:rPr sz="90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is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chemeClr val="tx1"/>
                </a:solidFill>
                <a:latin typeface="Arial MT"/>
                <a:cs typeface="Arial MT"/>
              </a:rPr>
              <a:t>judged</a:t>
            </a:r>
            <a:r>
              <a:rPr sz="90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by</a:t>
            </a:r>
            <a:r>
              <a:rPr sz="90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text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similarity</a:t>
            </a:r>
            <a:r>
              <a:rPr sz="90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or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expert</a:t>
            </a:r>
            <a:r>
              <a:rPr sz="90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opinion,</a:t>
            </a:r>
            <a:r>
              <a:rPr sz="90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not</a:t>
            </a:r>
            <a:r>
              <a:rPr sz="9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against</a:t>
            </a:r>
            <a:r>
              <a:rPr sz="90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authoritative</a:t>
            </a:r>
            <a:r>
              <a:rPr sz="900" spc="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threat 	knowledge</a:t>
            </a:r>
            <a:endParaRPr sz="9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288925" indent="-127000">
              <a:lnSpc>
                <a:spcPct val="100000"/>
              </a:lnSpc>
              <a:spcBef>
                <a:spcPts val="515"/>
              </a:spcBef>
              <a:buChar char="•"/>
              <a:tabLst>
                <a:tab pos="288925" algn="l"/>
              </a:tabLst>
            </a:pPr>
            <a:r>
              <a:rPr sz="900" spc="-20" dirty="0">
                <a:solidFill>
                  <a:schemeClr val="tx1"/>
                </a:solidFill>
                <a:latin typeface="Arial MT"/>
                <a:cs typeface="Arial MT"/>
              </a:rPr>
              <a:t>Cloud-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API tools </a:t>
            </a:r>
            <a:r>
              <a:rPr sz="900" spc="-30" dirty="0">
                <a:solidFill>
                  <a:schemeClr val="tx1"/>
                </a:solidFill>
                <a:latin typeface="Arial MT"/>
                <a:cs typeface="Arial MT"/>
              </a:rPr>
              <a:t>are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 a </a:t>
            </a:r>
            <a:r>
              <a:rPr sz="900" spc="-40" dirty="0">
                <a:solidFill>
                  <a:schemeClr val="tx1"/>
                </a:solidFill>
                <a:latin typeface="Arial MT"/>
                <a:cs typeface="Arial MT"/>
              </a:rPr>
              <a:t>non-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starter for </a:t>
            </a:r>
            <a:r>
              <a:rPr sz="900" spc="-35" dirty="0">
                <a:solidFill>
                  <a:schemeClr val="tx1"/>
                </a:solidFill>
                <a:latin typeface="Arial MT"/>
                <a:cs typeface="Arial MT"/>
              </a:rPr>
              <a:t>defence,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solidFill>
                  <a:schemeClr val="tx1"/>
                </a:solidFill>
                <a:latin typeface="Arial MT"/>
                <a:cs typeface="Arial MT"/>
              </a:rPr>
              <a:t>healthcare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900" dirty="0">
                <a:solidFill>
                  <a:schemeClr val="tx1"/>
                </a:solidFill>
                <a:latin typeface="Arial MT"/>
                <a:cs typeface="Arial MT"/>
              </a:rPr>
              <a:t> critical </a:t>
            </a:r>
            <a:r>
              <a:rPr sz="900" spc="-10" dirty="0">
                <a:solidFill>
                  <a:schemeClr val="tx1"/>
                </a:solidFill>
                <a:latin typeface="Arial MT"/>
                <a:cs typeface="Arial MT"/>
              </a:rPr>
              <a:t>infrastructure</a:t>
            </a:r>
            <a:endParaRPr sz="9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994" y="229419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7594">
            <a:solidFill>
              <a:srgbClr val="2D7D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294" y="2437744"/>
            <a:ext cx="26739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This</a:t>
            </a:r>
            <a:r>
              <a:rPr sz="1000" spc="-1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Microsoft Sans Serif"/>
                <a:cs typeface="Microsoft Sans Serif"/>
              </a:rPr>
              <a:t>paper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85" dirty="0">
                <a:solidFill>
                  <a:srgbClr val="22373A"/>
                </a:solidFill>
                <a:latin typeface="Microsoft Sans Serif"/>
                <a:cs typeface="Microsoft Sans Serif"/>
              </a:rPr>
              <a:t>addresses</a:t>
            </a:r>
            <a:r>
              <a:rPr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all four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in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Microsoft Sans Serif"/>
                <a:cs typeface="Microsoft Sans Serif"/>
              </a:rPr>
              <a:t>one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local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pipeline.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1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6349"/>
            <a:ext cx="7385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160" dirty="0"/>
              <a:t> </a:t>
            </a:r>
            <a:r>
              <a:rPr spc="-10" dirty="0"/>
              <a:t>claim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720090" cy="5080"/>
            </a:xfrm>
            <a:custGeom>
              <a:avLst/>
              <a:gdLst/>
              <a:ahLst/>
              <a:cxnLst/>
              <a:rect l="l" t="t" r="r" b="b"/>
              <a:pathLst>
                <a:path w="720090" h="5079">
                  <a:moveTo>
                    <a:pt x="0" y="5060"/>
                  </a:moveTo>
                  <a:lnTo>
                    <a:pt x="0" y="0"/>
                  </a:lnTo>
                  <a:lnTo>
                    <a:pt x="720009" y="0"/>
                  </a:lnTo>
                  <a:lnTo>
                    <a:pt x="72000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347294" y="619389"/>
            <a:ext cx="5071211" cy="1806764"/>
          </a:xfrm>
          <a:prstGeom prst="rect">
            <a:avLst/>
          </a:prstGeom>
        </p:spPr>
        <p:txBody>
          <a:bodyPr vert="horz" wrap="square" lIns="0" tIns="104762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pc="-60" dirty="0">
                <a:solidFill>
                  <a:schemeClr val="tx1"/>
                </a:solidFill>
              </a:rPr>
              <a:t>Retrieval-augmented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55" dirty="0">
                <a:solidFill>
                  <a:schemeClr val="tx1"/>
                </a:solidFill>
              </a:rPr>
              <a:t>generation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55" dirty="0">
                <a:solidFill>
                  <a:schemeClr val="tx1"/>
                </a:solidFill>
              </a:rPr>
              <a:t>over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spc="-60" dirty="0">
                <a:solidFill>
                  <a:schemeClr val="tx1"/>
                </a:solidFill>
              </a:rPr>
              <a:t>technique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60" dirty="0">
                <a:solidFill>
                  <a:schemeClr val="tx1"/>
                </a:solidFill>
              </a:rPr>
              <a:t>catalogue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is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spc="-50" dirty="0">
                <a:solidFill>
                  <a:schemeClr val="tx1"/>
                </a:solidFill>
              </a:rPr>
              <a:t>an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65" dirty="0">
                <a:solidFill>
                  <a:schemeClr val="tx1"/>
                </a:solidFill>
              </a:rPr>
              <a:t>open-</a:t>
            </a:r>
            <a:r>
              <a:rPr spc="-55" dirty="0">
                <a:solidFill>
                  <a:schemeClr val="tx1"/>
                </a:solidFill>
              </a:rPr>
              <a:t>domain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similarity </a:t>
            </a:r>
            <a:r>
              <a:rPr spc="-60" dirty="0">
                <a:solidFill>
                  <a:schemeClr val="tx1"/>
                </a:solidFill>
              </a:rPr>
              <a:t>search:</a:t>
            </a:r>
            <a:r>
              <a:rPr spc="70" dirty="0">
                <a:solidFill>
                  <a:schemeClr val="tx1"/>
                </a:solidFill>
              </a:rPr>
              <a:t> </a:t>
            </a:r>
            <a:endParaRPr lang="en-GB" spc="70" dirty="0">
              <a:solidFill>
                <a:schemeClr val="tx1"/>
              </a:solidFill>
            </a:endParaRPr>
          </a:p>
          <a:p>
            <a:pPr marL="184150" marR="5080" indent="-171450">
              <a:lnSpc>
                <a:spcPct val="118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</a:rPr>
              <a:t>a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short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spc="-45" dirty="0">
                <a:solidFill>
                  <a:schemeClr val="tx1"/>
                </a:solidFill>
              </a:rPr>
              <a:t>query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45" dirty="0">
                <a:solidFill>
                  <a:schemeClr val="tx1"/>
                </a:solidFill>
              </a:rPr>
              <a:t>against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spc="-55" dirty="0">
                <a:solidFill>
                  <a:schemeClr val="tx1"/>
                </a:solidFill>
              </a:rPr>
              <a:t>691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ATT&amp;CK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50" dirty="0">
                <a:solidFill>
                  <a:schemeClr val="tx1"/>
                </a:solidFill>
              </a:rPr>
              <a:t>technique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spc="-50" dirty="0">
                <a:solidFill>
                  <a:schemeClr val="tx1"/>
                </a:solidFill>
              </a:rPr>
              <a:t>descriptions,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with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no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notion </a:t>
            </a:r>
            <a:r>
              <a:rPr spc="-25" dirty="0">
                <a:solidFill>
                  <a:schemeClr val="tx1"/>
                </a:solidFill>
              </a:rPr>
              <a:t>of </a:t>
            </a:r>
            <a:r>
              <a:rPr spc="-40" dirty="0">
                <a:solidFill>
                  <a:schemeClr val="tx1"/>
                </a:solidFill>
              </a:rPr>
              <a:t>which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spc="-60" dirty="0">
                <a:solidFill>
                  <a:schemeClr val="tx1"/>
                </a:solidFill>
              </a:rPr>
              <a:t>techniques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the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85" dirty="0">
                <a:solidFill>
                  <a:schemeClr val="tx1"/>
                </a:solidFill>
              </a:rPr>
              <a:t>observed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evidence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pc="-40" dirty="0">
                <a:solidFill>
                  <a:schemeClr val="tx1"/>
                </a:solidFill>
              </a:rPr>
              <a:t>could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40" dirty="0">
                <a:solidFill>
                  <a:schemeClr val="tx1"/>
                </a:solidFill>
              </a:rPr>
              <a:t>plausibly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support.</a:t>
            </a:r>
          </a:p>
          <a:p>
            <a:pPr marL="12700" marR="275590">
              <a:lnSpc>
                <a:spcPct val="118000"/>
              </a:lnSpc>
              <a:spcBef>
                <a:spcPts val="1195"/>
              </a:spcBef>
            </a:pPr>
            <a:r>
              <a:rPr spc="-65" dirty="0">
                <a:solidFill>
                  <a:schemeClr val="tx1"/>
                </a:solidFill>
              </a:rPr>
              <a:t>We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pc="-70" dirty="0">
                <a:solidFill>
                  <a:schemeClr val="tx1"/>
                </a:solidFill>
              </a:rPr>
              <a:t>replace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that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85" dirty="0">
                <a:solidFill>
                  <a:schemeClr val="tx1"/>
                </a:solidFill>
              </a:rPr>
              <a:t>search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with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closed-</a:t>
            </a:r>
            <a:r>
              <a:rPr spc="-45" dirty="0">
                <a:solidFill>
                  <a:schemeClr val="tx1"/>
                </a:solidFill>
              </a:rPr>
              <a:t>set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spc="-40" dirty="0">
                <a:solidFill>
                  <a:schemeClr val="tx1"/>
                </a:solidFill>
              </a:rPr>
              <a:t>choice.</a:t>
            </a:r>
            <a:r>
              <a:rPr spc="105" dirty="0">
                <a:solidFill>
                  <a:schemeClr val="tx1"/>
                </a:solidFill>
              </a:rPr>
              <a:t> </a:t>
            </a:r>
            <a:endParaRPr lang="en-GB" spc="105" dirty="0">
              <a:solidFill>
                <a:schemeClr val="tx1"/>
              </a:solidFill>
            </a:endParaRPr>
          </a:p>
          <a:p>
            <a:pPr marL="12700" marR="275590">
              <a:lnSpc>
                <a:spcPct val="118000"/>
              </a:lnSpc>
              <a:spcBef>
                <a:spcPts val="1195"/>
              </a:spcBef>
            </a:pPr>
            <a:r>
              <a:rPr dirty="0">
                <a:solidFill>
                  <a:schemeClr val="tx1"/>
                </a:solidFill>
              </a:rPr>
              <a:t>A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spc="-70" dirty="0">
                <a:solidFill>
                  <a:schemeClr val="tx1"/>
                </a:solidFill>
              </a:rPr>
              <a:t>knowledge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spc="-45" dirty="0">
                <a:solidFill>
                  <a:schemeClr val="tx1"/>
                </a:solidFill>
              </a:rPr>
              <a:t>graph</a:t>
            </a:r>
            <a:r>
              <a:rPr spc="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built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from </a:t>
            </a:r>
            <a:r>
              <a:rPr spc="-50" dirty="0">
                <a:solidFill>
                  <a:schemeClr val="tx1"/>
                </a:solidFill>
              </a:rPr>
              <a:t>behaviour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40" dirty="0">
                <a:solidFill>
                  <a:schemeClr val="tx1"/>
                </a:solidFill>
              </a:rPr>
              <a:t>extracted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from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the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35" dirty="0">
                <a:solidFill>
                  <a:schemeClr val="tx1"/>
                </a:solidFill>
              </a:rPr>
              <a:t>alerts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85" dirty="0">
                <a:solidFill>
                  <a:schemeClr val="tx1"/>
                </a:solidFill>
              </a:rPr>
              <a:t>decides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spc="-40" dirty="0">
                <a:solidFill>
                  <a:schemeClr val="tx1"/>
                </a:solidFill>
              </a:rPr>
              <a:t>which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60" dirty="0">
                <a:solidFill>
                  <a:schemeClr val="tx1"/>
                </a:solidFill>
              </a:rPr>
              <a:t>techniques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35" dirty="0">
                <a:solidFill>
                  <a:schemeClr val="tx1"/>
                </a:solidFill>
              </a:rPr>
              <a:t>retrieval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is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70" dirty="0">
                <a:solidFill>
                  <a:schemeClr val="tx1"/>
                </a:solidFill>
              </a:rPr>
              <a:t>allowed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to </a:t>
            </a:r>
            <a:r>
              <a:rPr spc="-10" dirty="0">
                <a:solidFill>
                  <a:schemeClr val="tx1"/>
                </a:solidFill>
              </a:rPr>
              <a:t>return </a:t>
            </a:r>
            <a:r>
              <a:rPr dirty="0">
                <a:solidFill>
                  <a:schemeClr val="tx1"/>
                </a:solidFill>
              </a:rPr>
              <a:t>at</a:t>
            </a:r>
            <a:r>
              <a:rPr spc="-5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all.</a:t>
            </a:r>
          </a:p>
        </p:txBody>
      </p:sp>
      <p:sp>
        <p:nvSpPr>
          <p:cNvPr id="8" name="object 8"/>
          <p:cNvSpPr/>
          <p:nvPr/>
        </p:nvSpPr>
        <p:spPr>
          <a:xfrm>
            <a:off x="343265" y="2503784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7594">
            <a:solidFill>
              <a:srgbClr val="2D7D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294" y="2503784"/>
            <a:ext cx="39846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solidFill>
                  <a:srgbClr val="22373A"/>
                </a:solidFill>
                <a:latin typeface="Microsoft Sans Serif"/>
                <a:cs typeface="Microsoft Sans Serif"/>
              </a:rPr>
              <a:t>Tested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by </a:t>
            </a:r>
            <a:r>
              <a:rPr sz="1000" spc="-40" dirty="0">
                <a:solidFill>
                  <a:srgbClr val="22373A"/>
                </a:solidFill>
                <a:latin typeface="Microsoft Sans Serif"/>
                <a:cs typeface="Microsoft Sans Serif"/>
              </a:rPr>
              <a:t>removing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the </a:t>
            </a:r>
            <a:r>
              <a:rPr sz="1000" spc="-20" dirty="0">
                <a:solidFill>
                  <a:srgbClr val="22373A"/>
                </a:solidFill>
                <a:latin typeface="Microsoft Sans Serif"/>
                <a:cs typeface="Microsoft Sans Serif"/>
              </a:rPr>
              <a:t>constraint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Microsoft Sans Serif"/>
                <a:cs typeface="Microsoft Sans Serif"/>
              </a:rPr>
              <a:t>while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holding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the </a:t>
            </a:r>
            <a:r>
              <a:rPr sz="1000" spc="-45" dirty="0">
                <a:solidFill>
                  <a:srgbClr val="22373A"/>
                </a:solidFill>
                <a:latin typeface="Microsoft Sans Serif"/>
                <a:cs typeface="Microsoft Sans Serif"/>
              </a:rPr>
              <a:t>scoring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function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fixed.</a:t>
            </a:r>
            <a:endParaRPr sz="1000" dirty="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2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160" dirty="0"/>
              <a:t> </a:t>
            </a:r>
            <a:r>
              <a:rPr spc="-30" dirty="0"/>
              <a:t>pipeline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1080135" cy="5080"/>
            </a:xfrm>
            <a:custGeom>
              <a:avLst/>
              <a:gdLst/>
              <a:ahLst/>
              <a:cxnLst/>
              <a:rect l="l" t="t" r="r" b="b"/>
              <a:pathLst>
                <a:path w="1080135" h="5079">
                  <a:moveTo>
                    <a:pt x="0" y="5060"/>
                  </a:moveTo>
                  <a:lnTo>
                    <a:pt x="0" y="0"/>
                  </a:lnTo>
                  <a:lnTo>
                    <a:pt x="1080013" y="0"/>
                  </a:lnTo>
                  <a:lnTo>
                    <a:pt x="10800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642088" y="734620"/>
            <a:ext cx="1310640" cy="1292860"/>
            <a:chOff x="1642088" y="734620"/>
            <a:chExt cx="1310640" cy="1292860"/>
          </a:xfrm>
        </p:grpSpPr>
        <p:sp>
          <p:nvSpPr>
            <p:cNvPr id="8" name="object 8"/>
            <p:cNvSpPr/>
            <p:nvPr/>
          </p:nvSpPr>
          <p:spPr>
            <a:xfrm>
              <a:off x="1644628" y="737160"/>
              <a:ext cx="1305560" cy="1287780"/>
            </a:xfrm>
            <a:custGeom>
              <a:avLst/>
              <a:gdLst/>
              <a:ahLst/>
              <a:cxnLst/>
              <a:rect l="l" t="t" r="r" b="b"/>
              <a:pathLst>
                <a:path w="1305560" h="1287780">
                  <a:moveTo>
                    <a:pt x="1279687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262152"/>
                  </a:lnTo>
                  <a:lnTo>
                    <a:pt x="1988" y="1272002"/>
                  </a:lnTo>
                  <a:lnTo>
                    <a:pt x="7411" y="1280046"/>
                  </a:lnTo>
                  <a:lnTo>
                    <a:pt x="15455" y="1285469"/>
                  </a:lnTo>
                  <a:lnTo>
                    <a:pt x="25305" y="1287457"/>
                  </a:lnTo>
                  <a:lnTo>
                    <a:pt x="1279687" y="1287457"/>
                  </a:lnTo>
                  <a:lnTo>
                    <a:pt x="1289537" y="1285469"/>
                  </a:lnTo>
                  <a:lnTo>
                    <a:pt x="1297580" y="1280046"/>
                  </a:lnTo>
                  <a:lnTo>
                    <a:pt x="1303003" y="1272002"/>
                  </a:lnTo>
                  <a:lnTo>
                    <a:pt x="1304992" y="1262152"/>
                  </a:lnTo>
                  <a:lnTo>
                    <a:pt x="1304992" y="25305"/>
                  </a:lnTo>
                  <a:lnTo>
                    <a:pt x="1303003" y="15455"/>
                  </a:lnTo>
                  <a:lnTo>
                    <a:pt x="1297580" y="7411"/>
                  </a:lnTo>
                  <a:lnTo>
                    <a:pt x="1289537" y="1988"/>
                  </a:lnTo>
                  <a:lnTo>
                    <a:pt x="1279687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4628" y="737160"/>
              <a:ext cx="1305560" cy="1287780"/>
            </a:xfrm>
            <a:custGeom>
              <a:avLst/>
              <a:gdLst/>
              <a:ahLst/>
              <a:cxnLst/>
              <a:rect l="l" t="t" r="r" b="b"/>
              <a:pathLst>
                <a:path w="1305560" h="1287780">
                  <a:moveTo>
                    <a:pt x="1279687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262152"/>
                  </a:lnTo>
                  <a:lnTo>
                    <a:pt x="1988" y="1272002"/>
                  </a:lnTo>
                  <a:lnTo>
                    <a:pt x="7411" y="1280046"/>
                  </a:lnTo>
                  <a:lnTo>
                    <a:pt x="15455" y="1285469"/>
                  </a:lnTo>
                  <a:lnTo>
                    <a:pt x="25305" y="1287457"/>
                  </a:lnTo>
                  <a:lnTo>
                    <a:pt x="1279687" y="1287457"/>
                  </a:lnTo>
                  <a:lnTo>
                    <a:pt x="1289537" y="1285469"/>
                  </a:lnTo>
                  <a:lnTo>
                    <a:pt x="1297580" y="1280046"/>
                  </a:lnTo>
                  <a:lnTo>
                    <a:pt x="1303003" y="1272002"/>
                  </a:lnTo>
                  <a:lnTo>
                    <a:pt x="1304992" y="1262152"/>
                  </a:lnTo>
                  <a:lnTo>
                    <a:pt x="1304992" y="25305"/>
                  </a:lnTo>
                  <a:lnTo>
                    <a:pt x="1303003" y="15455"/>
                  </a:lnTo>
                  <a:lnTo>
                    <a:pt x="1297580" y="7411"/>
                  </a:lnTo>
                  <a:lnTo>
                    <a:pt x="1289537" y="1988"/>
                  </a:lnTo>
                  <a:lnTo>
                    <a:pt x="1279687" y="0"/>
                  </a:lnTo>
                  <a:close/>
                </a:path>
              </a:pathLst>
            </a:custGeom>
            <a:ln w="5060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19160" y="504227"/>
            <a:ext cx="1156335" cy="224790"/>
          </a:xfrm>
          <a:prstGeom prst="rect">
            <a:avLst/>
          </a:prstGeom>
          <a:solidFill>
            <a:srgbClr val="EFEFEF"/>
          </a:solidFill>
          <a:ln w="5060">
            <a:solidFill>
              <a:srgbClr val="22373A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76555">
              <a:lnSpc>
                <a:spcPct val="100000"/>
              </a:lnSpc>
              <a:spcBef>
                <a:spcPts val="254"/>
              </a:spcBef>
            </a:pPr>
            <a:r>
              <a:rPr sz="800" dirty="0">
                <a:solidFill>
                  <a:srgbClr val="22373A"/>
                </a:solidFill>
                <a:latin typeface="Arial MT"/>
                <a:cs typeface="Arial MT"/>
              </a:rPr>
              <a:t>Raw</a:t>
            </a:r>
            <a:r>
              <a:rPr sz="800" spc="-4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 MT"/>
                <a:cs typeface="Arial MT"/>
              </a:rPr>
              <a:t>logs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16620" y="809151"/>
            <a:ext cx="1161415" cy="1450975"/>
            <a:chOff x="1716620" y="809151"/>
            <a:chExt cx="1161415" cy="1450975"/>
          </a:xfrm>
        </p:grpSpPr>
        <p:sp>
          <p:nvSpPr>
            <p:cNvPr id="12" name="object 12"/>
            <p:cNvSpPr/>
            <p:nvPr/>
          </p:nvSpPr>
          <p:spPr>
            <a:xfrm>
              <a:off x="1719160" y="811691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4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6"/>
                  </a:lnTo>
                  <a:lnTo>
                    <a:pt x="1988" y="200546"/>
                  </a:lnTo>
                  <a:lnTo>
                    <a:pt x="7411" y="208590"/>
                  </a:lnTo>
                  <a:lnTo>
                    <a:pt x="15455" y="214013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3"/>
                  </a:lnTo>
                  <a:lnTo>
                    <a:pt x="1148518" y="208590"/>
                  </a:lnTo>
                  <a:lnTo>
                    <a:pt x="1153941" y="200546"/>
                  </a:lnTo>
                  <a:lnTo>
                    <a:pt x="1155929" y="190696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19160" y="811691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4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6"/>
                  </a:lnTo>
                  <a:lnTo>
                    <a:pt x="1988" y="200546"/>
                  </a:lnTo>
                  <a:lnTo>
                    <a:pt x="7411" y="208590"/>
                  </a:lnTo>
                  <a:lnTo>
                    <a:pt x="15455" y="214013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3"/>
                  </a:lnTo>
                  <a:lnTo>
                    <a:pt x="1148518" y="208590"/>
                  </a:lnTo>
                  <a:lnTo>
                    <a:pt x="1153941" y="200546"/>
                  </a:lnTo>
                  <a:lnTo>
                    <a:pt x="1155929" y="190696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19160" y="1119156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4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6"/>
                  </a:lnTo>
                  <a:lnTo>
                    <a:pt x="1988" y="200547"/>
                  </a:lnTo>
                  <a:lnTo>
                    <a:pt x="7411" y="208590"/>
                  </a:lnTo>
                  <a:lnTo>
                    <a:pt x="15455" y="214013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3"/>
                  </a:lnTo>
                  <a:lnTo>
                    <a:pt x="1148518" y="208590"/>
                  </a:lnTo>
                  <a:lnTo>
                    <a:pt x="1153941" y="200547"/>
                  </a:lnTo>
                  <a:lnTo>
                    <a:pt x="1155929" y="190696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19160" y="1119156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4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6"/>
                  </a:lnTo>
                  <a:lnTo>
                    <a:pt x="1988" y="200547"/>
                  </a:lnTo>
                  <a:lnTo>
                    <a:pt x="7411" y="208590"/>
                  </a:lnTo>
                  <a:lnTo>
                    <a:pt x="15455" y="214013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3"/>
                  </a:lnTo>
                  <a:lnTo>
                    <a:pt x="1148518" y="208590"/>
                  </a:lnTo>
                  <a:lnTo>
                    <a:pt x="1153941" y="200547"/>
                  </a:lnTo>
                  <a:lnTo>
                    <a:pt x="1155929" y="190696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19160" y="1426620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5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7"/>
                  </a:lnTo>
                  <a:lnTo>
                    <a:pt x="1988" y="200547"/>
                  </a:lnTo>
                  <a:lnTo>
                    <a:pt x="7411" y="208590"/>
                  </a:lnTo>
                  <a:lnTo>
                    <a:pt x="15455" y="214013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3"/>
                  </a:lnTo>
                  <a:lnTo>
                    <a:pt x="1148518" y="208590"/>
                  </a:lnTo>
                  <a:lnTo>
                    <a:pt x="1153941" y="200547"/>
                  </a:lnTo>
                  <a:lnTo>
                    <a:pt x="1155929" y="190697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19160" y="1426620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5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7"/>
                  </a:lnTo>
                  <a:lnTo>
                    <a:pt x="1988" y="200547"/>
                  </a:lnTo>
                  <a:lnTo>
                    <a:pt x="7411" y="208590"/>
                  </a:lnTo>
                  <a:lnTo>
                    <a:pt x="15455" y="214013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3"/>
                  </a:lnTo>
                  <a:lnTo>
                    <a:pt x="1148518" y="208590"/>
                  </a:lnTo>
                  <a:lnTo>
                    <a:pt x="1153941" y="200547"/>
                  </a:lnTo>
                  <a:lnTo>
                    <a:pt x="1155929" y="190697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19160" y="1734084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5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7"/>
                  </a:lnTo>
                  <a:lnTo>
                    <a:pt x="1988" y="200547"/>
                  </a:lnTo>
                  <a:lnTo>
                    <a:pt x="7411" y="208590"/>
                  </a:lnTo>
                  <a:lnTo>
                    <a:pt x="15455" y="214014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4"/>
                  </a:lnTo>
                  <a:lnTo>
                    <a:pt x="1148518" y="208590"/>
                  </a:lnTo>
                  <a:lnTo>
                    <a:pt x="1153941" y="200547"/>
                  </a:lnTo>
                  <a:lnTo>
                    <a:pt x="1155929" y="190697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19160" y="1734084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5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7"/>
                  </a:lnTo>
                  <a:lnTo>
                    <a:pt x="1988" y="200547"/>
                  </a:lnTo>
                  <a:lnTo>
                    <a:pt x="7411" y="208590"/>
                  </a:lnTo>
                  <a:lnTo>
                    <a:pt x="15455" y="214014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4"/>
                  </a:lnTo>
                  <a:lnTo>
                    <a:pt x="1148518" y="208590"/>
                  </a:lnTo>
                  <a:lnTo>
                    <a:pt x="1153941" y="200547"/>
                  </a:lnTo>
                  <a:lnTo>
                    <a:pt x="1155929" y="190697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19160" y="2041549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5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6"/>
                  </a:lnTo>
                  <a:lnTo>
                    <a:pt x="1988" y="200547"/>
                  </a:lnTo>
                  <a:lnTo>
                    <a:pt x="7411" y="208590"/>
                  </a:lnTo>
                  <a:lnTo>
                    <a:pt x="15455" y="214013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3"/>
                  </a:lnTo>
                  <a:lnTo>
                    <a:pt x="1148518" y="208590"/>
                  </a:lnTo>
                  <a:lnTo>
                    <a:pt x="1153941" y="200547"/>
                  </a:lnTo>
                  <a:lnTo>
                    <a:pt x="1155929" y="190696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19160" y="2041549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5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6"/>
                  </a:lnTo>
                  <a:lnTo>
                    <a:pt x="1988" y="200547"/>
                  </a:lnTo>
                  <a:lnTo>
                    <a:pt x="7411" y="208590"/>
                  </a:lnTo>
                  <a:lnTo>
                    <a:pt x="15455" y="214013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3"/>
                  </a:lnTo>
                  <a:lnTo>
                    <a:pt x="1148518" y="208590"/>
                  </a:lnTo>
                  <a:lnTo>
                    <a:pt x="1153941" y="200547"/>
                  </a:lnTo>
                  <a:lnTo>
                    <a:pt x="1155929" y="190696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722684" y="841932"/>
            <a:ext cx="1149350" cy="1367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" indent="-93345" algn="ctr">
              <a:lnSpc>
                <a:spcPct val="100000"/>
              </a:lnSpc>
              <a:spcBef>
                <a:spcPts val="95"/>
              </a:spcBef>
              <a:buFont typeface="Microsoft Tai Le"/>
              <a:buAutoNum type="arabicPlain"/>
              <a:tabLst>
                <a:tab pos="93345" algn="l"/>
              </a:tabLst>
            </a:pPr>
            <a:r>
              <a:rPr sz="800" dirty="0">
                <a:solidFill>
                  <a:srgbClr val="22373A"/>
                </a:solidFill>
                <a:latin typeface="Arial MT"/>
                <a:cs typeface="Arial MT"/>
              </a:rPr>
              <a:t>Alert</a:t>
            </a:r>
            <a:r>
              <a:rPr sz="800" spc="10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800" i="1" dirty="0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sz="800" i="1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22373A"/>
                </a:solidFill>
                <a:latin typeface="Arial MT"/>
                <a:cs typeface="Arial MT"/>
              </a:rPr>
              <a:t>text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Clr>
                <a:srgbClr val="22373A"/>
              </a:buClr>
              <a:buFont typeface="Microsoft Tai Le"/>
              <a:buAutoNum type="arabicPlain"/>
            </a:pPr>
            <a:endParaRPr sz="800">
              <a:latin typeface="Arial MT"/>
              <a:cs typeface="Arial MT"/>
            </a:endParaRPr>
          </a:p>
          <a:p>
            <a:pPr marL="93345" indent="-93345" algn="ctr">
              <a:lnSpc>
                <a:spcPct val="100000"/>
              </a:lnSpc>
              <a:buFont typeface="Microsoft Tai Le"/>
              <a:buAutoNum type="arabicPlain"/>
              <a:tabLst>
                <a:tab pos="93345" algn="l"/>
              </a:tabLst>
            </a:pPr>
            <a:r>
              <a:rPr sz="800" spc="-10" dirty="0">
                <a:solidFill>
                  <a:srgbClr val="22373A"/>
                </a:solidFill>
                <a:latin typeface="Arial MT"/>
                <a:cs typeface="Arial MT"/>
              </a:rPr>
              <a:t>Embedding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buClr>
                <a:srgbClr val="22373A"/>
              </a:buClr>
              <a:buFont typeface="Microsoft Tai Le"/>
              <a:buAutoNum type="arabicPlain"/>
            </a:pPr>
            <a:endParaRPr sz="800">
              <a:latin typeface="Arial MT"/>
              <a:cs typeface="Arial MT"/>
            </a:endParaRPr>
          </a:p>
          <a:p>
            <a:pPr marL="93345" indent="-93345" algn="ctr">
              <a:lnSpc>
                <a:spcPct val="100000"/>
              </a:lnSpc>
              <a:spcBef>
                <a:spcPts val="5"/>
              </a:spcBef>
              <a:buFont typeface="Microsoft Tai Le"/>
              <a:buAutoNum type="arabicPlain"/>
              <a:tabLst>
                <a:tab pos="93345" algn="l"/>
              </a:tabLst>
            </a:pPr>
            <a:r>
              <a:rPr sz="800" spc="-10" dirty="0">
                <a:solidFill>
                  <a:srgbClr val="22373A"/>
                </a:solidFill>
                <a:latin typeface="Arial MT"/>
                <a:cs typeface="Arial MT"/>
              </a:rPr>
              <a:t>Communities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Clr>
                <a:srgbClr val="22373A"/>
              </a:buClr>
              <a:buFont typeface="Microsoft Tai Le"/>
              <a:buAutoNum type="arabicPlain"/>
            </a:pPr>
            <a:endParaRPr sz="800">
              <a:latin typeface="Arial MT"/>
              <a:cs typeface="Arial MT"/>
            </a:endParaRPr>
          </a:p>
          <a:p>
            <a:pPr marL="93345" indent="-93345" algn="ctr">
              <a:lnSpc>
                <a:spcPct val="100000"/>
              </a:lnSpc>
              <a:buFont typeface="Microsoft Tai Le"/>
              <a:buAutoNum type="arabicPlain"/>
              <a:tabLst>
                <a:tab pos="93345" algn="l"/>
              </a:tabLst>
            </a:pPr>
            <a:r>
              <a:rPr sz="800" dirty="0">
                <a:solidFill>
                  <a:srgbClr val="22373A"/>
                </a:solidFill>
                <a:latin typeface="Arial MT"/>
                <a:cs typeface="Arial MT"/>
              </a:rPr>
              <a:t>Triples</a:t>
            </a:r>
            <a:r>
              <a:rPr sz="800" spc="-2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 MT"/>
                <a:cs typeface="Arial MT"/>
              </a:rPr>
              <a:t>(LLM)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Clr>
                <a:srgbClr val="22373A"/>
              </a:buClr>
              <a:buFont typeface="Microsoft Tai Le"/>
              <a:buAutoNum type="arabicPlain"/>
            </a:pPr>
            <a:endParaRPr sz="800">
              <a:latin typeface="Arial MT"/>
              <a:cs typeface="Arial MT"/>
            </a:endParaRPr>
          </a:p>
          <a:p>
            <a:pPr marL="93345" indent="-93345" algn="ctr">
              <a:lnSpc>
                <a:spcPct val="100000"/>
              </a:lnSpc>
              <a:buFont typeface="Microsoft Tai Le"/>
              <a:buAutoNum type="arabicPlain"/>
              <a:tabLst>
                <a:tab pos="93345" algn="l"/>
              </a:tabLst>
            </a:pPr>
            <a:r>
              <a:rPr sz="800" spc="-20" dirty="0">
                <a:solidFill>
                  <a:srgbClr val="22373A"/>
                </a:solidFill>
                <a:latin typeface="Arial MT"/>
                <a:cs typeface="Arial MT"/>
              </a:rPr>
              <a:t>Knowledge</a:t>
            </a:r>
            <a:r>
              <a:rPr sz="800" spc="3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 MT"/>
                <a:cs typeface="Arial MT"/>
              </a:rPr>
              <a:t>graph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716620" y="2346473"/>
            <a:ext cx="1161415" cy="221615"/>
            <a:chOff x="1716620" y="2346473"/>
            <a:chExt cx="1161415" cy="221615"/>
          </a:xfrm>
        </p:grpSpPr>
        <p:sp>
          <p:nvSpPr>
            <p:cNvPr id="24" name="object 24"/>
            <p:cNvSpPr/>
            <p:nvPr/>
          </p:nvSpPr>
          <p:spPr>
            <a:xfrm>
              <a:off x="1719160" y="2349013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5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6"/>
                  </a:lnTo>
                  <a:lnTo>
                    <a:pt x="1988" y="200547"/>
                  </a:lnTo>
                  <a:lnTo>
                    <a:pt x="7411" y="208590"/>
                  </a:lnTo>
                  <a:lnTo>
                    <a:pt x="15455" y="214013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3"/>
                  </a:lnTo>
                  <a:lnTo>
                    <a:pt x="1148518" y="208590"/>
                  </a:lnTo>
                  <a:lnTo>
                    <a:pt x="1153941" y="200547"/>
                  </a:lnTo>
                  <a:lnTo>
                    <a:pt x="1155929" y="190696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9160" y="2349013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5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6"/>
                  </a:lnTo>
                  <a:lnTo>
                    <a:pt x="1988" y="200547"/>
                  </a:lnTo>
                  <a:lnTo>
                    <a:pt x="7411" y="208590"/>
                  </a:lnTo>
                  <a:lnTo>
                    <a:pt x="15455" y="214013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3"/>
                  </a:lnTo>
                  <a:lnTo>
                    <a:pt x="1148518" y="208590"/>
                  </a:lnTo>
                  <a:lnTo>
                    <a:pt x="1153941" y="200547"/>
                  </a:lnTo>
                  <a:lnTo>
                    <a:pt x="1155929" y="190696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041182" y="2379242"/>
            <a:ext cx="5124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22373A"/>
                </a:solidFill>
                <a:latin typeface="Microsoft Tai Le"/>
                <a:cs typeface="Microsoft Tai Le"/>
              </a:rPr>
              <a:t>6</a:t>
            </a:r>
            <a:r>
              <a:rPr sz="800" b="1" spc="45" dirty="0">
                <a:solidFill>
                  <a:srgbClr val="22373A"/>
                </a:solidFill>
                <a:latin typeface="Microsoft Tai Le"/>
                <a:cs typeface="Microsoft Tai Le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 MT"/>
                <a:cs typeface="Arial MT"/>
              </a:rPr>
              <a:t>Retrieval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716620" y="2653937"/>
            <a:ext cx="1161415" cy="221615"/>
            <a:chOff x="1716620" y="2653937"/>
            <a:chExt cx="1161415" cy="221615"/>
          </a:xfrm>
        </p:grpSpPr>
        <p:sp>
          <p:nvSpPr>
            <p:cNvPr id="28" name="object 28"/>
            <p:cNvSpPr/>
            <p:nvPr/>
          </p:nvSpPr>
          <p:spPr>
            <a:xfrm>
              <a:off x="1719160" y="2656477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5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7"/>
                  </a:lnTo>
                  <a:lnTo>
                    <a:pt x="1988" y="200547"/>
                  </a:lnTo>
                  <a:lnTo>
                    <a:pt x="7411" y="208590"/>
                  </a:lnTo>
                  <a:lnTo>
                    <a:pt x="15455" y="214013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3"/>
                  </a:lnTo>
                  <a:lnTo>
                    <a:pt x="1148518" y="208590"/>
                  </a:lnTo>
                  <a:lnTo>
                    <a:pt x="1153941" y="200547"/>
                  </a:lnTo>
                  <a:lnTo>
                    <a:pt x="1155929" y="190697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19160" y="2656477"/>
              <a:ext cx="1156335" cy="216535"/>
            </a:xfrm>
            <a:custGeom>
              <a:avLst/>
              <a:gdLst/>
              <a:ahLst/>
              <a:cxnLst/>
              <a:rect l="l" t="t" r="r" b="b"/>
              <a:pathLst>
                <a:path w="1156335" h="216535">
                  <a:moveTo>
                    <a:pt x="1130624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190697"/>
                  </a:lnTo>
                  <a:lnTo>
                    <a:pt x="1988" y="200547"/>
                  </a:lnTo>
                  <a:lnTo>
                    <a:pt x="7411" y="208590"/>
                  </a:lnTo>
                  <a:lnTo>
                    <a:pt x="15455" y="214013"/>
                  </a:lnTo>
                  <a:lnTo>
                    <a:pt x="25305" y="216002"/>
                  </a:lnTo>
                  <a:lnTo>
                    <a:pt x="1130624" y="216002"/>
                  </a:lnTo>
                  <a:lnTo>
                    <a:pt x="1140474" y="214013"/>
                  </a:lnTo>
                  <a:lnTo>
                    <a:pt x="1148518" y="208590"/>
                  </a:lnTo>
                  <a:lnTo>
                    <a:pt x="1153941" y="200547"/>
                  </a:lnTo>
                  <a:lnTo>
                    <a:pt x="1155929" y="190697"/>
                  </a:lnTo>
                  <a:lnTo>
                    <a:pt x="1155929" y="25305"/>
                  </a:lnTo>
                  <a:lnTo>
                    <a:pt x="1153941" y="15455"/>
                  </a:lnTo>
                  <a:lnTo>
                    <a:pt x="1148518" y="7411"/>
                  </a:lnTo>
                  <a:lnTo>
                    <a:pt x="1140474" y="1988"/>
                  </a:lnTo>
                  <a:lnTo>
                    <a:pt x="1130624" y="0"/>
                  </a:lnTo>
                  <a:close/>
                </a:path>
              </a:pathLst>
            </a:custGeom>
            <a:ln w="5060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86686" y="2676853"/>
            <a:ext cx="4210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22373A"/>
                </a:solidFill>
                <a:latin typeface="Microsoft Tai Le"/>
                <a:cs typeface="Microsoft Tai Le"/>
              </a:rPr>
              <a:t>7</a:t>
            </a:r>
            <a:r>
              <a:rPr sz="800" b="1" spc="45" dirty="0">
                <a:solidFill>
                  <a:srgbClr val="22373A"/>
                </a:solidFill>
                <a:latin typeface="Microsoft Tai Le"/>
                <a:cs typeface="Microsoft Tai Le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Arial MT"/>
                <a:cs typeface="Arial MT"/>
              </a:rPr>
              <a:t>Report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282552" y="722760"/>
            <a:ext cx="852169" cy="1922780"/>
            <a:chOff x="2282552" y="722760"/>
            <a:chExt cx="852169" cy="1922780"/>
          </a:xfrm>
        </p:grpSpPr>
        <p:sp>
          <p:nvSpPr>
            <p:cNvPr id="32" name="object 32"/>
            <p:cNvSpPr/>
            <p:nvPr/>
          </p:nvSpPr>
          <p:spPr>
            <a:xfrm>
              <a:off x="2297125" y="722760"/>
              <a:ext cx="0" cy="53975"/>
            </a:xfrm>
            <a:custGeom>
              <a:avLst/>
              <a:gdLst/>
              <a:ahLst/>
              <a:cxnLst/>
              <a:rect l="l" t="t" r="r" b="b"/>
              <a:pathLst>
                <a:path h="53975">
                  <a:moveTo>
                    <a:pt x="0" y="0"/>
                  </a:moveTo>
                  <a:lnTo>
                    <a:pt x="0" y="53701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87109" y="769873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70">
                  <a:moveTo>
                    <a:pt x="20032" y="0"/>
                  </a:move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lnTo>
                    <a:pt x="20032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87109" y="769873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70">
                  <a:moveTo>
                    <a:pt x="10016" y="26311"/>
                  </a:moveTo>
                  <a:lnTo>
                    <a:pt x="20032" y="0"/>
                  </a:ln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close/>
                </a:path>
              </a:pathLst>
            </a:custGeom>
            <a:ln w="911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97125" y="1030224"/>
              <a:ext cx="0" cy="53975"/>
            </a:xfrm>
            <a:custGeom>
              <a:avLst/>
              <a:gdLst/>
              <a:ahLst/>
              <a:cxnLst/>
              <a:rect l="l" t="t" r="r" b="b"/>
              <a:pathLst>
                <a:path h="53975">
                  <a:moveTo>
                    <a:pt x="0" y="0"/>
                  </a:moveTo>
                  <a:lnTo>
                    <a:pt x="0" y="53701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87109" y="1077338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69">
                  <a:moveTo>
                    <a:pt x="20032" y="0"/>
                  </a:move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lnTo>
                    <a:pt x="20032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87109" y="1077338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69">
                  <a:moveTo>
                    <a:pt x="10016" y="26311"/>
                  </a:moveTo>
                  <a:lnTo>
                    <a:pt x="20032" y="0"/>
                  </a:ln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close/>
                </a:path>
              </a:pathLst>
            </a:custGeom>
            <a:ln w="911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97125" y="1337689"/>
              <a:ext cx="0" cy="53975"/>
            </a:xfrm>
            <a:custGeom>
              <a:avLst/>
              <a:gdLst/>
              <a:ahLst/>
              <a:cxnLst/>
              <a:rect l="l" t="t" r="r" b="b"/>
              <a:pathLst>
                <a:path h="53975">
                  <a:moveTo>
                    <a:pt x="0" y="0"/>
                  </a:moveTo>
                  <a:lnTo>
                    <a:pt x="0" y="53701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87109" y="1384802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69">
                  <a:moveTo>
                    <a:pt x="20032" y="0"/>
                  </a:move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lnTo>
                    <a:pt x="20032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287109" y="1384802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69">
                  <a:moveTo>
                    <a:pt x="10016" y="26311"/>
                  </a:moveTo>
                  <a:lnTo>
                    <a:pt x="20032" y="0"/>
                  </a:ln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close/>
                </a:path>
              </a:pathLst>
            </a:custGeom>
            <a:ln w="911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297125" y="1645153"/>
              <a:ext cx="0" cy="53975"/>
            </a:xfrm>
            <a:custGeom>
              <a:avLst/>
              <a:gdLst/>
              <a:ahLst/>
              <a:cxnLst/>
              <a:rect l="l" t="t" r="r" b="b"/>
              <a:pathLst>
                <a:path h="53975">
                  <a:moveTo>
                    <a:pt x="0" y="0"/>
                  </a:moveTo>
                  <a:lnTo>
                    <a:pt x="0" y="53701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287109" y="1692266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69">
                  <a:moveTo>
                    <a:pt x="20032" y="0"/>
                  </a:move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lnTo>
                    <a:pt x="20032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87109" y="1692266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69">
                  <a:moveTo>
                    <a:pt x="10016" y="26311"/>
                  </a:moveTo>
                  <a:lnTo>
                    <a:pt x="20032" y="0"/>
                  </a:ln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close/>
                </a:path>
              </a:pathLst>
            </a:custGeom>
            <a:ln w="911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297125" y="1952617"/>
              <a:ext cx="0" cy="53975"/>
            </a:xfrm>
            <a:custGeom>
              <a:avLst/>
              <a:gdLst/>
              <a:ahLst/>
              <a:cxnLst/>
              <a:rect l="l" t="t" r="r" b="b"/>
              <a:pathLst>
                <a:path h="53975">
                  <a:moveTo>
                    <a:pt x="0" y="0"/>
                  </a:moveTo>
                  <a:lnTo>
                    <a:pt x="0" y="53701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287109" y="1999730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69">
                  <a:moveTo>
                    <a:pt x="20032" y="0"/>
                  </a:move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lnTo>
                    <a:pt x="20032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287109" y="1999730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69">
                  <a:moveTo>
                    <a:pt x="10016" y="26311"/>
                  </a:moveTo>
                  <a:lnTo>
                    <a:pt x="20032" y="0"/>
                  </a:ln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close/>
                </a:path>
              </a:pathLst>
            </a:custGeom>
            <a:ln w="911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297125" y="2260082"/>
              <a:ext cx="0" cy="53975"/>
            </a:xfrm>
            <a:custGeom>
              <a:avLst/>
              <a:gdLst/>
              <a:ahLst/>
              <a:cxnLst/>
              <a:rect l="l" t="t" r="r" b="b"/>
              <a:pathLst>
                <a:path h="53975">
                  <a:moveTo>
                    <a:pt x="0" y="0"/>
                  </a:moveTo>
                  <a:lnTo>
                    <a:pt x="0" y="53701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287109" y="2307195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69">
                  <a:moveTo>
                    <a:pt x="20032" y="0"/>
                  </a:move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lnTo>
                    <a:pt x="20032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287109" y="2307195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69">
                  <a:moveTo>
                    <a:pt x="10016" y="26311"/>
                  </a:moveTo>
                  <a:lnTo>
                    <a:pt x="20032" y="0"/>
                  </a:ln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close/>
                </a:path>
              </a:pathLst>
            </a:custGeom>
            <a:ln w="911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297125" y="2567546"/>
              <a:ext cx="0" cy="53975"/>
            </a:xfrm>
            <a:custGeom>
              <a:avLst/>
              <a:gdLst/>
              <a:ahLst/>
              <a:cxnLst/>
              <a:rect l="l" t="t" r="r" b="b"/>
              <a:pathLst>
                <a:path h="53975">
                  <a:moveTo>
                    <a:pt x="0" y="0"/>
                  </a:moveTo>
                  <a:lnTo>
                    <a:pt x="0" y="53701"/>
                  </a:lnTo>
                </a:path>
              </a:pathLst>
            </a:custGeom>
            <a:ln w="1012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287109" y="2614659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69">
                  <a:moveTo>
                    <a:pt x="20032" y="0"/>
                  </a:move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lnTo>
                    <a:pt x="20032" y="0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287109" y="2614659"/>
              <a:ext cx="20320" cy="26670"/>
            </a:xfrm>
            <a:custGeom>
              <a:avLst/>
              <a:gdLst/>
              <a:ahLst/>
              <a:cxnLst/>
              <a:rect l="l" t="t" r="r" b="b"/>
              <a:pathLst>
                <a:path w="20319" h="26669">
                  <a:moveTo>
                    <a:pt x="10016" y="26311"/>
                  </a:moveTo>
                  <a:lnTo>
                    <a:pt x="20032" y="0"/>
                  </a:lnTo>
                  <a:lnTo>
                    <a:pt x="10016" y="8865"/>
                  </a:lnTo>
                  <a:lnTo>
                    <a:pt x="0" y="0"/>
                  </a:lnTo>
                  <a:lnTo>
                    <a:pt x="10016" y="26311"/>
                  </a:lnTo>
                  <a:close/>
                </a:path>
              </a:pathLst>
            </a:custGeom>
            <a:ln w="9112">
              <a:solidFill>
                <a:srgbClr val="223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877620" y="2149550"/>
              <a:ext cx="252095" cy="307975"/>
            </a:xfrm>
            <a:custGeom>
              <a:avLst/>
              <a:gdLst/>
              <a:ahLst/>
              <a:cxnLst/>
              <a:rect l="l" t="t" r="r" b="b"/>
              <a:pathLst>
                <a:path w="252094" h="307975">
                  <a:moveTo>
                    <a:pt x="0" y="0"/>
                  </a:moveTo>
                  <a:lnTo>
                    <a:pt x="252003" y="0"/>
                  </a:lnTo>
                  <a:lnTo>
                    <a:pt x="252003" y="307464"/>
                  </a:lnTo>
                  <a:lnTo>
                    <a:pt x="32699" y="307464"/>
                  </a:lnTo>
                </a:path>
              </a:pathLst>
            </a:custGeom>
            <a:ln w="10122">
              <a:solidFill>
                <a:srgbClr val="2D7D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890597" y="2446998"/>
              <a:ext cx="26670" cy="20320"/>
            </a:xfrm>
            <a:custGeom>
              <a:avLst/>
              <a:gdLst/>
              <a:ahLst/>
              <a:cxnLst/>
              <a:rect l="l" t="t" r="r" b="b"/>
              <a:pathLst>
                <a:path w="26669" h="20319">
                  <a:moveTo>
                    <a:pt x="26311" y="20032"/>
                  </a:moveTo>
                  <a:lnTo>
                    <a:pt x="17445" y="10016"/>
                  </a:lnTo>
                  <a:lnTo>
                    <a:pt x="26311" y="0"/>
                  </a:lnTo>
                  <a:lnTo>
                    <a:pt x="0" y="10016"/>
                  </a:lnTo>
                  <a:lnTo>
                    <a:pt x="26311" y="20032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890597" y="2446998"/>
              <a:ext cx="26670" cy="20320"/>
            </a:xfrm>
            <a:custGeom>
              <a:avLst/>
              <a:gdLst/>
              <a:ahLst/>
              <a:cxnLst/>
              <a:rect l="l" t="t" r="r" b="b"/>
              <a:pathLst>
                <a:path w="26669" h="20319">
                  <a:moveTo>
                    <a:pt x="0" y="10016"/>
                  </a:moveTo>
                  <a:lnTo>
                    <a:pt x="26311" y="20032"/>
                  </a:lnTo>
                  <a:lnTo>
                    <a:pt x="17445" y="10016"/>
                  </a:lnTo>
                  <a:lnTo>
                    <a:pt x="26311" y="0"/>
                  </a:lnTo>
                  <a:lnTo>
                    <a:pt x="0" y="10016"/>
                  </a:lnTo>
                  <a:close/>
                </a:path>
              </a:pathLst>
            </a:custGeom>
            <a:ln w="9112">
              <a:solidFill>
                <a:srgbClr val="2D7D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3191281" y="2239784"/>
            <a:ext cx="885190" cy="279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99"/>
              </a:lnSpc>
              <a:spcBef>
                <a:spcPts val="100"/>
              </a:spcBef>
            </a:pPr>
            <a:r>
              <a:rPr sz="800" i="1" spc="-10" dirty="0">
                <a:solidFill>
                  <a:schemeClr val="tx1"/>
                </a:solidFill>
                <a:latin typeface="Trebuchet MS"/>
                <a:cs typeface="Trebuchet MS"/>
              </a:rPr>
              <a:t>constrains</a:t>
            </a:r>
            <a:r>
              <a:rPr sz="800" i="1" spc="-5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800" i="1" spc="-10" dirty="0">
                <a:solidFill>
                  <a:schemeClr val="tx1"/>
                </a:solidFill>
                <a:latin typeface="Trebuchet MS"/>
                <a:cs typeface="Trebuchet MS"/>
              </a:rPr>
              <a:t>what</a:t>
            </a:r>
            <a:r>
              <a:rPr sz="800" i="1" spc="-5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800" i="1" spc="-45" dirty="0">
                <a:solidFill>
                  <a:schemeClr val="tx1"/>
                </a:solidFill>
                <a:latin typeface="Trebuchet MS"/>
                <a:cs typeface="Trebuchet MS"/>
              </a:rPr>
              <a:t>re-</a:t>
            </a:r>
            <a:r>
              <a:rPr sz="800" i="1" spc="-30" dirty="0">
                <a:solidFill>
                  <a:schemeClr val="tx1"/>
                </a:solidFill>
                <a:latin typeface="Trebuchet MS"/>
                <a:cs typeface="Trebuchet MS"/>
              </a:rPr>
              <a:t>trieval</a:t>
            </a:r>
            <a:r>
              <a:rPr sz="800" i="1" spc="-1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800" i="1" dirty="0">
                <a:solidFill>
                  <a:schemeClr val="tx1"/>
                </a:solidFill>
                <a:latin typeface="Trebuchet MS"/>
                <a:cs typeface="Trebuchet MS"/>
              </a:rPr>
              <a:t>may</a:t>
            </a:r>
            <a:r>
              <a:rPr sz="800" i="1" spc="-10" dirty="0">
                <a:solidFill>
                  <a:schemeClr val="tx1"/>
                </a:solidFill>
                <a:latin typeface="Trebuchet MS"/>
                <a:cs typeface="Trebuchet MS"/>
              </a:rPr>
              <a:t> return</a:t>
            </a:r>
            <a:endParaRPr sz="8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442838" y="1082745"/>
            <a:ext cx="150495" cy="596265"/>
          </a:xfrm>
          <a:prstGeom prst="rect">
            <a:avLst/>
          </a:prstGeom>
        </p:spPr>
        <p:txBody>
          <a:bodyPr vert="vert270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i="1" spc="-20" dirty="0">
                <a:solidFill>
                  <a:srgbClr val="6C6C6C"/>
                </a:solidFill>
                <a:latin typeface="Trebuchet MS"/>
                <a:cs typeface="Trebuchet MS"/>
              </a:rPr>
              <a:t>unsupervised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58" name="object 5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3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From</a:t>
            </a:r>
            <a:r>
              <a:rPr spc="40" dirty="0"/>
              <a:t> </a:t>
            </a:r>
            <a:r>
              <a:rPr spc="-10" dirty="0"/>
              <a:t>alerts</a:t>
            </a:r>
            <a:r>
              <a:rPr spc="50" dirty="0"/>
              <a:t> </a:t>
            </a:r>
            <a:r>
              <a:rPr dirty="0"/>
              <a:t>to</a:t>
            </a:r>
            <a:r>
              <a:rPr spc="50" dirty="0"/>
              <a:t> </a:t>
            </a:r>
            <a:r>
              <a:rPr dirty="0"/>
              <a:t>a</a:t>
            </a:r>
            <a:r>
              <a:rPr spc="45" dirty="0"/>
              <a:t> </a:t>
            </a:r>
            <a:r>
              <a:rPr spc="-50" dirty="0"/>
              <a:t>scoped</a:t>
            </a:r>
            <a:r>
              <a:rPr spc="40" dirty="0"/>
              <a:t> </a:t>
            </a:r>
            <a:r>
              <a:rPr spc="-20" dirty="0"/>
              <a:t>candidate</a:t>
            </a:r>
            <a:r>
              <a:rPr spc="45" dirty="0"/>
              <a:t> </a:t>
            </a:r>
            <a:r>
              <a:rPr spc="-25" dirty="0"/>
              <a:t>set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1440180" cy="5080"/>
            </a:xfrm>
            <a:custGeom>
              <a:avLst/>
              <a:gdLst/>
              <a:ahLst/>
              <a:cxnLst/>
              <a:rect l="l" t="t" r="r" b="b"/>
              <a:pathLst>
                <a:path w="1440180" h="5079">
                  <a:moveTo>
                    <a:pt x="0" y="5060"/>
                  </a:moveTo>
                  <a:lnTo>
                    <a:pt x="0" y="0"/>
                  </a:lnTo>
                  <a:lnTo>
                    <a:pt x="1440018" y="0"/>
                  </a:lnTo>
                  <a:lnTo>
                    <a:pt x="144001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56730" y="513581"/>
            <a:ext cx="4917440" cy="161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0" marR="594995" indent="-165735">
              <a:lnSpc>
                <a:spcPct val="114599"/>
              </a:lnSpc>
              <a:spcBef>
                <a:spcPts val="100"/>
              </a:spcBef>
              <a:buAutoNum type="arabicPeriod"/>
              <a:tabLst>
                <a:tab pos="180340" algn="l"/>
              </a:tabLst>
            </a:pP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Alerts</a:t>
            </a:r>
            <a:r>
              <a:rPr sz="1000" spc="3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i="1" dirty="0">
                <a:solidFill>
                  <a:schemeClr val="tx1"/>
                </a:solidFill>
                <a:latin typeface="Arial"/>
                <a:cs typeface="Arial"/>
              </a:rPr>
              <a:t>→</a:t>
            </a:r>
            <a:r>
              <a:rPr sz="1000" i="1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spc="-65" dirty="0">
                <a:solidFill>
                  <a:schemeClr val="tx1"/>
                </a:solidFill>
                <a:latin typeface="Microsoft Sans Serif"/>
                <a:cs typeface="Microsoft Sans Serif"/>
              </a:rPr>
              <a:t>sentences</a:t>
            </a:r>
            <a:r>
              <a:rPr sz="1000" spc="3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(fixed</a:t>
            </a:r>
            <a:r>
              <a:rPr sz="1000" spc="3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template)</a:t>
            </a:r>
            <a:r>
              <a:rPr sz="1000" spc="3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i="1" dirty="0">
                <a:solidFill>
                  <a:schemeClr val="tx1"/>
                </a:solidFill>
                <a:latin typeface="Arial"/>
                <a:cs typeface="Arial"/>
              </a:rPr>
              <a:t>→</a:t>
            </a:r>
            <a:r>
              <a:rPr sz="1000" i="1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chemeClr val="tx1"/>
                </a:solidFill>
                <a:latin typeface="Microsoft Sans Serif"/>
                <a:cs typeface="Microsoft Sans Serif"/>
              </a:rPr>
              <a:t>384-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d</a:t>
            </a:r>
            <a:r>
              <a:rPr sz="1000" spc="3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chemeClr val="tx1"/>
                </a:solidFill>
                <a:latin typeface="Microsoft Sans Serif"/>
                <a:cs typeface="Microsoft Sans Serif"/>
              </a:rPr>
              <a:t>embeddings</a:t>
            </a:r>
            <a:r>
              <a:rPr sz="1000" spc="3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i="1" dirty="0">
                <a:solidFill>
                  <a:schemeClr val="tx1"/>
                </a:solidFill>
                <a:latin typeface="Arial"/>
                <a:cs typeface="Arial"/>
              </a:rPr>
              <a:t>→</a:t>
            </a:r>
            <a:r>
              <a:rPr sz="1000" i="1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spc="-65" dirty="0">
                <a:solidFill>
                  <a:schemeClr val="tx1"/>
                </a:solidFill>
                <a:latin typeface="Microsoft Sans Serif"/>
                <a:cs typeface="Microsoft Sans Serif"/>
              </a:rPr>
              <a:t>cosine-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threshold 	</a:t>
            </a:r>
            <a:r>
              <a:rPr sz="1000" spc="-35" dirty="0">
                <a:solidFill>
                  <a:schemeClr val="tx1"/>
                </a:solidFill>
                <a:latin typeface="Microsoft Sans Serif"/>
                <a:cs typeface="Microsoft Sans Serif"/>
              </a:rPr>
              <a:t>communities</a:t>
            </a:r>
            <a:r>
              <a:rPr sz="1000" spc="2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204" dirty="0">
                <a:solidFill>
                  <a:schemeClr val="tx1"/>
                </a:solidFill>
                <a:latin typeface="Microsoft Sans Serif"/>
                <a:cs typeface="Microsoft Sans Serif"/>
              </a:rPr>
              <a:t>–</a:t>
            </a:r>
            <a:r>
              <a:rPr sz="1000" spc="2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no</a:t>
            </a:r>
            <a:r>
              <a:rPr sz="1000" spc="2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LLM,</a:t>
            </a:r>
            <a:r>
              <a:rPr sz="1000" spc="2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no</a:t>
            </a:r>
            <a:r>
              <a:rPr sz="1000" spc="2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chemeClr val="tx1"/>
                </a:solidFill>
                <a:latin typeface="Microsoft Sans Serif"/>
                <a:cs typeface="Microsoft Sans Serif"/>
              </a:rPr>
              <a:t>ground</a:t>
            </a:r>
            <a:r>
              <a:rPr sz="1000" spc="2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truth</a:t>
            </a:r>
            <a:endParaRPr sz="1000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178435" indent="-165735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178435" algn="l"/>
              </a:tabLst>
            </a:pP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A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local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LLM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chemeClr val="tx1"/>
                </a:solidFill>
                <a:latin typeface="Microsoft Sans Serif"/>
                <a:cs typeface="Microsoft Sans Serif"/>
              </a:rPr>
              <a:t>reads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chemeClr val="tx1"/>
                </a:solidFill>
                <a:latin typeface="Microsoft Sans Serif"/>
                <a:cs typeface="Microsoft Sans Serif"/>
              </a:rPr>
              <a:t>each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community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and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extracts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chemeClr val="tx1"/>
                </a:solidFill>
                <a:latin typeface="Microsoft Sans Serif"/>
                <a:cs typeface="Microsoft Sans Serif"/>
              </a:rPr>
              <a:t>behavioural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triples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chemeClr val="tx1"/>
                </a:solidFill>
                <a:latin typeface="Microsoft Sans Serif"/>
                <a:cs typeface="Microsoft Sans Serif"/>
              </a:rPr>
              <a:t>under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chemeClr val="tx1"/>
                </a:solidFill>
                <a:latin typeface="Microsoft Sans Serif"/>
                <a:cs typeface="Microsoft Sans Serif"/>
              </a:rPr>
              <a:t>a</a:t>
            </a:r>
            <a:endParaRPr sz="1000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180340">
              <a:lnSpc>
                <a:spcPct val="100000"/>
              </a:lnSpc>
              <a:spcBef>
                <a:spcPts val="175"/>
              </a:spcBef>
            </a:pPr>
            <a:r>
              <a:rPr sz="1000" spc="-60" dirty="0">
                <a:solidFill>
                  <a:schemeClr val="tx1"/>
                </a:solidFill>
                <a:latin typeface="Microsoft Sans Serif"/>
                <a:cs typeface="Microsoft Sans Serif"/>
              </a:rPr>
              <a:t>JSON-</a:t>
            </a:r>
            <a:r>
              <a:rPr sz="1000" spc="-45" dirty="0">
                <a:solidFill>
                  <a:schemeClr val="tx1"/>
                </a:solidFill>
                <a:latin typeface="Microsoft Sans Serif"/>
                <a:cs typeface="Microsoft Sans Serif"/>
              </a:rPr>
              <a:t>schema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chemeClr val="tx1"/>
                </a:solidFill>
                <a:latin typeface="Microsoft Sans Serif"/>
                <a:cs typeface="Microsoft Sans Serif"/>
              </a:rPr>
              <a:t>grammar:</a:t>
            </a:r>
            <a:r>
              <a:rPr sz="1000" spc="8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relation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chemeClr val="tx1"/>
                </a:solidFill>
                <a:latin typeface="Microsoft Sans Serif"/>
                <a:cs typeface="Microsoft Sans Serif"/>
              </a:rPr>
              <a:t>drawn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from a </a:t>
            </a:r>
            <a:r>
              <a:rPr sz="10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fixed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chemeClr val="tx1"/>
                </a:solidFill>
                <a:latin typeface="Microsoft Sans Serif"/>
                <a:cs typeface="Microsoft Sans Serif"/>
              </a:rPr>
              <a:t>vocabulary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(7 </a:t>
            </a:r>
            <a:r>
              <a:rPr sz="1000" spc="-30" dirty="0">
                <a:solidFill>
                  <a:schemeClr val="tx1"/>
                </a:solidFill>
                <a:latin typeface="Microsoft Sans Serif"/>
                <a:cs typeface="Microsoft Sans Serif"/>
              </a:rPr>
              <a:t>network,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10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host)</a:t>
            </a:r>
            <a:endParaRPr sz="1000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177800" marR="690880" indent="-165735">
              <a:lnSpc>
                <a:spcPct val="114599"/>
              </a:lnSpc>
              <a:spcBef>
                <a:spcPts val="500"/>
              </a:spcBef>
              <a:buAutoNum type="arabicPeriod" startAt="3"/>
              <a:tabLst>
                <a:tab pos="180340" algn="l"/>
              </a:tabLst>
            </a:pPr>
            <a:r>
              <a:rPr sz="1000" spc="-30" dirty="0">
                <a:solidFill>
                  <a:schemeClr val="tx1"/>
                </a:solidFill>
                <a:latin typeface="Microsoft Sans Serif"/>
                <a:cs typeface="Microsoft Sans Serif"/>
              </a:rPr>
              <a:t>Triples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build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a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chemeClr val="tx1"/>
                </a:solidFill>
                <a:latin typeface="Microsoft Sans Serif"/>
                <a:cs typeface="Microsoft Sans Serif"/>
              </a:rPr>
              <a:t>graph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chemeClr val="tx1"/>
                </a:solidFill>
                <a:latin typeface="Microsoft Sans Serif"/>
                <a:cs typeface="Microsoft Sans Serif"/>
              </a:rPr>
              <a:t>bridged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to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chemeClr val="tx1"/>
                </a:solidFill>
                <a:latin typeface="Microsoft Sans Serif"/>
                <a:cs typeface="Microsoft Sans Serif"/>
              </a:rPr>
              <a:t>691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MITRE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ATT&amp;CK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chemeClr val="tx1"/>
                </a:solidFill>
                <a:latin typeface="Microsoft Sans Serif"/>
                <a:cs typeface="Microsoft Sans Serif"/>
              </a:rPr>
              <a:t>techniques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by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a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fixed 	</a:t>
            </a:r>
            <a:r>
              <a:rPr sz="10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relation-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to-</a:t>
            </a:r>
            <a:r>
              <a:rPr sz="10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technique</a:t>
            </a:r>
            <a:r>
              <a:rPr sz="1000" spc="4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mapping</a:t>
            </a:r>
            <a:endParaRPr sz="1000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177800" marR="5080" indent="-165735">
              <a:lnSpc>
                <a:spcPct val="114599"/>
              </a:lnSpc>
              <a:spcBef>
                <a:spcPts val="495"/>
              </a:spcBef>
              <a:buAutoNum type="arabicPeriod" startAt="3"/>
              <a:tabLst>
                <a:tab pos="180340" algn="l"/>
              </a:tabLst>
            </a:pP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That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chemeClr val="tx1"/>
                </a:solidFill>
                <a:latin typeface="Microsoft Sans Serif"/>
                <a:cs typeface="Microsoft Sans Serif"/>
              </a:rPr>
              <a:t>bridge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restricts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which</a:t>
            </a:r>
            <a:r>
              <a:rPr sz="1000" spc="1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chemeClr val="tx1"/>
                </a:solidFill>
                <a:latin typeface="Microsoft Sans Serif"/>
                <a:cs typeface="Microsoft Sans Serif"/>
              </a:rPr>
              <a:t>techniques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retrieval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chemeClr val="tx1"/>
                </a:solidFill>
                <a:latin typeface="Microsoft Sans Serif"/>
                <a:cs typeface="Microsoft Sans Serif"/>
              </a:rPr>
              <a:t>may</a:t>
            </a:r>
            <a:r>
              <a:rPr sz="1000" spc="1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return;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the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report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is</a:t>
            </a:r>
            <a:r>
              <a:rPr sz="1000" spc="1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chemeClr val="tx1"/>
                </a:solidFill>
                <a:latin typeface="Microsoft Sans Serif"/>
                <a:cs typeface="Microsoft Sans Serif"/>
              </a:rPr>
              <a:t>generated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under 	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a</a:t>
            </a:r>
            <a:r>
              <a:rPr sz="1000" spc="1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70" dirty="0">
                <a:solidFill>
                  <a:schemeClr val="tx1"/>
                </a:solidFill>
                <a:latin typeface="Microsoft Sans Serif"/>
                <a:cs typeface="Microsoft Sans Serif"/>
              </a:rPr>
              <a:t>second</a:t>
            </a:r>
            <a:r>
              <a:rPr sz="1000" spc="1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schema</a:t>
            </a:r>
            <a:endParaRPr sz="1000" dirty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994" y="2454160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7594">
            <a:solidFill>
              <a:srgbClr val="2D7D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294" y="2577788"/>
            <a:ext cx="4766310" cy="37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000" spc="-70" dirty="0">
                <a:solidFill>
                  <a:srgbClr val="22373A"/>
                </a:solidFill>
                <a:latin typeface="Microsoft Sans Serif"/>
                <a:cs typeface="Microsoft Sans Serif"/>
              </a:rPr>
              <a:t>Schema-</a:t>
            </a:r>
            <a:r>
              <a:rPr sz="1000" spc="-30" dirty="0">
                <a:solidFill>
                  <a:srgbClr val="22373A"/>
                </a:solidFill>
                <a:latin typeface="Microsoft Sans Serif"/>
                <a:cs typeface="Microsoft Sans Serif"/>
              </a:rPr>
              <a:t>valid</a:t>
            </a:r>
            <a:r>
              <a:rPr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output</a:t>
            </a:r>
            <a:r>
              <a:rPr sz="1000" spc="2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in</a:t>
            </a:r>
            <a:r>
              <a:rPr sz="1000" spc="2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Microsoft Sans Serif"/>
                <a:cs typeface="Microsoft Sans Serif"/>
              </a:rPr>
              <a:t>100%</a:t>
            </a:r>
            <a:r>
              <a:rPr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of</a:t>
            </a:r>
            <a:r>
              <a:rPr sz="1000" spc="2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85" dirty="0">
                <a:solidFill>
                  <a:srgbClr val="22373A"/>
                </a:solidFill>
                <a:latin typeface="Microsoft Sans Serif"/>
                <a:cs typeface="Microsoft Sans Serif"/>
              </a:rPr>
              <a:t>cases;</a:t>
            </a:r>
            <a:r>
              <a:rPr sz="1000" spc="2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Microsoft Sans Serif"/>
                <a:cs typeface="Microsoft Sans Serif"/>
              </a:rPr>
              <a:t>691</a:t>
            </a:r>
            <a:r>
              <a:rPr sz="1000" spc="2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Microsoft Sans Serif"/>
                <a:cs typeface="Microsoft Sans Serif"/>
              </a:rPr>
              <a:t>techniques</a:t>
            </a:r>
            <a:r>
              <a:rPr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Microsoft Sans Serif"/>
                <a:cs typeface="Microsoft Sans Serif"/>
              </a:rPr>
              <a:t>become</a:t>
            </a:r>
            <a:r>
              <a:rPr sz="1000" spc="2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a</a:t>
            </a:r>
            <a:r>
              <a:rPr sz="1000" spc="2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handful</a:t>
            </a:r>
            <a:r>
              <a:rPr sz="1000" spc="2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of</a:t>
            </a:r>
            <a:r>
              <a:rPr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behaviourally justified</a:t>
            </a:r>
            <a:r>
              <a:rPr sz="1000" spc="-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candidates.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4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6349"/>
            <a:ext cx="13963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Experimental </a:t>
            </a:r>
            <a:r>
              <a:rPr spc="-25" dirty="0"/>
              <a:t>setup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1800225" cy="5080"/>
            </a:xfrm>
            <a:custGeom>
              <a:avLst/>
              <a:gdLst/>
              <a:ahLst/>
              <a:cxnLst/>
              <a:rect l="l" t="t" r="r" b="b"/>
              <a:pathLst>
                <a:path w="1800225" h="5079">
                  <a:moveTo>
                    <a:pt x="0" y="5060"/>
                  </a:moveTo>
                  <a:lnTo>
                    <a:pt x="0" y="0"/>
                  </a:lnTo>
                  <a:lnTo>
                    <a:pt x="1800022" y="0"/>
                  </a:lnTo>
                  <a:lnTo>
                    <a:pt x="180002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9994" y="948499"/>
          <a:ext cx="2364104" cy="843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b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CIC-IDS-</a:t>
                      </a:r>
                      <a:r>
                        <a:rPr sz="1000" b="1" spc="-2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2017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b="1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DARPA</a:t>
                      </a:r>
                      <a:r>
                        <a:rPr sz="1000" b="1" spc="10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22373A"/>
                          </a:solidFill>
                          <a:latin typeface="Arial"/>
                          <a:cs typeface="Arial"/>
                        </a:rPr>
                        <a:t>E3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Level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3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network</a:t>
                      </a:r>
                      <a:r>
                        <a:rPr sz="1000" spc="-15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flows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host</a:t>
                      </a:r>
                      <a:r>
                        <a:rPr sz="1000" spc="-3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audit</a:t>
                      </a:r>
                      <a:endParaRPr sz="1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Scale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75"/>
                        </a:lnSpc>
                      </a:pPr>
                      <a:r>
                        <a:rPr sz="1000" spc="-4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14,182</a:t>
                      </a:r>
                      <a:r>
                        <a:rPr sz="1000" spc="5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flows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4</a:t>
                      </a:r>
                      <a:r>
                        <a:rPr sz="1000" spc="1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windows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000" spc="-7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Used</a:t>
                      </a:r>
                      <a:r>
                        <a:rPr sz="1000" spc="25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for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full</a:t>
                      </a:r>
                      <a:r>
                        <a:rPr sz="1000" spc="6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pipeline</a:t>
                      </a:r>
                      <a:endParaRPr sz="1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000" spc="-45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core</a:t>
                      </a:r>
                      <a:r>
                        <a:rPr sz="1000" spc="-15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Microsoft Sans Serif"/>
                          <a:cs typeface="Microsoft Sans Serif"/>
                        </a:rPr>
                        <a:t>transfer</a:t>
                      </a:r>
                      <a:endParaRPr sz="10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270503" y="872306"/>
            <a:ext cx="2129790" cy="600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050">
              <a:lnSpc>
                <a:spcPct val="114599"/>
              </a:lnSpc>
              <a:spcBef>
                <a:spcPts val="100"/>
              </a:spcBef>
            </a:pPr>
            <a:r>
              <a:rPr sz="1000" spc="-35" dirty="0">
                <a:solidFill>
                  <a:schemeClr val="tx1"/>
                </a:solidFill>
                <a:latin typeface="Microsoft Sans Serif"/>
                <a:cs typeface="Microsoft Sans Serif"/>
              </a:rPr>
              <a:t>Mistral-Nemo-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12B,</a:t>
            </a:r>
            <a:r>
              <a:rPr sz="1000" spc="15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chemeClr val="tx1"/>
                </a:solidFill>
                <a:latin typeface="Microsoft Sans Serif"/>
                <a:cs typeface="Microsoft Sans Serif"/>
              </a:rPr>
              <a:t>Qwen2.5-</a:t>
            </a:r>
            <a:r>
              <a:rPr sz="1000" spc="-50" dirty="0">
                <a:solidFill>
                  <a:schemeClr val="tx1"/>
                </a:solidFill>
                <a:latin typeface="Microsoft Sans Serif"/>
                <a:cs typeface="Microsoft Sans Serif"/>
              </a:rPr>
              <a:t>Coder-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7B, </a:t>
            </a:r>
            <a:r>
              <a:rPr sz="1000" spc="-55" dirty="0">
                <a:solidFill>
                  <a:schemeClr val="tx1"/>
                </a:solidFill>
                <a:latin typeface="Microsoft Sans Serif"/>
                <a:cs typeface="Microsoft Sans Serif"/>
              </a:rPr>
              <a:t>Qwen2.5-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3B</a:t>
            </a:r>
            <a:endParaRPr sz="1000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000" spc="-30" dirty="0">
                <a:solidFill>
                  <a:schemeClr val="tx1"/>
                </a:solidFill>
                <a:latin typeface="Microsoft Sans Serif"/>
                <a:cs typeface="Microsoft Sans Serif"/>
              </a:rPr>
              <a:t>One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 laptop,</a:t>
            </a:r>
            <a:r>
              <a:rPr sz="1000" spc="2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RTX</a:t>
            </a:r>
            <a:r>
              <a:rPr sz="1000" spc="1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chemeClr val="tx1"/>
                </a:solidFill>
                <a:latin typeface="Microsoft Sans Serif"/>
                <a:cs typeface="Microsoft Sans Serif"/>
              </a:rPr>
              <a:t>3050</a:t>
            </a:r>
            <a:r>
              <a:rPr sz="1000" spc="1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Ti,</a:t>
            </a:r>
            <a:r>
              <a:rPr sz="1000" spc="2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chemeClr val="tx1"/>
                </a:solidFill>
                <a:latin typeface="Microsoft Sans Serif"/>
                <a:cs typeface="Microsoft Sans Serif"/>
              </a:rPr>
              <a:t>4</a:t>
            </a:r>
            <a:r>
              <a:rPr sz="1000" spc="-10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GB</a:t>
            </a:r>
            <a:r>
              <a:rPr sz="1000" spc="1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VRAM</a:t>
            </a:r>
            <a:endParaRPr sz="1000" dirty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294" y="1882544"/>
            <a:ext cx="4806950" cy="594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8000"/>
              </a:lnSpc>
              <a:spcBef>
                <a:spcPts val="100"/>
              </a:spcBef>
            </a:pPr>
            <a:r>
              <a:rPr sz="1100" spc="-75" dirty="0">
                <a:solidFill>
                  <a:schemeClr val="tx1"/>
                </a:solidFill>
                <a:latin typeface="Arial MT"/>
                <a:cs typeface="Arial MT"/>
              </a:rPr>
              <a:t>Each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chemeClr val="tx1"/>
                </a:solidFill>
                <a:latin typeface="Arial MT"/>
                <a:cs typeface="Arial MT"/>
              </a:rPr>
              <a:t>grounded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chemeClr val="tx1"/>
                </a:solidFill>
                <a:latin typeface="Arial MT"/>
                <a:cs typeface="Arial MT"/>
              </a:rPr>
              <a:t>condition</a:t>
            </a:r>
            <a:r>
              <a:rPr sz="110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chemeClr val="tx1"/>
                </a:solidFill>
                <a:latin typeface="Arial MT"/>
                <a:cs typeface="Arial MT"/>
              </a:rPr>
              <a:t>vs.</a:t>
            </a:r>
            <a:r>
              <a:rPr sz="11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a</a:t>
            </a:r>
            <a:r>
              <a:rPr sz="11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chemeClr val="tx1"/>
                </a:solidFill>
                <a:latin typeface="Arial MT"/>
                <a:cs typeface="Arial MT"/>
              </a:rPr>
              <a:t>non-</a:t>
            </a:r>
            <a:r>
              <a:rPr sz="1100" spc="-55" dirty="0">
                <a:solidFill>
                  <a:schemeClr val="tx1"/>
                </a:solidFill>
                <a:latin typeface="Arial MT"/>
                <a:cs typeface="Arial MT"/>
              </a:rPr>
              <a:t>grounded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chemeClr val="tx1"/>
                </a:solidFill>
                <a:latin typeface="Arial MT"/>
                <a:cs typeface="Arial MT"/>
              </a:rPr>
              <a:t>baseline:</a:t>
            </a:r>
            <a:r>
              <a:rPr sz="1100" spc="8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105" dirty="0">
                <a:solidFill>
                  <a:schemeClr val="tx1"/>
                </a:solidFill>
                <a:latin typeface="Arial MT"/>
                <a:cs typeface="Arial MT"/>
              </a:rPr>
              <a:t>same</a:t>
            </a:r>
            <a:r>
              <a:rPr sz="1100" spc="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chemeClr val="tx1"/>
                </a:solidFill>
                <a:latin typeface="Arial MT"/>
                <a:cs typeface="Arial MT"/>
              </a:rPr>
              <a:t>model,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105" dirty="0">
                <a:solidFill>
                  <a:schemeClr val="tx1"/>
                </a:solidFill>
                <a:latin typeface="Arial MT"/>
                <a:cs typeface="Arial MT"/>
              </a:rPr>
              <a:t>same</a:t>
            </a:r>
            <a:r>
              <a:rPr sz="1100" spc="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chemeClr val="tx1"/>
                </a:solidFill>
                <a:latin typeface="Arial MT"/>
                <a:cs typeface="Arial MT"/>
              </a:rPr>
              <a:t>evidence, </a:t>
            </a:r>
            <a:r>
              <a:rPr sz="1100" spc="-30" dirty="0">
                <a:solidFill>
                  <a:schemeClr val="tx1"/>
                </a:solidFill>
                <a:latin typeface="Arial MT"/>
                <a:cs typeface="Arial MT"/>
              </a:rPr>
              <a:t>constraint</a:t>
            </a:r>
            <a:r>
              <a:rPr sz="11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chemeClr val="tx1"/>
                </a:solidFill>
                <a:latin typeface="Arial MT"/>
                <a:cs typeface="Arial MT"/>
              </a:rPr>
              <a:t>removed.</a:t>
            </a:r>
            <a:r>
              <a:rPr sz="1100" spc="7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80" dirty="0">
                <a:solidFill>
                  <a:schemeClr val="tx1"/>
                </a:solidFill>
                <a:latin typeface="Arial MT"/>
                <a:cs typeface="Arial MT"/>
              </a:rPr>
              <a:t>Measured</a:t>
            </a:r>
            <a:r>
              <a:rPr sz="11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on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chemeClr val="tx1"/>
                </a:solidFill>
                <a:latin typeface="Arial MT"/>
                <a:cs typeface="Arial MT"/>
              </a:rPr>
              <a:t>exact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chemeClr val="tx1"/>
                </a:solidFill>
                <a:latin typeface="Arial MT"/>
                <a:cs typeface="Arial MT"/>
              </a:rPr>
              <a:t>match,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chemeClr val="tx1"/>
                </a:solidFill>
                <a:latin typeface="Arial MT"/>
                <a:cs typeface="Arial MT"/>
              </a:rPr>
              <a:t>macro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F1,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chemeClr val="tx1"/>
                </a:solidFill>
                <a:latin typeface="Arial MT"/>
                <a:cs typeface="Arial MT"/>
              </a:rPr>
              <a:t>retrieval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hit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rate,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GB" sz="1100" spc="-15" dirty="0">
                <a:solidFill>
                  <a:schemeClr val="tx1"/>
                </a:solidFill>
                <a:latin typeface="Arial MT"/>
                <a:cs typeface="Arial MT"/>
              </a:rPr>
              <a:t>and 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report </a:t>
            </a:r>
            <a:r>
              <a:rPr sz="1100" spc="-40" dirty="0">
                <a:solidFill>
                  <a:schemeClr val="tx1"/>
                </a:solidFill>
                <a:latin typeface="Arial MT"/>
                <a:cs typeface="Arial MT"/>
              </a:rPr>
              <a:t>grounding</a:t>
            </a:r>
            <a:r>
              <a:rPr lang="en-GB" sz="1100" spc="-40" dirty="0">
                <a:solidFill>
                  <a:schemeClr val="tx1"/>
                </a:solidFill>
                <a:latin typeface="Arial MT"/>
                <a:cs typeface="Arial MT"/>
              </a:rPr>
              <a:t>.</a:t>
            </a:r>
            <a:endParaRPr sz="11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5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Classification</a:t>
            </a:r>
            <a:r>
              <a:rPr spc="130" dirty="0"/>
              <a:t> </a:t>
            </a:r>
            <a:r>
              <a:rPr spc="-35" dirty="0"/>
              <a:t>results</a:t>
            </a:r>
            <a:r>
              <a:rPr spc="135" dirty="0"/>
              <a:t> </a:t>
            </a:r>
            <a:r>
              <a:rPr dirty="0"/>
              <a:t>(CIC-</a:t>
            </a:r>
            <a:r>
              <a:rPr spc="-20" dirty="0"/>
              <a:t>IDS)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2160270" cy="5080"/>
            </a:xfrm>
            <a:custGeom>
              <a:avLst/>
              <a:gdLst/>
              <a:ahLst/>
              <a:cxnLst/>
              <a:rect l="l" t="t" r="r" b="b"/>
              <a:pathLst>
                <a:path w="2160270" h="5079">
                  <a:moveTo>
                    <a:pt x="0" y="5060"/>
                  </a:moveTo>
                  <a:lnTo>
                    <a:pt x="0" y="0"/>
                  </a:lnTo>
                  <a:lnTo>
                    <a:pt x="2160027" y="0"/>
                  </a:lnTo>
                  <a:lnTo>
                    <a:pt x="21600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058379" y="829297"/>
            <a:ext cx="3643629" cy="0"/>
          </a:xfrm>
          <a:custGeom>
            <a:avLst/>
            <a:gdLst/>
            <a:ahLst/>
            <a:cxnLst/>
            <a:rect l="l" t="t" r="r" b="b"/>
            <a:pathLst>
              <a:path w="3643629">
                <a:moveTo>
                  <a:pt x="0" y="0"/>
                </a:moveTo>
                <a:lnTo>
                  <a:pt x="3643236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89377" y="857851"/>
            <a:ext cx="692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22373A"/>
                </a:solidFill>
                <a:latin typeface="Microsoft Sans Serif"/>
                <a:cs typeface="Microsoft Sans Serif"/>
              </a:rPr>
              <a:t>Exact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Microsoft Sans Serif"/>
                <a:cs typeface="Microsoft Sans Serif"/>
              </a:rPr>
              <a:t>match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0615" y="857851"/>
            <a:ext cx="5372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22373A"/>
                </a:solidFill>
                <a:latin typeface="Microsoft Sans Serif"/>
                <a:cs typeface="Microsoft Sans Serif"/>
              </a:rPr>
              <a:t>Macro</a:t>
            </a:r>
            <a:r>
              <a:rPr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 F1</a:t>
            </a:r>
            <a:endParaRPr sz="1000">
              <a:latin typeface="Microsoft Sans Serif"/>
              <a:cs typeface="Microsoft Sans Serif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992358"/>
              </p:ext>
            </p:extLst>
          </p:nvPr>
        </p:nvGraphicFramePr>
        <p:xfrm>
          <a:off x="1058379" y="1076172"/>
          <a:ext cx="3646169" cy="840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4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1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Model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1594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spc="-5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Grounded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T w="635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spc="-5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Baseline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T w="635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1594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spc="-5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Grounded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T w="635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spc="-5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Baseline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6830" marB="0">
                    <a:lnT w="635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3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Mistral-Nemo-</a:t>
                      </a:r>
                      <a:r>
                        <a:rPr sz="1000" spc="-2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12B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286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0.833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0.556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0.400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0.200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000" spc="-6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Qwen2.5-</a:t>
                      </a:r>
                      <a:r>
                        <a:rPr sz="1000" spc="-5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Coder-</a:t>
                      </a:r>
                      <a:r>
                        <a:rPr sz="1000" spc="-2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7B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0.111</a:t>
                      </a:r>
                      <a:endParaRPr sz="1000" dirty="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0.000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0.200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0.000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000" spc="-5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Qwen2.5-</a:t>
                      </a:r>
                      <a:r>
                        <a:rPr sz="1000" spc="-2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3B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1594"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0.278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0.000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0.114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0.000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59994" y="2178634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7594">
            <a:solidFill>
              <a:srgbClr val="2D7D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47294" y="2305615"/>
            <a:ext cx="5065395" cy="37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000" spc="-45" dirty="0">
                <a:solidFill>
                  <a:srgbClr val="22373A"/>
                </a:solidFill>
                <a:latin typeface="Microsoft Sans Serif"/>
                <a:cs typeface="Microsoft Sans Serif"/>
              </a:rPr>
              <a:t>One</a:t>
            </a:r>
            <a:r>
              <a:rPr sz="1000" spc="-1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Microsoft Sans Serif"/>
                <a:cs typeface="Microsoft Sans Serif"/>
              </a:rPr>
              <a:t>technique</a:t>
            </a:r>
            <a:r>
              <a:rPr sz="10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Microsoft Sans Serif"/>
                <a:cs typeface="Microsoft Sans Serif"/>
              </a:rPr>
              <a:t>covers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14</a:t>
            </a:r>
            <a:r>
              <a:rPr sz="10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of</a:t>
            </a:r>
            <a:r>
              <a:rPr sz="10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18</a:t>
            </a:r>
            <a:r>
              <a:rPr sz="10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Microsoft Sans Serif"/>
                <a:cs typeface="Microsoft Sans Serif"/>
              </a:rPr>
              <a:t>communities,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70" dirty="0">
                <a:solidFill>
                  <a:srgbClr val="22373A"/>
                </a:solidFill>
                <a:latin typeface="Microsoft Sans Serif"/>
                <a:cs typeface="Microsoft Sans Serif"/>
              </a:rPr>
              <a:t>so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Microsoft Sans Serif"/>
                <a:cs typeface="Microsoft Sans Serif"/>
              </a:rPr>
              <a:t>read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Microsoft Sans Serif"/>
                <a:cs typeface="Microsoft Sans Serif"/>
              </a:rPr>
              <a:t>macro</a:t>
            </a:r>
            <a:r>
              <a:rPr sz="10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F1</a:t>
            </a:r>
            <a:r>
              <a:rPr sz="10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first.</a:t>
            </a:r>
            <a:r>
              <a:rPr sz="1000" spc="9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Both </a:t>
            </a:r>
            <a:r>
              <a:rPr sz="1000" spc="-55" dirty="0">
                <a:solidFill>
                  <a:srgbClr val="22373A"/>
                </a:solidFill>
                <a:latin typeface="Microsoft Sans Serif"/>
                <a:cs typeface="Microsoft Sans Serif"/>
              </a:rPr>
              <a:t>Qwen</a:t>
            </a:r>
            <a:r>
              <a:rPr sz="10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60" dirty="0">
                <a:solidFill>
                  <a:srgbClr val="22373A"/>
                </a:solidFill>
                <a:latin typeface="Microsoft Sans Serif"/>
                <a:cs typeface="Microsoft Sans Serif"/>
              </a:rPr>
              <a:t>baselines</a:t>
            </a:r>
            <a:r>
              <a:rPr sz="10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score </a:t>
            </a:r>
            <a:r>
              <a:rPr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exactly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 zero.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6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119380"/>
            <a:ext cx="27857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Where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35" dirty="0"/>
              <a:t>errors</a:t>
            </a:r>
            <a:r>
              <a:rPr spc="30" dirty="0"/>
              <a:t> </a:t>
            </a:r>
            <a:r>
              <a:rPr spc="-20" dirty="0"/>
              <a:t>come</a:t>
            </a:r>
            <a:r>
              <a:rPr spc="30" dirty="0"/>
              <a:t> </a:t>
            </a:r>
            <a:r>
              <a:rPr spc="-20" dirty="0"/>
              <a:t>from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2520315" cy="5080"/>
            </a:xfrm>
            <a:custGeom>
              <a:avLst/>
              <a:gdLst/>
              <a:ahLst/>
              <a:cxnLst/>
              <a:rect l="l" t="t" r="r" b="b"/>
              <a:pathLst>
                <a:path w="2520315" h="5079">
                  <a:moveTo>
                    <a:pt x="0" y="5060"/>
                  </a:moveTo>
                  <a:lnTo>
                    <a:pt x="0" y="0"/>
                  </a:lnTo>
                  <a:lnTo>
                    <a:pt x="2520032" y="0"/>
                  </a:lnTo>
                  <a:lnTo>
                    <a:pt x="25200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185132"/>
              </p:ext>
            </p:extLst>
          </p:nvPr>
        </p:nvGraphicFramePr>
        <p:xfrm>
          <a:off x="1088618" y="676109"/>
          <a:ext cx="3583304" cy="843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Model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Reachable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4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Rerank</a:t>
                      </a:r>
                      <a:r>
                        <a:rPr sz="1000" spc="-1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correct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2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Exact</a:t>
                      </a: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2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3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Mistral-Nemo-</a:t>
                      </a:r>
                      <a:r>
                        <a:rPr sz="1000" spc="-2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12B</a:t>
                      </a:r>
                      <a:endParaRPr sz="1000" dirty="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15/18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15/15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0.833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000" spc="-6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Qwen2.5-</a:t>
                      </a:r>
                      <a:r>
                        <a:rPr sz="1000" spc="-5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Coder-</a:t>
                      </a:r>
                      <a:r>
                        <a:rPr sz="1000" spc="-2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7B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-2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2/18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-2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2/2</a:t>
                      </a:r>
                      <a:endParaRPr sz="1000" dirty="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0.111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000" spc="-5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Qwen2.5-</a:t>
                      </a:r>
                      <a:r>
                        <a:rPr sz="1000" spc="-2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3B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-2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5/18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-2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5/5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0.278</a:t>
                      </a:r>
                      <a:endParaRPr sz="1000" dirty="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47294" y="1641409"/>
            <a:ext cx="5067300" cy="3945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100" spc="-60" dirty="0">
                <a:solidFill>
                  <a:schemeClr val="tx1"/>
                </a:solidFill>
                <a:latin typeface="Arial MT"/>
                <a:cs typeface="Arial MT"/>
              </a:rPr>
              <a:t>Every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chemeClr val="tx1"/>
                </a:solidFill>
                <a:latin typeface="Arial MT"/>
                <a:cs typeface="Arial MT"/>
              </a:rPr>
              <a:t>model’s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chemeClr val="tx1"/>
                </a:solidFill>
                <a:latin typeface="Arial MT"/>
                <a:cs typeface="Arial MT"/>
              </a:rPr>
              <a:t>accuracy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i="1" spc="-85" dirty="0">
                <a:solidFill>
                  <a:schemeClr val="tx1"/>
                </a:solidFill>
                <a:latin typeface="Arial"/>
                <a:cs typeface="Arial"/>
              </a:rPr>
              <a:t>equals</a:t>
            </a:r>
            <a:r>
              <a:rPr sz="1100" i="1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its </a:t>
            </a:r>
            <a:r>
              <a:rPr sz="1100" spc="-45" dirty="0">
                <a:solidFill>
                  <a:schemeClr val="tx1"/>
                </a:solidFill>
                <a:latin typeface="Arial MT"/>
                <a:cs typeface="Arial MT"/>
              </a:rPr>
              <a:t>reachability.</a:t>
            </a:r>
            <a:r>
              <a:rPr sz="1100" spc="1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80" dirty="0">
                <a:solidFill>
                  <a:schemeClr val="tx1"/>
                </a:solidFill>
                <a:latin typeface="Arial MT"/>
                <a:cs typeface="Arial MT"/>
              </a:rPr>
              <a:t>Across</a:t>
            </a:r>
            <a:r>
              <a:rPr sz="11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all </a:t>
            </a:r>
            <a:r>
              <a:rPr sz="1100" spc="-25" dirty="0">
                <a:solidFill>
                  <a:schemeClr val="tx1"/>
                </a:solidFill>
                <a:latin typeface="Arial MT"/>
                <a:cs typeface="Arial MT"/>
              </a:rPr>
              <a:t>three,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 the </a:t>
            </a:r>
            <a:r>
              <a:rPr sz="1100" spc="-90" dirty="0">
                <a:solidFill>
                  <a:schemeClr val="tx1"/>
                </a:solidFill>
                <a:latin typeface="Arial MT"/>
                <a:cs typeface="Arial MT"/>
              </a:rPr>
              <a:t>scoped</a:t>
            </a:r>
            <a:r>
              <a:rPr sz="1100" spc="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chemeClr val="tx1"/>
                </a:solidFill>
                <a:latin typeface="Arial MT"/>
                <a:cs typeface="Arial MT"/>
              </a:rPr>
              <a:t>reranker</a:t>
            </a:r>
            <a:r>
              <a:rPr sz="11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chemeClr val="tx1"/>
                </a:solidFill>
                <a:latin typeface="Arial MT"/>
                <a:cs typeface="Arial MT"/>
              </a:rPr>
              <a:t>was </a:t>
            </a:r>
            <a:r>
              <a:rPr sz="1100" spc="-80" dirty="0">
                <a:solidFill>
                  <a:schemeClr val="tx1"/>
                </a:solidFill>
                <a:latin typeface="Arial MT"/>
                <a:cs typeface="Arial MT"/>
              </a:rPr>
              <a:t>handed</a:t>
            </a:r>
            <a:r>
              <a:rPr sz="11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chemeClr val="tx1"/>
                </a:solidFill>
                <a:latin typeface="Arial MT"/>
                <a:cs typeface="Arial MT"/>
              </a:rPr>
              <a:t>22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chemeClr val="tx1"/>
                </a:solidFill>
                <a:latin typeface="Arial MT"/>
                <a:cs typeface="Arial MT"/>
              </a:rPr>
              <a:t>solvable</a:t>
            </a:r>
            <a:r>
              <a:rPr sz="11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chemeClr val="tx1"/>
                </a:solidFill>
                <a:latin typeface="Arial MT"/>
                <a:cs typeface="Arial MT"/>
              </a:rPr>
              <a:t>communities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11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got </a:t>
            </a:r>
            <a:r>
              <a:rPr sz="1100" spc="-30" dirty="0">
                <a:solidFill>
                  <a:schemeClr val="tx1"/>
                </a:solidFill>
                <a:latin typeface="Arial MT"/>
                <a:cs typeface="Arial MT"/>
              </a:rPr>
              <a:t>22</a:t>
            </a:r>
            <a:r>
              <a:rPr sz="11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right.</a:t>
            </a:r>
            <a:endParaRPr sz="11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9994" y="2340610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7594">
            <a:solidFill>
              <a:srgbClr val="2D7D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7294" y="2467565"/>
            <a:ext cx="4782820" cy="37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No</a:t>
            </a:r>
            <a:r>
              <a:rPr sz="1000" spc="1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Microsoft Sans Serif"/>
                <a:cs typeface="Microsoft Sans Serif"/>
              </a:rPr>
              <a:t>model</a:t>
            </a:r>
            <a:r>
              <a:rPr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60" dirty="0">
                <a:solidFill>
                  <a:srgbClr val="22373A"/>
                </a:solidFill>
                <a:latin typeface="Microsoft Sans Serif"/>
                <a:cs typeface="Microsoft Sans Serif"/>
              </a:rPr>
              <a:t>ever</a:t>
            </a:r>
            <a:r>
              <a:rPr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Microsoft Sans Serif"/>
                <a:cs typeface="Microsoft Sans Serif"/>
              </a:rPr>
              <a:t>misclassified</a:t>
            </a:r>
            <a:r>
              <a:rPr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a</a:t>
            </a:r>
            <a:r>
              <a:rPr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Microsoft Sans Serif"/>
                <a:cs typeface="Microsoft Sans Serif"/>
              </a:rPr>
              <a:t>community</a:t>
            </a:r>
            <a:r>
              <a:rPr sz="1000" spc="1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70" dirty="0">
                <a:solidFill>
                  <a:srgbClr val="22373A"/>
                </a:solidFill>
                <a:latin typeface="Microsoft Sans Serif"/>
                <a:cs typeface="Microsoft Sans Serif"/>
              </a:rPr>
              <a:t>w</a:t>
            </a:r>
            <a:r>
              <a:rPr lang="en-GB" sz="1000" spc="-70" dirty="0">
                <a:solidFill>
                  <a:srgbClr val="22373A"/>
                </a:solidFill>
                <a:latin typeface="Microsoft Sans Serif"/>
                <a:cs typeface="Microsoft Sans Serif"/>
              </a:rPr>
              <a:t>hose</a:t>
            </a:r>
            <a:r>
              <a:rPr lang="en-DE"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lang="en-GB" sz="1000" spc="-40" dirty="0">
                <a:solidFill>
                  <a:srgbClr val="22373A"/>
                </a:solidFill>
                <a:latin typeface="Microsoft Sans Serif"/>
                <a:cs typeface="Microsoft Sans Serif"/>
              </a:rPr>
              <a:t>behaviour</a:t>
            </a:r>
            <a:r>
              <a:rPr lang="en-DE"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lang="en-GB"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it</a:t>
            </a:r>
            <a:r>
              <a:rPr lang="en-DE"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lang="en-GB" sz="1000" spc="-20" dirty="0">
                <a:solidFill>
                  <a:srgbClr val="22373A"/>
                </a:solidFill>
                <a:latin typeface="Microsoft Sans Serif"/>
                <a:cs typeface="Microsoft Sans Serif"/>
              </a:rPr>
              <a:t>had</a:t>
            </a:r>
            <a:r>
              <a:rPr lang="en-DE"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lang="en-GB" sz="1000" spc="-30" dirty="0">
                <a:solidFill>
                  <a:srgbClr val="22373A"/>
                </a:solidFill>
                <a:latin typeface="Microsoft Sans Serif"/>
                <a:cs typeface="Microsoft Sans Serif"/>
              </a:rPr>
              <a:t>extracted</a:t>
            </a:r>
            <a:r>
              <a:rPr lang="en-DE" sz="1000" spc="1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lang="en-GB"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correctly</a:t>
            </a:r>
            <a:r>
              <a:rPr lang="en-DE"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.</a:t>
            </a:r>
            <a:r>
              <a:rPr lang="en-DE" sz="1000" spc="1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lang="en-GB"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The</a:t>
            </a:r>
            <a:r>
              <a:rPr lang="en-DE"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lang="en-GB" sz="1000" spc="-20" dirty="0">
                <a:solidFill>
                  <a:srgbClr val="22373A"/>
                </a:solidFill>
                <a:latin typeface="Microsoft Sans Serif"/>
                <a:cs typeface="Microsoft Sans Serif"/>
              </a:rPr>
              <a:t>bottleneck</a:t>
            </a:r>
            <a:r>
              <a:rPr lang="en-DE" sz="1000" spc="1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is</a:t>
            </a:r>
            <a:r>
              <a:rPr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Microsoft Sans Serif"/>
                <a:cs typeface="Microsoft Sans Serif"/>
              </a:rPr>
              <a:t>extraction,</a:t>
            </a:r>
            <a:r>
              <a:rPr sz="1000" spc="1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not</a:t>
            </a:r>
            <a:r>
              <a:rPr sz="1000" spc="2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retrieval.</a:t>
            </a:r>
            <a:endParaRPr sz="1000" dirty="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7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770" y="76349"/>
            <a:ext cx="26835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Is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20" dirty="0"/>
              <a:t>graph</a:t>
            </a:r>
            <a:r>
              <a:rPr spc="25" dirty="0"/>
              <a:t> </a:t>
            </a:r>
            <a:r>
              <a:rPr spc="-10" dirty="0"/>
              <a:t>actually</a:t>
            </a:r>
            <a:r>
              <a:rPr spc="25" dirty="0"/>
              <a:t> </a:t>
            </a:r>
            <a:r>
              <a:rPr spc="-30" dirty="0"/>
              <a:t>doing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25" dirty="0"/>
              <a:t>work?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2880360" cy="5080"/>
            </a:xfrm>
            <a:custGeom>
              <a:avLst/>
              <a:gdLst/>
              <a:ahLst/>
              <a:cxnLst/>
              <a:rect l="l" t="t" r="r" b="b"/>
              <a:pathLst>
                <a:path w="2880360" h="5079">
                  <a:moveTo>
                    <a:pt x="0" y="5060"/>
                  </a:moveTo>
                  <a:lnTo>
                    <a:pt x="0" y="0"/>
                  </a:lnTo>
                  <a:lnTo>
                    <a:pt x="2880037" y="0"/>
                  </a:lnTo>
                  <a:lnTo>
                    <a:pt x="28800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462456"/>
            <a:ext cx="32791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14" dirty="0">
                <a:solidFill>
                  <a:srgbClr val="22373A"/>
                </a:solidFill>
                <a:latin typeface="Arial MT"/>
                <a:cs typeface="Arial MT"/>
              </a:rPr>
              <a:t>Same</a:t>
            </a:r>
            <a:r>
              <a:rPr sz="1100" spc="4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scoring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function,</a:t>
            </a:r>
            <a:r>
              <a:rPr sz="1100" spc="-4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5" dirty="0">
                <a:solidFill>
                  <a:srgbClr val="22373A"/>
                </a:solidFill>
                <a:latin typeface="Arial MT"/>
                <a:cs typeface="Arial MT"/>
              </a:rPr>
              <a:t>same</a:t>
            </a:r>
            <a:r>
              <a:rPr sz="1100" spc="3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inputs,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Arial MT"/>
                <a:cs typeface="Arial MT"/>
              </a:rPr>
              <a:t>constraint</a:t>
            </a:r>
            <a:r>
              <a:rPr sz="1100" spc="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Arial MT"/>
                <a:cs typeface="Arial MT"/>
              </a:rPr>
              <a:t>removed: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740608"/>
              </p:ext>
            </p:extLst>
          </p:nvPr>
        </p:nvGraphicFramePr>
        <p:xfrm>
          <a:off x="1241577" y="829906"/>
          <a:ext cx="3275965" cy="843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9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Model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Scoped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000" spc="-6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Unscoped</a:t>
                      </a:r>
                      <a:r>
                        <a:rPr sz="1000" spc="-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(691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techniques)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22373A"/>
                      </a:solidFill>
                      <a:prstDash val="solid"/>
                    </a:lnT>
                    <a:lnB w="9525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3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Mistral-Nemo-</a:t>
                      </a:r>
                      <a:r>
                        <a:rPr sz="1000" spc="-2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12B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0.833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0.000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000" spc="-6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Qwen2.5-</a:t>
                      </a:r>
                      <a:r>
                        <a:rPr sz="1000" spc="-5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Coder-</a:t>
                      </a:r>
                      <a:r>
                        <a:rPr sz="1000" spc="-2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7B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0.111</a:t>
                      </a:r>
                      <a:endParaRPr sz="1000" dirty="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0.000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000" spc="-5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Qwen2.5-</a:t>
                      </a:r>
                      <a:r>
                        <a:rPr sz="1000" spc="-2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3B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0.278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0.056</a:t>
                      </a:r>
                      <a:endParaRPr sz="1000" dirty="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47294" y="1785465"/>
            <a:ext cx="45377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Unconstrained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 MT"/>
                <a:cs typeface="Arial MT"/>
              </a:rPr>
              <a:t>similarity </a:t>
            </a:r>
            <a:r>
              <a:rPr sz="1100" spc="-65" dirty="0">
                <a:solidFill>
                  <a:srgbClr val="22373A"/>
                </a:solidFill>
                <a:latin typeface="Arial MT"/>
                <a:cs typeface="Arial MT"/>
              </a:rPr>
              <a:t>lands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in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right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Arial MT"/>
                <a:cs typeface="Arial MT"/>
              </a:rPr>
              <a:t>neighbourhood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(T1205,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T1049)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 MT"/>
                <a:cs typeface="Arial MT"/>
              </a:rPr>
              <a:t>but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essentially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22373A"/>
                </a:solidFill>
                <a:latin typeface="Arial MT"/>
                <a:cs typeface="Arial MT"/>
              </a:rPr>
              <a:t>never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on</a:t>
            </a:r>
            <a:r>
              <a:rPr sz="1100" spc="-4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the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right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identifier.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9994" y="2484640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7594">
            <a:solidFill>
              <a:srgbClr val="2D7D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294" y="2611621"/>
            <a:ext cx="4909820" cy="37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The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ranking</a:t>
            </a:r>
            <a:r>
              <a:rPr sz="1000" spc="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Microsoft Sans Serif"/>
                <a:cs typeface="Microsoft Sans Serif"/>
              </a:rPr>
              <a:t>machinery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contributes</a:t>
            </a:r>
            <a:r>
              <a:rPr sz="1000" spc="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almost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nothing</a:t>
            </a:r>
            <a:r>
              <a:rPr sz="1000" spc="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without</a:t>
            </a:r>
            <a:r>
              <a:rPr sz="1000" spc="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the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constraint.</a:t>
            </a:r>
            <a:r>
              <a:rPr sz="1000" spc="9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The</a:t>
            </a:r>
            <a:r>
              <a:rPr sz="1000" spc="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Microsoft Sans Serif"/>
                <a:cs typeface="Microsoft Sans Serif"/>
              </a:rPr>
              <a:t>constraint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is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the</a:t>
            </a:r>
            <a:r>
              <a:rPr sz="10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mechanism.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8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Transfer</a:t>
            </a:r>
            <a:r>
              <a:rPr spc="1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spc="-10" dirty="0"/>
              <a:t>host</a:t>
            </a:r>
            <a:r>
              <a:rPr spc="25" dirty="0"/>
              <a:t> </a:t>
            </a:r>
            <a:r>
              <a:rPr dirty="0"/>
              <a:t>audit</a:t>
            </a:r>
            <a:r>
              <a:rPr spc="25" dirty="0"/>
              <a:t> </a:t>
            </a:r>
            <a:r>
              <a:rPr spc="-50" dirty="0"/>
              <a:t>logs</a:t>
            </a:r>
            <a:r>
              <a:rPr spc="20" dirty="0"/>
              <a:t> </a:t>
            </a:r>
            <a:r>
              <a:rPr spc="-10" dirty="0"/>
              <a:t>(DARPA)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3240405" cy="5080"/>
            </a:xfrm>
            <a:custGeom>
              <a:avLst/>
              <a:gdLst/>
              <a:ahLst/>
              <a:cxnLst/>
              <a:rect l="l" t="t" r="r" b="b"/>
              <a:pathLst>
                <a:path w="3240405" h="5079">
                  <a:moveTo>
                    <a:pt x="0" y="5060"/>
                  </a:moveTo>
                  <a:lnTo>
                    <a:pt x="0" y="0"/>
                  </a:lnTo>
                  <a:lnTo>
                    <a:pt x="3240041" y="0"/>
                  </a:lnTo>
                  <a:lnTo>
                    <a:pt x="32400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359994" y="990485"/>
            <a:ext cx="2415540" cy="0"/>
          </a:xfrm>
          <a:custGeom>
            <a:avLst/>
            <a:gdLst/>
            <a:ahLst/>
            <a:cxnLst/>
            <a:rect l="l" t="t" r="r" b="b"/>
            <a:pathLst>
              <a:path w="2415540">
                <a:moveTo>
                  <a:pt x="0" y="0"/>
                </a:moveTo>
                <a:lnTo>
                  <a:pt x="2415108" y="0"/>
                </a:lnTo>
              </a:path>
            </a:pathLst>
          </a:custGeom>
          <a:ln w="11087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3214" y="1019053"/>
            <a:ext cx="3549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22373A"/>
                </a:solidFill>
                <a:latin typeface="Microsoft Sans Serif"/>
                <a:cs typeface="Microsoft Sans Serif"/>
              </a:rPr>
              <a:t>Model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6967" y="1019053"/>
            <a:ext cx="7112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solidFill>
                  <a:srgbClr val="22373A"/>
                </a:solidFill>
                <a:latin typeface="Microsoft Sans Serif"/>
                <a:cs typeface="Microsoft Sans Serif"/>
              </a:rPr>
              <a:t>Grounded</a:t>
            </a:r>
            <a:r>
              <a:rPr sz="1000" spc="2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F1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4411" y="1019053"/>
            <a:ext cx="45783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22373A"/>
                </a:solidFill>
                <a:latin typeface="Microsoft Sans Serif"/>
                <a:cs typeface="Microsoft Sans Serif"/>
              </a:rPr>
              <a:t>Baseline</a:t>
            </a:r>
            <a:endParaRPr sz="1000">
              <a:latin typeface="Microsoft Sans Serif"/>
              <a:cs typeface="Microsoft Sans Serif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551505"/>
              </p:ext>
            </p:extLst>
          </p:nvPr>
        </p:nvGraphicFramePr>
        <p:xfrm>
          <a:off x="359994" y="1238757"/>
          <a:ext cx="2415539" cy="596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3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Mistral-</a:t>
                      </a:r>
                      <a:r>
                        <a:rPr sz="1000" spc="-2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Nemo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0.635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0.209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T w="9525">
                      <a:solidFill>
                        <a:srgbClr val="22373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00" spc="-6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Qwen-</a:t>
                      </a:r>
                      <a:r>
                        <a:rPr sz="1000" spc="-5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Coder-</a:t>
                      </a:r>
                      <a:r>
                        <a:rPr sz="1000" spc="-2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7B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0.710</a:t>
                      </a:r>
                      <a:endParaRPr sz="1000" dirty="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0.272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000" spc="-5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Qwen-</a:t>
                      </a:r>
                      <a:r>
                        <a:rPr sz="1000" spc="-25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3B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0.685</a:t>
                      </a:r>
                      <a:endParaRPr sz="100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 algn="ctr">
                        <a:lnSpc>
                          <a:spcPts val="1175"/>
                        </a:lnSpc>
                      </a:pPr>
                      <a:r>
                        <a:rPr sz="1000" spc="-10" dirty="0">
                          <a:solidFill>
                            <a:schemeClr val="tx1"/>
                          </a:solidFill>
                          <a:latin typeface="Microsoft Sans Serif"/>
                          <a:cs typeface="Microsoft Sans Serif"/>
                        </a:rPr>
                        <a:t>0.254</a:t>
                      </a:r>
                      <a:endParaRPr sz="1000" dirty="0">
                        <a:solidFill>
                          <a:schemeClr val="tx1"/>
                        </a:solidFill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B w="12700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314255" y="1012995"/>
            <a:ext cx="1885314" cy="678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45" dirty="0">
                <a:solidFill>
                  <a:schemeClr val="tx1"/>
                </a:solidFill>
                <a:latin typeface="Microsoft Sans Serif"/>
                <a:cs typeface="Microsoft Sans Serif"/>
              </a:rPr>
              <a:t>•</a:t>
            </a:r>
            <a:r>
              <a:rPr sz="1000" spc="20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+0.43</a:t>
            </a:r>
            <a:r>
              <a:rPr sz="1000" spc="2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F1</a:t>
            </a:r>
            <a:r>
              <a:rPr sz="1000" spc="2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for</a:t>
            </a:r>
            <a:r>
              <a:rPr sz="1000" spc="2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chemeClr val="tx1"/>
                </a:solidFill>
                <a:latin typeface="Microsoft Sans Serif"/>
                <a:cs typeface="Microsoft Sans Serif"/>
              </a:rPr>
              <a:t>every</a:t>
            </a:r>
            <a:r>
              <a:rPr sz="1000" spc="2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model</a:t>
            </a:r>
            <a:endParaRPr sz="1000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143510" indent="-130810">
              <a:lnSpc>
                <a:spcPct val="100000"/>
              </a:lnSpc>
              <a:spcBef>
                <a:spcPts val="770"/>
              </a:spcBef>
              <a:buChar char="•"/>
              <a:tabLst>
                <a:tab pos="143510" algn="l"/>
              </a:tabLst>
            </a:pPr>
            <a:r>
              <a:rPr sz="1000" spc="-45" dirty="0">
                <a:solidFill>
                  <a:schemeClr val="tx1"/>
                </a:solidFill>
                <a:latin typeface="Microsoft Sans Serif"/>
                <a:cs typeface="Microsoft Sans Serif"/>
              </a:rPr>
              <a:t>Confidence</a:t>
            </a:r>
            <a:r>
              <a:rPr sz="1000" spc="2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intervals</a:t>
            </a:r>
            <a:r>
              <a:rPr sz="1000" spc="2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disjoint</a:t>
            </a:r>
            <a:endParaRPr sz="1000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143510" indent="-130810">
              <a:lnSpc>
                <a:spcPct val="100000"/>
              </a:lnSpc>
              <a:spcBef>
                <a:spcPts val="775"/>
              </a:spcBef>
              <a:buChar char="•"/>
              <a:tabLst>
                <a:tab pos="143510" algn="l"/>
              </a:tabLst>
            </a:pPr>
            <a:r>
              <a:rPr sz="1000" spc="-40" dirty="0">
                <a:solidFill>
                  <a:schemeClr val="tx1"/>
                </a:solidFill>
                <a:latin typeface="Microsoft Sans Serif"/>
                <a:cs typeface="Microsoft Sans Serif"/>
              </a:rPr>
              <a:t>Precision</a:t>
            </a:r>
            <a:r>
              <a:rPr sz="1000" spc="2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0.96–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1.00,</a:t>
            </a:r>
            <a:r>
              <a:rPr sz="1000" spc="2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chemeClr val="tx1"/>
                </a:solidFill>
                <a:latin typeface="Microsoft Sans Serif"/>
                <a:cs typeface="Microsoft Sans Serif"/>
              </a:rPr>
              <a:t>recall</a:t>
            </a:r>
            <a:r>
              <a:rPr sz="1000" spc="2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i="1" spc="220" dirty="0">
                <a:solidFill>
                  <a:schemeClr val="tx1"/>
                </a:solidFill>
                <a:latin typeface="Arial"/>
                <a:cs typeface="Arial"/>
              </a:rPr>
              <a:t>≈</a:t>
            </a:r>
            <a:r>
              <a:rPr sz="1000" i="1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0.5</a:t>
            </a:r>
            <a:endParaRPr sz="1000" dirty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9994" y="1982546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7594">
            <a:solidFill>
              <a:srgbClr val="2D7D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7294" y="2109527"/>
            <a:ext cx="4693285" cy="37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The</a:t>
            </a:r>
            <a:r>
              <a:rPr sz="10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Microsoft Sans Serif"/>
                <a:cs typeface="Microsoft Sans Serif"/>
              </a:rPr>
              <a:t>improvement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22373A"/>
                </a:solidFill>
                <a:latin typeface="Microsoft Sans Serif"/>
                <a:cs typeface="Microsoft Sans Serif"/>
              </a:rPr>
              <a:t>does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not </a:t>
            </a:r>
            <a:r>
              <a:rPr sz="1000" spc="-50" dirty="0">
                <a:solidFill>
                  <a:srgbClr val="22373A"/>
                </a:solidFill>
                <a:latin typeface="Microsoft Sans Serif"/>
                <a:cs typeface="Microsoft Sans Serif"/>
              </a:rPr>
              <a:t>depend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on </a:t>
            </a:r>
            <a:r>
              <a:rPr sz="1000" spc="-30" dirty="0">
                <a:solidFill>
                  <a:srgbClr val="22373A"/>
                </a:solidFill>
                <a:latin typeface="Microsoft Sans Serif"/>
                <a:cs typeface="Microsoft Sans Serif"/>
              </a:rPr>
              <a:t>model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55" dirty="0">
                <a:solidFill>
                  <a:srgbClr val="22373A"/>
                </a:solidFill>
                <a:latin typeface="Microsoft Sans Serif"/>
                <a:cs typeface="Microsoft Sans Serif"/>
              </a:rPr>
              <a:t>scale,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Microsoft Sans Serif"/>
                <a:cs typeface="Microsoft Sans Serif"/>
              </a:rPr>
              <a:t>and</a:t>
            </a:r>
            <a:r>
              <a:rPr sz="10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the </a:t>
            </a:r>
            <a:r>
              <a:rPr sz="1000" spc="-30" dirty="0">
                <a:solidFill>
                  <a:srgbClr val="22373A"/>
                </a:solidFill>
                <a:latin typeface="Microsoft Sans Serif"/>
                <a:cs typeface="Microsoft Sans Serif"/>
              </a:rPr>
              <a:t>model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ranking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 flips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between datasets.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9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Correctness</a:t>
            </a:r>
            <a:r>
              <a:rPr dirty="0"/>
              <a:t> and </a:t>
            </a:r>
            <a:r>
              <a:rPr spc="-35" dirty="0"/>
              <a:t>grounding</a:t>
            </a:r>
            <a:r>
              <a:rPr dirty="0"/>
              <a:t> can </a:t>
            </a:r>
            <a:r>
              <a:rPr spc="-20" dirty="0"/>
              <a:t>diverge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3600450" cy="5080"/>
            </a:xfrm>
            <a:custGeom>
              <a:avLst/>
              <a:gdLst/>
              <a:ahLst/>
              <a:cxnLst/>
              <a:rect l="l" t="t" r="r" b="b"/>
              <a:pathLst>
                <a:path w="3600450" h="5079">
                  <a:moveTo>
                    <a:pt x="0" y="5060"/>
                  </a:moveTo>
                  <a:lnTo>
                    <a:pt x="0" y="0"/>
                  </a:lnTo>
                  <a:lnTo>
                    <a:pt x="3600046" y="0"/>
                  </a:lnTo>
                  <a:lnTo>
                    <a:pt x="360004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616900"/>
            <a:ext cx="2111375" cy="10153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chemeClr val="tx1"/>
                </a:solidFill>
                <a:latin typeface="Arial MT"/>
                <a:cs typeface="Arial MT"/>
              </a:rPr>
              <a:t>coder</a:t>
            </a:r>
            <a:r>
              <a:rPr sz="11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chemeClr val="tx1"/>
                </a:solidFill>
                <a:latin typeface="Arial MT"/>
                <a:cs typeface="Arial MT"/>
              </a:rPr>
              <a:t>model</a:t>
            </a:r>
            <a:r>
              <a:rPr sz="11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chemeClr val="tx1"/>
                </a:solidFill>
                <a:latin typeface="Arial MT"/>
                <a:cs typeface="Arial MT"/>
              </a:rPr>
              <a:t>writes</a:t>
            </a:r>
            <a:r>
              <a:rPr sz="11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endParaRPr sz="11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18000"/>
              </a:lnSpc>
            </a:pPr>
            <a:r>
              <a:rPr sz="1100" spc="-55" dirty="0">
                <a:solidFill>
                  <a:schemeClr val="tx1"/>
                </a:solidFill>
                <a:latin typeface="Arial MT"/>
                <a:cs typeface="Arial MT"/>
              </a:rPr>
              <a:t>best-</a:t>
            </a:r>
            <a:r>
              <a:rPr sz="1100" spc="-60" dirty="0">
                <a:solidFill>
                  <a:schemeClr val="tx1"/>
                </a:solidFill>
                <a:latin typeface="Arial MT"/>
                <a:cs typeface="Arial MT"/>
              </a:rPr>
              <a:t>grounded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chemeClr val="tx1"/>
                </a:solidFill>
                <a:latin typeface="Arial MT"/>
                <a:cs typeface="Arial MT"/>
              </a:rPr>
              <a:t>reports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11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worst </a:t>
            </a:r>
            <a:r>
              <a:rPr sz="1100" spc="-40" dirty="0">
                <a:solidFill>
                  <a:schemeClr val="tx1"/>
                </a:solidFill>
                <a:latin typeface="Arial MT"/>
                <a:cs typeface="Arial MT"/>
              </a:rPr>
              <a:t>classifications:</a:t>
            </a:r>
            <a:r>
              <a:rPr sz="1100" spc="9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chemeClr val="tx1"/>
                </a:solidFill>
                <a:latin typeface="Arial MT"/>
                <a:cs typeface="Arial MT"/>
              </a:rPr>
              <a:t>internally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chemeClr val="tx1"/>
                </a:solidFill>
                <a:latin typeface="Arial MT"/>
                <a:cs typeface="Arial MT"/>
              </a:rPr>
              <a:t>consistent, </a:t>
            </a:r>
            <a:r>
              <a:rPr sz="1100" spc="-70" dirty="0">
                <a:solidFill>
                  <a:schemeClr val="tx1"/>
                </a:solidFill>
                <a:latin typeface="Arial MT"/>
                <a:cs typeface="Arial MT"/>
              </a:rPr>
              <a:t>well-</a:t>
            </a:r>
            <a:r>
              <a:rPr sz="1100" spc="-80" dirty="0">
                <a:solidFill>
                  <a:schemeClr val="tx1"/>
                </a:solidFill>
                <a:latin typeface="Arial MT"/>
                <a:cs typeface="Arial MT"/>
              </a:rPr>
              <a:t>evidenced</a:t>
            </a:r>
            <a:r>
              <a:rPr sz="1100" spc="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chemeClr val="tx1"/>
                </a:solidFill>
                <a:latin typeface="Arial MT"/>
                <a:cs typeface="Arial MT"/>
              </a:rPr>
              <a:t>reports</a:t>
            </a:r>
            <a:r>
              <a:rPr sz="1100" spc="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chemeClr val="tx1"/>
                </a:solidFill>
                <a:latin typeface="Arial MT"/>
                <a:cs typeface="Arial MT"/>
              </a:rPr>
              <a:t>about</a:t>
            </a:r>
            <a:r>
              <a:rPr sz="1100" spc="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chemeClr val="tx1"/>
                </a:solidFill>
                <a:latin typeface="Arial MT"/>
                <a:cs typeface="Arial MT"/>
              </a:rPr>
              <a:t>the </a:t>
            </a:r>
            <a:r>
              <a:rPr sz="1100" spc="-40" dirty="0">
                <a:solidFill>
                  <a:schemeClr val="tx1"/>
                </a:solidFill>
                <a:latin typeface="Arial MT"/>
                <a:cs typeface="Arial MT"/>
              </a:rPr>
              <a:t>wrong</a:t>
            </a:r>
            <a:r>
              <a:rPr sz="11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attack.</a:t>
            </a:r>
            <a:endParaRPr sz="11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7617" y="560988"/>
            <a:ext cx="2822432" cy="185474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59994" y="2556510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7594">
            <a:solidFill>
              <a:srgbClr val="2D7D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7294" y="2706260"/>
            <a:ext cx="50304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A</a:t>
            </a:r>
            <a:r>
              <a:rPr sz="1000" spc="-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22373A"/>
                </a:solidFill>
                <a:latin typeface="Microsoft Sans Serif"/>
                <a:cs typeface="Microsoft Sans Serif"/>
              </a:rPr>
              <a:t>system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22373A"/>
                </a:solidFill>
                <a:latin typeface="Microsoft Sans Serif"/>
                <a:cs typeface="Microsoft Sans Serif"/>
              </a:rPr>
              <a:t>reporting</a:t>
            </a:r>
            <a:r>
              <a:rPr sz="1000" spc="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only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22373A"/>
                </a:solidFill>
                <a:latin typeface="Microsoft Sans Serif"/>
                <a:cs typeface="Microsoft Sans Serif"/>
              </a:rPr>
              <a:t>grounding</a:t>
            </a:r>
            <a:r>
              <a:rPr sz="1000" spc="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would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rank</a:t>
            </a:r>
            <a:r>
              <a:rPr sz="1000" spc="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the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Microsoft Sans Serif"/>
                <a:cs typeface="Microsoft Sans Serif"/>
              </a:rPr>
              <a:t>worst</a:t>
            </a:r>
            <a:r>
              <a:rPr sz="1000" spc="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Microsoft Sans Serif"/>
                <a:cs typeface="Microsoft Sans Serif"/>
              </a:rPr>
              <a:t>model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first.</a:t>
            </a:r>
            <a:r>
              <a:rPr sz="1000" spc="9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22373A"/>
                </a:solidFill>
                <a:latin typeface="Microsoft Sans Serif"/>
                <a:cs typeface="Microsoft Sans Serif"/>
              </a:rPr>
              <a:t>Both</a:t>
            </a:r>
            <a:r>
              <a:rPr sz="1000" spc="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22373A"/>
                </a:solidFill>
                <a:latin typeface="Microsoft Sans Serif"/>
                <a:cs typeface="Microsoft Sans Serif"/>
              </a:rPr>
              <a:t>metrics</a:t>
            </a:r>
            <a:r>
              <a:rPr sz="1000" spc="5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rgbClr val="22373A"/>
                </a:solidFill>
                <a:latin typeface="Microsoft Sans Serif"/>
                <a:cs typeface="Microsoft Sans Serif"/>
              </a:rPr>
              <a:t>are</a:t>
            </a:r>
            <a:r>
              <a:rPr sz="1000" spc="10" dirty="0">
                <a:solidFill>
                  <a:srgbClr val="22373A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Microsoft Sans Serif"/>
                <a:cs typeface="Microsoft Sans Serif"/>
              </a:rPr>
              <a:t>needed.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10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Limitations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3960495" cy="5080"/>
            </a:xfrm>
            <a:custGeom>
              <a:avLst/>
              <a:gdLst/>
              <a:ahLst/>
              <a:cxnLst/>
              <a:rect l="l" t="t" r="r" b="b"/>
              <a:pathLst>
                <a:path w="3960495" h="5079">
                  <a:moveTo>
                    <a:pt x="0" y="5060"/>
                  </a:moveTo>
                  <a:lnTo>
                    <a:pt x="0" y="0"/>
                  </a:lnTo>
                  <a:lnTo>
                    <a:pt x="3960050" y="0"/>
                  </a:lnTo>
                  <a:lnTo>
                    <a:pt x="39600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347294" y="619389"/>
            <a:ext cx="5071211" cy="14755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The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alert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text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is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the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ceiling.</a:t>
            </a:r>
            <a:r>
              <a:rPr b="1" spc="100" dirty="0">
                <a:latin typeface="Arial"/>
                <a:cs typeface="Arial"/>
              </a:rPr>
              <a:t> </a:t>
            </a:r>
            <a:r>
              <a:rPr dirty="0"/>
              <a:t>A </a:t>
            </a:r>
            <a:r>
              <a:rPr spc="-60" dirty="0"/>
              <a:t>single</a:t>
            </a:r>
            <a:r>
              <a:rPr dirty="0"/>
              <a:t> </a:t>
            </a:r>
            <a:r>
              <a:rPr spc="-50" dirty="0"/>
              <a:t>SYN</a:t>
            </a:r>
            <a:r>
              <a:rPr dirty="0"/>
              <a:t> </a:t>
            </a:r>
            <a:r>
              <a:rPr spc="-45" dirty="0"/>
              <a:t>packet</a:t>
            </a:r>
            <a:r>
              <a:rPr dirty="0"/>
              <a:t> to</a:t>
            </a:r>
            <a:r>
              <a:rPr spc="5" dirty="0"/>
              <a:t> </a:t>
            </a:r>
            <a:r>
              <a:rPr dirty="0"/>
              <a:t>port </a:t>
            </a:r>
            <a:r>
              <a:rPr spc="-30" dirty="0"/>
              <a:t>21</a:t>
            </a:r>
            <a:r>
              <a:rPr dirty="0"/>
              <a:t> </a:t>
            </a:r>
            <a:r>
              <a:rPr spc="-50" dirty="0"/>
              <a:t>looks</a:t>
            </a:r>
            <a:r>
              <a:rPr dirty="0"/>
              <a:t> </a:t>
            </a:r>
            <a:r>
              <a:rPr spc="-35" dirty="0"/>
              <a:t>identical</a:t>
            </a:r>
            <a:r>
              <a:rPr dirty="0"/>
              <a:t> </a:t>
            </a:r>
            <a:r>
              <a:rPr spc="-10" dirty="0"/>
              <a:t>whether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is </a:t>
            </a:r>
            <a:r>
              <a:rPr spc="-75" dirty="0"/>
              <a:t>reconnaissance,</a:t>
            </a:r>
            <a:r>
              <a:rPr dirty="0"/>
              <a:t> </a:t>
            </a:r>
            <a:r>
              <a:rPr spc="-25" dirty="0"/>
              <a:t>brute</a:t>
            </a:r>
            <a:r>
              <a:rPr spc="-10" dirty="0"/>
              <a:t> </a:t>
            </a:r>
            <a:r>
              <a:rPr spc="-35" dirty="0"/>
              <a:t>force,</a:t>
            </a:r>
            <a:r>
              <a:rPr spc="-10" dirty="0"/>
              <a:t> </a:t>
            </a:r>
            <a:r>
              <a:rPr dirty="0"/>
              <a:t>or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botnet</a:t>
            </a:r>
            <a:r>
              <a:rPr spc="-10" dirty="0"/>
              <a:t> </a:t>
            </a:r>
            <a:r>
              <a:rPr spc="-55" dirty="0"/>
              <a:t>beacon;</a:t>
            </a:r>
            <a:r>
              <a:rPr spc="-1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-35" dirty="0"/>
              <a:t>template</a:t>
            </a:r>
            <a:r>
              <a:rPr spc="-10" dirty="0"/>
              <a:t> </a:t>
            </a:r>
            <a:r>
              <a:rPr spc="-55" dirty="0"/>
              <a:t>captures</a:t>
            </a:r>
            <a:r>
              <a:rPr spc="-10" dirty="0"/>
              <a:t> </a:t>
            </a:r>
            <a:r>
              <a:rPr spc="-20" dirty="0"/>
              <a:t>flow </a:t>
            </a:r>
            <a:r>
              <a:rPr spc="-25" dirty="0"/>
              <a:t>statistics,</a:t>
            </a:r>
            <a:r>
              <a:rPr dirty="0"/>
              <a:t> not </a:t>
            </a:r>
            <a:r>
              <a:rPr spc="-70" dirty="0"/>
              <a:t>payload</a:t>
            </a:r>
            <a:r>
              <a:rPr dirty="0"/>
              <a:t> or</a:t>
            </a:r>
            <a:r>
              <a:rPr spc="5" dirty="0"/>
              <a:t> </a:t>
            </a:r>
            <a:r>
              <a:rPr spc="-20" dirty="0"/>
              <a:t>multi-</a:t>
            </a:r>
            <a:r>
              <a:rPr spc="-10" dirty="0"/>
              <a:t>flow</a:t>
            </a:r>
            <a:r>
              <a:rPr dirty="0"/>
              <a:t> </a:t>
            </a:r>
            <a:r>
              <a:rPr spc="-10" dirty="0"/>
              <a:t>state.</a:t>
            </a:r>
          </a:p>
          <a:p>
            <a:pPr marL="12700" marR="55244">
              <a:lnSpc>
                <a:spcPct val="118000"/>
              </a:lnSpc>
              <a:spcBef>
                <a:spcPts val="1090"/>
              </a:spcBef>
            </a:pPr>
            <a:r>
              <a:rPr b="1" dirty="0">
                <a:latin typeface="Arial"/>
                <a:cs typeface="Arial"/>
              </a:rPr>
              <a:t>T</a:t>
            </a:r>
            <a:r>
              <a:rPr lang="en-GB" b="1" dirty="0" err="1">
                <a:latin typeface="Arial"/>
                <a:cs typeface="Arial"/>
              </a:rPr>
              <a:t>emplate</a:t>
            </a:r>
            <a:r>
              <a:rPr lang="en-GB" b="1" dirty="0">
                <a:latin typeface="Arial"/>
                <a:cs typeface="Arial"/>
              </a:rPr>
              <a:t> capturers flow statistics</a:t>
            </a:r>
            <a:r>
              <a:rPr b="1" spc="-10" dirty="0">
                <a:latin typeface="Arial"/>
                <a:cs typeface="Arial"/>
              </a:rPr>
              <a:t>.</a:t>
            </a:r>
            <a:r>
              <a:rPr b="1" spc="70" dirty="0">
                <a:latin typeface="Arial"/>
                <a:cs typeface="Arial"/>
              </a:rPr>
              <a:t> </a:t>
            </a:r>
            <a:r>
              <a:rPr lang="en-GB" dirty="0"/>
              <a:t> </a:t>
            </a:r>
            <a:r>
              <a:rPr lang="en-GB" spc="-70" dirty="0"/>
              <a:t>Not payload</a:t>
            </a:r>
            <a:r>
              <a:rPr lang="en-GB" spc="-5" dirty="0"/>
              <a:t> </a:t>
            </a:r>
            <a:r>
              <a:rPr lang="en-GB" dirty="0"/>
              <a:t>or</a:t>
            </a:r>
            <a:r>
              <a:rPr lang="en-GB" spc="-5" dirty="0"/>
              <a:t> </a:t>
            </a:r>
            <a:r>
              <a:rPr lang="en-GB" spc="-20" dirty="0"/>
              <a:t>multi-</a:t>
            </a:r>
            <a:r>
              <a:rPr lang="en-GB" spc="-10" dirty="0"/>
              <a:t>flow</a:t>
            </a:r>
            <a:r>
              <a:rPr lang="en-GB" spc="-5" dirty="0"/>
              <a:t> </a:t>
            </a:r>
            <a:r>
              <a:rPr lang="en-GB" spc="-20" dirty="0"/>
              <a:t>state,</a:t>
            </a:r>
            <a:r>
              <a:rPr lang="en-GB" dirty="0"/>
              <a:t> </a:t>
            </a:r>
            <a:r>
              <a:rPr lang="en-GB" spc="-90" dirty="0"/>
              <a:t>so</a:t>
            </a:r>
            <a:r>
              <a:rPr lang="en-GB" spc="15" dirty="0"/>
              <a:t> </a:t>
            </a:r>
            <a:r>
              <a:rPr lang="en-GB" spc="-10" dirty="0"/>
              <a:t>minority </a:t>
            </a:r>
            <a:r>
              <a:rPr lang="en-GB" spc="-105" dirty="0"/>
              <a:t>classes</a:t>
            </a:r>
            <a:r>
              <a:rPr lang="en-GB" spc="30" dirty="0"/>
              <a:t> </a:t>
            </a:r>
            <a:r>
              <a:rPr lang="en-GB" spc="-65" dirty="0"/>
              <a:t>are</a:t>
            </a:r>
            <a:r>
              <a:rPr lang="en-GB" dirty="0"/>
              <a:t> </a:t>
            </a:r>
            <a:r>
              <a:rPr lang="en-GB" spc="-90" dirty="0"/>
              <a:t>missed</a:t>
            </a:r>
            <a:r>
              <a:rPr lang="en-GB" spc="15" dirty="0"/>
              <a:t> </a:t>
            </a:r>
            <a:r>
              <a:rPr lang="en-GB" spc="-20" dirty="0"/>
              <a:t>by</a:t>
            </a:r>
            <a:r>
              <a:rPr lang="en-GB" spc="15" dirty="0"/>
              <a:t> </a:t>
            </a:r>
            <a:r>
              <a:rPr lang="en-GB" spc="-70" dirty="0"/>
              <a:t>every</a:t>
            </a:r>
            <a:r>
              <a:rPr lang="en-GB" spc="15" dirty="0"/>
              <a:t> </a:t>
            </a:r>
            <a:r>
              <a:rPr lang="en-GB" spc="-10" dirty="0"/>
              <a:t>model.</a:t>
            </a:r>
            <a:endParaRPr lang="en-GB" spc="-65" dirty="0"/>
          </a:p>
          <a:p>
            <a:pPr marL="12700" marR="55244">
              <a:lnSpc>
                <a:spcPct val="118000"/>
              </a:lnSpc>
              <a:spcBef>
                <a:spcPts val="1090"/>
              </a:spcBef>
            </a:pPr>
            <a:endParaRPr lang="en-GB" spc="-65" dirty="0"/>
          </a:p>
        </p:txBody>
      </p:sp>
      <p:sp>
        <p:nvSpPr>
          <p:cNvPr id="8" name="object 8"/>
          <p:cNvSpPr/>
          <p:nvPr/>
        </p:nvSpPr>
        <p:spPr>
          <a:xfrm>
            <a:off x="359994" y="2446096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7594">
            <a:solidFill>
              <a:srgbClr val="2D7D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11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Contributions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4320540" cy="5080"/>
            </a:xfrm>
            <a:custGeom>
              <a:avLst/>
              <a:gdLst/>
              <a:ahLst/>
              <a:cxnLst/>
              <a:rect l="l" t="t" r="r" b="b"/>
              <a:pathLst>
                <a:path w="4320540" h="5079">
                  <a:moveTo>
                    <a:pt x="0" y="5060"/>
                  </a:moveTo>
                  <a:lnTo>
                    <a:pt x="0" y="0"/>
                  </a:lnTo>
                  <a:lnTo>
                    <a:pt x="4320055" y="0"/>
                  </a:lnTo>
                  <a:lnTo>
                    <a:pt x="4320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852853"/>
            <a:ext cx="5064125" cy="1687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Architectural.</a:t>
            </a:r>
            <a:r>
              <a:rPr sz="1100" b="1" spc="9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22373A"/>
                </a:solidFill>
                <a:latin typeface="Arial MT"/>
                <a:cs typeface="Arial MT"/>
              </a:rPr>
              <a:t>Anchoring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Arial MT"/>
                <a:cs typeface="Arial MT"/>
              </a:rPr>
              <a:t>retrieval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in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22373A"/>
                </a:solidFill>
                <a:latin typeface="Arial MT"/>
                <a:cs typeface="Arial MT"/>
              </a:rPr>
              <a:t>extracted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Arial MT"/>
                <a:cs typeface="Arial MT"/>
              </a:rPr>
              <a:t>behaviour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turns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22373A"/>
                </a:solidFill>
                <a:latin typeface="Arial MT"/>
                <a:cs typeface="Arial MT"/>
              </a:rPr>
              <a:t>an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22373A"/>
                </a:solidFill>
                <a:latin typeface="Arial MT"/>
                <a:cs typeface="Arial MT"/>
              </a:rPr>
              <a:t>open-</a:t>
            </a:r>
            <a:r>
              <a:rPr sz="1100" spc="-60" dirty="0">
                <a:solidFill>
                  <a:srgbClr val="22373A"/>
                </a:solidFill>
                <a:latin typeface="Arial MT"/>
                <a:cs typeface="Arial MT"/>
              </a:rPr>
              <a:t>domain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Arial MT"/>
                <a:cs typeface="Arial MT"/>
              </a:rPr>
              <a:t>search </a:t>
            </a:r>
            <a:r>
              <a:rPr sz="1100" spc="-50" dirty="0">
                <a:solidFill>
                  <a:srgbClr val="22373A"/>
                </a:solidFill>
                <a:latin typeface="Arial MT"/>
                <a:cs typeface="Arial MT"/>
              </a:rPr>
              <a:t>over</a:t>
            </a:r>
            <a:r>
              <a:rPr sz="1100" spc="-2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691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22373A"/>
                </a:solidFill>
                <a:latin typeface="Arial MT"/>
                <a:cs typeface="Arial MT"/>
              </a:rPr>
              <a:t>techniques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into</a:t>
            </a:r>
            <a:r>
              <a:rPr sz="1100" spc="-3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a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80" dirty="0">
                <a:solidFill>
                  <a:srgbClr val="22373A"/>
                </a:solidFill>
                <a:latin typeface="Arial MT"/>
                <a:cs typeface="Arial MT"/>
              </a:rPr>
              <a:t>closed-</a:t>
            </a:r>
            <a:r>
              <a:rPr sz="1100" spc="-45" dirty="0">
                <a:solidFill>
                  <a:srgbClr val="22373A"/>
                </a:solidFill>
                <a:latin typeface="Arial MT"/>
                <a:cs typeface="Arial MT"/>
              </a:rPr>
              <a:t>set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Arial MT"/>
                <a:cs typeface="Arial MT"/>
              </a:rPr>
              <a:t>choice;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the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5" dirty="0">
                <a:solidFill>
                  <a:srgbClr val="22373A"/>
                </a:solidFill>
                <a:latin typeface="Arial MT"/>
                <a:cs typeface="Arial MT"/>
              </a:rPr>
              <a:t>same</a:t>
            </a:r>
            <a:r>
              <a:rPr sz="1100" spc="3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Arial MT"/>
                <a:cs typeface="Arial MT"/>
              </a:rPr>
              <a:t>ranking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without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the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 constraint </a:t>
            </a:r>
            <a:r>
              <a:rPr sz="1100" spc="-95" dirty="0">
                <a:solidFill>
                  <a:srgbClr val="22373A"/>
                </a:solidFill>
                <a:latin typeface="Arial MT"/>
                <a:cs typeface="Arial MT"/>
              </a:rPr>
              <a:t>scores</a:t>
            </a:r>
            <a:r>
              <a:rPr sz="1100" spc="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22373A"/>
                </a:solidFill>
                <a:latin typeface="Arial MT"/>
                <a:cs typeface="Arial MT"/>
              </a:rPr>
              <a:t>near</a:t>
            </a:r>
            <a:r>
              <a:rPr sz="1100" spc="2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zero.</a:t>
            </a:r>
            <a:endParaRPr sz="1100">
              <a:latin typeface="Arial MT"/>
              <a:cs typeface="Arial MT"/>
            </a:endParaRPr>
          </a:p>
          <a:p>
            <a:pPr marL="12700" marR="460375">
              <a:lnSpc>
                <a:spcPct val="118000"/>
              </a:lnSpc>
              <a:spcBef>
                <a:spcPts val="1090"/>
              </a:spcBef>
            </a:pP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Empirical.</a:t>
            </a:r>
            <a:r>
              <a:rPr sz="11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22373A"/>
                </a:solidFill>
                <a:latin typeface="Arial MT"/>
                <a:cs typeface="Arial MT"/>
              </a:rPr>
              <a:t>Three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models,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two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Arial MT"/>
                <a:cs typeface="Arial MT"/>
              </a:rPr>
              <a:t>datasets,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22373A"/>
                </a:solidFill>
                <a:latin typeface="Arial MT"/>
                <a:cs typeface="Arial MT"/>
              </a:rPr>
              <a:t>one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22373A"/>
                </a:solidFill>
                <a:latin typeface="Arial MT"/>
                <a:cs typeface="Arial MT"/>
              </a:rPr>
              <a:t>consumer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laptop;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model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Arial MT"/>
                <a:cs typeface="Arial MT"/>
              </a:rPr>
              <a:t>ranking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 MT"/>
                <a:cs typeface="Arial MT"/>
              </a:rPr>
              <a:t>is </a:t>
            </a:r>
            <a:r>
              <a:rPr sz="1100" spc="-60" dirty="0">
                <a:solidFill>
                  <a:srgbClr val="22373A"/>
                </a:solidFill>
                <a:latin typeface="Arial MT"/>
                <a:cs typeface="Arial MT"/>
              </a:rPr>
              <a:t>dataset-</a:t>
            </a:r>
            <a:r>
              <a:rPr sz="1100" spc="-50" dirty="0">
                <a:solidFill>
                  <a:srgbClr val="22373A"/>
                </a:solidFill>
                <a:latin typeface="Arial MT"/>
                <a:cs typeface="Arial MT"/>
              </a:rPr>
              <a:t>dependent,</a:t>
            </a:r>
            <a:r>
              <a:rPr sz="1100" spc="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and</a:t>
            </a:r>
            <a:r>
              <a:rPr sz="1100" spc="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a</a:t>
            </a:r>
            <a:r>
              <a:rPr sz="1100" spc="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3B</a:t>
            </a:r>
            <a:r>
              <a:rPr sz="1100" spc="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model</a:t>
            </a:r>
            <a:r>
              <a:rPr sz="1100" spc="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22373A"/>
                </a:solidFill>
                <a:latin typeface="Arial MT"/>
                <a:cs typeface="Arial MT"/>
              </a:rPr>
              <a:t>remains</a:t>
            </a:r>
            <a:r>
              <a:rPr sz="1100" spc="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viable.</a:t>
            </a:r>
            <a:endParaRPr sz="1100">
              <a:latin typeface="Arial MT"/>
              <a:cs typeface="Arial MT"/>
            </a:endParaRPr>
          </a:p>
          <a:p>
            <a:pPr marL="12700" marR="255270">
              <a:lnSpc>
                <a:spcPct val="118000"/>
              </a:lnSpc>
              <a:spcBef>
                <a:spcPts val="1085"/>
              </a:spcBef>
            </a:pP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Evaluative.</a:t>
            </a:r>
            <a:r>
              <a:rPr sz="1100" b="1" spc="9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A </a:t>
            </a:r>
            <a:r>
              <a:rPr sz="1100" spc="-45" dirty="0">
                <a:solidFill>
                  <a:srgbClr val="22373A"/>
                </a:solidFill>
                <a:latin typeface="Arial MT"/>
                <a:cs typeface="Arial MT"/>
              </a:rPr>
              <a:t>dual-</a:t>
            </a:r>
            <a:r>
              <a:rPr sz="1100" spc="-25" dirty="0">
                <a:solidFill>
                  <a:srgbClr val="22373A"/>
                </a:solidFill>
                <a:latin typeface="Arial MT"/>
                <a:cs typeface="Arial MT"/>
              </a:rPr>
              <a:t>metric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22373A"/>
                </a:solidFill>
                <a:latin typeface="Arial MT"/>
                <a:cs typeface="Arial MT"/>
              </a:rPr>
              <a:t>framework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22373A"/>
                </a:solidFill>
                <a:latin typeface="Arial MT"/>
                <a:cs typeface="Arial MT"/>
              </a:rPr>
              <a:t>separating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22373A"/>
                </a:solidFill>
                <a:latin typeface="Arial MT"/>
                <a:cs typeface="Arial MT"/>
              </a:rPr>
              <a:t>correctness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 from</a:t>
            </a:r>
            <a:r>
              <a:rPr sz="1100" spc="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22373A"/>
                </a:solidFill>
                <a:latin typeface="Arial MT"/>
                <a:cs typeface="Arial MT"/>
              </a:rPr>
              <a:t>grounding,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using 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only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Arial MT"/>
                <a:cs typeface="Arial MT"/>
              </a:rPr>
              <a:t>ground-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truth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22373A"/>
                </a:solidFill>
                <a:latin typeface="Arial MT"/>
                <a:cs typeface="Arial MT"/>
              </a:rPr>
              <a:t>labels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and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22373A"/>
                </a:solidFill>
                <a:latin typeface="Arial MT"/>
                <a:cs typeface="Arial MT"/>
              </a:rPr>
              <a:t>retrieved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context.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12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Conclusions</a:t>
            </a:r>
            <a:r>
              <a:rPr spc="1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dirty="0"/>
              <a:t>future</a:t>
            </a:r>
            <a:r>
              <a:rPr spc="15" dirty="0"/>
              <a:t> </a:t>
            </a:r>
            <a:r>
              <a:rPr spc="-20" dirty="0"/>
              <a:t>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4680585" cy="5080"/>
            </a:xfrm>
            <a:custGeom>
              <a:avLst/>
              <a:gdLst/>
              <a:ahLst/>
              <a:cxnLst/>
              <a:rect l="l" t="t" r="r" b="b"/>
              <a:pathLst>
                <a:path w="4680585" h="5079">
                  <a:moveTo>
                    <a:pt x="0" y="5060"/>
                  </a:moveTo>
                  <a:lnTo>
                    <a:pt x="0" y="0"/>
                  </a:lnTo>
                  <a:lnTo>
                    <a:pt x="4680059" y="0"/>
                  </a:lnTo>
                  <a:lnTo>
                    <a:pt x="46800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909863"/>
            <a:ext cx="5044440" cy="151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4790">
              <a:lnSpc>
                <a:spcPct val="118000"/>
              </a:lnSpc>
              <a:spcBef>
                <a:spcPts val="100"/>
              </a:spcBef>
            </a:pPr>
            <a:r>
              <a:rPr sz="1100" spc="-65" dirty="0">
                <a:solidFill>
                  <a:schemeClr val="tx1"/>
                </a:solidFill>
                <a:latin typeface="Arial MT"/>
                <a:cs typeface="Arial MT"/>
              </a:rPr>
              <a:t>Behaviour-</a:t>
            </a:r>
            <a:r>
              <a:rPr sz="1100" spc="-70" dirty="0">
                <a:solidFill>
                  <a:schemeClr val="tx1"/>
                </a:solidFill>
                <a:latin typeface="Arial MT"/>
                <a:cs typeface="Arial MT"/>
              </a:rPr>
              <a:t>anchored</a:t>
            </a:r>
            <a:r>
              <a:rPr sz="1100" spc="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chemeClr val="tx1"/>
                </a:solidFill>
                <a:latin typeface="Arial MT"/>
                <a:cs typeface="Arial MT"/>
              </a:rPr>
              <a:t>retrieval</a:t>
            </a:r>
            <a:r>
              <a:rPr sz="1100" spc="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chemeClr val="tx1"/>
                </a:solidFill>
                <a:latin typeface="Arial MT"/>
                <a:cs typeface="Arial MT"/>
              </a:rPr>
              <a:t>improved</a:t>
            </a:r>
            <a:r>
              <a:rPr sz="1100" spc="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chemeClr val="tx1"/>
                </a:solidFill>
                <a:latin typeface="Arial MT"/>
                <a:cs typeface="Arial MT"/>
              </a:rPr>
              <a:t>classification</a:t>
            </a:r>
            <a:r>
              <a:rPr sz="1100" spc="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in</a:t>
            </a:r>
            <a:r>
              <a:rPr sz="1100" spc="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chemeClr val="tx1"/>
                </a:solidFill>
                <a:latin typeface="Arial MT"/>
                <a:cs typeface="Arial MT"/>
              </a:rPr>
              <a:t>every</a:t>
            </a:r>
            <a:r>
              <a:rPr sz="1100" spc="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chemeClr val="tx1"/>
                </a:solidFill>
                <a:latin typeface="Arial MT"/>
                <a:cs typeface="Arial MT"/>
              </a:rPr>
              <a:t>tested</a:t>
            </a:r>
            <a:r>
              <a:rPr sz="1100" spc="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chemeClr val="tx1"/>
                </a:solidFill>
                <a:latin typeface="Arial MT"/>
                <a:cs typeface="Arial MT"/>
              </a:rPr>
              <a:t>condition;</a:t>
            </a:r>
            <a:r>
              <a:rPr sz="1100" spc="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every </a:t>
            </a:r>
            <a:r>
              <a:rPr sz="1100" spc="-50" dirty="0">
                <a:solidFill>
                  <a:schemeClr val="tx1"/>
                </a:solidFill>
                <a:latin typeface="Arial MT"/>
                <a:cs typeface="Arial MT"/>
              </a:rPr>
              <a:t>remaining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chemeClr val="tx1"/>
                </a:solidFill>
                <a:latin typeface="Arial MT"/>
                <a:cs typeface="Arial MT"/>
              </a:rPr>
              <a:t>error</a:t>
            </a:r>
            <a:r>
              <a:rPr sz="11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chemeClr val="tx1"/>
                </a:solidFill>
                <a:latin typeface="Arial MT"/>
                <a:cs typeface="Arial MT"/>
              </a:rPr>
              <a:t>traces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 to</a:t>
            </a:r>
            <a:r>
              <a:rPr sz="11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chemeClr val="tx1"/>
                </a:solidFill>
                <a:latin typeface="Arial MT"/>
                <a:cs typeface="Arial MT"/>
              </a:rPr>
              <a:t>extraction,</a:t>
            </a:r>
            <a:r>
              <a:rPr sz="1100" dirty="0">
                <a:solidFill>
                  <a:schemeClr val="tx1"/>
                </a:solidFill>
                <a:latin typeface="Arial MT"/>
                <a:cs typeface="Arial MT"/>
              </a:rPr>
              <a:t> not</a:t>
            </a:r>
            <a:r>
              <a:rPr sz="1100" spc="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chemeClr val="tx1"/>
                </a:solidFill>
                <a:latin typeface="Arial MT"/>
                <a:cs typeface="Arial MT"/>
              </a:rPr>
              <a:t>retrieval.</a:t>
            </a:r>
            <a:endParaRPr sz="1100" dirty="0">
              <a:solidFill>
                <a:schemeClr val="tx1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1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287655" marR="791210" indent="-130810">
              <a:lnSpc>
                <a:spcPct val="114599"/>
              </a:lnSpc>
              <a:buChar char="•"/>
              <a:tabLst>
                <a:tab pos="289560" algn="l"/>
              </a:tabLst>
            </a:pPr>
            <a:r>
              <a:rPr sz="1000" spc="-35" dirty="0">
                <a:solidFill>
                  <a:schemeClr val="tx1"/>
                </a:solidFill>
                <a:latin typeface="Microsoft Sans Serif"/>
                <a:cs typeface="Microsoft Sans Serif"/>
              </a:rPr>
              <a:t>Richer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alert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chemeClr val="tx1"/>
                </a:solidFill>
                <a:latin typeface="Microsoft Sans Serif"/>
                <a:cs typeface="Microsoft Sans Serif"/>
              </a:rPr>
              <a:t>representation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204" dirty="0">
                <a:solidFill>
                  <a:schemeClr val="tx1"/>
                </a:solidFill>
                <a:latin typeface="Microsoft Sans Serif"/>
                <a:cs typeface="Microsoft Sans Serif"/>
              </a:rPr>
              <a:t>–</a:t>
            </a:r>
            <a:r>
              <a:rPr sz="1000" spc="1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chemeClr val="tx1"/>
                </a:solidFill>
                <a:latin typeface="Microsoft Sans Serif"/>
                <a:cs typeface="Microsoft Sans Serif"/>
              </a:rPr>
              <a:t>payload,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temporal,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chemeClr val="tx1"/>
                </a:solidFill>
                <a:latin typeface="Microsoft Sans Serif"/>
                <a:cs typeface="Microsoft Sans Serif"/>
              </a:rPr>
              <a:t>cross-</a:t>
            </a:r>
            <a:r>
              <a:rPr sz="1000" spc="-30" dirty="0">
                <a:solidFill>
                  <a:schemeClr val="tx1"/>
                </a:solidFill>
                <a:latin typeface="Microsoft Sans Serif"/>
                <a:cs typeface="Microsoft Sans Serif"/>
              </a:rPr>
              <a:t>host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context</a:t>
            </a:r>
            <a:r>
              <a:rPr sz="1000" spc="1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204" dirty="0">
                <a:solidFill>
                  <a:schemeClr val="tx1"/>
                </a:solidFill>
                <a:latin typeface="Microsoft Sans Serif"/>
                <a:cs typeface="Microsoft Sans Serif"/>
              </a:rPr>
              <a:t>–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is</a:t>
            </a:r>
            <a:r>
              <a:rPr sz="1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the 	</a:t>
            </a:r>
            <a:r>
              <a:rPr sz="1000" spc="-50" dirty="0">
                <a:solidFill>
                  <a:schemeClr val="tx1"/>
                </a:solidFill>
                <a:latin typeface="Microsoft Sans Serif"/>
                <a:cs typeface="Microsoft Sans Serif"/>
              </a:rPr>
              <a:t>highest-</a:t>
            </a:r>
            <a:r>
              <a:rPr sz="1000" spc="-40" dirty="0">
                <a:solidFill>
                  <a:schemeClr val="tx1"/>
                </a:solidFill>
                <a:latin typeface="Microsoft Sans Serif"/>
                <a:cs typeface="Microsoft Sans Serif"/>
              </a:rPr>
              <a:t>leverage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next </a:t>
            </a:r>
            <a:r>
              <a:rPr sz="10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step</a:t>
            </a:r>
            <a:endParaRPr sz="1000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287655" indent="-130810">
              <a:lnSpc>
                <a:spcPct val="100000"/>
              </a:lnSpc>
              <a:spcBef>
                <a:spcPts val="770"/>
              </a:spcBef>
              <a:buChar char="•"/>
              <a:tabLst>
                <a:tab pos="287655" algn="l"/>
              </a:tabLst>
            </a:pP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A </a:t>
            </a:r>
            <a:r>
              <a:rPr sz="1000" spc="-35" dirty="0">
                <a:solidFill>
                  <a:schemeClr val="tx1"/>
                </a:solidFill>
                <a:latin typeface="Microsoft Sans Serif"/>
                <a:cs typeface="Microsoft Sans Serif"/>
              </a:rPr>
              <a:t>bridge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chemeClr val="tx1"/>
                </a:solidFill>
                <a:latin typeface="Microsoft Sans Serif"/>
                <a:cs typeface="Microsoft Sans Serif"/>
              </a:rPr>
              <a:t>curated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blind to the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chemeClr val="tx1"/>
                </a:solidFill>
                <a:latin typeface="Microsoft Sans Serif"/>
                <a:cs typeface="Microsoft Sans Serif"/>
              </a:rPr>
              <a:t>evaluation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data 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would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settle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the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circularity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chemeClr val="tx1"/>
                </a:solidFill>
                <a:latin typeface="Microsoft Sans Serif"/>
                <a:cs typeface="Microsoft Sans Serif"/>
              </a:rPr>
              <a:t>question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directly</a:t>
            </a:r>
            <a:endParaRPr sz="1000" dirty="0">
              <a:solidFill>
                <a:schemeClr val="tx1"/>
              </a:solidFill>
              <a:latin typeface="Microsoft Sans Serif"/>
              <a:cs typeface="Microsoft Sans Serif"/>
            </a:endParaRPr>
          </a:p>
          <a:p>
            <a:pPr marL="287655" indent="-130810">
              <a:lnSpc>
                <a:spcPct val="100000"/>
              </a:lnSpc>
              <a:spcBef>
                <a:spcPts val="775"/>
              </a:spcBef>
              <a:buChar char="•"/>
              <a:tabLst>
                <a:tab pos="287655" algn="l"/>
              </a:tabLst>
            </a:pP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Iterative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retrieval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and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expert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chemeClr val="tx1"/>
                </a:solidFill>
                <a:latin typeface="Microsoft Sans Serif"/>
                <a:cs typeface="Microsoft Sans Serif"/>
              </a:rPr>
              <a:t>evaluation</a:t>
            </a:r>
            <a:r>
              <a:rPr sz="1000" dirty="0">
                <a:solidFill>
                  <a:schemeClr val="tx1"/>
                </a:solidFill>
                <a:latin typeface="Microsoft Sans Serif"/>
                <a:cs typeface="Microsoft Sans Serif"/>
              </a:rPr>
              <a:t> of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report</a:t>
            </a:r>
            <a:r>
              <a:rPr sz="1000" spc="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quality</a:t>
            </a:r>
            <a:endParaRPr sz="1000" dirty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13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References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5040630" cy="5080"/>
            </a:xfrm>
            <a:custGeom>
              <a:avLst/>
              <a:gdLst/>
              <a:ahLst/>
              <a:cxnLst/>
              <a:rect l="l" t="t" r="r" b="b"/>
              <a:pathLst>
                <a:path w="5040630" h="5079">
                  <a:moveTo>
                    <a:pt x="0" y="5060"/>
                  </a:moveTo>
                  <a:lnTo>
                    <a:pt x="0" y="0"/>
                  </a:lnTo>
                  <a:lnTo>
                    <a:pt x="5040064" y="0"/>
                  </a:lnTo>
                  <a:lnTo>
                    <a:pt x="50400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401966"/>
            <a:ext cx="10413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►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980667"/>
            <a:ext cx="10413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►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294" y="1557488"/>
            <a:ext cx="10413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►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294" y="2251594"/>
            <a:ext cx="10413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►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3311" y="380452"/>
            <a:ext cx="4799330" cy="256413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83900"/>
              </a:lnSpc>
              <a:spcBef>
                <a:spcPts val="300"/>
              </a:spcBef>
            </a:pP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L.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22373A"/>
                </a:solidFill>
                <a:latin typeface="Arial MT"/>
                <a:cs typeface="Arial MT"/>
              </a:rPr>
              <a:t>Gao,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X.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Ma, J.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Lin,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and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 J.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Arial MT"/>
                <a:cs typeface="Arial MT"/>
              </a:rPr>
              <a:t>Callan,</a:t>
            </a:r>
            <a:r>
              <a:rPr sz="1100" spc="2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b="1" spc="-160" dirty="0">
                <a:solidFill>
                  <a:srgbClr val="22373A"/>
                </a:solidFill>
                <a:latin typeface="Arial"/>
                <a:cs typeface="Arial"/>
              </a:rPr>
              <a:t>“</a:t>
            </a:r>
            <a:r>
              <a:rPr sz="1100" b="1" spc="-20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22373A"/>
                </a:solidFill>
                <a:latin typeface="Arial"/>
                <a:cs typeface="Arial"/>
              </a:rPr>
              <a:t>Precise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</a:rPr>
              <a:t>Zero-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Shot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</a:rPr>
              <a:t>Dense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Retrieval without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22373A"/>
                </a:solidFill>
                <a:latin typeface="Arial"/>
                <a:cs typeface="Arial"/>
              </a:rPr>
              <a:t>Relevance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</a:rPr>
              <a:t>Labels,”</a:t>
            </a:r>
            <a:r>
              <a:rPr sz="11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in</a:t>
            </a:r>
            <a:r>
              <a:rPr sz="1000" spc="1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i="1" spc="-50" dirty="0">
                <a:solidFill>
                  <a:srgbClr val="6E7B7D"/>
                </a:solidFill>
                <a:latin typeface="Arial"/>
                <a:cs typeface="Arial"/>
              </a:rPr>
              <a:t>Proceedings</a:t>
            </a:r>
            <a:r>
              <a:rPr sz="1000" i="1" spc="-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of the</a:t>
            </a:r>
            <a:r>
              <a:rPr sz="1000" i="1" spc="-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6E7B7D"/>
                </a:solidFill>
                <a:latin typeface="Arial"/>
                <a:cs typeface="Arial"/>
              </a:rPr>
              <a:t>61st</a:t>
            </a:r>
            <a:r>
              <a:rPr sz="1000" i="1" spc="-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6E7B7D"/>
                </a:solidFill>
                <a:latin typeface="Arial"/>
                <a:cs typeface="Arial"/>
              </a:rPr>
              <a:t>Annual</a:t>
            </a:r>
            <a:r>
              <a:rPr sz="1000" i="1" spc="-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6E7B7D"/>
                </a:solidFill>
                <a:latin typeface="Arial"/>
                <a:cs typeface="Arial"/>
              </a:rPr>
              <a:t>Meeting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of</a:t>
            </a:r>
            <a:r>
              <a:rPr sz="1000" i="1" spc="-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6E7B7D"/>
                </a:solidFill>
                <a:latin typeface="Arial"/>
                <a:cs typeface="Arial"/>
              </a:rPr>
              <a:t>the </a:t>
            </a:r>
            <a:r>
              <a:rPr sz="1000" i="1" spc="-35" dirty="0">
                <a:solidFill>
                  <a:srgbClr val="6E7B7D"/>
                </a:solidFill>
                <a:latin typeface="Arial"/>
                <a:cs typeface="Arial"/>
              </a:rPr>
              <a:t>Association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for</a:t>
            </a:r>
            <a:r>
              <a:rPr sz="1000" i="1" spc="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6E7B7D"/>
                </a:solidFill>
                <a:latin typeface="Arial"/>
                <a:cs typeface="Arial"/>
              </a:rPr>
              <a:t>Computational</a:t>
            </a:r>
            <a:r>
              <a:rPr sz="1000" i="1" spc="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6E7B7D"/>
                </a:solidFill>
                <a:latin typeface="Arial"/>
                <a:cs typeface="Arial"/>
              </a:rPr>
              <a:t>Linguistics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6E7B7D"/>
                </a:solidFill>
                <a:latin typeface="Arial"/>
                <a:cs typeface="Arial"/>
              </a:rPr>
              <a:t>(Volume</a:t>
            </a:r>
            <a:r>
              <a:rPr sz="1000" i="1" spc="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1:</a:t>
            </a:r>
            <a:r>
              <a:rPr sz="1000" i="1" spc="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6E7B7D"/>
                </a:solidFill>
                <a:latin typeface="Arial"/>
                <a:cs typeface="Arial"/>
              </a:rPr>
              <a:t>Long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6E7B7D"/>
                </a:solidFill>
                <a:latin typeface="Arial"/>
                <a:cs typeface="Arial"/>
              </a:rPr>
              <a:t>Papers)</a:t>
            </a:r>
            <a:r>
              <a:rPr sz="1000" spc="-40" dirty="0">
                <a:solidFill>
                  <a:srgbClr val="6E7B7D"/>
                </a:solidFill>
                <a:latin typeface="Microsoft Sans Serif"/>
                <a:cs typeface="Microsoft Sans Serif"/>
              </a:rPr>
              <a:t>,</a:t>
            </a:r>
            <a:r>
              <a:rPr sz="1000" spc="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6E7B7D"/>
                </a:solidFill>
                <a:latin typeface="Microsoft Sans Serif"/>
                <a:cs typeface="Microsoft Sans Serif"/>
              </a:rPr>
              <a:t>Association</a:t>
            </a:r>
            <a:r>
              <a:rPr sz="1000" spc="1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6E7B7D"/>
                </a:solidFill>
                <a:latin typeface="Microsoft Sans Serif"/>
                <a:cs typeface="Microsoft Sans Serif"/>
              </a:rPr>
              <a:t>for </a:t>
            </a:r>
            <a:r>
              <a:rPr sz="1000" spc="-30" dirty="0">
                <a:solidFill>
                  <a:srgbClr val="6E7B7D"/>
                </a:solidFill>
                <a:latin typeface="Microsoft Sans Serif"/>
                <a:cs typeface="Microsoft Sans Serif"/>
              </a:rPr>
              <a:t>Computational</a:t>
            </a:r>
            <a:r>
              <a:rPr sz="1000" spc="16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30" dirty="0">
                <a:solidFill>
                  <a:srgbClr val="6E7B7D"/>
                </a:solidFill>
                <a:latin typeface="Microsoft Sans Serif"/>
                <a:cs typeface="Microsoft Sans Serif"/>
              </a:rPr>
              <a:t>Linguistics,</a:t>
            </a:r>
            <a:r>
              <a:rPr sz="1000" spc="16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6E7B7D"/>
                </a:solidFill>
                <a:latin typeface="Microsoft Sans Serif"/>
                <a:cs typeface="Microsoft Sans Serif"/>
              </a:rPr>
              <a:t>2023,</a:t>
            </a:r>
            <a:r>
              <a:rPr sz="1000" spc="16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pp.</a:t>
            </a:r>
            <a:r>
              <a:rPr sz="1000" spc="16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6E7B7D"/>
                </a:solidFill>
                <a:latin typeface="Microsoft Sans Serif"/>
                <a:cs typeface="Microsoft Sans Serif"/>
              </a:rPr>
              <a:t>1762–</a:t>
            </a:r>
            <a:r>
              <a:rPr sz="1000" spc="-10" dirty="0">
                <a:solidFill>
                  <a:srgbClr val="6E7B7D"/>
                </a:solidFill>
                <a:latin typeface="Microsoft Sans Serif"/>
                <a:cs typeface="Microsoft Sans Serif"/>
              </a:rPr>
              <a:t>1777.</a:t>
            </a:r>
            <a:r>
              <a:rPr sz="1000" spc="16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50" dirty="0">
                <a:solidFill>
                  <a:srgbClr val="6E7B7D"/>
                </a:solidFill>
                <a:latin typeface="Cambria"/>
                <a:cs typeface="Cambria"/>
              </a:rPr>
              <a:t>doi</a:t>
            </a:r>
            <a:r>
              <a:rPr sz="1000" spc="50" dirty="0">
                <a:solidFill>
                  <a:srgbClr val="6E7B7D"/>
                </a:solidFill>
                <a:latin typeface="Microsoft Sans Serif"/>
                <a:cs typeface="Microsoft Sans Serif"/>
              </a:rPr>
              <a:t>:</a:t>
            </a:r>
            <a:r>
              <a:rPr sz="1000" spc="16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E7B7D"/>
                </a:solidFill>
                <a:latin typeface="Georgia"/>
                <a:cs typeface="Georgia"/>
                <a:hlinkClick r:id="rId3"/>
              </a:rPr>
              <a:t>10.18653/v1/2023.acl-</a:t>
            </a:r>
            <a:r>
              <a:rPr sz="1000" spc="-10" dirty="0">
                <a:solidFill>
                  <a:srgbClr val="6E7B7D"/>
                </a:solidFill>
                <a:latin typeface="Georgia"/>
                <a:cs typeface="Georgia"/>
                <a:hlinkClick r:id="rId3"/>
              </a:rPr>
              <a:t>long.99</a:t>
            </a:r>
            <a:endParaRPr sz="1000">
              <a:latin typeface="Georgia"/>
              <a:cs typeface="Georgia"/>
            </a:endParaRPr>
          </a:p>
          <a:p>
            <a:pPr marL="12700" marR="146685">
              <a:lnSpc>
                <a:spcPct val="83500"/>
              </a:lnSpc>
              <a:spcBef>
                <a:spcPts val="340"/>
              </a:spcBef>
            </a:pP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S.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22373A"/>
                </a:solidFill>
                <a:latin typeface="Arial MT"/>
                <a:cs typeface="Arial MT"/>
              </a:rPr>
              <a:t>Geng,</a:t>
            </a:r>
            <a:r>
              <a:rPr sz="1100" spc="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M.</a:t>
            </a:r>
            <a:r>
              <a:rPr sz="1100" spc="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22373A"/>
                </a:solidFill>
                <a:latin typeface="Arial MT"/>
                <a:cs typeface="Arial MT"/>
              </a:rPr>
              <a:t>Josifoski,</a:t>
            </a:r>
            <a:r>
              <a:rPr sz="1100" spc="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M.</a:t>
            </a:r>
            <a:r>
              <a:rPr sz="1100" spc="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Arial MT"/>
                <a:cs typeface="Arial MT"/>
              </a:rPr>
              <a:t>Peyrard,</a:t>
            </a:r>
            <a:r>
              <a:rPr sz="1100" spc="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and</a:t>
            </a:r>
            <a:r>
              <a:rPr sz="1100" spc="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R.</a:t>
            </a:r>
            <a:r>
              <a:rPr sz="1100" spc="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 MT"/>
                <a:cs typeface="Arial MT"/>
              </a:rPr>
              <a:t>West,</a:t>
            </a:r>
            <a:r>
              <a:rPr sz="1100" spc="4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b="1" spc="-160" dirty="0">
                <a:solidFill>
                  <a:srgbClr val="22373A"/>
                </a:solidFill>
                <a:latin typeface="Arial"/>
                <a:cs typeface="Arial"/>
              </a:rPr>
              <a:t>“</a:t>
            </a:r>
            <a:r>
              <a:rPr sz="1100" b="1" spc="-20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</a:rPr>
              <a:t>Grammar-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Constrained 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</a:rPr>
              <a:t>Decoding</a:t>
            </a:r>
            <a:r>
              <a:rPr sz="11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Arial"/>
                <a:cs typeface="Arial"/>
              </a:rPr>
              <a:t>Structured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NLP</a:t>
            </a:r>
            <a:r>
              <a:rPr sz="11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22373A"/>
                </a:solidFill>
                <a:latin typeface="Arial"/>
                <a:cs typeface="Arial"/>
              </a:rPr>
              <a:t>Tasks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sz="11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</a:rPr>
              <a:t>Finetuning,”</a:t>
            </a:r>
            <a:r>
              <a:rPr sz="11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in</a:t>
            </a:r>
            <a:r>
              <a:rPr sz="1000" spc="1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i="1" spc="-10" dirty="0">
                <a:solidFill>
                  <a:srgbClr val="6E7B7D"/>
                </a:solidFill>
                <a:latin typeface="Arial"/>
                <a:cs typeface="Arial"/>
              </a:rPr>
              <a:t>EMNLP </a:t>
            </a:r>
            <a:r>
              <a:rPr sz="1000" i="1" spc="-40" dirty="0">
                <a:solidFill>
                  <a:srgbClr val="6E7B7D"/>
                </a:solidFill>
                <a:latin typeface="Arial"/>
                <a:cs typeface="Arial"/>
              </a:rPr>
              <a:t>2023</a:t>
            </a:r>
            <a:r>
              <a:rPr sz="1000" i="1" spc="-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6E7B7D"/>
                </a:solidFill>
                <a:latin typeface="Arial"/>
                <a:cs typeface="Arial"/>
              </a:rPr>
              <a:t>- </a:t>
            </a:r>
            <a:r>
              <a:rPr sz="1000" i="1" spc="-40" dirty="0">
                <a:solidFill>
                  <a:srgbClr val="6E7B7D"/>
                </a:solidFill>
                <a:latin typeface="Arial"/>
                <a:cs typeface="Arial"/>
              </a:rPr>
              <a:t>2023</a:t>
            </a:r>
            <a:r>
              <a:rPr sz="1000" i="1" spc="-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6E7B7D"/>
                </a:solidFill>
                <a:latin typeface="Arial"/>
                <a:cs typeface="Arial"/>
              </a:rPr>
              <a:t>Conference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on</a:t>
            </a:r>
            <a:r>
              <a:rPr sz="1000" i="1" spc="-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6E7B7D"/>
                </a:solidFill>
                <a:latin typeface="Arial"/>
                <a:cs typeface="Arial"/>
              </a:rPr>
              <a:t>Empirical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6E7B7D"/>
                </a:solidFill>
                <a:latin typeface="Arial"/>
                <a:cs typeface="Arial"/>
              </a:rPr>
              <a:t>Methods</a:t>
            </a:r>
            <a:r>
              <a:rPr sz="1000" i="1" spc="-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in </a:t>
            </a:r>
            <a:r>
              <a:rPr sz="1000" i="1" spc="-10" dirty="0">
                <a:solidFill>
                  <a:srgbClr val="6E7B7D"/>
                </a:solidFill>
                <a:latin typeface="Arial"/>
                <a:cs typeface="Arial"/>
              </a:rPr>
              <a:t>Natural</a:t>
            </a:r>
            <a:r>
              <a:rPr sz="1000" i="1" spc="-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6E7B7D"/>
                </a:solidFill>
                <a:latin typeface="Arial"/>
                <a:cs typeface="Arial"/>
              </a:rPr>
              <a:t>Language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6E7B7D"/>
                </a:solidFill>
                <a:latin typeface="Arial"/>
                <a:cs typeface="Arial"/>
              </a:rPr>
              <a:t>Processing,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6E7B7D"/>
                </a:solidFill>
                <a:latin typeface="Arial"/>
                <a:cs typeface="Arial"/>
              </a:rPr>
              <a:t>Proceedings</a:t>
            </a:r>
            <a:r>
              <a:rPr sz="1000" spc="-10" dirty="0">
                <a:solidFill>
                  <a:srgbClr val="6E7B7D"/>
                </a:solidFill>
                <a:latin typeface="Microsoft Sans Serif"/>
                <a:cs typeface="Microsoft Sans Serif"/>
              </a:rPr>
              <a:t>, </a:t>
            </a:r>
            <a:r>
              <a:rPr sz="1000" spc="-35" dirty="0">
                <a:solidFill>
                  <a:srgbClr val="6E7B7D"/>
                </a:solidFill>
                <a:latin typeface="Microsoft Sans Serif"/>
                <a:cs typeface="Microsoft Sans Serif"/>
              </a:rPr>
              <a:t>2023.</a:t>
            </a:r>
            <a:r>
              <a:rPr sz="1000" spc="17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50" dirty="0">
                <a:solidFill>
                  <a:srgbClr val="6E7B7D"/>
                </a:solidFill>
                <a:latin typeface="Cambria"/>
                <a:cs typeface="Cambria"/>
              </a:rPr>
              <a:t>doi</a:t>
            </a:r>
            <a:r>
              <a:rPr sz="1000" spc="50" dirty="0">
                <a:solidFill>
                  <a:srgbClr val="6E7B7D"/>
                </a:solidFill>
                <a:latin typeface="Microsoft Sans Serif"/>
                <a:cs typeface="Microsoft Sans Serif"/>
              </a:rPr>
              <a:t>:</a:t>
            </a:r>
            <a:r>
              <a:rPr sz="1000" spc="17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E7B7D"/>
                </a:solidFill>
                <a:latin typeface="Georgia"/>
                <a:cs typeface="Georgia"/>
                <a:hlinkClick r:id="rId4"/>
              </a:rPr>
              <a:t>10.18653/v1/2023.emnlp-</a:t>
            </a:r>
            <a:r>
              <a:rPr sz="1000" spc="-10" dirty="0">
                <a:solidFill>
                  <a:srgbClr val="6E7B7D"/>
                </a:solidFill>
                <a:latin typeface="Georgia"/>
                <a:cs typeface="Georgia"/>
                <a:hlinkClick r:id="rId4"/>
              </a:rPr>
              <a:t>main.674</a:t>
            </a:r>
            <a:endParaRPr sz="1000">
              <a:latin typeface="Georgia"/>
              <a:cs typeface="Georgia"/>
            </a:endParaRPr>
          </a:p>
          <a:p>
            <a:pPr marL="12700" marR="71755">
              <a:lnSpc>
                <a:spcPct val="83300"/>
              </a:lnSpc>
              <a:spcBef>
                <a:spcPts val="340"/>
              </a:spcBef>
            </a:pP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N.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22373A"/>
                </a:solidFill>
                <a:latin typeface="Arial MT"/>
                <a:cs typeface="Arial MT"/>
              </a:rPr>
              <a:t>Reimers</a:t>
            </a:r>
            <a:r>
              <a:rPr sz="1100" spc="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and</a:t>
            </a:r>
            <a:r>
              <a:rPr sz="1100" spc="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I.</a:t>
            </a:r>
            <a:r>
              <a:rPr sz="1100" spc="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Gurevych,</a:t>
            </a:r>
            <a:r>
              <a:rPr sz="1100" spc="4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b="1" spc="-160" dirty="0">
                <a:solidFill>
                  <a:srgbClr val="22373A"/>
                </a:solidFill>
                <a:latin typeface="Arial"/>
                <a:cs typeface="Arial"/>
              </a:rPr>
              <a:t>“</a:t>
            </a:r>
            <a:r>
              <a:rPr sz="1100" b="1" spc="-20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</a:rPr>
              <a:t>Sentence-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BERT:</a:t>
            </a:r>
            <a:r>
              <a:rPr sz="11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</a:rPr>
              <a:t>Sentence</a:t>
            </a:r>
            <a:r>
              <a:rPr sz="11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22373A"/>
                </a:solidFill>
                <a:latin typeface="Arial"/>
                <a:cs typeface="Arial"/>
              </a:rPr>
              <a:t>embeddings</a:t>
            </a:r>
            <a:r>
              <a:rPr sz="1100" b="1" spc="4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using </a:t>
            </a:r>
            <a:r>
              <a:rPr sz="1100" b="1" spc="-65" dirty="0">
                <a:solidFill>
                  <a:srgbClr val="22373A"/>
                </a:solidFill>
                <a:latin typeface="Arial"/>
                <a:cs typeface="Arial"/>
              </a:rPr>
              <a:t>siamese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BERT-</a:t>
            </a: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</a:rPr>
              <a:t>networks,”</a:t>
            </a:r>
            <a:r>
              <a:rPr sz="11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in</a:t>
            </a:r>
            <a:r>
              <a:rPr sz="1000" spc="1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i="1" spc="-40" dirty="0">
                <a:solidFill>
                  <a:srgbClr val="6E7B7D"/>
                </a:solidFill>
                <a:latin typeface="Arial"/>
                <a:cs typeface="Arial"/>
              </a:rPr>
              <a:t>EMNLP-</a:t>
            </a:r>
            <a:r>
              <a:rPr sz="1000" i="1" spc="-10" dirty="0">
                <a:solidFill>
                  <a:srgbClr val="6E7B7D"/>
                </a:solidFill>
                <a:latin typeface="Arial"/>
                <a:cs typeface="Arial"/>
              </a:rPr>
              <a:t>IJCNLP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6E7B7D"/>
                </a:solidFill>
                <a:latin typeface="Arial"/>
                <a:cs typeface="Arial"/>
              </a:rPr>
              <a:t>2019</a:t>
            </a:r>
            <a:r>
              <a:rPr sz="1000" i="1" spc="-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-</a:t>
            </a:r>
            <a:r>
              <a:rPr sz="1000" i="1" spc="-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6E7B7D"/>
                </a:solidFill>
                <a:latin typeface="Arial"/>
                <a:cs typeface="Arial"/>
              </a:rPr>
              <a:t>2019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6E7B7D"/>
                </a:solidFill>
                <a:latin typeface="Arial"/>
                <a:cs typeface="Arial"/>
              </a:rPr>
              <a:t>Conference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on</a:t>
            </a:r>
            <a:r>
              <a:rPr sz="1000" i="1" spc="-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6E7B7D"/>
                </a:solidFill>
                <a:latin typeface="Arial"/>
                <a:cs typeface="Arial"/>
              </a:rPr>
              <a:t>Empirical </a:t>
            </a:r>
            <a:r>
              <a:rPr sz="1000" i="1" spc="-25" dirty="0">
                <a:solidFill>
                  <a:srgbClr val="6E7B7D"/>
                </a:solidFill>
                <a:latin typeface="Arial"/>
                <a:cs typeface="Arial"/>
              </a:rPr>
              <a:t>Methods</a:t>
            </a:r>
            <a:r>
              <a:rPr sz="1000" i="1" spc="1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in</a:t>
            </a:r>
            <a:r>
              <a:rPr sz="1000" i="1" spc="1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6E7B7D"/>
                </a:solidFill>
                <a:latin typeface="Arial"/>
                <a:cs typeface="Arial"/>
              </a:rPr>
              <a:t>Natural</a:t>
            </a:r>
            <a:r>
              <a:rPr sz="1000" i="1" spc="1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6E7B7D"/>
                </a:solidFill>
                <a:latin typeface="Arial"/>
                <a:cs typeface="Arial"/>
              </a:rPr>
              <a:t>Language</a:t>
            </a:r>
            <a:r>
              <a:rPr sz="1000" i="1" spc="1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6E7B7D"/>
                </a:solidFill>
                <a:latin typeface="Arial"/>
                <a:cs typeface="Arial"/>
              </a:rPr>
              <a:t>Processing</a:t>
            </a:r>
            <a:r>
              <a:rPr sz="1000" i="1" spc="1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6E7B7D"/>
                </a:solidFill>
                <a:latin typeface="Arial"/>
                <a:cs typeface="Arial"/>
              </a:rPr>
              <a:t>and</a:t>
            </a:r>
            <a:r>
              <a:rPr sz="1000" i="1" spc="1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9th</a:t>
            </a:r>
            <a:r>
              <a:rPr sz="1000" i="1" spc="1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6E7B7D"/>
                </a:solidFill>
                <a:latin typeface="Arial"/>
                <a:cs typeface="Arial"/>
              </a:rPr>
              <a:t>International</a:t>
            </a:r>
            <a:r>
              <a:rPr sz="1000" i="1" spc="1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Joint</a:t>
            </a:r>
            <a:r>
              <a:rPr sz="1000" i="1" spc="1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6E7B7D"/>
                </a:solidFill>
                <a:latin typeface="Arial"/>
                <a:cs typeface="Arial"/>
              </a:rPr>
              <a:t>Conference</a:t>
            </a:r>
            <a:r>
              <a:rPr sz="1000" i="1" spc="1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6E7B7D"/>
                </a:solidFill>
                <a:latin typeface="Arial"/>
                <a:cs typeface="Arial"/>
              </a:rPr>
              <a:t>on </a:t>
            </a:r>
            <a:r>
              <a:rPr sz="1000" i="1" spc="-10" dirty="0">
                <a:solidFill>
                  <a:srgbClr val="6E7B7D"/>
                </a:solidFill>
                <a:latin typeface="Arial"/>
                <a:cs typeface="Arial"/>
              </a:rPr>
              <a:t>Natural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6E7B7D"/>
                </a:solidFill>
                <a:latin typeface="Arial"/>
                <a:cs typeface="Arial"/>
              </a:rPr>
              <a:t>Language</a:t>
            </a:r>
            <a:r>
              <a:rPr sz="1000" i="1" spc="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6E7B7D"/>
                </a:solidFill>
                <a:latin typeface="Arial"/>
                <a:cs typeface="Arial"/>
              </a:rPr>
              <a:t>Processing,</a:t>
            </a:r>
            <a:r>
              <a:rPr sz="1000" i="1" spc="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6E7B7D"/>
                </a:solidFill>
                <a:latin typeface="Arial"/>
                <a:cs typeface="Arial"/>
              </a:rPr>
              <a:t>Proceedings</a:t>
            </a:r>
            <a:r>
              <a:rPr sz="1000" i="1" spc="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of</a:t>
            </a:r>
            <a:r>
              <a:rPr sz="1000" i="1" spc="1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the</a:t>
            </a:r>
            <a:r>
              <a:rPr sz="1000" i="1" spc="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6E7B7D"/>
                </a:solidFill>
                <a:latin typeface="Arial"/>
                <a:cs typeface="Arial"/>
              </a:rPr>
              <a:t>Conference</a:t>
            </a:r>
            <a:r>
              <a:rPr sz="1000" spc="-50" dirty="0">
                <a:solidFill>
                  <a:srgbClr val="6E7B7D"/>
                </a:solidFill>
                <a:latin typeface="Microsoft Sans Serif"/>
                <a:cs typeface="Microsoft Sans Serif"/>
              </a:rPr>
              <a:t>,</a:t>
            </a:r>
            <a:r>
              <a:rPr sz="1000" spc="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6E7B7D"/>
                </a:solidFill>
                <a:latin typeface="Microsoft Sans Serif"/>
                <a:cs typeface="Microsoft Sans Serif"/>
              </a:rPr>
              <a:t>2019.</a:t>
            </a:r>
            <a:r>
              <a:rPr sz="1000" spc="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30" dirty="0">
                <a:solidFill>
                  <a:srgbClr val="6E7B7D"/>
                </a:solidFill>
                <a:latin typeface="Cambria"/>
                <a:cs typeface="Cambria"/>
              </a:rPr>
              <a:t>doi</a:t>
            </a:r>
            <a:r>
              <a:rPr sz="1000" spc="30" dirty="0">
                <a:solidFill>
                  <a:srgbClr val="6E7B7D"/>
                </a:solidFill>
                <a:latin typeface="Microsoft Sans Serif"/>
                <a:cs typeface="Microsoft Sans Serif"/>
              </a:rPr>
              <a:t>: </a:t>
            </a:r>
            <a:r>
              <a:rPr sz="1000" dirty="0">
                <a:solidFill>
                  <a:srgbClr val="6E7B7D"/>
                </a:solidFill>
                <a:latin typeface="Georgia"/>
                <a:cs typeface="Georgia"/>
                <a:hlinkClick r:id="rId5"/>
              </a:rPr>
              <a:t>10.18653/v1/D19-</a:t>
            </a:r>
            <a:r>
              <a:rPr sz="1000" spc="-20" dirty="0">
                <a:solidFill>
                  <a:srgbClr val="6E7B7D"/>
                </a:solidFill>
                <a:latin typeface="Georgia"/>
                <a:cs typeface="Georgia"/>
                <a:hlinkClick r:id="rId5"/>
              </a:rPr>
              <a:t>1410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ts val="1215"/>
              </a:lnSpc>
              <a:spcBef>
                <a:spcPts val="50"/>
              </a:spcBef>
            </a:pP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B.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E.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Strom,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A.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22373A"/>
                </a:solidFill>
                <a:latin typeface="Arial MT"/>
                <a:cs typeface="Arial MT"/>
              </a:rPr>
              <a:t>Applebaum,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D.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P.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Miller,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K.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C.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22373A"/>
                </a:solidFill>
                <a:latin typeface="Arial MT"/>
                <a:cs typeface="Arial MT"/>
              </a:rPr>
              <a:t>Nickels,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A.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G. </a:t>
            </a:r>
            <a:r>
              <a:rPr sz="1100" spc="-40" dirty="0">
                <a:solidFill>
                  <a:srgbClr val="22373A"/>
                </a:solidFill>
                <a:latin typeface="Arial MT"/>
                <a:cs typeface="Arial MT"/>
              </a:rPr>
              <a:t>Pennington,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 MT"/>
                <a:cs typeface="Arial MT"/>
              </a:rPr>
              <a:t>and</a:t>
            </a:r>
            <a:endParaRPr sz="1100">
              <a:latin typeface="Arial MT"/>
              <a:cs typeface="Arial MT"/>
            </a:endParaRPr>
          </a:p>
          <a:p>
            <a:pPr marL="12700" marR="177165">
              <a:lnSpc>
                <a:spcPct val="83500"/>
              </a:lnSpc>
              <a:spcBef>
                <a:spcPts val="110"/>
              </a:spcBef>
            </a:pP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C.</a:t>
            </a:r>
            <a:r>
              <a:rPr sz="1100" spc="3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B.</a:t>
            </a:r>
            <a:r>
              <a:rPr sz="1100" spc="4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Arial MT"/>
                <a:cs typeface="Arial MT"/>
              </a:rPr>
              <a:t>Thomas,</a:t>
            </a:r>
            <a:r>
              <a:rPr sz="1100" spc="8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b="1" spc="-160" dirty="0">
                <a:solidFill>
                  <a:srgbClr val="22373A"/>
                </a:solidFill>
                <a:latin typeface="Arial"/>
                <a:cs typeface="Arial"/>
              </a:rPr>
              <a:t>“</a:t>
            </a:r>
            <a:r>
              <a:rPr sz="1100" b="1" spc="-2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MITRE</a:t>
            </a:r>
            <a:r>
              <a:rPr sz="1100" b="1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ATT&amp;CK:</a:t>
            </a:r>
            <a:r>
              <a:rPr sz="11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Design</a:t>
            </a:r>
            <a:r>
              <a:rPr sz="11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b="1" spc="7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22373A"/>
                </a:solidFill>
                <a:latin typeface="Arial"/>
                <a:cs typeface="Arial"/>
              </a:rPr>
              <a:t>Philosophy,”</a:t>
            </a:r>
            <a:r>
              <a:rPr sz="1100" b="1" spc="1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The</a:t>
            </a:r>
            <a:r>
              <a:rPr sz="1000" spc="5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E7B7D"/>
                </a:solidFill>
                <a:latin typeface="Microsoft Sans Serif"/>
                <a:cs typeface="Microsoft Sans Serif"/>
              </a:rPr>
              <a:t>MITRE </a:t>
            </a:r>
            <a:r>
              <a:rPr sz="1000" spc="-30" dirty="0">
                <a:solidFill>
                  <a:srgbClr val="6E7B7D"/>
                </a:solidFill>
                <a:latin typeface="Microsoft Sans Serif"/>
                <a:cs typeface="Microsoft Sans Serif"/>
              </a:rPr>
              <a:t>Corporation,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6E7B7D"/>
                </a:solidFill>
                <a:latin typeface="Microsoft Sans Serif"/>
                <a:cs typeface="Microsoft Sans Serif"/>
              </a:rPr>
              <a:t>Tech.</a:t>
            </a:r>
            <a:r>
              <a:rPr sz="1000" spc="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6E7B7D"/>
                </a:solidFill>
                <a:latin typeface="Microsoft Sans Serif"/>
                <a:cs typeface="Microsoft Sans Serif"/>
              </a:rPr>
              <a:t>Rep.,</a:t>
            </a:r>
            <a:r>
              <a:rPr sz="1000" spc="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6E7B7D"/>
                </a:solidFill>
                <a:latin typeface="Microsoft Sans Serif"/>
                <a:cs typeface="Microsoft Sans Serif"/>
              </a:rPr>
              <a:t>2018.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E7B7D"/>
                </a:solidFill>
                <a:latin typeface="Microsoft Sans Serif"/>
                <a:cs typeface="Microsoft Sans Serif"/>
              </a:rPr>
              <a:t>[Online].</a:t>
            </a:r>
            <a:r>
              <a:rPr sz="1000" spc="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E7B7D"/>
                </a:solidFill>
                <a:latin typeface="Microsoft Sans Serif"/>
                <a:cs typeface="Microsoft Sans Serif"/>
              </a:rPr>
              <a:t>Available: </a:t>
            </a:r>
            <a:r>
              <a:rPr sz="1000" spc="60" dirty="0">
                <a:solidFill>
                  <a:srgbClr val="6E7B7D"/>
                </a:solidFill>
                <a:latin typeface="Georgia"/>
                <a:cs typeface="Georgia"/>
                <a:hlinkClick r:id="rId6"/>
              </a:rPr>
              <a:t>https://www.mitre.org/sites/default/files/publications/pr-</a:t>
            </a:r>
            <a:r>
              <a:rPr sz="1000" spc="65" dirty="0">
                <a:solidFill>
                  <a:srgbClr val="6E7B7D"/>
                </a:solidFill>
                <a:latin typeface="Georgia"/>
                <a:cs typeface="Georgia"/>
                <a:hlinkClick r:id="rId6"/>
              </a:rPr>
              <a:t>18-</a:t>
            </a:r>
            <a:r>
              <a:rPr sz="1000" spc="-20" dirty="0">
                <a:solidFill>
                  <a:srgbClr val="6E7B7D"/>
                </a:solidFill>
                <a:latin typeface="Georgia"/>
                <a:cs typeface="Georgia"/>
                <a:hlinkClick r:id="rId6"/>
              </a:rPr>
              <a:t>0944-</a:t>
            </a:r>
            <a:r>
              <a:rPr sz="1000" spc="105" dirty="0">
                <a:solidFill>
                  <a:srgbClr val="6E7B7D"/>
                </a:solidFill>
                <a:latin typeface="Georgia"/>
                <a:cs typeface="Georgia"/>
                <a:hlinkClick r:id="rId6"/>
              </a:rPr>
              <a:t>11-</a:t>
            </a:r>
            <a:r>
              <a:rPr sz="1000" spc="55" dirty="0">
                <a:solidFill>
                  <a:srgbClr val="6E7B7D"/>
                </a:solidFill>
                <a:latin typeface="Georgia"/>
                <a:cs typeface="Georgia"/>
                <a:hlinkClick r:id="rId6"/>
              </a:rPr>
              <a:t>mitre-</a:t>
            </a:r>
            <a:r>
              <a:rPr sz="1000" spc="85" dirty="0">
                <a:solidFill>
                  <a:srgbClr val="6E7B7D"/>
                </a:solidFill>
                <a:latin typeface="Georgia"/>
                <a:cs typeface="Georgia"/>
                <a:hlinkClick r:id="rId6"/>
              </a:rPr>
              <a:t>attack-</a:t>
            </a:r>
            <a:r>
              <a:rPr sz="1000" spc="55" dirty="0">
                <a:solidFill>
                  <a:srgbClr val="6E7B7D"/>
                </a:solidFill>
                <a:latin typeface="Georgia"/>
                <a:cs typeface="Georgia"/>
                <a:hlinkClick r:id="rId6"/>
              </a:rPr>
              <a:t>design-</a:t>
            </a:r>
            <a:r>
              <a:rPr sz="1000" dirty="0">
                <a:solidFill>
                  <a:srgbClr val="6E7B7D"/>
                </a:solidFill>
                <a:latin typeface="Georgia"/>
                <a:cs typeface="Georgia"/>
                <a:hlinkClick r:id="rId6"/>
              </a:rPr>
              <a:t>and-</a:t>
            </a:r>
            <a:r>
              <a:rPr sz="1000" spc="-10" dirty="0">
                <a:solidFill>
                  <a:srgbClr val="6E7B7D"/>
                </a:solidFill>
                <a:latin typeface="Georgia"/>
                <a:cs typeface="Georgia"/>
                <a:hlinkClick r:id="rId6"/>
              </a:rPr>
              <a:t>philosophy.pdf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14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References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76345"/>
            <a:ext cx="5760085" cy="5080"/>
            <a:chOff x="0" y="376345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78879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B9C5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6345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B9C5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6345"/>
              <a:ext cx="5400675" cy="5080"/>
            </a:xfrm>
            <a:custGeom>
              <a:avLst/>
              <a:gdLst/>
              <a:ahLst/>
              <a:cxnLst/>
              <a:rect l="l" t="t" r="r" b="b"/>
              <a:pathLst>
                <a:path w="5400675" h="5079">
                  <a:moveTo>
                    <a:pt x="0" y="5060"/>
                  </a:moveTo>
                  <a:lnTo>
                    <a:pt x="0" y="0"/>
                  </a:lnTo>
                  <a:lnTo>
                    <a:pt x="5400069" y="0"/>
                  </a:lnTo>
                  <a:lnTo>
                    <a:pt x="540006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584554"/>
            <a:ext cx="10413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►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1161210"/>
            <a:ext cx="10413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►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294" y="1886837"/>
            <a:ext cx="10413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►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294" y="2326118"/>
            <a:ext cx="10413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►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3311" y="563040"/>
            <a:ext cx="4784090" cy="220218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79375">
              <a:lnSpc>
                <a:spcPct val="83400"/>
              </a:lnSpc>
              <a:spcBef>
                <a:spcPts val="310"/>
              </a:spcBef>
            </a:pP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F.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Arial MT"/>
                <a:cs typeface="Arial MT"/>
              </a:rPr>
              <a:t>Blefari,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 C. </a:t>
            </a:r>
            <a:r>
              <a:rPr sz="1100" spc="-50" dirty="0">
                <a:solidFill>
                  <a:srgbClr val="22373A"/>
                </a:solidFill>
                <a:latin typeface="Arial MT"/>
                <a:cs typeface="Arial MT"/>
              </a:rPr>
              <a:t>Cosentino,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 F.</a:t>
            </a:r>
            <a:r>
              <a:rPr sz="1100" spc="-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A. Pironti, A. </a:t>
            </a:r>
            <a:r>
              <a:rPr sz="1100" spc="-30" dirty="0">
                <a:solidFill>
                  <a:srgbClr val="22373A"/>
                </a:solidFill>
                <a:latin typeface="Arial MT"/>
                <a:cs typeface="Arial MT"/>
              </a:rPr>
              <a:t>Furfaro,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and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 F. </a:t>
            </a:r>
            <a:r>
              <a:rPr sz="1100" spc="-40" dirty="0">
                <a:solidFill>
                  <a:srgbClr val="22373A"/>
                </a:solidFill>
                <a:latin typeface="Arial MT"/>
                <a:cs typeface="Arial MT"/>
              </a:rPr>
              <a:t>Marozzo,</a:t>
            </a:r>
            <a:r>
              <a:rPr sz="1100" spc="3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b="1" spc="-160" dirty="0">
                <a:solidFill>
                  <a:srgbClr val="22373A"/>
                </a:solidFill>
                <a:latin typeface="Arial"/>
                <a:cs typeface="Arial"/>
              </a:rPr>
              <a:t>“</a:t>
            </a:r>
            <a:r>
              <a:rPr sz="1100" b="1" spc="-20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</a:rPr>
              <a:t>CyberRAG: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</a:rPr>
              <a:t>agentic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RAG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</a:rPr>
              <a:t>cyber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attack </a:t>
            </a: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</a:rPr>
              <a:t>classification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</a:rPr>
              <a:t>reporting</a:t>
            </a:r>
            <a:r>
              <a:rPr sz="1100" b="1" spc="-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tool,”</a:t>
            </a:r>
            <a:r>
              <a:rPr sz="11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6E7B7D"/>
                </a:solidFill>
                <a:latin typeface="Arial"/>
                <a:cs typeface="Arial"/>
              </a:rPr>
              <a:t>Future </a:t>
            </a:r>
            <a:r>
              <a:rPr sz="1000" i="1" spc="-45" dirty="0">
                <a:solidFill>
                  <a:srgbClr val="6E7B7D"/>
                </a:solidFill>
                <a:latin typeface="Arial"/>
                <a:cs typeface="Arial"/>
              </a:rPr>
              <a:t>Generation</a:t>
            </a:r>
            <a:r>
              <a:rPr sz="1000" i="1" spc="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6E7B7D"/>
                </a:solidFill>
                <a:latin typeface="Arial"/>
                <a:cs typeface="Arial"/>
              </a:rPr>
              <a:t>Computer</a:t>
            </a:r>
            <a:r>
              <a:rPr sz="1000" i="1" spc="1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6E7B7D"/>
                </a:solidFill>
                <a:latin typeface="Arial"/>
                <a:cs typeface="Arial"/>
              </a:rPr>
              <a:t>Systems</a:t>
            </a:r>
            <a:r>
              <a:rPr sz="1000" spc="-50" dirty="0">
                <a:solidFill>
                  <a:srgbClr val="6E7B7D"/>
                </a:solidFill>
                <a:latin typeface="Microsoft Sans Serif"/>
                <a:cs typeface="Microsoft Sans Serif"/>
              </a:rPr>
              <a:t>,</a:t>
            </a:r>
            <a:r>
              <a:rPr sz="1000" spc="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vol.</a:t>
            </a:r>
            <a:r>
              <a:rPr sz="1000" spc="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E7B7D"/>
                </a:solidFill>
                <a:latin typeface="Microsoft Sans Serif"/>
                <a:cs typeface="Microsoft Sans Serif"/>
              </a:rPr>
              <a:t>176,</a:t>
            </a:r>
            <a:r>
              <a:rPr sz="1000" spc="2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6E7B7D"/>
                </a:solidFill>
                <a:latin typeface="Microsoft Sans Serif"/>
                <a:cs typeface="Microsoft Sans Serif"/>
              </a:rPr>
              <a:t>2026,</a:t>
            </a:r>
            <a:r>
              <a:rPr sz="1000" spc="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E7B7D"/>
                </a:solidFill>
                <a:latin typeface="Cambria"/>
                <a:cs typeface="Cambria"/>
              </a:rPr>
              <a:t>issn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:</a:t>
            </a:r>
            <a:r>
              <a:rPr sz="1000" spc="2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40" dirty="0">
                <a:solidFill>
                  <a:srgbClr val="6E7B7D"/>
                </a:solidFill>
                <a:latin typeface="Microsoft Sans Serif"/>
                <a:cs typeface="Microsoft Sans Serif"/>
              </a:rPr>
              <a:t>0167739X.</a:t>
            </a:r>
            <a:r>
              <a:rPr sz="1000" spc="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30" dirty="0">
                <a:solidFill>
                  <a:srgbClr val="6E7B7D"/>
                </a:solidFill>
                <a:latin typeface="Cambria"/>
                <a:cs typeface="Cambria"/>
              </a:rPr>
              <a:t>doi</a:t>
            </a:r>
            <a:r>
              <a:rPr sz="1000" spc="30" dirty="0">
                <a:solidFill>
                  <a:srgbClr val="6E7B7D"/>
                </a:solidFill>
                <a:latin typeface="Microsoft Sans Serif"/>
                <a:cs typeface="Microsoft Sans Serif"/>
              </a:rPr>
              <a:t>: </a:t>
            </a:r>
            <a:r>
              <a:rPr sz="1000" spc="-10" dirty="0">
                <a:solidFill>
                  <a:srgbClr val="6E7B7D"/>
                </a:solidFill>
                <a:latin typeface="Georgia"/>
                <a:cs typeface="Georgia"/>
                <a:hlinkClick r:id="rId3"/>
              </a:rPr>
              <a:t>10.1016/j.future.2025.108186</a:t>
            </a:r>
            <a:endParaRPr sz="1000">
              <a:latin typeface="Georgia"/>
              <a:cs typeface="Georgia"/>
            </a:endParaRPr>
          </a:p>
          <a:p>
            <a:pPr marL="12700" marR="120650">
              <a:lnSpc>
                <a:spcPct val="87000"/>
              </a:lnSpc>
              <a:spcBef>
                <a:spcPts val="290"/>
              </a:spcBef>
            </a:pP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S.</a:t>
            </a:r>
            <a:r>
              <a:rPr sz="1100" spc="-4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22373A"/>
                </a:solidFill>
                <a:latin typeface="Arial MT"/>
                <a:cs typeface="Arial MT"/>
              </a:rPr>
              <a:t>Bussari,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P. 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Punj,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2373A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Arial MT"/>
                <a:cs typeface="Arial MT"/>
              </a:rPr>
              <a:t>G.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22373A"/>
                </a:solidFill>
                <a:latin typeface="Arial MT"/>
                <a:cs typeface="Arial MT"/>
              </a:rPr>
              <a:t>Balakumar,</a:t>
            </a:r>
            <a:r>
              <a:rPr sz="1100" spc="1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b="1" spc="-160" dirty="0">
                <a:solidFill>
                  <a:srgbClr val="22373A"/>
                </a:solidFill>
                <a:latin typeface="Arial"/>
                <a:cs typeface="Arial"/>
              </a:rPr>
              <a:t>“</a:t>
            </a:r>
            <a:r>
              <a:rPr sz="1100" b="1" spc="-20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5" dirty="0">
                <a:solidFill>
                  <a:srgbClr val="22373A"/>
                </a:solidFill>
                <a:latin typeface="Arial"/>
                <a:cs typeface="Arial"/>
              </a:rPr>
              <a:t>RAGSec:</a:t>
            </a:r>
            <a:r>
              <a:rPr sz="11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</a:rPr>
              <a:t>Retrieval-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Augmented 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</a:rPr>
              <a:t>Generation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sz="11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22373A"/>
                </a:solidFill>
                <a:latin typeface="Arial"/>
                <a:cs typeface="Arial"/>
              </a:rPr>
              <a:t>Cybersecurity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Threat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</a:rPr>
              <a:t>Intelligence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Enterprise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</a:rPr>
              <a:t>Networks,” </a:t>
            </a:r>
            <a:r>
              <a:rPr sz="1000" i="1" spc="-40" dirty="0">
                <a:solidFill>
                  <a:srgbClr val="6E7B7D"/>
                </a:solidFill>
                <a:latin typeface="Arial"/>
                <a:cs typeface="Arial"/>
              </a:rPr>
              <a:t>2026</a:t>
            </a:r>
            <a:r>
              <a:rPr sz="1000" i="1" spc="1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6E7B7D"/>
                </a:solidFill>
                <a:latin typeface="Arial"/>
                <a:cs typeface="Arial"/>
              </a:rPr>
              <a:t>IEEE</a:t>
            </a:r>
            <a:r>
              <a:rPr sz="1000" i="1" spc="2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5th</a:t>
            </a:r>
            <a:r>
              <a:rPr sz="1000" i="1" spc="1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6E7B7D"/>
                </a:solidFill>
                <a:latin typeface="Arial"/>
                <a:cs typeface="Arial"/>
              </a:rPr>
              <a:t>International</a:t>
            </a:r>
            <a:r>
              <a:rPr sz="1000" i="1" spc="2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55" dirty="0">
                <a:solidFill>
                  <a:srgbClr val="6E7B7D"/>
                </a:solidFill>
                <a:latin typeface="Arial"/>
                <a:cs typeface="Arial"/>
              </a:rPr>
              <a:t>Conference</a:t>
            </a:r>
            <a:r>
              <a:rPr sz="1000" i="1" spc="2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on</a:t>
            </a:r>
            <a:r>
              <a:rPr sz="1000" i="1" spc="1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AI</a:t>
            </a:r>
            <a:r>
              <a:rPr sz="1000" i="1" spc="2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in</a:t>
            </a:r>
            <a:r>
              <a:rPr sz="1000" i="1" spc="20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6E7B7D"/>
                </a:solidFill>
                <a:latin typeface="Arial"/>
                <a:cs typeface="Arial"/>
              </a:rPr>
              <a:t>Cybersecurity</a:t>
            </a:r>
            <a:r>
              <a:rPr sz="1000" i="1" spc="1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6E7B7D"/>
                </a:solidFill>
                <a:latin typeface="Arial"/>
                <a:cs typeface="Arial"/>
              </a:rPr>
              <a:t>(ICAIC)</a:t>
            </a:r>
            <a:r>
              <a:rPr sz="1000" spc="-10" dirty="0">
                <a:solidFill>
                  <a:srgbClr val="6E7B7D"/>
                </a:solidFill>
                <a:latin typeface="Microsoft Sans Serif"/>
                <a:cs typeface="Microsoft Sans Serif"/>
              </a:rPr>
              <a:t>,</a:t>
            </a:r>
            <a:r>
              <a:rPr sz="1000" spc="3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pp.</a:t>
            </a:r>
            <a:r>
              <a:rPr sz="1000" spc="3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1–6,</a:t>
            </a:r>
            <a:r>
              <a:rPr sz="1000" spc="3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6E7B7D"/>
                </a:solidFill>
                <a:latin typeface="Microsoft Sans Serif"/>
                <a:cs typeface="Microsoft Sans Serif"/>
              </a:rPr>
              <a:t>Feb. </a:t>
            </a:r>
            <a:r>
              <a:rPr sz="1000" spc="-35" dirty="0">
                <a:solidFill>
                  <a:srgbClr val="6E7B7D"/>
                </a:solidFill>
                <a:latin typeface="Microsoft Sans Serif"/>
                <a:cs typeface="Microsoft Sans Serif"/>
              </a:rPr>
              <a:t>2026.</a:t>
            </a:r>
            <a:r>
              <a:rPr sz="1000" spc="1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50" dirty="0">
                <a:solidFill>
                  <a:srgbClr val="6E7B7D"/>
                </a:solidFill>
                <a:latin typeface="Cambria"/>
                <a:cs typeface="Cambria"/>
              </a:rPr>
              <a:t>doi</a:t>
            </a:r>
            <a:r>
              <a:rPr sz="1000" spc="50" dirty="0">
                <a:solidFill>
                  <a:srgbClr val="6E7B7D"/>
                </a:solidFill>
                <a:latin typeface="Microsoft Sans Serif"/>
                <a:cs typeface="Microsoft Sans Serif"/>
              </a:rPr>
              <a:t>:</a:t>
            </a:r>
            <a:r>
              <a:rPr sz="1000" spc="1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E7B7D"/>
                </a:solidFill>
                <a:latin typeface="Georgia"/>
                <a:cs typeface="Georgia"/>
                <a:hlinkClick r:id="rId4"/>
              </a:rPr>
              <a:t>10.1109/ICAIC67076.2026.11395762</a:t>
            </a:r>
            <a:r>
              <a:rPr sz="1000" spc="145" dirty="0">
                <a:solidFill>
                  <a:srgbClr val="6E7B7D"/>
                </a:solidFill>
                <a:latin typeface="Georgia"/>
                <a:cs typeface="Georgia"/>
              </a:rPr>
              <a:t> </a:t>
            </a:r>
            <a:r>
              <a:rPr sz="1000" spc="-20" dirty="0">
                <a:solidFill>
                  <a:srgbClr val="6E7B7D"/>
                </a:solidFill>
                <a:latin typeface="Microsoft Sans Serif"/>
                <a:cs typeface="Microsoft Sans Serif"/>
              </a:rPr>
              <a:t>[Online].</a:t>
            </a:r>
            <a:r>
              <a:rPr sz="1000" spc="1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E7B7D"/>
                </a:solidFill>
                <a:latin typeface="Microsoft Sans Serif"/>
                <a:cs typeface="Microsoft Sans Serif"/>
              </a:rPr>
              <a:t>Available: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ts val="1040"/>
              </a:lnSpc>
            </a:pPr>
            <a:r>
              <a:rPr sz="1000" spc="-10" dirty="0">
                <a:solidFill>
                  <a:srgbClr val="6E7B7D"/>
                </a:solidFill>
                <a:latin typeface="Georgia"/>
                <a:cs typeface="Georgia"/>
                <a:hlinkClick r:id="rId5"/>
              </a:rPr>
              <a:t>https://ieeexplore.ieee.org/document/11395762</a:t>
            </a:r>
            <a:endParaRPr sz="1000">
              <a:latin typeface="Georgia"/>
              <a:cs typeface="Georgia"/>
            </a:endParaRPr>
          </a:p>
          <a:p>
            <a:pPr marL="12700" marR="5080">
              <a:lnSpc>
                <a:spcPct val="84100"/>
              </a:lnSpc>
              <a:spcBef>
                <a:spcPts val="330"/>
              </a:spcBef>
            </a:pPr>
            <a:r>
              <a:rPr sz="1100" spc="-40" dirty="0">
                <a:solidFill>
                  <a:srgbClr val="22373A"/>
                </a:solidFill>
                <a:latin typeface="Arial MT"/>
                <a:cs typeface="Arial MT"/>
              </a:rPr>
              <a:t>Ismail</a:t>
            </a:r>
            <a:r>
              <a:rPr sz="1100" spc="-3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et</a:t>
            </a:r>
            <a:r>
              <a:rPr sz="1100" spc="-2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al.,</a:t>
            </a:r>
            <a:r>
              <a:rPr sz="1100" spc="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b="1" spc="-160" dirty="0">
                <a:solidFill>
                  <a:srgbClr val="22373A"/>
                </a:solidFill>
                <a:latin typeface="Arial"/>
                <a:cs typeface="Arial"/>
              </a:rPr>
              <a:t>“</a:t>
            </a:r>
            <a:r>
              <a:rPr sz="1100" b="1" spc="-2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55" dirty="0">
                <a:solidFill>
                  <a:srgbClr val="22373A"/>
                </a:solidFill>
                <a:latin typeface="Arial"/>
                <a:cs typeface="Arial"/>
              </a:rPr>
              <a:t>Enhancing</a:t>
            </a:r>
            <a:r>
              <a:rPr sz="1100" b="1" spc="2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11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</a:rPr>
              <a:t>Operations</a:t>
            </a:r>
            <a:r>
              <a:rPr sz="11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Center:</a:t>
            </a:r>
            <a:r>
              <a:rPr sz="1100" b="1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Wazuh</a:t>
            </a:r>
            <a:r>
              <a:rPr sz="11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sz="1100" b="1" spc="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Event </a:t>
            </a:r>
            <a:r>
              <a:rPr sz="1100" b="1" spc="-75" dirty="0">
                <a:solidFill>
                  <a:srgbClr val="22373A"/>
                </a:solidFill>
                <a:latin typeface="Arial"/>
                <a:cs typeface="Arial"/>
              </a:rPr>
              <a:t>Response</a:t>
            </a:r>
            <a:r>
              <a:rPr sz="1100" b="1" spc="4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sz="11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</a:rPr>
              <a:t>Retrieval-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Augmented-</a:t>
            </a:r>
            <a:r>
              <a:rPr sz="1100" b="1" spc="-35" dirty="0">
                <a:solidFill>
                  <a:srgbClr val="22373A"/>
                </a:solidFill>
                <a:latin typeface="Arial"/>
                <a:cs typeface="Arial"/>
              </a:rPr>
              <a:t>Generation-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Driven</a:t>
            </a:r>
            <a:r>
              <a:rPr sz="1100" b="1" spc="5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22373A"/>
                </a:solidFill>
                <a:latin typeface="Arial"/>
                <a:cs typeface="Arial"/>
              </a:rPr>
              <a:t>Copilot,”</a:t>
            </a:r>
            <a:r>
              <a:rPr sz="1100" b="1" spc="8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6E7B7D"/>
                </a:solidFill>
                <a:latin typeface="Arial"/>
                <a:cs typeface="Arial"/>
              </a:rPr>
              <a:t>Sensors</a:t>
            </a:r>
            <a:r>
              <a:rPr sz="1000" spc="-10" dirty="0">
                <a:solidFill>
                  <a:srgbClr val="6E7B7D"/>
                </a:solidFill>
                <a:latin typeface="Microsoft Sans Serif"/>
                <a:cs typeface="Microsoft Sans Serif"/>
              </a:rPr>
              <a:t>, 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vol.</a:t>
            </a:r>
            <a:r>
              <a:rPr sz="1000" spc="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E7B7D"/>
                </a:solidFill>
                <a:latin typeface="Microsoft Sans Serif"/>
                <a:cs typeface="Microsoft Sans Serif"/>
              </a:rPr>
              <a:t>25,</a:t>
            </a:r>
            <a:r>
              <a:rPr sz="1000" spc="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no.</a:t>
            </a:r>
            <a:r>
              <a:rPr sz="1000" spc="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3,</a:t>
            </a:r>
            <a:r>
              <a:rPr sz="1000" spc="2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6E7B7D"/>
                </a:solidFill>
                <a:latin typeface="Microsoft Sans Serif"/>
                <a:cs typeface="Microsoft Sans Serif"/>
              </a:rPr>
              <a:t>2025,</a:t>
            </a:r>
            <a:r>
              <a:rPr sz="1000" spc="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E7B7D"/>
                </a:solidFill>
                <a:latin typeface="Cambria"/>
                <a:cs typeface="Cambria"/>
              </a:rPr>
              <a:t>issn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:</a:t>
            </a:r>
            <a:r>
              <a:rPr sz="1000" spc="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6E7B7D"/>
                </a:solidFill>
                <a:latin typeface="Microsoft Sans Serif"/>
                <a:cs typeface="Microsoft Sans Serif"/>
              </a:rPr>
              <a:t>14248220.</a:t>
            </a:r>
            <a:r>
              <a:rPr sz="1000" spc="2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50" dirty="0">
                <a:solidFill>
                  <a:srgbClr val="6E7B7D"/>
                </a:solidFill>
                <a:latin typeface="Cambria"/>
                <a:cs typeface="Cambria"/>
              </a:rPr>
              <a:t>doi</a:t>
            </a:r>
            <a:r>
              <a:rPr sz="1000" spc="50" dirty="0">
                <a:solidFill>
                  <a:srgbClr val="6E7B7D"/>
                </a:solidFill>
                <a:latin typeface="Microsoft Sans Serif"/>
                <a:cs typeface="Microsoft Sans Serif"/>
              </a:rPr>
              <a:t>:</a:t>
            </a:r>
            <a:r>
              <a:rPr sz="1000" spc="2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E7B7D"/>
                </a:solidFill>
                <a:latin typeface="Georgia"/>
                <a:cs typeface="Georgia"/>
                <a:hlinkClick r:id="rId6"/>
              </a:rPr>
              <a:t>10.3390/s25030870</a:t>
            </a:r>
            <a:endParaRPr sz="1000">
              <a:latin typeface="Georgia"/>
              <a:cs typeface="Georgia"/>
            </a:endParaRPr>
          </a:p>
          <a:p>
            <a:pPr marL="12700" marR="97790">
              <a:lnSpc>
                <a:spcPct val="84100"/>
              </a:lnSpc>
              <a:spcBef>
                <a:spcPts val="235"/>
              </a:spcBef>
            </a:pP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W.</a:t>
            </a:r>
            <a:r>
              <a:rPr sz="1100" spc="-1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Arial MT"/>
                <a:cs typeface="Arial MT"/>
              </a:rPr>
              <a:t>Qiao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 et</a:t>
            </a:r>
            <a:r>
              <a:rPr sz="1100" spc="5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22373A"/>
                </a:solidFill>
                <a:latin typeface="Arial MT"/>
                <a:cs typeface="Arial MT"/>
              </a:rPr>
              <a:t>al.,</a:t>
            </a:r>
            <a:r>
              <a:rPr sz="1100" spc="30" dirty="0">
                <a:solidFill>
                  <a:srgbClr val="22373A"/>
                </a:solidFill>
                <a:latin typeface="Arial MT"/>
                <a:cs typeface="Arial MT"/>
              </a:rPr>
              <a:t> </a:t>
            </a:r>
            <a:r>
              <a:rPr sz="1100" b="1" spc="-160" dirty="0">
                <a:solidFill>
                  <a:srgbClr val="22373A"/>
                </a:solidFill>
                <a:latin typeface="Arial"/>
                <a:cs typeface="Arial"/>
              </a:rPr>
              <a:t>“</a:t>
            </a:r>
            <a:r>
              <a:rPr sz="1100" b="1" spc="-204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22373A"/>
                </a:solidFill>
                <a:latin typeface="Arial"/>
                <a:cs typeface="Arial"/>
              </a:rPr>
              <a:t>SauronEyes: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Disentangling</a:t>
            </a:r>
            <a:r>
              <a:rPr sz="11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22373A"/>
                </a:solidFill>
                <a:latin typeface="Arial"/>
                <a:cs typeface="Arial"/>
              </a:rPr>
              <a:t>Voluminous</a:t>
            </a:r>
            <a:r>
              <a:rPr sz="11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60" dirty="0">
                <a:solidFill>
                  <a:srgbClr val="22373A"/>
                </a:solidFill>
                <a:latin typeface="Arial"/>
                <a:cs typeface="Arial"/>
              </a:rPr>
              <a:t>Logs</a:t>
            </a:r>
            <a:r>
              <a:rPr sz="11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sz="1100" b="1" spc="3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Arial"/>
                <a:cs typeface="Arial"/>
              </a:rPr>
              <a:t>Unveil </a:t>
            </a:r>
            <a:r>
              <a:rPr sz="1100" b="1" spc="-40" dirty="0">
                <a:solidFill>
                  <a:srgbClr val="22373A"/>
                </a:solidFill>
                <a:latin typeface="Arial"/>
                <a:cs typeface="Arial"/>
              </a:rPr>
              <a:t>Camouflaged</a:t>
            </a:r>
            <a:r>
              <a:rPr sz="1100" b="1" spc="2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2373A"/>
                </a:solidFill>
                <a:latin typeface="Arial"/>
                <a:cs typeface="Arial"/>
              </a:rPr>
              <a:t>Attack</a:t>
            </a:r>
            <a:r>
              <a:rPr sz="1100" b="1" spc="3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22373A"/>
                </a:solidFill>
                <a:latin typeface="Arial"/>
                <a:cs typeface="Arial"/>
              </a:rPr>
              <a:t>Intentions,”</a:t>
            </a:r>
            <a:r>
              <a:rPr sz="1100" b="1" spc="5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6E7B7D"/>
                </a:solidFill>
                <a:latin typeface="Arial"/>
                <a:cs typeface="Arial"/>
              </a:rPr>
              <a:t>IEEE</a:t>
            </a:r>
            <a:r>
              <a:rPr sz="1000" i="1" spc="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6E7B7D"/>
                </a:solidFill>
                <a:latin typeface="Arial"/>
                <a:cs typeface="Arial"/>
              </a:rPr>
              <a:t>Transactions</a:t>
            </a:r>
            <a:r>
              <a:rPr sz="1000" i="1" spc="5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on </a:t>
            </a:r>
            <a:r>
              <a:rPr sz="1000" i="1" spc="-20" dirty="0">
                <a:solidFill>
                  <a:srgbClr val="6E7B7D"/>
                </a:solidFill>
                <a:latin typeface="Arial"/>
                <a:cs typeface="Arial"/>
              </a:rPr>
              <a:t>Information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70" dirty="0">
                <a:solidFill>
                  <a:srgbClr val="6E7B7D"/>
                </a:solidFill>
                <a:latin typeface="Arial"/>
                <a:cs typeface="Arial"/>
              </a:rPr>
              <a:t>Forensics</a:t>
            </a:r>
            <a:r>
              <a:rPr sz="1000" i="1" dirty="0">
                <a:solidFill>
                  <a:srgbClr val="6E7B7D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6E7B7D"/>
                </a:solidFill>
                <a:latin typeface="Arial"/>
                <a:cs typeface="Arial"/>
              </a:rPr>
              <a:t>and Security</a:t>
            </a:r>
            <a:r>
              <a:rPr sz="1000" spc="-25" dirty="0">
                <a:solidFill>
                  <a:srgbClr val="6E7B7D"/>
                </a:solidFill>
                <a:latin typeface="Microsoft Sans Serif"/>
                <a:cs typeface="Microsoft Sans Serif"/>
              </a:rPr>
              <a:t>,</a:t>
            </a:r>
            <a:r>
              <a:rPr sz="1000" spc="2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vol.</a:t>
            </a:r>
            <a:r>
              <a:rPr sz="1000" spc="3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E7B7D"/>
                </a:solidFill>
                <a:latin typeface="Microsoft Sans Serif"/>
                <a:cs typeface="Microsoft Sans Serif"/>
              </a:rPr>
              <a:t>20,</a:t>
            </a:r>
            <a:r>
              <a:rPr sz="1000" spc="2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6E7B7D"/>
                </a:solidFill>
                <a:latin typeface="Microsoft Sans Serif"/>
                <a:cs typeface="Microsoft Sans Serif"/>
              </a:rPr>
              <a:t>2025,</a:t>
            </a:r>
            <a:r>
              <a:rPr sz="1000" spc="3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6E7B7D"/>
                </a:solidFill>
                <a:latin typeface="Cambria"/>
                <a:cs typeface="Cambria"/>
              </a:rPr>
              <a:t>issn</a:t>
            </a:r>
            <a:r>
              <a:rPr sz="1000" dirty="0">
                <a:solidFill>
                  <a:srgbClr val="6E7B7D"/>
                </a:solidFill>
                <a:latin typeface="Microsoft Sans Serif"/>
                <a:cs typeface="Microsoft Sans Serif"/>
              </a:rPr>
              <a:t>:</a:t>
            </a:r>
            <a:r>
              <a:rPr sz="1000" spc="25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45" dirty="0">
                <a:solidFill>
                  <a:srgbClr val="6E7B7D"/>
                </a:solidFill>
                <a:latin typeface="Microsoft Sans Serif"/>
                <a:cs typeface="Microsoft Sans Serif"/>
              </a:rPr>
              <a:t>15566021.</a:t>
            </a:r>
            <a:r>
              <a:rPr sz="1000" spc="3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50" dirty="0">
                <a:solidFill>
                  <a:srgbClr val="6E7B7D"/>
                </a:solidFill>
                <a:latin typeface="Cambria"/>
                <a:cs typeface="Cambria"/>
              </a:rPr>
              <a:t>doi</a:t>
            </a:r>
            <a:r>
              <a:rPr sz="1000" spc="50" dirty="0">
                <a:solidFill>
                  <a:srgbClr val="6E7B7D"/>
                </a:solidFill>
                <a:latin typeface="Microsoft Sans Serif"/>
                <a:cs typeface="Microsoft Sans Serif"/>
              </a:rPr>
              <a:t>:</a:t>
            </a:r>
            <a:r>
              <a:rPr sz="1000" spc="30" dirty="0">
                <a:solidFill>
                  <a:srgbClr val="6E7B7D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6E7B7D"/>
                </a:solidFill>
                <a:latin typeface="Georgia"/>
                <a:cs typeface="Georgia"/>
                <a:hlinkClick r:id="rId7"/>
              </a:rPr>
              <a:t>10.1109/TIFS.2025.3618381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15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7849" y="1542700"/>
            <a:ext cx="1665605" cy="35458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85"/>
              </a:spcBef>
            </a:pPr>
            <a:r>
              <a:rPr sz="1400" b="1" spc="50" dirty="0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sz="1400" b="1" spc="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82" y="2998905"/>
            <a:ext cx="241983" cy="1871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3285" y="2998965"/>
            <a:ext cx="187057" cy="1870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349" y="2998815"/>
            <a:ext cx="187208" cy="18720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35" dirty="0"/>
              <a:t>16</a:t>
            </a:r>
            <a:r>
              <a:rPr spc="-80" dirty="0"/>
              <a:t> </a:t>
            </a:r>
            <a:r>
              <a:rPr spc="195" dirty="0"/>
              <a:t>/</a:t>
            </a:r>
            <a:r>
              <a:rPr spc="-75" dirty="0"/>
              <a:t> </a:t>
            </a: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8917</Words>
  <Application>Microsoft Office PowerPoint</Application>
  <PresentationFormat>Custom</PresentationFormat>
  <Paragraphs>892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 MT</vt:lpstr>
      <vt:lpstr>Arial</vt:lpstr>
      <vt:lpstr>Cambria</vt:lpstr>
      <vt:lpstr>Georgia</vt:lpstr>
      <vt:lpstr>Lucida Sans Unicode</vt:lpstr>
      <vt:lpstr>Microsoft Sans Serif</vt:lpstr>
      <vt:lpstr>Microsoft Tai Le</vt:lpstr>
      <vt:lpstr>Times New Roman</vt:lpstr>
      <vt:lpstr>Trebuchet MS</vt:lpstr>
      <vt:lpstr>Office Theme</vt:lpstr>
      <vt:lpstr>From Fragmented Alerts to Actionable Intelligence:</vt:lpstr>
      <vt:lpstr>The problem</vt:lpstr>
      <vt:lpstr>The claim</vt:lpstr>
      <vt:lpstr>The pipeline</vt:lpstr>
      <vt:lpstr>From alerts to a scoped candidate set</vt:lpstr>
      <vt:lpstr>Experimental setup</vt:lpstr>
      <vt:lpstr>Classification results (CIC-IDS)</vt:lpstr>
      <vt:lpstr>Where the errors come from</vt:lpstr>
      <vt:lpstr>Is the graph actually doing the work?</vt:lpstr>
      <vt:lpstr>Transfer to host audit logs (DARPA)</vt:lpstr>
      <vt:lpstr>Correctness and grounding can diverge</vt:lpstr>
      <vt:lpstr>Limitations</vt:lpstr>
      <vt:lpstr>Contributions</vt:lpstr>
      <vt:lpstr>Conclusions and future work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Fragmented Alerts to Actionable Intelligence: - Behaviour-Anchored Retrieval for Incident Reporting on SIEM Log Streams</dc:title>
  <dc:creator>Joel Isaria Mwende, Prof. Dr. Reiner Creutzburg , Navaneeth Shivananjappa, Prof. Dr. Tuğçe Ballı</dc:creator>
  <cp:lastModifiedBy>MWENDE JOEL ISARIA</cp:lastModifiedBy>
  <cp:revision>4</cp:revision>
  <dcterms:created xsi:type="dcterms:W3CDTF">2026-09-07T10:13:25Z</dcterms:created>
  <dcterms:modified xsi:type="dcterms:W3CDTF">2026-09-17T07:31:05Z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2026-09-07T00:00:00Z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2026-09-07T00:00:00Z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