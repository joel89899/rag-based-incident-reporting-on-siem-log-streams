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 id="279" r:id="rId24"/>
    <p:sldId id="280" r:id="rId25"/>
    <p:sldId id="281" r:id="rId26"/>
    <p:sldId id="282" r:id="rId27"/>
    <p:sldId id="284" r:id="rId28"/>
    <p:sldId id="285" r:id="rId29"/>
    <p:sldId id="286" r:id="rId30"/>
    <p:sldId id="287" r:id="rId31"/>
    <p:sldId id="288" r:id="rId32"/>
    <p:sldId id="289" r:id="rId33"/>
  </p:sldIdLst>
  <p:sldSz cx="5765800" cy="3244850"/>
  <p:notesSz cx="5765800" cy="3244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7506" autoAdjust="0"/>
  </p:normalViewPr>
  <p:slideViewPr>
    <p:cSldViewPr>
      <p:cViewPr varScale="1">
        <p:scale>
          <a:sx n="130" d="100"/>
          <a:sy n="130" d="100"/>
        </p:scale>
        <p:origin x="2448" y="10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9735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 sz="1200" b="0" i="0" kern="1200" dirty="0">
                <a:solidFill>
                  <a:schemeClr val="tx1"/>
                </a:solidFill>
                <a:effectLst/>
                <a:latin typeface="+mn-lt"/>
                <a:ea typeface="+mn-ea"/>
                <a:cs typeface="+mn-cs"/>
              </a:rPr>
              <a:t>Good morning/afternoon, esteemed supervisors and committee members. </a:t>
            </a:r>
          </a:p>
          <a:p>
            <a:endParaRPr lang="" sz="1200" b="0" i="0" kern="1200" dirty="0">
              <a:solidFill>
                <a:schemeClr val="tx1"/>
              </a:solidFill>
              <a:effectLst/>
              <a:latin typeface="+mn-lt"/>
              <a:ea typeface="+mn-ea"/>
              <a:cs typeface="+mn-cs"/>
            </a:endParaRPr>
          </a:p>
          <a:p>
            <a:r>
              <a:rPr lang="" sz="1200" b="0" i="0" kern="1200" dirty="0">
                <a:solidFill>
                  <a:schemeClr val="tx1"/>
                </a:solidFill>
                <a:effectLst/>
                <a:latin typeface="+mn-lt"/>
                <a:ea typeface="+mn-ea"/>
                <a:cs typeface="+mn-cs"/>
              </a:rPr>
              <a:t>My name is Joel Isaria Mwende, and today I am presenting my Master’s thesis titled: </a:t>
            </a:r>
          </a:p>
          <a:p>
            <a:endParaRPr lang="" sz="1200" b="0" i="0" kern="1200" dirty="0">
              <a:solidFill>
                <a:schemeClr val="tx1"/>
              </a:solidFill>
              <a:effectLst/>
              <a:latin typeface="+mn-lt"/>
              <a:ea typeface="+mn-ea"/>
              <a:cs typeface="+mn-cs"/>
            </a:endParaRPr>
          </a:p>
          <a:p>
            <a:r>
              <a:rPr lang="" sz="1200" b="0" i="0" kern="1200" dirty="0">
                <a:solidFill>
                  <a:schemeClr val="tx1"/>
                </a:solidFill>
                <a:effectLst/>
                <a:latin typeface="+mn-lt"/>
                <a:ea typeface="+mn-ea"/>
                <a:cs typeface="+mn-cs"/>
              </a:rPr>
              <a:t>This work was conducted under the supervision of</a:t>
            </a:r>
          </a:p>
          <a:p>
            <a:endParaRPr lang="" sz="1200" b="0" i="0" kern="1200" dirty="0">
              <a:solidFill>
                <a:schemeClr val="tx1"/>
              </a:solidFill>
              <a:effectLst/>
              <a:latin typeface="+mn-lt"/>
              <a:ea typeface="+mn-ea"/>
              <a:cs typeface="+mn-cs"/>
            </a:endParaRPr>
          </a:p>
          <a:p>
            <a:r>
              <a:rPr lang="" sz="1200" b="0" i="0" kern="1200" dirty="0">
                <a:solidFill>
                  <a:schemeClr val="tx1"/>
                </a:solidFill>
                <a:effectLst/>
                <a:latin typeface="+mn-lt"/>
                <a:ea typeface="+mn-ea"/>
                <a:cs typeface="+mn-cs"/>
              </a:rPr>
              <a:t>Thank you for being here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 s]</a:t>
            </a:r>
          </a:p>
          <a:p>
            <a:endParaRPr/>
          </a:p>
          <a:p>
            <a:r>
              <a:t>SAY: "Five parts. The problem and my research questions, then the pipeline</a:t>
            </a:r>
          </a:p>
          <a:p>
            <a:r>
              <a:t>itself, the experimental setup, the results, and finally limitations and</a:t>
            </a:r>
          </a:p>
          <a:p>
            <a:r>
              <a:t>conclusions."</a:t>
            </a:r>
          </a:p>
          <a:p>
            <a:endParaRPr/>
          </a:p>
          <a:p>
            <a:r>
              <a:t>Don't linger. Click straight through.</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 sz="1200" b="0" i="0" kern="1200" dirty="0">
                <a:solidFill>
                  <a:schemeClr val="tx1"/>
                </a:solidFill>
                <a:effectLst/>
                <a:latin typeface="+mn-lt"/>
                <a:ea typeface="+mn-ea"/>
                <a:cs typeface="+mn-cs"/>
              </a:rPr>
              <a:t>Let’s start with the core problem. </a:t>
            </a:r>
          </a:p>
          <a:p>
            <a:r>
              <a:rPr lang="" sz="1200" b="0" i="0" kern="1200" dirty="0">
                <a:solidFill>
                  <a:schemeClr val="tx1"/>
                </a:solidFill>
                <a:effectLst/>
                <a:latin typeface="+mn-lt"/>
                <a:ea typeface="+mn-ea"/>
                <a:cs typeface="+mn-cs"/>
              </a:rPr>
              <a:t>Modern Security Operations Centers are drowning in data. It is routine for a SOC to receive over 10,000 alerts per day, and up to 70% of these are false positives. </a:t>
            </a:r>
          </a:p>
          <a:p>
            <a:r>
              <a:rPr lang="" sz="1200" b="0" i="0" kern="1200" dirty="0">
                <a:solidFill>
                  <a:schemeClr val="tx1"/>
                </a:solidFill>
                <a:effectLst/>
                <a:latin typeface="+mn-lt"/>
                <a:ea typeface="+mn-ea"/>
                <a:cs typeface="+mn-cs"/>
              </a:rPr>
              <a:t>Because skilled threat-hunting analysts are scarce, triage inevitably stops at the top of the queue. This 'alert fatigue' is not a failure of individual effort; it is a structural mismatch between the volume of machine-generated telemetry and the pace at which humans can process it meaningfully</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[~90 s]</a:t>
            </a:r>
          </a:p>
          <a:p>
            <a:endParaRPr/>
          </a:p>
          <a:p>
            <a:r>
              <a:t>START: "Existing tools leave three gaps."</a:t>
            </a:r>
          </a:p>
          <a:p>
            <a:endParaRPr/>
          </a:p>
          <a:p>
            <a:r>
              <a:t>• PRIVACY — most send logs to a cloud API. Defence, healthcare, critical</a:t>
            </a:r>
          </a:p>
          <a:p>
            <a:r>
              <a:t>  infrastructure can't. The people who need this most are excluded.</a:t>
            </a:r>
          </a:p>
          <a:p>
            <a:r>
              <a:t>• GROUPING — attacks unfold over many alerts across hours. Most tools classify</a:t>
            </a:r>
          </a:p>
          <a:p>
            <a:r>
              <a:t>  each alert alone and lose the thread.</a:t>
            </a:r>
          </a:p>
          <a:p>
            <a:r>
              <a:t>• VERIFIABILITY — reports get scored on text similarity or expert opinion,</a:t>
            </a:r>
          </a:p>
          <a:p>
            <a:r>
              <a:t>  never against authoritative threat knowledge.</a:t>
            </a:r>
          </a:p>
          <a:p>
            <a:endParaRPr/>
          </a:p>
          <a:p>
            <a:r>
              <a:t>CLOSE: "This thesis addresses all three in one pipeline."</a:t>
            </a:r>
          </a:p>
          <a:p>
            <a:endParaRPr/>
          </a:p>
          <a:p>
            <a:r>
              <a:t>STUCK? Read the three bold words. That's enough.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[~60 s]</a:t>
            </a:r>
          </a:p>
          <a:p>
            <a:endParaRPr dirty="0"/>
          </a:p>
          <a:p>
            <a:r>
              <a:rPr dirty="0"/>
              <a:t>SAY: "Three research questions. Can clustering group related alerts. Can an LLM</a:t>
            </a:r>
          </a:p>
          <a:p>
            <a:r>
              <a:rPr dirty="0"/>
              <a:t>turn those groups into a meaningful representation of attack </a:t>
            </a:r>
            <a:r>
              <a:rPr dirty="0" err="1"/>
              <a:t>behaviour</a:t>
            </a:r>
            <a:r>
              <a:rPr dirty="0"/>
              <a:t>. And does</a:t>
            </a:r>
          </a:p>
          <a:p>
            <a:r>
              <a:rPr dirty="0"/>
              <a:t>grounding retrieval in that representation produce better reports than not</a:t>
            </a:r>
          </a:p>
          <a:p>
            <a:r>
              <a:rPr dirty="0"/>
              <a:t>grounding it."</a:t>
            </a:r>
          </a:p>
          <a:p>
            <a:endParaRPr dirty="0"/>
          </a:p>
          <a:p>
            <a:r>
              <a:rPr dirty="0"/>
              <a:t>Then: "I'll answer each one directly in the results."</a:t>
            </a:r>
          </a:p>
          <a:p>
            <a:endParaRPr dirty="0"/>
          </a:p>
          <a:p>
            <a:r>
              <a:rPr dirty="0"/>
              <a:t>Do NOT elaborate here. You answer these on the Conclusions slide.</a:t>
            </a:r>
            <a:endParaRPr lang="en-GB" dirty="0"/>
          </a:p>
          <a:p>
            <a:endParaRPr lang="en-GB" dirty="0"/>
          </a:p>
          <a:p>
            <a:r>
              <a:rPr lang="en-GB" dirty="0"/>
              <a:t>SIEM: security info event </a:t>
            </a:r>
            <a:r>
              <a:rPr lang="en-GB" dirty="0" err="1"/>
              <a:t>managent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 min]  THE ANCHOR SLIDE. Slow down.</a:t>
            </a:r>
          </a:p>
          <a:p>
            <a:endParaRPr/>
          </a:p>
          <a:p>
            <a:r>
              <a:t>START: "This is the whole pipeline. Seven stages, and I'll walk each one, but</a:t>
            </a:r>
          </a:p>
          <a:p>
            <a:r>
              <a:t>two things are worth pointing at first."</a:t>
            </a:r>
          </a:p>
          <a:p>
            <a:endParaRPr/>
          </a:p>
          <a:p>
            <a:r>
              <a:t>POINT AT THE SHADED BOX: "Everything up to triple extraction is unsupervised.</a:t>
            </a:r>
          </a:p>
          <a:p>
            <a:r>
              <a:t>No label touches the alert text, the embeddings or the clustering. Labels only</a:t>
            </a:r>
          </a:p>
          <a:p>
            <a:r>
              <a:t>come out at scoring, like a marking scheme staying sealed until the papers are</a:t>
            </a:r>
          </a:p>
          <a:p>
            <a:r>
              <a:t>in."</a:t>
            </a:r>
          </a:p>
          <a:p>
            <a:endParaRPr/>
          </a:p>
          <a:p>
            <a:r>
              <a:t>POINT AT THE BLUE ARROW: "This edge is my contribution. The graph decides which</a:t>
            </a:r>
          </a:p>
          <a:p>
            <a:r>
              <a:t>ATT&amp;CK techniques retrieval is even allowed to return."</a:t>
            </a:r>
          </a:p>
          <a:p>
            <a:endParaRPr/>
          </a:p>
          <a:p>
            <a:r>
              <a:t>STUCK? "Logs in at the top, incident report out at the bottom." Then move 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[~60 s]</a:t>
            </a:r>
          </a:p>
          <a:p>
            <a:endParaRPr dirty="0"/>
          </a:p>
          <a:p>
            <a:r>
              <a:rPr dirty="0"/>
              <a:t>START: "Stage one turns numbers into sentences."</a:t>
            </a:r>
          </a:p>
          <a:p>
            <a:endParaRPr dirty="0"/>
          </a:p>
          <a:p>
            <a:r>
              <a:rPr dirty="0"/>
              <a:t>• A flow arrives as a list of numbers. No language model can reason about that.</a:t>
            </a:r>
          </a:p>
          <a:p>
            <a:r>
              <a:rPr dirty="0"/>
              <a:t>• A fixed template converts each measurement to a phrase. Same flow always gives</a:t>
            </a:r>
          </a:p>
          <a:p>
            <a:r>
              <a:rPr dirty="0"/>
              <a:t>  the same sentence, which keeps the whole run reproducible.</a:t>
            </a:r>
          </a:p>
          <a:p>
            <a:r>
              <a:rPr dirty="0"/>
              <a:t>• No LLM here on purpose: an LLM would word it differently each run.</a:t>
            </a:r>
          </a:p>
          <a:p>
            <a:endParaRPr dirty="0"/>
          </a:p>
          <a:p>
            <a:r>
              <a:rPr dirty="0"/>
              <a:t>LAND THIS: "The attack label is deliberately left out. The sentence describes</a:t>
            </a:r>
          </a:p>
          <a:p>
            <a:r>
              <a:rPr dirty="0"/>
              <a:t>what was observed, never the answer."</a:t>
            </a:r>
          </a:p>
          <a:p>
            <a:endParaRPr dirty="0"/>
          </a:p>
          <a:p>
            <a:r>
              <a:rPr dirty="0"/>
              <a:t>STUCK? Read the example sentence on the slide aloud.</a:t>
            </a:r>
            <a:endParaRPr lang="en-GB" dirty="0"/>
          </a:p>
          <a:p>
            <a:endParaRPr lang="en-GB" dirty="0"/>
          </a:p>
          <a:p>
            <a:r>
              <a:rPr lang="en-GB" dirty="0"/>
              <a:t>Rename, select, function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s]</a:t>
            </a:r>
          </a:p>
          <a:p>
            <a:endParaRPr/>
          </a:p>
          <a:p>
            <a:r>
              <a:t>START: "Stage two and three: embed, then group."</a:t>
            </a:r>
          </a:p>
          <a:p>
            <a:endParaRPr/>
          </a:p>
          <a:p>
            <a:r>
              <a:t>• Each sentence becomes 384 numbers, using all-MiniLM-L6-v2. Similar meaning</a:t>
            </a:r>
          </a:p>
          <a:p>
            <a:r>
              <a:t>  lands in a similar place.</a:t>
            </a:r>
          </a:p>
          <a:p>
            <a:r>
              <a:t>• Alerts get grouped by how close those numbers are.</a:t>
            </a:r>
          </a:p>
          <a:p>
            <a:endParaRPr/>
          </a:p>
          <a:p>
            <a:r>
              <a:t>IF ASKED "why not Louvain?" (likely): "Louvain forces every alert into exactly</a:t>
            </a:r>
          </a:p>
          <a:p>
            <a:r>
              <a:t>one community. A port scan that precedes both a brute force and a C2 callback</a:t>
            </a:r>
          </a:p>
          <a:p>
            <a:r>
              <a:t>belongs to two attack chains, and Louvain would make me choose."</a:t>
            </a:r>
          </a:p>
          <a:p>
            <a:endParaRPr/>
          </a:p>
          <a:p>
            <a:r>
              <a:t>STUCK? "Similar alerts end up near each other, and we group the near ones." </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[~90 s]</a:t>
            </a:r>
          </a:p>
          <a:p>
            <a:endParaRPr/>
          </a:p>
          <a:p>
            <a:r>
              <a:t>START: "This is where meaning enters. Everything before was arithmetic on</a:t>
            </a:r>
          </a:p>
          <a:p>
            <a:r>
              <a:t>similarity."</a:t>
            </a:r>
          </a:p>
          <a:p>
            <a:endParaRPr/>
          </a:p>
          <a:p>
            <a:r>
              <a:t>• The model reads each group and writes triples: subject, relation, target.</a:t>
            </a:r>
          </a:p>
          <a:p>
            <a:r>
              <a:t>• Read the example as a sentence: this actor did this thing to that target.</a:t>
            </a:r>
          </a:p>
          <a:p>
            <a:r>
              <a:t>• The relation must come from a fixed list of seven. Without it the model would</a:t>
            </a:r>
          </a:p>
          <a:p>
            <a:r>
              <a:t>  say "scanned ports" here and "probed services" there, and nothing would be</a:t>
            </a:r>
          </a:p>
          <a:p>
            <a:r>
              <a:t>  comparable.</a:t>
            </a:r>
          </a:p>
          <a:p>
            <a:r>
              <a:t>• The output is grammar-constrained, so it is structurally valid by</a:t>
            </a:r>
          </a:p>
          <a:p>
            <a:r>
              <a:t>  construction.</a:t>
            </a:r>
          </a:p>
          <a:p>
            <a:endParaRPr/>
          </a:p>
          <a:p>
            <a:r>
              <a:t>LAND THIS: "A hundred percent schema-valid output, every group, every model. The</a:t>
            </a:r>
          </a:p>
          <a:p>
            <a:r>
              <a:t>fallback parser never fired once."</a:t>
            </a:r>
          </a:p>
          <a:p>
            <a:endParaRPr/>
          </a:p>
          <a:p>
            <a:r>
              <a:t>STUCK? "The model describes what happened, in a fixed vocabulary." </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[~90 s]</a:t>
            </a:r>
          </a:p>
          <a:p>
            <a:endParaRPr/>
          </a:p>
          <a:p>
            <a:r>
              <a:t>START: "Stage five builds the knowledge graph. It has two layers."</a:t>
            </a:r>
          </a:p>
          <a:p>
            <a:endParaRPr/>
          </a:p>
          <a:p>
            <a:r>
              <a:t>• BEHAVIOURAL layer — the subjects and targets from the triples.</a:t>
            </a:r>
          </a:p>
          <a:p>
            <a:r>
              <a:t>• ATT&amp;CK layer — 691 technique nodes from the MITRE catalogue.</a:t>
            </a:r>
          </a:p>
          <a:p>
            <a:r>
              <a:t>• BRIDGE EDGES join them: a port-scan behaviour bridges to T1046, a brute-force</a:t>
            </a:r>
          </a:p>
          <a:p>
            <a:r>
              <a:t>  behaviour bridges to T1110 and its sub-techniques.</a:t>
            </a:r>
          </a:p>
          <a:p>
            <a:endParaRPr/>
          </a:p>
          <a:p>
            <a:r>
              <a:t>LAND THIS: "The bridge is what lets me ask, later: given what we actually saw,</a:t>
            </a:r>
          </a:p>
          <a:p>
            <a:r>
              <a:t>which techniques are even plausible?"</a:t>
            </a:r>
          </a:p>
          <a:p>
            <a:endParaRPr/>
          </a:p>
          <a:p>
            <a:r>
              <a:t>STUCK? "Behaviours on one side, ATT&amp;CK techniques on the other, joined by</a:t>
            </a:r>
          </a:p>
          <a:p>
            <a:r>
              <a:t>bridges." </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[~90 s]</a:t>
            </a:r>
          </a:p>
          <a:p>
            <a:endParaRPr dirty="0"/>
          </a:p>
          <a:p>
            <a:r>
              <a:rPr dirty="0"/>
              <a:t>START: "Stages six and seven: retrieve, then write."</a:t>
            </a:r>
          </a:p>
          <a:p>
            <a:endParaRPr dirty="0"/>
          </a:p>
          <a:p>
            <a:r>
              <a:rPr dirty="0"/>
              <a:t>• The model first writes a short hypothetical description of the attack in</a:t>
            </a:r>
          </a:p>
          <a:p>
            <a:r>
              <a:rPr dirty="0"/>
              <a:t>  ATT&amp;CK's own language. That's </a:t>
            </a:r>
            <a:r>
              <a:rPr dirty="0" err="1"/>
              <a:t>HyDE</a:t>
            </a:r>
            <a:r>
              <a:rPr dirty="0"/>
              <a:t>.</a:t>
            </a:r>
          </a:p>
          <a:p>
            <a:r>
              <a:rPr dirty="0"/>
              <a:t>• WHY: the alerts talk about packets and ports; ATT&amp;CK talks about adversary</a:t>
            </a:r>
          </a:p>
          <a:p>
            <a:r>
              <a:rPr dirty="0"/>
              <a:t>  goals. Searching one with the other matches badly. So I search with a</a:t>
            </a:r>
          </a:p>
          <a:p>
            <a:r>
              <a:rPr dirty="0"/>
              <a:t>  plausible answer rather than the question.</a:t>
            </a:r>
          </a:p>
          <a:p>
            <a:r>
              <a:rPr dirty="0"/>
              <a:t>• Then the graph restricts which techniques are allowed.</a:t>
            </a:r>
          </a:p>
          <a:p>
            <a:r>
              <a:rPr dirty="0"/>
              <a:t>• The report comes out under a fixed schema: technique, tactic, summary,</a:t>
            </a:r>
          </a:p>
          <a:p>
            <a:r>
              <a:rPr dirty="0"/>
              <a:t>  evidence, next step.</a:t>
            </a:r>
          </a:p>
          <a:p>
            <a:endParaRPr dirty="0"/>
          </a:p>
          <a:p>
            <a:r>
              <a:rPr dirty="0"/>
              <a:t>LAND THIS: "691 techniques become a handful of </a:t>
            </a:r>
            <a:r>
              <a:rPr dirty="0" err="1"/>
              <a:t>behaviourally</a:t>
            </a:r>
            <a:r>
              <a:rPr dirty="0"/>
              <a:t> justified</a:t>
            </a:r>
          </a:p>
          <a:p>
            <a:r>
              <a:rPr dirty="0"/>
              <a:t>candidates. That reduction is the whole idea." </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[~60 s]</a:t>
            </a:r>
          </a:p>
          <a:p>
            <a:endParaRPr dirty="0"/>
          </a:p>
          <a:p>
            <a:r>
              <a:rPr dirty="0"/>
              <a:t>START: "Two datasets, deliberately at different levels."</a:t>
            </a:r>
          </a:p>
          <a:p>
            <a:endParaRPr dirty="0"/>
          </a:p>
          <a:p>
            <a:r>
              <a:rPr dirty="0"/>
              <a:t>• CIC-IDS-2017 — network flows, controlled testbed. Carries the full pipeline</a:t>
            </a:r>
          </a:p>
          <a:p>
            <a:r>
              <a:rPr dirty="0"/>
              <a:t>  through to report generation.</a:t>
            </a:r>
          </a:p>
          <a:p>
            <a:r>
              <a:rPr dirty="0"/>
              <a:t>• DARPA CADETS E3 — host audit logs from a real red-team engagement. Tests</a:t>
            </a:r>
          </a:p>
          <a:p>
            <a:r>
              <a:rPr dirty="0"/>
              <a:t>  whether the approach survives a completely different kind of data.</a:t>
            </a:r>
          </a:p>
          <a:p>
            <a:endParaRPr dirty="0"/>
          </a:p>
          <a:p>
            <a:r>
              <a:rPr dirty="0"/>
              <a:t>SAY: "If it only worked on network flows, that would be a much weaker claim." </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s]</a:t>
            </a:r>
          </a:p>
          <a:p>
            <a:endParaRPr/>
          </a:p>
          <a:p>
            <a:r>
              <a:t>START: "Three open-weight models, from 3.1 to 12.2 billion parameters, all</a:t>
            </a:r>
          </a:p>
          <a:p>
            <a:r>
              <a:t>quantised to fit."</a:t>
            </a:r>
          </a:p>
          <a:p>
            <a:endParaRPr/>
          </a:p>
          <a:p>
            <a:r>
              <a:t>• One consumer laptop. Four gigabytes of VRAM.</a:t>
            </a:r>
          </a:p>
          <a:p>
            <a:endParaRPr/>
          </a:p>
          <a:p>
            <a:r>
              <a:t>LAND THIS: "The hardware is the point, not an apology. If it runs here, it runs</a:t>
            </a:r>
          </a:p>
          <a:p>
            <a:r>
              <a:t>in an air-gapped environment where cloud APIs are banned."</a:t>
            </a:r>
          </a:p>
          <a:p>
            <a:endParaRPr/>
          </a:p>
          <a:p>
            <a:r>
              <a:t>Keep moving, this slide is quick.</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a:p>
            <a:endParaRPr dirty="0"/>
          </a:p>
          <a:p>
            <a:r>
              <a:rPr dirty="0"/>
              <a:t>START: "Every grounded result is compared against a baseline that keeps the same</a:t>
            </a:r>
          </a:p>
          <a:p>
            <a:r>
              <a:rPr dirty="0"/>
              <a:t>model and the same evidence, and removes only the graph constraint."</a:t>
            </a:r>
          </a:p>
          <a:p>
            <a:endParaRPr dirty="0"/>
          </a:p>
          <a:p>
            <a:r>
              <a:rPr dirty="0"/>
              <a:t>• On CIC-IDS the baseline is the model classifying directly, no retrieval.</a:t>
            </a:r>
          </a:p>
          <a:p>
            <a:r>
              <a:rPr dirty="0"/>
              <a:t>• On DARPA it's ordinary similarity search over all 691 techniques.</a:t>
            </a:r>
          </a:p>
          <a:p>
            <a:endParaRPr dirty="0"/>
          </a:p>
          <a:p>
            <a:r>
              <a:rPr dirty="0"/>
              <a:t>SAY THIS YOURSELF, before anyone asks: "The two baselines are different, so the</a:t>
            </a:r>
          </a:p>
          <a:p>
            <a:r>
              <a:rPr dirty="0"/>
              <a:t>two improvements aren't the same measurement. I'm explicit about that in the</a:t>
            </a:r>
          </a:p>
          <a:p>
            <a:r>
              <a:rPr dirty="0"/>
              <a:t>thesis."</a:t>
            </a:r>
          </a:p>
          <a:p>
            <a:endParaRPr dirty="0"/>
          </a:p>
          <a:p>
            <a:r>
              <a:rPr lang="en-GB" dirty="0"/>
              <a:t>Exact match: </a:t>
            </a:r>
            <a:r>
              <a:rPr lang="" sz="1200" b="0" i="0" kern="1200" dirty="0">
                <a:solidFill>
                  <a:schemeClr val="tx1"/>
                </a:solidFill>
                <a:effectLst/>
                <a:latin typeface="+mn-lt"/>
                <a:ea typeface="+mn-ea"/>
                <a:cs typeface="+mn-cs"/>
              </a:rPr>
              <a:t>Did the pipeline assign the </a:t>
            </a:r>
            <a:r>
              <a:rPr lang="" sz="1200" b="0" i="1" kern="1200" dirty="0">
                <a:solidFill>
                  <a:schemeClr val="tx1"/>
                </a:solidFill>
                <a:effectLst/>
                <a:latin typeface="+mn-lt"/>
                <a:ea typeface="+mn-ea"/>
                <a:cs typeface="+mn-cs"/>
              </a:rPr>
              <a:t>exact</a:t>
            </a:r>
            <a:r>
              <a:rPr lang="" sz="1200" b="0" i="0" kern="1200" dirty="0">
                <a:solidFill>
                  <a:schemeClr val="tx1"/>
                </a:solidFill>
                <a:effectLst/>
                <a:latin typeface="+mn-lt"/>
                <a:ea typeface="+mn-ea"/>
                <a:cs typeface="+mn-cs"/>
              </a:rPr>
              <a:t> correct MITRE ATT&amp;CK technique</a:t>
            </a:r>
          </a:p>
          <a:p>
            <a:r>
              <a:rPr lang="en-GB" sz="1200" b="0" i="0" kern="1200" dirty="0">
                <a:solidFill>
                  <a:schemeClr val="tx1"/>
                </a:solidFill>
                <a:effectLst/>
                <a:latin typeface="+mn-lt"/>
                <a:ea typeface="+mn-ea"/>
                <a:cs typeface="+mn-cs"/>
              </a:rPr>
              <a:t>R</a:t>
            </a:r>
            <a:r>
              <a:rPr lang="" sz="1200" b="0" i="0" kern="1200" dirty="0">
                <a:solidFill>
                  <a:schemeClr val="tx1"/>
                </a:solidFill>
                <a:effectLst/>
                <a:latin typeface="+mn-lt"/>
                <a:ea typeface="+mn-ea"/>
                <a:cs typeface="+mn-cs"/>
              </a:rPr>
              <a:t>etrieval hit rate: Before the LLM makes its final choice, did the search engine (ChromaDB + Knowledge Graph scoping) successfully put the correct technique on the "shortlist" (the top candidates)?</a:t>
            </a:r>
          </a:p>
          <a:p>
            <a:r>
              <a:rPr lang="en-GB" sz="1200" b="0" i="0" kern="1200" dirty="0">
                <a:solidFill>
                  <a:schemeClr val="tx1"/>
                </a:solidFill>
                <a:effectLst/>
                <a:latin typeface="+mn-lt"/>
                <a:ea typeface="+mn-ea"/>
                <a:cs typeface="+mn-cs"/>
              </a:rPr>
              <a:t>R</a:t>
            </a:r>
            <a:r>
              <a:rPr lang="" sz="1200" b="0" i="0" kern="1200" dirty="0">
                <a:solidFill>
                  <a:schemeClr val="tx1"/>
                </a:solidFill>
                <a:effectLst/>
                <a:latin typeface="+mn-lt"/>
                <a:ea typeface="+mn-ea"/>
                <a:cs typeface="+mn-cs"/>
              </a:rPr>
              <a:t>eport grounding: A cosine similarity score measuring how closely the language in the </a:t>
            </a:r>
            <a:r>
              <a:rPr lang="" sz="1200" b="0" i="1" kern="1200" dirty="0">
                <a:solidFill>
                  <a:schemeClr val="tx1"/>
                </a:solidFill>
                <a:effectLst/>
                <a:latin typeface="+mn-lt"/>
                <a:ea typeface="+mn-ea"/>
                <a:cs typeface="+mn-cs"/>
              </a:rPr>
              <a:t>generated incident report</a:t>
            </a:r>
            <a:r>
              <a:rPr lang="" sz="1200" b="0" i="0" kern="1200" dirty="0">
                <a:solidFill>
                  <a:schemeClr val="tx1"/>
                </a:solidFill>
                <a:effectLst/>
                <a:latin typeface="+mn-lt"/>
                <a:ea typeface="+mn-ea"/>
                <a:cs typeface="+mn-cs"/>
              </a:rPr>
              <a:t> matches the language in the </a:t>
            </a:r>
            <a:r>
              <a:rPr lang="" sz="1200" b="0" i="1" kern="1200" dirty="0">
                <a:solidFill>
                  <a:schemeClr val="tx1"/>
                </a:solidFill>
                <a:effectLst/>
                <a:latin typeface="+mn-lt"/>
                <a:ea typeface="+mn-ea"/>
                <a:cs typeface="+mn-cs"/>
              </a:rPr>
              <a:t>retrieved MITRE ATT&amp;CK procedure description</a:t>
            </a:r>
          </a:p>
          <a:p>
            <a:r>
              <a:rPr lang="" sz="1200" b="0" i="1" kern="1200" dirty="0">
                <a:solidFill>
                  <a:schemeClr val="tx1"/>
                </a:solidFill>
                <a:effectLst/>
                <a:latin typeface="+mn-lt"/>
                <a:ea typeface="+mn-ea"/>
                <a:cs typeface="+mn-cs"/>
              </a:rPr>
              <a:t>Boootstrap confidence intervals: </a:t>
            </a:r>
            <a:r>
              <a:rPr lang="" sz="1200" b="0" i="0" kern="1200" dirty="0">
                <a:solidFill>
                  <a:schemeClr val="tx1"/>
                </a:solidFill>
                <a:effectLst/>
                <a:latin typeface="+mn-lt"/>
                <a:ea typeface="+mn-ea"/>
                <a:cs typeface="+mn-cs"/>
              </a:rPr>
              <a:t>A statistical safety net. Because we are only evaluating 18 communities, a single lucky (or unlucky) guess could skew the results. "Bootstrapping" means we randomly resample those 18 communities 1 a 1,000 times to calculate a realistic range (e.g., "We are 95% confident the true accuracy is between 66% and 100%").</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a:t>
            </a:r>
          </a:p>
          <a:p>
            <a:endParaRPr/>
          </a:p>
          <a:p>
            <a:r>
              <a:t>SAY: "Everything is reproducible. Fixed seed, temperature zero, full prompts in</a:t>
            </a:r>
          </a:p>
          <a:p>
            <a:r>
              <a:t>the appendix, and the analysis scripts are in the repository. Re-running gives</a:t>
            </a:r>
          </a:p>
          <a:p>
            <a:r>
              <a:t>the same numbers."</a:t>
            </a:r>
          </a:p>
          <a:p>
            <a:endParaRPr/>
          </a:p>
          <a:p>
            <a:r>
              <a:t>Quick slide. Don't dwell.</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368300" marR="300355" indent="-356235">
              <a:lnSpc>
                <a:spcPct val="118000"/>
              </a:lnSpc>
              <a:spcBef>
                <a:spcPts val="100"/>
              </a:spcBef>
            </a:pPr>
            <a:r>
              <a:rPr lang="en-GB" sz="1200" b="1" dirty="0">
                <a:solidFill>
                  <a:srgbClr val="22373A"/>
                </a:solidFill>
                <a:latin typeface="Arial"/>
                <a:cs typeface="Arial"/>
              </a:rPr>
              <a:t>RQ1</a:t>
            </a:r>
            <a:r>
              <a:rPr lang="en-GB" sz="1200" b="1" spc="140" dirty="0">
                <a:solidFill>
                  <a:srgbClr val="22373A"/>
                </a:solidFill>
                <a:latin typeface="Arial"/>
                <a:cs typeface="Arial"/>
              </a:rPr>
              <a:t> </a:t>
            </a:r>
            <a:r>
              <a:rPr lang="en-GB" sz="1200" spc="-50" dirty="0">
                <a:solidFill>
                  <a:srgbClr val="22373A"/>
                </a:solidFill>
                <a:latin typeface="Arial MT"/>
                <a:cs typeface="Arial MT"/>
              </a:rPr>
              <a:t>How</a:t>
            </a:r>
            <a:r>
              <a:rPr lang="en-GB" sz="1200" spc="-5" dirty="0">
                <a:solidFill>
                  <a:srgbClr val="22373A"/>
                </a:solidFill>
                <a:latin typeface="Arial MT"/>
                <a:cs typeface="Arial MT"/>
              </a:rPr>
              <a:t> </a:t>
            </a:r>
            <a:r>
              <a:rPr lang="en-GB" sz="1200" spc="-35" dirty="0">
                <a:solidFill>
                  <a:srgbClr val="22373A"/>
                </a:solidFill>
                <a:latin typeface="Arial MT"/>
                <a:cs typeface="Arial MT"/>
              </a:rPr>
              <a:t>effectively</a:t>
            </a:r>
            <a:r>
              <a:rPr lang="en-GB" sz="1200" dirty="0">
                <a:solidFill>
                  <a:srgbClr val="22373A"/>
                </a:solidFill>
                <a:latin typeface="Arial MT"/>
                <a:cs typeface="Arial MT"/>
              </a:rPr>
              <a:t> </a:t>
            </a:r>
            <a:r>
              <a:rPr lang="en-GB" sz="1200" spc="-40" dirty="0">
                <a:solidFill>
                  <a:srgbClr val="22373A"/>
                </a:solidFill>
                <a:latin typeface="Arial MT"/>
                <a:cs typeface="Arial MT"/>
              </a:rPr>
              <a:t>an</a:t>
            </a:r>
            <a:r>
              <a:rPr lang="en-GB" sz="1200" spc="-5" dirty="0">
                <a:solidFill>
                  <a:srgbClr val="22373A"/>
                </a:solidFill>
                <a:latin typeface="Arial MT"/>
                <a:cs typeface="Arial MT"/>
              </a:rPr>
              <a:t> </a:t>
            </a:r>
            <a:r>
              <a:rPr lang="en-GB" sz="1200" spc="-80" dirty="0">
                <a:solidFill>
                  <a:srgbClr val="22373A"/>
                </a:solidFill>
                <a:latin typeface="Arial MT"/>
                <a:cs typeface="Arial MT"/>
              </a:rPr>
              <a:t>embedding-</a:t>
            </a:r>
            <a:r>
              <a:rPr lang="en-GB" sz="1200" spc="-75" dirty="0">
                <a:solidFill>
                  <a:srgbClr val="22373A"/>
                </a:solidFill>
                <a:latin typeface="Arial MT"/>
                <a:cs typeface="Arial MT"/>
              </a:rPr>
              <a:t>based</a:t>
            </a:r>
            <a:r>
              <a:rPr lang="en-GB" sz="1200" dirty="0">
                <a:solidFill>
                  <a:srgbClr val="22373A"/>
                </a:solidFill>
                <a:latin typeface="Arial MT"/>
                <a:cs typeface="Arial MT"/>
              </a:rPr>
              <a:t> </a:t>
            </a:r>
            <a:r>
              <a:rPr lang="en-GB" sz="1200" spc="-40" dirty="0">
                <a:solidFill>
                  <a:srgbClr val="22373A"/>
                </a:solidFill>
                <a:latin typeface="Arial MT"/>
                <a:cs typeface="Arial MT"/>
              </a:rPr>
              <a:t>clustering</a:t>
            </a:r>
            <a:r>
              <a:rPr lang="en-GB" sz="1200" dirty="0">
                <a:solidFill>
                  <a:srgbClr val="22373A"/>
                </a:solidFill>
                <a:latin typeface="Arial MT"/>
                <a:cs typeface="Arial MT"/>
              </a:rPr>
              <a:t> </a:t>
            </a:r>
            <a:r>
              <a:rPr lang="en-GB" sz="1200" spc="-45" dirty="0">
                <a:solidFill>
                  <a:srgbClr val="22373A"/>
                </a:solidFill>
                <a:latin typeface="Arial MT"/>
                <a:cs typeface="Arial MT"/>
              </a:rPr>
              <a:t>group</a:t>
            </a:r>
            <a:r>
              <a:rPr lang="en-GB" sz="1200" spc="-5" dirty="0">
                <a:solidFill>
                  <a:srgbClr val="22373A"/>
                </a:solidFill>
                <a:latin typeface="Arial MT"/>
                <a:cs typeface="Arial MT"/>
              </a:rPr>
              <a:t> </a:t>
            </a:r>
            <a:r>
              <a:rPr lang="en-GB" sz="1200" spc="-35" dirty="0">
                <a:solidFill>
                  <a:srgbClr val="22373A"/>
                </a:solidFill>
                <a:latin typeface="Arial MT"/>
                <a:cs typeface="Arial MT"/>
              </a:rPr>
              <a:t>relate</a:t>
            </a:r>
            <a:r>
              <a:rPr lang="en-GB" sz="1200" dirty="0">
                <a:solidFill>
                  <a:srgbClr val="22373A"/>
                </a:solidFill>
                <a:latin typeface="Arial MT"/>
                <a:cs typeface="Arial MT"/>
              </a:rPr>
              <a:t> </a:t>
            </a:r>
            <a:r>
              <a:rPr lang="en-GB" sz="1200" spc="-35" dirty="0">
                <a:solidFill>
                  <a:srgbClr val="22373A"/>
                </a:solidFill>
                <a:latin typeface="Arial MT"/>
                <a:cs typeface="Arial MT"/>
              </a:rPr>
              <a:t>SIEM</a:t>
            </a:r>
            <a:r>
              <a:rPr lang="en-GB" sz="1200" spc="-5" dirty="0">
                <a:solidFill>
                  <a:srgbClr val="22373A"/>
                </a:solidFill>
                <a:latin typeface="Arial MT"/>
                <a:cs typeface="Arial MT"/>
              </a:rPr>
              <a:t> </a:t>
            </a:r>
            <a:r>
              <a:rPr lang="en-GB" sz="1200" spc="-35" dirty="0">
                <a:solidFill>
                  <a:srgbClr val="22373A"/>
                </a:solidFill>
                <a:latin typeface="Arial MT"/>
                <a:cs typeface="Arial MT"/>
              </a:rPr>
              <a:t>alerts</a:t>
            </a:r>
            <a:r>
              <a:rPr lang="en-GB" sz="1200" dirty="0">
                <a:solidFill>
                  <a:srgbClr val="22373A"/>
                </a:solidFill>
                <a:latin typeface="Arial MT"/>
                <a:cs typeface="Arial MT"/>
              </a:rPr>
              <a:t> </a:t>
            </a:r>
            <a:r>
              <a:rPr lang="en-GB" sz="1200" spc="-20" dirty="0">
                <a:solidFill>
                  <a:srgbClr val="22373A"/>
                </a:solidFill>
                <a:latin typeface="Arial MT"/>
                <a:cs typeface="Arial MT"/>
              </a:rPr>
              <a:t>into </a:t>
            </a:r>
            <a:r>
              <a:rPr lang="en-GB" sz="1200" spc="-50" dirty="0">
                <a:solidFill>
                  <a:srgbClr val="22373A"/>
                </a:solidFill>
                <a:latin typeface="Arial MT"/>
                <a:cs typeface="Arial MT"/>
              </a:rPr>
              <a:t>coherent</a:t>
            </a:r>
            <a:r>
              <a:rPr lang="en-GB" sz="1200" spc="-10" dirty="0">
                <a:solidFill>
                  <a:srgbClr val="22373A"/>
                </a:solidFill>
                <a:latin typeface="Arial MT"/>
                <a:cs typeface="Arial MT"/>
              </a:rPr>
              <a:t> </a:t>
            </a:r>
            <a:r>
              <a:rPr lang="en-GB" sz="1200" spc="-30" dirty="0">
                <a:solidFill>
                  <a:srgbClr val="22373A"/>
                </a:solidFill>
                <a:latin typeface="Arial MT"/>
                <a:cs typeface="Arial MT"/>
              </a:rPr>
              <a:t>incident</a:t>
            </a:r>
            <a:r>
              <a:rPr lang="en-GB" sz="1200" spc="-5" dirty="0">
                <a:solidFill>
                  <a:srgbClr val="22373A"/>
                </a:solidFill>
                <a:latin typeface="Arial MT"/>
                <a:cs typeface="Arial MT"/>
              </a:rPr>
              <a:t> </a:t>
            </a:r>
            <a:r>
              <a:rPr lang="en-GB" sz="1200" spc="-10" dirty="0">
                <a:solidFill>
                  <a:srgbClr val="22373A"/>
                </a:solidFill>
                <a:latin typeface="Arial MT"/>
                <a:cs typeface="Arial MT"/>
              </a:rPr>
              <a:t>communities?</a:t>
            </a:r>
            <a:endParaRPr dirty="0"/>
          </a:p>
          <a:p>
            <a:endParaRPr dirty="0"/>
          </a:p>
          <a:p>
            <a:r>
              <a:rPr dirty="0"/>
              <a:t>• 0.837 label purity on CIC-IDS.</a:t>
            </a:r>
          </a:p>
          <a:p>
            <a:r>
              <a:rPr dirty="0"/>
              <a:t>• Only 5 alerts out of more than fourteen thousand were left ungrouped.</a:t>
            </a:r>
          </a:p>
          <a:p>
            <a:r>
              <a:rPr dirty="0"/>
              <a:t>• 0.987 purity per window on DARPA.</a:t>
            </a:r>
          </a:p>
          <a:p>
            <a:endParaRPr dirty="0"/>
          </a:p>
          <a:p>
            <a:r>
              <a:rPr dirty="0"/>
              <a:t>SAY THE CAVEAT OUT LOUD: "But separating attack from benign turns out to be</a:t>
            </a:r>
          </a:p>
          <a:p>
            <a:r>
              <a:rPr dirty="0"/>
              <a:t>easy. Separating one technique from another is the hard part, and that's what</a:t>
            </a:r>
          </a:p>
          <a:p>
            <a:r>
              <a:rPr dirty="0"/>
              <a:t>the rest of the pipeline exists to do."</a:t>
            </a:r>
          </a:p>
          <a:p>
            <a:endParaRPr dirty="0"/>
          </a:p>
          <a:p>
            <a:r>
              <a:rPr dirty="0"/>
              <a:t>Volunteering the caveat is stronger than being asked for it.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[~45 s]</a:t>
            </a:r>
          </a:p>
          <a:p>
            <a:endParaRPr dirty="0"/>
          </a:p>
          <a:p>
            <a:r>
              <a:rPr dirty="0"/>
              <a:t>START: "One free parameter: how similar is similar enough."</a:t>
            </a:r>
          </a:p>
          <a:p>
            <a:endParaRPr dirty="0"/>
          </a:p>
          <a:p>
            <a:r>
              <a:rPr dirty="0"/>
              <a:t>• Purity keeps rising as you get stricter, so the highest score is not the right</a:t>
            </a:r>
          </a:p>
          <a:p>
            <a:r>
              <a:rPr dirty="0"/>
              <a:t>  choice.</a:t>
            </a:r>
          </a:p>
          <a:p>
            <a:r>
              <a:rPr dirty="0"/>
              <a:t>• Past 0.80 the data shatters into groups too small to </a:t>
            </a:r>
            <a:r>
              <a:rPr dirty="0" err="1"/>
              <a:t>analyse</a:t>
            </a:r>
            <a:r>
              <a:rPr dirty="0"/>
              <a:t>.</a:t>
            </a:r>
          </a:p>
          <a:p>
            <a:r>
              <a:rPr dirty="0"/>
              <a:t>• 0.80 is where quality has levelled off but the groups are still usable.</a:t>
            </a:r>
          </a:p>
          <a:p>
            <a:endParaRPr dirty="0"/>
          </a:p>
          <a:p>
            <a:r>
              <a:rPr dirty="0"/>
              <a:t>STUCK</a:t>
            </a:r>
            <a:r>
              <a:rPr lang="en-GB" dirty="0"/>
              <a:t>\\</a:t>
            </a:r>
            <a:r>
              <a:rPr dirty="0"/>
              <a:t>? "I chose 0.80 because stricter settings just fragment the data." </a:t>
            </a:r>
            <a:endParaRPr lang="en-GB" dirty="0"/>
          </a:p>
          <a:p>
            <a:endParaRPr lang="en-GB" dirty="0"/>
          </a:p>
          <a:p>
            <a:pPr rtl="0"/>
            <a:r>
              <a:rPr lang="" sz="1200" b="1" i="0" kern="1200" dirty="0">
                <a:solidFill>
                  <a:schemeClr val="tx1"/>
                </a:solidFill>
                <a:effectLst/>
                <a:latin typeface="+mn-lt"/>
                <a:ea typeface="+mn-ea"/>
                <a:cs typeface="+mn-cs"/>
              </a:rPr>
              <a:t>Intra-cluster similarity</a:t>
            </a:r>
            <a:r>
              <a:rPr lang="" sz="1200" b="0" i="0" kern="1200" dirty="0">
                <a:solidFill>
                  <a:schemeClr val="tx1"/>
                </a:solidFill>
                <a:effectLst/>
                <a:latin typeface="+mn-lt"/>
                <a:ea typeface="+mn-ea"/>
                <a:cs typeface="+mn-cs"/>
              </a:rPr>
              <a:t> (what your thesis measured):</a:t>
            </a:r>
          </a:p>
          <a:p>
            <a:pPr rtl="0"/>
            <a:r>
              <a:rPr lang="" sz="1200" b="0" i="0" kern="1200" dirty="0">
                <a:solidFill>
                  <a:schemeClr val="tx1"/>
                </a:solidFill>
                <a:effectLst/>
                <a:latin typeface="+mn-lt"/>
                <a:ea typeface="+mn-ea"/>
                <a:cs typeface="+mn-cs"/>
              </a:rPr>
              <a:t>The average cosine similarity between all alert embeddings </a:t>
            </a:r>
            <a:r>
              <a:rPr lang="" sz="1200" b="1" i="0" kern="1200" dirty="0">
                <a:solidFill>
                  <a:schemeClr val="tx1"/>
                </a:solidFill>
                <a:effectLst/>
                <a:latin typeface="+mn-lt"/>
                <a:ea typeface="+mn-ea"/>
                <a:cs typeface="+mn-cs"/>
              </a:rPr>
              <a:t>within the same cluster/community</a:t>
            </a:r>
            <a:r>
              <a:rPr lang="" sz="1200" b="0" i="0" kern="1200" dirty="0">
                <a:solidFill>
                  <a:schemeClr val="tx1"/>
                </a:solidFill>
                <a:effectLst/>
                <a:latin typeface="+mn-lt"/>
                <a:ea typeface="+mn-ea"/>
                <a:cs typeface="+mn-cs"/>
              </a:rPr>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368300" marR="38100" indent="-356235">
              <a:lnSpc>
                <a:spcPct val="118000"/>
              </a:lnSpc>
              <a:spcBef>
                <a:spcPts val="300"/>
              </a:spcBef>
            </a:pPr>
            <a:r>
              <a:rPr lang="en-GB" sz="1200" b="1" dirty="0">
                <a:solidFill>
                  <a:srgbClr val="22373A"/>
                </a:solidFill>
                <a:latin typeface="Arial"/>
                <a:cs typeface="Arial"/>
              </a:rPr>
              <a:t>RQ2</a:t>
            </a:r>
            <a:r>
              <a:rPr lang="en-GB" sz="1200" b="1" spc="140" dirty="0">
                <a:solidFill>
                  <a:srgbClr val="22373A"/>
                </a:solidFill>
                <a:latin typeface="Arial"/>
                <a:cs typeface="Arial"/>
              </a:rPr>
              <a:t> </a:t>
            </a:r>
            <a:r>
              <a:rPr lang="en-GB" sz="1200" dirty="0">
                <a:solidFill>
                  <a:srgbClr val="22373A"/>
                </a:solidFill>
                <a:latin typeface="Arial MT"/>
                <a:cs typeface="Arial MT"/>
              </a:rPr>
              <a:t>To</a:t>
            </a:r>
            <a:r>
              <a:rPr lang="en-GB" sz="1200" spc="-5" dirty="0">
                <a:solidFill>
                  <a:srgbClr val="22373A"/>
                </a:solidFill>
                <a:latin typeface="Arial MT"/>
                <a:cs typeface="Arial MT"/>
              </a:rPr>
              <a:t> </a:t>
            </a:r>
            <a:r>
              <a:rPr lang="en-GB" sz="1200" spc="-10" dirty="0">
                <a:solidFill>
                  <a:srgbClr val="22373A"/>
                </a:solidFill>
                <a:latin typeface="Arial MT"/>
                <a:cs typeface="Arial MT"/>
              </a:rPr>
              <a:t>what</a:t>
            </a:r>
            <a:r>
              <a:rPr lang="en-GB" sz="1200" spc="-5" dirty="0">
                <a:solidFill>
                  <a:srgbClr val="22373A"/>
                </a:solidFill>
                <a:latin typeface="Arial MT"/>
                <a:cs typeface="Arial MT"/>
              </a:rPr>
              <a:t> </a:t>
            </a:r>
            <a:r>
              <a:rPr lang="en-GB" sz="1200" spc="-25" dirty="0">
                <a:solidFill>
                  <a:srgbClr val="22373A"/>
                </a:solidFill>
                <a:latin typeface="Arial MT"/>
                <a:cs typeface="Arial MT"/>
              </a:rPr>
              <a:t>extent</a:t>
            </a:r>
            <a:r>
              <a:rPr lang="en-GB" sz="1200" spc="-10" dirty="0">
                <a:solidFill>
                  <a:srgbClr val="22373A"/>
                </a:solidFill>
                <a:latin typeface="Arial MT"/>
                <a:cs typeface="Arial MT"/>
              </a:rPr>
              <a:t> </a:t>
            </a:r>
            <a:r>
              <a:rPr lang="en-GB" sz="1200" spc="-65" dirty="0">
                <a:solidFill>
                  <a:srgbClr val="22373A"/>
                </a:solidFill>
                <a:latin typeface="Arial MT"/>
                <a:cs typeface="Arial MT"/>
              </a:rPr>
              <a:t>can</a:t>
            </a:r>
            <a:r>
              <a:rPr lang="en-GB" sz="1200" spc="-5" dirty="0">
                <a:solidFill>
                  <a:srgbClr val="22373A"/>
                </a:solidFill>
                <a:latin typeface="Arial MT"/>
                <a:cs typeface="Arial MT"/>
              </a:rPr>
              <a:t> </a:t>
            </a:r>
            <a:r>
              <a:rPr lang="en-GB" sz="1200" spc="-50" dirty="0">
                <a:solidFill>
                  <a:srgbClr val="22373A"/>
                </a:solidFill>
                <a:latin typeface="Arial MT"/>
                <a:cs typeface="Arial MT"/>
              </a:rPr>
              <a:t>LLM-</a:t>
            </a:r>
            <a:r>
              <a:rPr lang="en-GB" sz="1200" spc="-30" dirty="0">
                <a:solidFill>
                  <a:srgbClr val="22373A"/>
                </a:solidFill>
                <a:latin typeface="Arial MT"/>
                <a:cs typeface="Arial MT"/>
              </a:rPr>
              <a:t>extracted</a:t>
            </a:r>
            <a:r>
              <a:rPr lang="en-GB" sz="1200" spc="-5" dirty="0">
                <a:solidFill>
                  <a:srgbClr val="22373A"/>
                </a:solidFill>
                <a:latin typeface="Arial MT"/>
                <a:cs typeface="Arial MT"/>
              </a:rPr>
              <a:t> </a:t>
            </a:r>
            <a:r>
              <a:rPr lang="en-GB" sz="1200" spc="-50" dirty="0">
                <a:solidFill>
                  <a:srgbClr val="22373A"/>
                </a:solidFill>
                <a:latin typeface="Arial MT"/>
                <a:cs typeface="Arial MT"/>
              </a:rPr>
              <a:t>relationships</a:t>
            </a:r>
            <a:r>
              <a:rPr lang="en-GB" sz="1200" spc="-5" dirty="0">
                <a:solidFill>
                  <a:srgbClr val="22373A"/>
                </a:solidFill>
                <a:latin typeface="Arial MT"/>
                <a:cs typeface="Arial MT"/>
              </a:rPr>
              <a:t> </a:t>
            </a:r>
            <a:r>
              <a:rPr lang="en-GB" sz="1200" spc="-10" dirty="0">
                <a:solidFill>
                  <a:srgbClr val="22373A"/>
                </a:solidFill>
                <a:latin typeface="Arial MT"/>
                <a:cs typeface="Arial MT"/>
              </a:rPr>
              <a:t>form</a:t>
            </a:r>
            <a:r>
              <a:rPr lang="en-GB" sz="1200" spc="-5" dirty="0">
                <a:solidFill>
                  <a:srgbClr val="22373A"/>
                </a:solidFill>
                <a:latin typeface="Arial MT"/>
                <a:cs typeface="Arial MT"/>
              </a:rPr>
              <a:t> </a:t>
            </a:r>
            <a:r>
              <a:rPr lang="en-GB" sz="1200" dirty="0">
                <a:solidFill>
                  <a:srgbClr val="22373A"/>
                </a:solidFill>
                <a:latin typeface="Arial MT"/>
                <a:cs typeface="Arial MT"/>
              </a:rPr>
              <a:t>a</a:t>
            </a:r>
            <a:r>
              <a:rPr lang="en-GB" sz="1200" spc="-5" dirty="0">
                <a:solidFill>
                  <a:srgbClr val="22373A"/>
                </a:solidFill>
                <a:latin typeface="Arial MT"/>
                <a:cs typeface="Arial MT"/>
              </a:rPr>
              <a:t> </a:t>
            </a:r>
            <a:r>
              <a:rPr lang="en-GB" sz="1200" spc="-45" dirty="0">
                <a:solidFill>
                  <a:srgbClr val="22373A"/>
                </a:solidFill>
                <a:latin typeface="Arial MT"/>
                <a:cs typeface="Arial MT"/>
              </a:rPr>
              <a:t>meaningful,</a:t>
            </a:r>
            <a:r>
              <a:rPr lang="en-GB" sz="1200" spc="-5" dirty="0">
                <a:solidFill>
                  <a:srgbClr val="22373A"/>
                </a:solidFill>
                <a:latin typeface="Arial MT"/>
                <a:cs typeface="Arial MT"/>
              </a:rPr>
              <a:t> </a:t>
            </a:r>
            <a:r>
              <a:rPr lang="en-GB" sz="1200" spc="-10" dirty="0">
                <a:solidFill>
                  <a:srgbClr val="22373A"/>
                </a:solidFill>
                <a:latin typeface="Arial MT"/>
                <a:cs typeface="Arial MT"/>
              </a:rPr>
              <a:t>interpretable </a:t>
            </a:r>
            <a:r>
              <a:rPr lang="en-GB" sz="1200" spc="-55" dirty="0">
                <a:solidFill>
                  <a:srgbClr val="22373A"/>
                </a:solidFill>
                <a:latin typeface="Arial MT"/>
                <a:cs typeface="Arial MT"/>
              </a:rPr>
              <a:t>representation</a:t>
            </a:r>
            <a:r>
              <a:rPr lang="en-GB" sz="1200" spc="-5" dirty="0">
                <a:solidFill>
                  <a:srgbClr val="22373A"/>
                </a:solidFill>
                <a:latin typeface="Arial MT"/>
                <a:cs typeface="Arial MT"/>
              </a:rPr>
              <a:t> </a:t>
            </a:r>
            <a:r>
              <a:rPr lang="en-GB" sz="1200" dirty="0">
                <a:solidFill>
                  <a:srgbClr val="22373A"/>
                </a:solidFill>
                <a:latin typeface="Arial MT"/>
                <a:cs typeface="Arial MT"/>
              </a:rPr>
              <a:t>of attack</a:t>
            </a:r>
            <a:r>
              <a:rPr lang="en-GB" sz="1200" spc="-5" dirty="0">
                <a:solidFill>
                  <a:srgbClr val="22373A"/>
                </a:solidFill>
                <a:latin typeface="Arial MT"/>
                <a:cs typeface="Arial MT"/>
              </a:rPr>
              <a:t> </a:t>
            </a:r>
            <a:r>
              <a:rPr lang="en-GB" sz="1200" spc="-10" dirty="0" err="1">
                <a:solidFill>
                  <a:srgbClr val="22373A"/>
                </a:solidFill>
                <a:latin typeface="Arial MT"/>
                <a:cs typeface="Arial MT"/>
              </a:rPr>
              <a:t>behavior</a:t>
            </a:r>
            <a:r>
              <a:rPr lang="en-GB" sz="1200" spc="-10" dirty="0">
                <a:solidFill>
                  <a:srgbClr val="22373A"/>
                </a:solidFill>
                <a:latin typeface="Arial MT"/>
                <a:cs typeface="Arial MT"/>
              </a:rPr>
              <a:t>?</a:t>
            </a:r>
            <a:endParaRPr lang="en-GB" sz="1200" dirty="0">
              <a:latin typeface="Arial MT"/>
              <a:cs typeface="Arial MT"/>
            </a:endParaRPr>
          </a:p>
          <a:p>
            <a:endParaRPr dirty="0"/>
          </a:p>
          <a:p>
            <a:r>
              <a:rPr dirty="0"/>
              <a:t>START: "RQ2. Same groups, same input, but the three models built three</a:t>
            </a:r>
          </a:p>
          <a:p>
            <a:r>
              <a:rPr dirty="0"/>
              <a:t>different graphs."</a:t>
            </a:r>
          </a:p>
          <a:p>
            <a:endParaRPr dirty="0"/>
          </a:p>
          <a:p>
            <a:r>
              <a:rPr dirty="0"/>
              <a:t>• Mistral-Nemo calls almost everything a port scan.</a:t>
            </a:r>
          </a:p>
          <a:p>
            <a:r>
              <a:rPr dirty="0"/>
              <a:t>• The coder model calls almost everything a denial-of-service flood.</a:t>
            </a:r>
          </a:p>
          <a:p>
            <a:r>
              <a:rPr dirty="0"/>
              <a:t>• The 3B model sits between them.</a:t>
            </a:r>
          </a:p>
          <a:p>
            <a:endParaRPr dirty="0"/>
          </a:p>
          <a:p>
            <a:r>
              <a:rPr dirty="0"/>
              <a:t>LAND THIS: "The graph is a faithful record of what the model believed the alerts</a:t>
            </a:r>
          </a:p>
          <a:p>
            <a:r>
              <a:rPr dirty="0"/>
              <a:t>showed. That is not always what the alerts actually showed."</a:t>
            </a:r>
          </a:p>
          <a:p>
            <a:endParaRPr dirty="0"/>
          </a:p>
          <a:p>
            <a:r>
              <a:rPr dirty="0"/>
              <a:t>Next slide explains why the coder model does this.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s]</a:t>
            </a:r>
          </a:p>
          <a:p>
            <a:endParaRPr/>
          </a:p>
          <a:p>
            <a:r>
              <a:t>START: "Here's why the coder model fails, and it's instructive."</a:t>
            </a:r>
          </a:p>
          <a:p>
            <a:endParaRPr/>
          </a:p>
          <a:p>
            <a:r>
              <a:t>• A port scan and a single-packet flood look nearly identical in one alert:</a:t>
            </a:r>
          </a:p>
          <a:p>
            <a:r>
              <a:t>  sub-second, tiny packet count, very high rate.</a:t>
            </a:r>
          </a:p>
          <a:p>
            <a:r>
              <a:t>• The one signal that separates them is port diversity — a scan touches many</a:t>
            </a:r>
          </a:p>
          <a:p>
            <a:r>
              <a:t>  ports, a flood hammers one — and that is invisible in any single alert.</a:t>
            </a:r>
          </a:p>
          <a:p>
            <a:r>
              <a:t>• I added a group-level summary reporting exactly that.</a:t>
            </a:r>
          </a:p>
          <a:p>
            <a:r>
              <a:t>• Mistral-Nemo used it. The coder model ignored it.</a:t>
            </a:r>
          </a:p>
          <a:p>
            <a:endParaRPr/>
          </a:p>
          <a:p>
            <a:r>
              <a:t>SAY: "That single difference accounts for most of the gap between them." </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0" eaLnBrk="1" latinLnBrk="0" hangingPunct="1"/>
            <a:r>
              <a:rPr lang="en-GB" sz="1200" b="1" kern="1200" dirty="0">
                <a:solidFill>
                  <a:schemeClr val="tx1"/>
                </a:solidFill>
                <a:effectLst/>
                <a:latin typeface="+mn-lt"/>
                <a:ea typeface="+mn-ea"/>
                <a:cs typeface="+mn-cs"/>
              </a:rPr>
              <a:t>RQ3 </a:t>
            </a:r>
            <a:r>
              <a:rPr lang="en-GB" sz="1200" kern="1200" dirty="0">
                <a:solidFill>
                  <a:schemeClr val="tx1"/>
                </a:solidFill>
                <a:effectLst/>
                <a:latin typeface="+mn-lt"/>
                <a:ea typeface="+mn-ea"/>
                <a:cs typeface="+mn-cs"/>
              </a:rPr>
              <a:t>Does knowledge-graph-grounded retrieval improve generated incident reports over non-grounded generation?</a:t>
            </a:r>
            <a:endParaRPr lang="en-DE" dirty="0">
              <a:effectLst/>
            </a:endParaRPr>
          </a:p>
          <a:p>
            <a:endParaRPr dirty="0"/>
          </a:p>
          <a:p>
            <a:r>
              <a:rPr dirty="0"/>
              <a:t>START: "RQ3, the main comparison. And I want to steer you to the right column."</a:t>
            </a:r>
          </a:p>
          <a:p>
            <a:endParaRPr dirty="0"/>
          </a:p>
          <a:p>
            <a:r>
              <a:rPr dirty="0"/>
              <a:t>• READ MACRO F1 FIRST. One technique covers 14 of the 18 groups, so exact match</a:t>
            </a:r>
          </a:p>
          <a:p>
            <a:r>
              <a:rPr dirty="0"/>
              <a:t>  mostly measures one class.</a:t>
            </a:r>
          </a:p>
          <a:p>
            <a:r>
              <a:rPr dirty="0"/>
              <a:t>• On macro F1 the grounded system doubles the baseline: 0.40 against 0.20.</a:t>
            </a:r>
          </a:p>
          <a:p>
            <a:r>
              <a:rPr dirty="0"/>
              <a:t>• Both Qwen baselines are exactly zero. Without grounding they never named a</a:t>
            </a:r>
          </a:p>
          <a:p>
            <a:r>
              <a:rPr dirty="0"/>
              <a:t>  correct technique for any class.</a:t>
            </a:r>
          </a:p>
          <a:p>
            <a:r>
              <a:rPr dirty="0"/>
              <a:t>• Exact match: 83.3% grounded against 55.6%.</a:t>
            </a:r>
          </a:p>
          <a:p>
            <a:endParaRPr dirty="0"/>
          </a:p>
          <a:p>
            <a:r>
              <a:rPr dirty="0"/>
              <a:t>BE HONEST: "The confidence intervals overlap on the exact-match numbers. With 18</a:t>
            </a:r>
          </a:p>
          <a:p>
            <a:r>
              <a:rPr dirty="0"/>
              <a:t>groups they would." </a:t>
            </a:r>
            <a:endParaRPr lang="en-GB" dirty="0"/>
          </a:p>
          <a:p>
            <a:endParaRPr lang="en-GB" dirty="0"/>
          </a:p>
          <a:p>
            <a:r>
              <a:rPr lang="" dirty="0"/>
              <a:t>how well your model balances precision and recall = F1 score</a:t>
            </a:r>
          </a:p>
          <a:p>
            <a:r>
              <a:rPr lang="" dirty="0"/>
              <a:t>Macro F1 is the </a:t>
            </a:r>
            <a:r>
              <a:rPr lang="" b="1" dirty="0"/>
              <a:t>average F1 score across all classes</a:t>
            </a:r>
            <a:r>
              <a:rPr lang="" dirty="0"/>
              <a:t>, treating each class equally.</a:t>
            </a:r>
          </a:p>
          <a:p>
            <a:endParaRPr lang="" dirty="0"/>
          </a:p>
          <a:p>
            <a:pPr rtl="0"/>
            <a:r>
              <a:rPr lang="" sz="1200" b="0" i="0" kern="1200" dirty="0">
                <a:solidFill>
                  <a:schemeClr val="tx1"/>
                </a:solidFill>
                <a:effectLst/>
                <a:latin typeface="+mn-lt"/>
                <a:ea typeface="+mn-ea"/>
                <a:cs typeface="+mn-cs"/>
              </a:rPr>
              <a:t>Baseline represents how the system performs </a:t>
            </a:r>
            <a:r>
              <a:rPr lang="" sz="1200" b="1" i="0" kern="1200" dirty="0">
                <a:solidFill>
                  <a:schemeClr val="tx1"/>
                </a:solidFill>
                <a:effectLst/>
                <a:latin typeface="+mn-lt"/>
                <a:ea typeface="+mn-ea"/>
                <a:cs typeface="+mn-cs"/>
              </a:rPr>
              <a:t>without your core architectural contribution</a:t>
            </a:r>
            <a:r>
              <a:rPr lang="" sz="1200" b="0" i="0" kern="1200" dirty="0">
                <a:solidFill>
                  <a:schemeClr val="tx1"/>
                </a:solidFill>
                <a:effectLst/>
                <a:latin typeface="+mn-lt"/>
                <a:ea typeface="+mn-ea"/>
                <a:cs typeface="+mn-cs"/>
              </a:rPr>
              <a:t> (the Knowledge Graph scoping). It is the "standard" or "naive" approach. </a:t>
            </a:r>
            <a:r>
              <a:rPr lang="" sz="1200" b="1" i="0" kern="1200" dirty="0">
                <a:solidFill>
                  <a:schemeClr val="tx1"/>
                </a:solidFill>
                <a:effectLst/>
                <a:latin typeface="+mn-lt"/>
                <a:ea typeface="+mn-ea"/>
                <a:cs typeface="+mn-cs"/>
              </a:rPr>
              <a:t>What you did in the thesis:</a:t>
            </a:r>
            <a:endParaRPr lang="" sz="1200" b="0" i="0" kern="1200" dirty="0">
              <a:solidFill>
                <a:schemeClr val="tx1"/>
              </a:solidFill>
              <a:effectLst/>
              <a:latin typeface="+mn-lt"/>
              <a:ea typeface="+mn-ea"/>
              <a:cs typeface="+mn-cs"/>
            </a:endParaRPr>
          </a:p>
          <a:p>
            <a:pPr lvl="0" rtl="0"/>
            <a:r>
              <a:rPr lang="" sz="1200" b="1" i="0" kern="1200" dirty="0">
                <a:solidFill>
                  <a:schemeClr val="tx1"/>
                </a:solidFill>
                <a:effectLst/>
                <a:latin typeface="+mn-lt"/>
                <a:ea typeface="+mn-ea"/>
                <a:cs typeface="+mn-cs"/>
              </a:rPr>
              <a:t>For CIC-IDS:</a:t>
            </a:r>
            <a:r>
              <a:rPr lang="" sz="1200" b="0" i="0" kern="1200" dirty="0">
                <a:solidFill>
                  <a:schemeClr val="tx1"/>
                </a:solidFill>
                <a:effectLst/>
                <a:latin typeface="+mn-lt"/>
                <a:ea typeface="+mn-ea"/>
                <a:cs typeface="+mn-cs"/>
              </a:rPr>
              <a:t> You gave the LLM the exact same alert text and extracted triples, but </a:t>
            </a:r>
            <a:r>
              <a:rPr lang="" sz="1200" b="1" i="0" kern="1200" dirty="0">
                <a:solidFill>
                  <a:schemeClr val="tx1"/>
                </a:solidFill>
                <a:effectLst/>
                <a:latin typeface="+mn-lt"/>
                <a:ea typeface="+mn-ea"/>
                <a:cs typeface="+mn-cs"/>
              </a:rPr>
              <a:t>removed the retrieval, removed the KG, and removed the grammar constraint</a:t>
            </a:r>
            <a:r>
              <a:rPr lang="" sz="1200" b="0" i="0" kern="1200" dirty="0">
                <a:solidFill>
                  <a:schemeClr val="tx1"/>
                </a:solidFill>
                <a:effectLst/>
                <a:latin typeface="+mn-lt"/>
                <a:ea typeface="+mn-ea"/>
                <a:cs typeface="+mn-cs"/>
              </a:rPr>
              <a:t>. The LLM just had to guess the ATT&amp;CK technique from its own memory (Parametric guessing).</a:t>
            </a:r>
          </a:p>
          <a:p>
            <a:pPr lvl="0" rtl="0"/>
            <a:r>
              <a:rPr lang="" sz="1200" b="1" i="0" kern="1200" dirty="0">
                <a:solidFill>
                  <a:schemeClr val="tx1"/>
                </a:solidFill>
                <a:effectLst/>
                <a:latin typeface="+mn-lt"/>
                <a:ea typeface="+mn-ea"/>
                <a:cs typeface="+mn-cs"/>
              </a:rPr>
              <a:t>For DARPA:</a:t>
            </a:r>
            <a:r>
              <a:rPr lang="" sz="1200" b="0" i="0" kern="1200" dirty="0">
                <a:solidFill>
                  <a:schemeClr val="tx1"/>
                </a:solidFill>
                <a:effectLst/>
                <a:latin typeface="+mn-lt"/>
                <a:ea typeface="+mn-ea"/>
                <a:cs typeface="+mn-cs"/>
              </a:rPr>
              <a:t> You embedded the alert text and searched for similar techniques across </a:t>
            </a:r>
            <a:r>
              <a:rPr lang="" sz="1200" b="1" i="0" kern="1200" dirty="0">
                <a:solidFill>
                  <a:schemeClr val="tx1"/>
                </a:solidFill>
                <a:effectLst/>
                <a:latin typeface="+mn-lt"/>
                <a:ea typeface="+mn-ea"/>
                <a:cs typeface="+mn-cs"/>
              </a:rPr>
              <a:t>all 691 techniques</a:t>
            </a:r>
            <a:r>
              <a:rPr lang="" sz="1200" b="0" i="0" kern="1200" dirty="0">
                <a:solidFill>
                  <a:schemeClr val="tx1"/>
                </a:solidFill>
                <a:effectLst/>
                <a:latin typeface="+mn-lt"/>
                <a:ea typeface="+mn-ea"/>
                <a:cs typeface="+mn-cs"/>
              </a:rPr>
              <a:t> in ChromaDB, with no KG filtering. </a:t>
            </a:r>
            <a:r>
              <a:rPr lang="" sz="1200" b="1" i="0" kern="1200" dirty="0">
                <a:solidFill>
                  <a:schemeClr val="tx1"/>
                </a:solidFill>
                <a:effectLst/>
                <a:latin typeface="+mn-lt"/>
                <a:ea typeface="+mn-ea"/>
                <a:cs typeface="+mn-cs"/>
              </a:rPr>
              <a:t>The Result:</a:t>
            </a:r>
            <a:r>
              <a:rPr lang="" sz="1200" b="0" i="0" kern="1200" dirty="0">
                <a:solidFill>
                  <a:schemeClr val="tx1"/>
                </a:solidFill>
                <a:effectLst/>
                <a:latin typeface="+mn-lt"/>
                <a:ea typeface="+mn-ea"/>
                <a:cs typeface="+mn-cs"/>
              </a:rPr>
              <a:t> The baseline scored terribly (e.g., Mistral-Nemo got 55.6% Exact Match; Qwen models got 0% Macro F1). </a:t>
            </a:r>
            <a:r>
              <a:rPr lang="" sz="1200" b="1" i="0" kern="1200" dirty="0">
                <a:solidFill>
                  <a:schemeClr val="tx1"/>
                </a:solidFill>
                <a:effectLst/>
                <a:latin typeface="+mn-lt"/>
                <a:ea typeface="+mn-ea"/>
                <a:cs typeface="+mn-cs"/>
              </a:rPr>
              <a:t>The Message to the Professor:</a:t>
            </a:r>
            <a:r>
              <a:rPr lang="" sz="1200" b="0" i="0" kern="1200" dirty="0">
                <a:solidFill>
                  <a:schemeClr val="tx1"/>
                </a:solidFill>
                <a:effectLst/>
                <a:latin typeface="+mn-lt"/>
                <a:ea typeface="+mn-ea"/>
                <a:cs typeface="+mn-cs"/>
              </a:rPr>
              <a:t> </a:t>
            </a:r>
            <a:r>
              <a:rPr lang="" sz="1200" b="0" i="1" kern="1200" dirty="0">
                <a:solidFill>
                  <a:schemeClr val="tx1"/>
                </a:solidFill>
                <a:effectLst/>
                <a:latin typeface="+mn-lt"/>
                <a:ea typeface="+mn-ea"/>
                <a:cs typeface="+mn-cs"/>
              </a:rPr>
              <a:t>"Look, Professor. Without the Knowledge Graph restricting the choices, the models fail or guess blindly. This proves that adding the KG is necessary."</a:t>
            </a:r>
            <a:endParaRPr lang="" sz="1200" b="0" i="0" kern="1200" dirty="0">
              <a:solidFill>
                <a:schemeClr val="tx1"/>
              </a:solidFill>
              <a:effectLst/>
              <a:latin typeface="+mn-lt"/>
              <a:ea typeface="+mn-ea"/>
              <a:cs typeface="+mn-cs"/>
            </a:endParaRPr>
          </a:p>
          <a:p>
            <a:br>
              <a:rPr lang="" dirty="0"/>
            </a:b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[~2 min]  YOUR STRONGEST SLIDE. Slow right down. Let it land.</a:t>
            </a:r>
          </a:p>
          <a:p>
            <a:endParaRPr dirty="0"/>
          </a:p>
          <a:p>
            <a:r>
              <a:rPr dirty="0"/>
              <a:t>START: "This is the most important result in the thesis."</a:t>
            </a:r>
          </a:p>
          <a:p>
            <a:endParaRPr dirty="0"/>
          </a:p>
          <a:p>
            <a:r>
              <a:rPr dirty="0"/>
              <a:t>• For each group I asked: was the right answer even reachable from the </a:t>
            </a:r>
            <a:r>
              <a:rPr dirty="0" err="1"/>
              <a:t>behaviour</a:t>
            </a:r>
            <a:endParaRPr dirty="0"/>
          </a:p>
          <a:p>
            <a:r>
              <a:rPr dirty="0"/>
              <a:t>  the model extracted?</a:t>
            </a:r>
          </a:p>
          <a:p>
            <a:r>
              <a:rPr dirty="0"/>
              <a:t>• Every model's accuracy exactly equals its reachability.</a:t>
            </a:r>
          </a:p>
          <a:p>
            <a:r>
              <a:rPr dirty="0"/>
              <a:t>• Across all three models, the scoped retrieval was handed 22 solvable groups</a:t>
            </a:r>
          </a:p>
          <a:p>
            <a:r>
              <a:rPr dirty="0"/>
              <a:t>  and got 22 right.</a:t>
            </a:r>
          </a:p>
          <a:p>
            <a:endParaRPr dirty="0"/>
          </a:p>
          <a:p>
            <a:r>
              <a:rPr dirty="0"/>
              <a:t>SAY IT SLOWLY: "No model ever misclassified a group whose </a:t>
            </a:r>
            <a:r>
              <a:rPr dirty="0" err="1"/>
              <a:t>behaviour</a:t>
            </a:r>
            <a:r>
              <a:rPr dirty="0"/>
              <a:t> it had</a:t>
            </a:r>
          </a:p>
          <a:p>
            <a:r>
              <a:rPr dirty="0"/>
              <a:t>extracted correctly. The bottleneck is extraction, not retrieval."</a:t>
            </a:r>
          </a:p>
          <a:p>
            <a:endParaRPr dirty="0"/>
          </a:p>
          <a:p>
            <a:r>
              <a:rPr dirty="0"/>
              <a:t>THEN PAUSE. Let them absorb it before clicking.</a:t>
            </a:r>
          </a:p>
          <a:p>
            <a:endParaRPr dirty="0"/>
          </a:p>
          <a:p>
            <a:r>
              <a:rPr dirty="0"/>
              <a:t>STUCK? "Twenty-two out of twenty-two. Every error happens earlier in the</a:t>
            </a:r>
          </a:p>
          <a:p>
            <a:r>
              <a:rPr dirty="0"/>
              <a:t>pipeline, at extraction." </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[~90 s]</a:t>
            </a:r>
          </a:p>
          <a:p>
            <a:endParaRPr dirty="0"/>
          </a:p>
          <a:p>
            <a:r>
              <a:rPr dirty="0"/>
              <a:t>START: "So is the graph actually doing the work, or is my scoring just good?"</a:t>
            </a:r>
          </a:p>
          <a:p>
            <a:endParaRPr dirty="0"/>
          </a:p>
          <a:p>
            <a:r>
              <a:rPr dirty="0"/>
              <a:t>• Same scoring function, same inputs, constraint removed.</a:t>
            </a:r>
          </a:p>
          <a:p>
            <a:r>
              <a:rPr dirty="0"/>
              <a:t>• 83.3% collapses to zero.</a:t>
            </a:r>
          </a:p>
          <a:p>
            <a:r>
              <a:rPr dirty="0"/>
              <a:t>• The unconstrained version lands in the right </a:t>
            </a:r>
            <a:r>
              <a:rPr dirty="0" err="1"/>
              <a:t>neighbourhood</a:t>
            </a:r>
            <a:r>
              <a:rPr dirty="0"/>
              <a:t> — plausible</a:t>
            </a:r>
          </a:p>
          <a:p>
            <a:r>
              <a:rPr dirty="0"/>
              <a:t>  </a:t>
            </a:r>
            <a:r>
              <a:rPr dirty="0" err="1"/>
              <a:t>neighbours</a:t>
            </a:r>
            <a:r>
              <a:rPr dirty="0"/>
              <a:t> like T1205, T1049 — and essentially never on the right answer.</a:t>
            </a:r>
          </a:p>
          <a:p>
            <a:endParaRPr dirty="0"/>
          </a:p>
          <a:p>
            <a:r>
              <a:rPr dirty="0"/>
              <a:t>PRE-EMPT THE OBJECTION: "This isn't a strawman baseline. It's my own code's</a:t>
            </a:r>
          </a:p>
          <a:p>
            <a:r>
              <a:rPr dirty="0"/>
              <a:t>fallback path, the branch that already runs when a group produces no</a:t>
            </a:r>
          </a:p>
          <a:p>
            <a:r>
              <a:rPr dirty="0"/>
              <a:t>candidates."</a:t>
            </a:r>
          </a:p>
          <a:p>
            <a:endParaRPr dirty="0"/>
          </a:p>
          <a:p>
            <a:r>
              <a:rPr dirty="0"/>
              <a:t>LAND THIS: "The ranking machinery contributes almost nothing without the</a:t>
            </a:r>
          </a:p>
          <a:p>
            <a:r>
              <a:rPr dirty="0"/>
              <a:t>constraint. The constraint is the mechanism." </a:t>
            </a:r>
            <a:endParaRPr lang="en-GB" dirty="0"/>
          </a:p>
          <a:p>
            <a:endParaRPr lang="en-GB" dirty="0"/>
          </a:p>
          <a:p>
            <a:r>
              <a:rPr lang="" sz="1200" b="0" i="1" kern="1200" dirty="0">
                <a:solidFill>
                  <a:schemeClr val="tx1"/>
                </a:solidFill>
                <a:effectLst/>
                <a:latin typeface="+mn-lt"/>
                <a:ea typeface="+mn-ea"/>
                <a:cs typeface="+mn-cs"/>
              </a:rPr>
              <a:t>but we removed the graph constraint and let the system search all 691 ATT&amp;CK techniques instead of the 2 to 5 candidates the graph provides.</a:t>
            </a:r>
          </a:p>
          <a:p>
            <a:endParaRPr lang="" sz="1200" b="0" i="1" kern="1200" dirty="0">
              <a:solidFill>
                <a:schemeClr val="tx1"/>
              </a:solidFill>
              <a:effectLst/>
              <a:latin typeface="+mn-lt"/>
              <a:ea typeface="+mn-ea"/>
              <a:cs typeface="+mn-cs"/>
            </a:endParaRPr>
          </a:p>
          <a:p>
            <a:r>
              <a:rPr lang="" sz="1200" b="0" i="1" kern="1200" dirty="0">
                <a:solidFill>
                  <a:schemeClr val="tx1"/>
                </a:solidFill>
                <a:effectLst/>
                <a:latin typeface="+mn-lt"/>
                <a:ea typeface="+mn-ea"/>
                <a:cs typeface="+mn-cs"/>
              </a:rPr>
              <a:t>Exact match collapsed to zero for two of the three models, and 5.6% for the third. The ranking machinery was landing in the right neighbourhood but never on the right technique. This proves that the Knowledge Graph's scoping mechanism is not a minor improvement — it is the core architectural contribution. It turns an impossible open-domain search into a solvable closed-set classification."</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[~45 s]</a:t>
            </a:r>
          </a:p>
          <a:p>
            <a:endParaRPr dirty="0"/>
          </a:p>
          <a:p>
            <a:r>
              <a:rPr dirty="0"/>
              <a:t>START: "One fairness question I should answer before it's asked."</a:t>
            </a:r>
          </a:p>
          <a:p>
            <a:endParaRPr dirty="0"/>
          </a:p>
          <a:p>
            <a:r>
              <a:rPr dirty="0"/>
              <a:t>• The baseline had no grammar constraint, so I checked whether that hurt it.</a:t>
            </a:r>
          </a:p>
          <a:p>
            <a:r>
              <a:rPr dirty="0"/>
              <a:t>• 51 of 54 baseline outputs parsed fine.</a:t>
            </a:r>
          </a:p>
          <a:p>
            <a:r>
              <a:rPr dirty="0"/>
              <a:t>• The 3 failures were all one model, emitting an invalid ID.</a:t>
            </a:r>
          </a:p>
          <a:p>
            <a:r>
              <a:rPr dirty="0"/>
              <a:t>• Even crediting all three as correct, that baseline reaches at most 0.722 —</a:t>
            </a:r>
          </a:p>
          <a:p>
            <a:r>
              <a:rPr dirty="0"/>
              <a:t>  still below the grounded 0.833.</a:t>
            </a:r>
          </a:p>
          <a:p>
            <a:endParaRPr dirty="0"/>
          </a:p>
          <a:p>
            <a:r>
              <a:rPr dirty="0"/>
              <a:t>SAY: "So the missing grammar cannot explain the gap." </a:t>
            </a:r>
            <a:endParaRPr lang="en-GB" dirty="0"/>
          </a:p>
          <a:p>
            <a:endParaRPr lang="en-GB" dirty="0"/>
          </a:p>
          <a:p>
            <a:r>
              <a:rPr lang="" sz="1200" b="0" i="0" kern="1200" dirty="0">
                <a:solidFill>
                  <a:schemeClr val="tx1"/>
                </a:solidFill>
                <a:effectLst/>
                <a:latin typeface="+mn-lt"/>
                <a:ea typeface="+mn-ea"/>
                <a:cs typeface="+mn-cs"/>
              </a:rPr>
              <a:t>When you built the </a:t>
            </a:r>
            <a:r>
              <a:rPr lang="" sz="1200" b="1" i="0" kern="1200" dirty="0">
                <a:solidFill>
                  <a:schemeClr val="tx1"/>
                </a:solidFill>
                <a:effectLst/>
                <a:latin typeface="+mn-lt"/>
                <a:ea typeface="+mn-ea"/>
                <a:cs typeface="+mn-cs"/>
              </a:rPr>
              <a:t>Baseline</a:t>
            </a:r>
            <a:r>
              <a:rPr lang="" sz="1200" b="0" i="0" kern="1200" dirty="0">
                <a:solidFill>
                  <a:schemeClr val="tx1"/>
                </a:solidFill>
                <a:effectLst/>
                <a:latin typeface="+mn-lt"/>
                <a:ea typeface="+mn-ea"/>
                <a:cs typeface="+mn-cs"/>
              </a:rPr>
              <a:t> (the "LLM-Only" condition to compare against), you gave the LLM the exact same alert text and triples, but you removed the Knowledge Graph, the RAG retrieval, and the strict JSON grammar. You just let the LLM guess the technique from its own memory and output free text.</a:t>
            </a:r>
          </a:p>
          <a:p>
            <a:endParaRPr lang="" sz="1200" b="0" i="0" kern="1200" dirty="0">
              <a:solidFill>
                <a:schemeClr val="tx1"/>
              </a:solidFill>
              <a:effectLst/>
              <a:latin typeface="+mn-lt"/>
              <a:ea typeface="+mn-ea"/>
              <a:cs typeface="+mn-cs"/>
            </a:endParaRPr>
          </a:p>
          <a:p>
            <a:endParaRPr lang="" sz="1200" b="0" i="0" kern="1200" dirty="0">
              <a:solidFill>
                <a:schemeClr val="tx1"/>
              </a:solidFill>
              <a:effectLst/>
              <a:latin typeface="+mn-lt"/>
              <a:ea typeface="+mn-ea"/>
              <a:cs typeface="+mn-cs"/>
            </a:endParaRPr>
          </a:p>
          <a:p>
            <a:r>
              <a:rPr lang="" sz="1200" b="0" i="0" kern="1200" dirty="0">
                <a:solidFill>
                  <a:schemeClr val="tx1"/>
                </a:solidFill>
                <a:effectLst/>
                <a:latin typeface="+mn-lt"/>
                <a:ea typeface="+mn-ea"/>
                <a:cs typeface="+mn-cs"/>
              </a:rPr>
              <a:t>Even if you give the baseline the most generous benefit of the doubt and count those 3 formatting failures as "correct," the baseline's score only lifts to </a:t>
            </a:r>
            <a:r>
              <a:rPr lang="" sz="1200" b="1" i="0" kern="1200" dirty="0">
                <a:solidFill>
                  <a:schemeClr val="tx1"/>
                </a:solidFill>
                <a:effectLst/>
                <a:latin typeface="+mn-lt"/>
                <a:ea typeface="+mn-ea"/>
                <a:cs typeface="+mn-cs"/>
              </a:rPr>
              <a:t>0.722 (72.2%)</a:t>
            </a:r>
            <a:r>
              <a:rPr lang="" sz="1200" b="0" i="0" kern="1200" dirty="0">
                <a:solidFill>
                  <a:schemeClr val="tx1"/>
                </a:solidFill>
                <a:effectLst/>
                <a:latin typeface="+mn-lt"/>
                <a:ea typeface="+mn-ea"/>
                <a:cs typeface="+mn-cs"/>
              </a:rPr>
              <a:t>. Your KG-Anchored pipeline still scored </a:t>
            </a:r>
            <a:r>
              <a:rPr lang="" sz="1200" b="1" i="0" kern="1200" dirty="0">
                <a:solidFill>
                  <a:schemeClr val="tx1"/>
                </a:solidFill>
                <a:effectLst/>
                <a:latin typeface="+mn-lt"/>
                <a:ea typeface="+mn-ea"/>
                <a:cs typeface="+mn-cs"/>
              </a:rPr>
              <a:t>0.833 (83.3%)</a:t>
            </a:r>
            <a:r>
              <a:rPr lang="" sz="1200" b="0" i="0" kern="1200" dirty="0">
                <a:solidFill>
                  <a:schemeClr val="tx1"/>
                </a:solidFill>
                <a:effectLst/>
                <a:latin typeface="+mn-lt"/>
                <a:ea typeface="+mn-ea"/>
                <a:cs typeface="+mn-cs"/>
              </a:rPr>
              <a:t>.</a:t>
            </a:r>
          </a:p>
          <a:p>
            <a:endParaRPr lang="" sz="1200" b="0" i="0" kern="1200" dirty="0">
              <a:solidFill>
                <a:schemeClr val="tx1"/>
              </a:solidFill>
              <a:effectLst/>
              <a:latin typeface="+mn-lt"/>
              <a:ea typeface="+mn-ea"/>
              <a:cs typeface="+mn-cs"/>
            </a:endParaRP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 dirty="0"/>
              <a:t>Precision = out of all the things your model said were positive, how many were actually correct.</a:t>
            </a:r>
          </a:p>
          <a:p>
            <a:r>
              <a:rPr lang="" dirty="0"/>
              <a:t>Recall = out of all the real positives that exist, how many your model actually found.</a:t>
            </a:r>
          </a:p>
          <a:p>
            <a:r>
              <a:rPr lang="" dirty="0"/>
              <a:t>F1 score = how well your model balances precision and recall.</a:t>
            </a:r>
          </a:p>
          <a:p>
            <a:endParaRPr dirty="0"/>
          </a:p>
          <a:p>
            <a:r>
              <a:rPr dirty="0"/>
              <a:t>START: "Does it transfer? This is the stronger of my two results."</a:t>
            </a:r>
          </a:p>
          <a:p>
            <a:endParaRPr dirty="0"/>
          </a:p>
          <a:p>
            <a:r>
              <a:rPr dirty="0"/>
              <a:t>• Host audit logs, real red-team engagement, ground truth transcribed from</a:t>
            </a:r>
          </a:p>
          <a:p>
            <a:r>
              <a:rPr dirty="0"/>
              <a:t>  someone else's report.</a:t>
            </a:r>
          </a:p>
          <a:p>
            <a:r>
              <a:rPr dirty="0"/>
              <a:t>• Plus 0.43 F1 for every one of the three models.</a:t>
            </a:r>
          </a:p>
          <a:p>
            <a:r>
              <a:rPr dirty="0"/>
              <a:t>• The confidence intervals are disjoint — unlike CIC-IDS.</a:t>
            </a:r>
          </a:p>
          <a:p>
            <a:r>
              <a:rPr dirty="0"/>
              <a:t>• Precision near 1.0, recall about 0.5: when it names a technique it's almost</a:t>
            </a:r>
          </a:p>
          <a:p>
            <a:r>
              <a:rPr dirty="0"/>
              <a:t>  always right, but it misses about half.</a:t>
            </a:r>
          </a:p>
          <a:p>
            <a:endParaRPr dirty="0"/>
          </a:p>
          <a:p>
            <a:r>
              <a:rPr dirty="0"/>
              <a:t>POINT OUT: "The model ranking flips here. The worst model on network flows is</a:t>
            </a:r>
          </a:p>
          <a:p>
            <a:r>
              <a:rPr dirty="0"/>
              <a:t>the best on host logs. Model choice is dataset-dependent." </a:t>
            </a:r>
            <a:endParaRPr lang="en-GB" dirty="0"/>
          </a:p>
          <a:p>
            <a:r>
              <a:rPr lang="" sz="1200" b="0" i="0" kern="1200" dirty="0">
                <a:solidFill>
                  <a:schemeClr val="tx1"/>
                </a:solidFill>
                <a:effectLst/>
                <a:latin typeface="+mn-lt"/>
                <a:ea typeface="+mn-ea"/>
                <a:cs typeface="+mn-cs"/>
              </a:rPr>
              <a:t>This is </a:t>
            </a:r>
            <a:r>
              <a:rPr lang="" sz="1200" b="1" i="0" kern="1200" dirty="0">
                <a:solidFill>
                  <a:schemeClr val="tx1"/>
                </a:solidFill>
                <a:effectLst/>
                <a:latin typeface="+mn-lt"/>
                <a:ea typeface="+mn-ea"/>
                <a:cs typeface="+mn-cs"/>
              </a:rPr>
              <a:t>critical</a:t>
            </a:r>
            <a:r>
              <a:rPr lang="" sz="1200" b="0" i="0" kern="1200" dirty="0">
                <a:solidFill>
                  <a:schemeClr val="tx1"/>
                </a:solidFill>
                <a:effectLst/>
                <a:latin typeface="+mn-lt"/>
                <a:ea typeface="+mn-ea"/>
                <a:cs typeface="+mn-cs"/>
              </a:rPr>
              <a:t>: On CIC-IDS (network flows), </a:t>
            </a:r>
            <a:r>
              <a:rPr lang="" sz="1200" b="1" i="0" kern="1200" dirty="0">
                <a:solidFill>
                  <a:schemeClr val="tx1"/>
                </a:solidFill>
                <a:effectLst/>
                <a:latin typeface="+mn-lt"/>
                <a:ea typeface="+mn-ea"/>
                <a:cs typeface="+mn-cs"/>
              </a:rPr>
              <a:t>Mistral-Nemo</a:t>
            </a:r>
            <a:r>
              <a:rPr lang="" sz="1200" b="0" i="0" kern="1200" dirty="0">
                <a:solidFill>
                  <a:schemeClr val="tx1"/>
                </a:solidFill>
                <a:effectLst/>
                <a:latin typeface="+mn-lt"/>
                <a:ea typeface="+mn-ea"/>
                <a:cs typeface="+mn-cs"/>
              </a:rPr>
              <a:t> was the clear winner. But on DARPA (host logs), </a:t>
            </a:r>
            <a:r>
              <a:rPr lang="" sz="1200" b="1" i="0" kern="1200" dirty="0">
                <a:solidFill>
                  <a:schemeClr val="tx1"/>
                </a:solidFill>
                <a:effectLst/>
                <a:latin typeface="+mn-lt"/>
                <a:ea typeface="+mn-ea"/>
                <a:cs typeface="+mn-cs"/>
              </a:rPr>
              <a:t>Qwen-Coder-7B</a:t>
            </a:r>
            <a:r>
              <a:rPr lang="" sz="1200" b="0" i="0" kern="1200" dirty="0">
                <a:solidFill>
                  <a:schemeClr val="tx1"/>
                </a:solidFill>
                <a:effectLst/>
                <a:latin typeface="+mn-lt"/>
                <a:ea typeface="+mn-ea"/>
                <a:cs typeface="+mn-cs"/>
              </a:rPr>
              <a:t> wins with 0.710 F1.</a:t>
            </a:r>
          </a:p>
          <a:p>
            <a:endParaRPr lang="" sz="1200" b="0" i="0" kern="1200" dirty="0">
              <a:solidFill>
                <a:schemeClr val="tx1"/>
              </a:solidFill>
              <a:effectLst/>
              <a:latin typeface="+mn-lt"/>
              <a:ea typeface="+mn-ea"/>
              <a:cs typeface="+mn-cs"/>
            </a:endParaRPr>
          </a:p>
          <a:p>
            <a:r>
              <a:rPr lang="" sz="1200" b="0" i="0" kern="1200" dirty="0">
                <a:solidFill>
                  <a:schemeClr val="tx1"/>
                </a:solidFill>
                <a:effectLst/>
                <a:latin typeface="+mn-lt"/>
                <a:ea typeface="+mn-ea"/>
                <a:cs typeface="+mn-cs"/>
              </a:rPr>
              <a:t>The fact that </a:t>
            </a:r>
            <a:r>
              <a:rPr lang="" sz="1200" b="1" i="0" kern="1200" dirty="0">
                <a:solidFill>
                  <a:schemeClr val="tx1"/>
                </a:solidFill>
                <a:effectLst/>
                <a:latin typeface="+mn-lt"/>
                <a:ea typeface="+mn-ea"/>
                <a:cs typeface="+mn-cs"/>
              </a:rPr>
              <a:t>all three models improved by the same amount (+0.43)</a:t>
            </a:r>
            <a:r>
              <a:rPr lang="" sz="1200" b="0" i="0" kern="1200" dirty="0">
                <a:solidFill>
                  <a:schemeClr val="tx1"/>
                </a:solidFill>
                <a:effectLst/>
                <a:latin typeface="+mn-lt"/>
                <a:ea typeface="+mn-ea"/>
                <a:cs typeface="+mn-cs"/>
              </a:rPr>
              <a:t> proves that the </a:t>
            </a:r>
            <a:r>
              <a:rPr lang="" sz="1200" b="1" i="0" kern="1200" dirty="0">
                <a:solidFill>
                  <a:schemeClr val="tx1"/>
                </a:solidFill>
                <a:effectLst/>
                <a:latin typeface="+mn-lt"/>
                <a:ea typeface="+mn-ea"/>
                <a:cs typeface="+mn-cs"/>
              </a:rPr>
              <a:t>Knowledge Graph architecture</a:t>
            </a:r>
            <a:r>
              <a:rPr lang="" sz="1200" b="0" i="0" kern="1200" dirty="0">
                <a:solidFill>
                  <a:schemeClr val="tx1"/>
                </a:solidFill>
                <a:effectLst/>
                <a:latin typeface="+mn-lt"/>
                <a:ea typeface="+mn-ea"/>
                <a:cs typeface="+mn-cs"/>
              </a:rPr>
              <a:t> is doing the heavy lifting, not the model size. This is your strongest empirical evidence that the pipeline design itself is the contribution, not just using a bigger LLM</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[~75 s]</a:t>
            </a:r>
          </a:p>
          <a:p>
            <a:endParaRPr dirty="0"/>
          </a:p>
          <a:p>
            <a:r>
              <a:rPr dirty="0"/>
              <a:t>START: "One finding I didn't expect."</a:t>
            </a:r>
          </a:p>
          <a:p>
            <a:endParaRPr dirty="0"/>
          </a:p>
          <a:p>
            <a:r>
              <a:rPr dirty="0"/>
              <a:t>• The coder model writes the best-grounded reports and makes the worst</a:t>
            </a:r>
          </a:p>
          <a:p>
            <a:r>
              <a:rPr dirty="0"/>
              <a:t>  classifications.</a:t>
            </a:r>
          </a:p>
          <a:p>
            <a:r>
              <a:rPr dirty="0"/>
              <a:t>• It produces internally consistent, well-evidenced reports about the wrong</a:t>
            </a:r>
          </a:p>
          <a:p>
            <a:r>
              <a:rPr dirty="0"/>
              <a:t>  attack.</a:t>
            </a:r>
          </a:p>
          <a:p>
            <a:endParaRPr dirty="0"/>
          </a:p>
          <a:p>
            <a:r>
              <a:rPr dirty="0"/>
              <a:t>LAND THIS: "A system reporting only grounding would rank the worst model first.</a:t>
            </a:r>
          </a:p>
          <a:p>
            <a:r>
              <a:rPr dirty="0"/>
              <a:t>That's why both metrics have to be reported together, and that's my evaluative</a:t>
            </a:r>
          </a:p>
          <a:p>
            <a:r>
              <a:rPr dirty="0"/>
              <a:t>contribution."</a:t>
            </a:r>
          </a:p>
          <a:p>
            <a:endParaRPr dirty="0"/>
          </a:p>
          <a:p>
            <a:r>
              <a:rPr dirty="0"/>
              <a:t>STUCK? "Being well-grounded and being correct are not the same thing." </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s]  Two headings, one sentence each. Don't read the slide.</a:t>
            </a:r>
          </a:p>
          <a:p>
            <a:endParaRPr/>
          </a:p>
          <a:p>
            <a:r>
              <a:t>START: "Two honest limitations."</a:t>
            </a:r>
          </a:p>
          <a:p>
            <a:endParaRPr/>
          </a:p>
          <a:p>
            <a:r>
              <a:t>• THE ALERT TEXT IS THE CEILING — a single SYN packet to port 21 looks the same</a:t>
            </a:r>
          </a:p>
          <a:p>
            <a:r>
              <a:t>  whether it's reconnaissance, brute force, or a beacon. If the text can't</a:t>
            </a:r>
          </a:p>
          <a:p>
            <a:r>
              <a:t>  distinguish them, nothing downstream can.</a:t>
            </a:r>
          </a:p>
          <a:p>
            <a:r>
              <a:t>• THE EVIDENCE IS NARROW — 18 scoreable groups, one dominant technique,</a:t>
            </a:r>
          </a:p>
          <a:p>
            <a:r>
              <a:t>  overlapping intervals. DARPA is the firmer result.</a:t>
            </a:r>
          </a:p>
          <a:p>
            <a:endParaRPr/>
          </a:p>
          <a:p>
            <a:r>
              <a:t>SAY: "Both are limits of the data, not of the architecture." </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s]</a:t>
            </a:r>
          </a:p>
          <a:p>
            <a:endParaRPr/>
          </a:p>
          <a:p>
            <a:r>
              <a:t>START: "Three contributions."</a:t>
            </a:r>
          </a:p>
          <a:p>
            <a:endParaRPr/>
          </a:p>
          <a:p>
            <a:r>
              <a:t>• ARCHITECTURAL — anchoring retrieval in extracted behaviour turns an</a:t>
            </a:r>
          </a:p>
          <a:p>
            <a:r>
              <a:t>  open-domain search over 691 techniques into a closed-set choice. Measured: the</a:t>
            </a:r>
          </a:p>
          <a:p>
            <a:r>
              <a:t>  same ranking without it scores near zero.</a:t>
            </a:r>
          </a:p>
          <a:p>
            <a:r>
              <a:t>• EMPIRICAL — three models, two datasets, one laptop. Model ranking is</a:t>
            </a:r>
          </a:p>
          <a:p>
            <a:r>
              <a:t>  dataset-dependent and a 3B model stays viable.</a:t>
            </a:r>
          </a:p>
          <a:p>
            <a:r>
              <a:t>• EVALUATIVE — a dual-metric framework separating correctness from grounding,</a:t>
            </a:r>
          </a:p>
          <a:p>
            <a:r>
              <a:t>  which needs only labels and retrieved context, so it survives model turnover.</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s]</a:t>
            </a:r>
          </a:p>
          <a:p>
            <a:endParaRPr/>
          </a:p>
          <a:p>
            <a:r>
              <a:t>START: "To answer the three questions directly."</a:t>
            </a:r>
          </a:p>
          <a:p>
            <a:endParaRPr/>
          </a:p>
          <a:p>
            <a:r>
              <a:t>• RQ1 — clustering groups alerts coherently, but coherence is not</a:t>
            </a:r>
          </a:p>
          <a:p>
            <a:r>
              <a:t>  discrimination.</a:t>
            </a:r>
          </a:p>
          <a:p>
            <a:r>
              <a:t>• RQ2 — the graph faithfully represents what the model read, which isn't always</a:t>
            </a:r>
          </a:p>
          <a:p>
            <a:r>
              <a:t>  what the alerts showed.</a:t>
            </a:r>
          </a:p>
          <a:p>
            <a:r>
              <a:t>• RQ3 — behaviour-anchored retrieval improved classification in every condition</a:t>
            </a:r>
          </a:p>
          <a:p>
            <a:r>
              <a:t>  tested; without the constraint it classified almost nothing correctly.</a:t>
            </a:r>
          </a:p>
          <a:p>
            <a:endParaRPr/>
          </a:p>
          <a:p>
            <a:r>
              <a:t>THE ONE LINE TO END ON: "What the graph contributes is exclusion. It rules out</a:t>
            </a:r>
          </a:p>
          <a:p>
            <a:r>
              <a:t>the techniques the evidence doesn't support, and that turns an open-domain</a:t>
            </a:r>
          </a:p>
          <a:p>
            <a:r>
              <a:t>search into a decision an analyst can actually check."</a:t>
            </a:r>
          </a:p>
          <a:p>
            <a:endParaRPr/>
          </a:p>
          <a:p>
            <a:r>
              <a:t>If you remember one sentence all day, make it that one.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[~45 s]</a:t>
            </a:r>
          </a:p>
          <a:p>
            <a:endParaRPr/>
          </a:p>
          <a:p>
            <a:r>
              <a:t>START: "Five directions, and the first is the one my own results point to."</a:t>
            </a:r>
          </a:p>
          <a:p>
            <a:endParaRPr/>
          </a:p>
          <a:p>
            <a:r>
              <a:t>• Richer alert representation — payload, timing, cross-host context. My error</a:t>
            </a:r>
          </a:p>
          <a:p>
            <a:r>
              <a:t>  attribution says that's where the ceiling is.</a:t>
            </a:r>
          </a:p>
          <a:p>
            <a:r>
              <a:t>• A bridge curated blind to the evaluation data, to settle the circularity</a:t>
            </a:r>
          </a:p>
          <a:p>
            <a:r>
              <a:t>  question.</a:t>
            </a:r>
          </a:p>
          <a:p>
            <a:r>
              <a:t>• Iterative retrieval that catches extraction errors downstream.</a:t>
            </a:r>
          </a:p>
          <a:p>
            <a:r>
              <a:t>• Expert evaluation of the reports.</a:t>
            </a:r>
          </a:p>
          <a:p>
            <a:r>
              <a:t>• Live stream ingestion.</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 s]</a:t>
            </a:r>
          </a:p>
          <a:p>
            <a:endParaRPr/>
          </a:p>
          <a:p>
            <a:r>
              <a:t>SAY: "These are the main works this builds on."</a:t>
            </a:r>
          </a:p>
          <a:p>
            <a:endParaRPr/>
          </a:p>
          <a:p>
            <a:r>
              <a:t>Don't read them. Click through.</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 s]</a:t>
            </a:r>
          </a:p>
          <a:p>
            <a:endParaRPr/>
          </a:p>
          <a:p>
            <a:r>
              <a:t>SAY: "And the closest related systems."</a:t>
            </a:r>
          </a:p>
          <a:p>
            <a:endParaRPr/>
          </a:p>
          <a:p>
            <a:r>
              <a:t>Click through.</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 s]</a:t>
            </a:r>
          </a:p>
          <a:p>
            <a:endParaRPr/>
          </a:p>
          <a:p>
            <a:r>
              <a:t>SAY: "Thank you. I'm happy to take questions."</a:t>
            </a:r>
          </a:p>
          <a:p>
            <a:endParaRPr/>
          </a:p>
          <a:p>
            <a:r>
              <a:t>Then STOP TALKING. Stand still. Let the silence sit — it is their turn now, and</a:t>
            </a:r>
          </a:p>
          <a:p>
            <a:r>
              <a:t>filling it with nervous extra detail is the single easiest way to invite a</a:t>
            </a:r>
          </a:p>
          <a:p>
            <a:r>
              <a:t>question you didn't want.</a:t>
            </a:r>
          </a:p>
          <a:p>
            <a:endParaRPr/>
          </a:p>
          <a:p>
            <a:r>
              <a:t>WHEN A QUESTION COMES:</a:t>
            </a:r>
          </a:p>
          <a:p>
            <a:r>
              <a:t>• Let them finish completely.</a:t>
            </a:r>
          </a:p>
          <a:p>
            <a:r>
              <a:t>• Repeat it back: "So the question is whether..." That buys you five seconds and</a:t>
            </a:r>
          </a:p>
          <a:p>
            <a:r>
              <a:t>  makes sure you answer the right thing.</a:t>
            </a:r>
          </a:p>
          <a:p>
            <a:r>
              <a:t>• If you don't know: "I didn't measure that, so I'd be guessing. What I can tell</a:t>
            </a:r>
          </a:p>
          <a:p>
            <a:r>
              <a:t>  you is..." — then go to something you did measure.</a:t>
            </a:r>
          </a:p>
          <a:p>
            <a:r>
              <a:t>• Never invent a number.</a:t>
            </a:r>
          </a:p>
          <a:p>
            <a:endParaRPr/>
          </a:p>
          <a:p>
            <a:r>
              <a:t>You know this work better than anyone in the room.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32435" y="1005903"/>
            <a:ext cx="4900930" cy="681418"/>
          </a:xfrm>
          <a:prstGeom prst="rect">
            <a:avLst/>
          </a:prstGeom>
        </p:spPr>
        <p:txBody>
          <a:bodyPr wrap="square" lIns="0" tIns="0" rIns="0" bIns="0">
            <a:spAutoFit/>
          </a:bodyPr>
          <a:lstStyle>
            <a:lvl1pPr>
              <a:defRPr sz="1200" b="1" i="0">
                <a:solidFill>
                  <a:schemeClr val="bg1"/>
                </a:solidFill>
                <a:latin typeface="Arial"/>
                <a:cs typeface="Arial"/>
              </a:defRPr>
            </a:lvl1pPr>
          </a:lstStyle>
          <a:p>
            <a:endParaRPr/>
          </a:p>
        </p:txBody>
      </p:sp>
      <p:sp>
        <p:nvSpPr>
          <p:cNvPr id="3" name="Holder 3"/>
          <p:cNvSpPr>
            <a:spLocks noGrp="1"/>
          </p:cNvSpPr>
          <p:nvPr>
            <p:ph type="subTitle" idx="4"/>
          </p:nvPr>
        </p:nvSpPr>
        <p:spPr>
          <a:xfrm>
            <a:off x="864870" y="1817116"/>
            <a:ext cx="4036060" cy="811212"/>
          </a:xfrm>
          <a:prstGeom prst="rect">
            <a:avLst/>
          </a:prstGeom>
        </p:spPr>
        <p:txBody>
          <a:bodyPr wrap="square" lIns="0" tIns="0" rIns="0" bIns="0">
            <a:spAutoFit/>
          </a:bodyPr>
          <a:lstStyle>
            <a:lvl1pPr>
              <a:defRPr sz="1100" b="0" i="0">
                <a:solidFill>
                  <a:srgbClr val="22373A"/>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8/15/2026</a:t>
            </a:fld>
            <a:endParaRPr lang="en-US"/>
          </a:p>
        </p:txBody>
      </p:sp>
      <p:sp>
        <p:nvSpPr>
          <p:cNvPr id="6" name="Holder 6"/>
          <p:cNvSpPr>
            <a:spLocks noGrp="1"/>
          </p:cNvSpPr>
          <p:nvPr>
            <p:ph type="sldNum" sz="quarter" idx="7"/>
          </p:nvPr>
        </p:nvSpPr>
        <p:spPr/>
        <p:txBody>
          <a:bodyPr lIns="0" tIns="0" rIns="0" bIns="0"/>
          <a:lstStyle>
            <a:lvl1pPr>
              <a:defRPr sz="800" b="0" i="0">
                <a:solidFill>
                  <a:srgbClr val="6C6C6C"/>
                </a:solidFill>
                <a:latin typeface="Arial MT"/>
                <a:cs typeface="Arial MT"/>
              </a:defRPr>
            </a:lvl1pPr>
          </a:lstStyle>
          <a:p>
            <a:pPr marL="12700">
              <a:lnSpc>
                <a:spcPct val="100000"/>
              </a:lnSpc>
              <a:spcBef>
                <a:spcPts val="25"/>
              </a:spcBef>
            </a:pPr>
            <a:fld id="{81D60167-4931-47E6-BA6A-407CBD079E47}" type="slidenum">
              <a:rPr spc="-35" dirty="0"/>
              <a:t>‹#›</a:t>
            </a:fld>
            <a:r>
              <a:rPr spc="-80" dirty="0"/>
              <a:t> </a:t>
            </a:r>
            <a:r>
              <a:rPr spc="195" dirty="0"/>
              <a:t>/</a:t>
            </a:r>
            <a:r>
              <a:rPr spc="-75" dirty="0"/>
              <a:t> </a:t>
            </a:r>
            <a:r>
              <a:rPr spc="-25" dirty="0"/>
              <a:t>32</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1"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100" b="0" i="0">
                <a:solidFill>
                  <a:srgbClr val="22373A"/>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8/15/2026</a:t>
            </a:fld>
            <a:endParaRPr lang="en-US"/>
          </a:p>
        </p:txBody>
      </p:sp>
      <p:sp>
        <p:nvSpPr>
          <p:cNvPr id="6" name="Holder 6"/>
          <p:cNvSpPr>
            <a:spLocks noGrp="1"/>
          </p:cNvSpPr>
          <p:nvPr>
            <p:ph type="sldNum" sz="quarter" idx="7"/>
          </p:nvPr>
        </p:nvSpPr>
        <p:spPr/>
        <p:txBody>
          <a:bodyPr lIns="0" tIns="0" rIns="0" bIns="0"/>
          <a:lstStyle>
            <a:lvl1pPr>
              <a:defRPr sz="800" b="0" i="0">
                <a:solidFill>
                  <a:srgbClr val="6C6C6C"/>
                </a:solidFill>
                <a:latin typeface="Arial MT"/>
                <a:cs typeface="Arial MT"/>
              </a:defRPr>
            </a:lvl1pPr>
          </a:lstStyle>
          <a:p>
            <a:pPr marL="12700">
              <a:lnSpc>
                <a:spcPct val="100000"/>
              </a:lnSpc>
              <a:spcBef>
                <a:spcPts val="25"/>
              </a:spcBef>
            </a:pPr>
            <a:fld id="{81D60167-4931-47E6-BA6A-407CBD079E47}" type="slidenum">
              <a:rPr spc="-35" dirty="0"/>
              <a:t>‹#›</a:t>
            </a:fld>
            <a:r>
              <a:rPr spc="-80" dirty="0"/>
              <a:t> </a:t>
            </a:r>
            <a:r>
              <a:rPr spc="195" dirty="0"/>
              <a:t>/</a:t>
            </a:r>
            <a:r>
              <a:rPr spc="-75" dirty="0"/>
              <a:t> </a:t>
            </a:r>
            <a:r>
              <a:rPr spc="-25" dirty="0"/>
              <a:t>32</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1" i="0">
                <a:solidFill>
                  <a:schemeClr val="bg1"/>
                </a:solidFill>
                <a:latin typeface="Arial"/>
                <a:cs typeface="Arial"/>
              </a:defRPr>
            </a:lvl1pPr>
          </a:lstStyle>
          <a:p>
            <a:endParaRPr/>
          </a:p>
        </p:txBody>
      </p:sp>
      <p:sp>
        <p:nvSpPr>
          <p:cNvPr id="3" name="Holder 3"/>
          <p:cNvSpPr>
            <a:spLocks noGrp="1"/>
          </p:cNvSpPr>
          <p:nvPr>
            <p:ph sz="half" idx="2"/>
          </p:nvPr>
        </p:nvSpPr>
        <p:spPr>
          <a:xfrm>
            <a:off x="288290" y="746315"/>
            <a:ext cx="2508123" cy="214160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969387" y="746315"/>
            <a:ext cx="2508123" cy="214160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8/15/2026</a:t>
            </a:fld>
            <a:endParaRPr lang="en-US"/>
          </a:p>
        </p:txBody>
      </p:sp>
      <p:sp>
        <p:nvSpPr>
          <p:cNvPr id="7" name="Holder 7"/>
          <p:cNvSpPr>
            <a:spLocks noGrp="1"/>
          </p:cNvSpPr>
          <p:nvPr>
            <p:ph type="sldNum" sz="quarter" idx="7"/>
          </p:nvPr>
        </p:nvSpPr>
        <p:spPr/>
        <p:txBody>
          <a:bodyPr lIns="0" tIns="0" rIns="0" bIns="0"/>
          <a:lstStyle>
            <a:lvl1pPr>
              <a:defRPr sz="800" b="0" i="0">
                <a:solidFill>
                  <a:srgbClr val="6C6C6C"/>
                </a:solidFill>
                <a:latin typeface="Arial MT"/>
                <a:cs typeface="Arial MT"/>
              </a:defRPr>
            </a:lvl1pPr>
          </a:lstStyle>
          <a:p>
            <a:pPr marL="12700">
              <a:lnSpc>
                <a:spcPct val="100000"/>
              </a:lnSpc>
              <a:spcBef>
                <a:spcPts val="25"/>
              </a:spcBef>
            </a:pPr>
            <a:fld id="{81D60167-4931-47E6-BA6A-407CBD079E47}" type="slidenum">
              <a:rPr spc="-35" dirty="0"/>
              <a:t>‹#›</a:t>
            </a:fld>
            <a:r>
              <a:rPr spc="-80" dirty="0"/>
              <a:t> </a:t>
            </a:r>
            <a:r>
              <a:rPr spc="195" dirty="0"/>
              <a:t>/</a:t>
            </a:r>
            <a:r>
              <a:rPr spc="-75" dirty="0"/>
              <a:t> </a:t>
            </a:r>
            <a:r>
              <a:rPr spc="-25" dirty="0"/>
              <a:t>32</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1"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8/15/2026</a:t>
            </a:fld>
            <a:endParaRPr lang="en-US"/>
          </a:p>
        </p:txBody>
      </p:sp>
      <p:sp>
        <p:nvSpPr>
          <p:cNvPr id="5" name="Holder 5"/>
          <p:cNvSpPr>
            <a:spLocks noGrp="1"/>
          </p:cNvSpPr>
          <p:nvPr>
            <p:ph type="sldNum" sz="quarter" idx="7"/>
          </p:nvPr>
        </p:nvSpPr>
        <p:spPr/>
        <p:txBody>
          <a:bodyPr lIns="0" tIns="0" rIns="0" bIns="0"/>
          <a:lstStyle>
            <a:lvl1pPr>
              <a:defRPr sz="800" b="0" i="0">
                <a:solidFill>
                  <a:srgbClr val="6C6C6C"/>
                </a:solidFill>
                <a:latin typeface="Arial MT"/>
                <a:cs typeface="Arial MT"/>
              </a:defRPr>
            </a:lvl1pPr>
          </a:lstStyle>
          <a:p>
            <a:pPr marL="12700">
              <a:lnSpc>
                <a:spcPct val="100000"/>
              </a:lnSpc>
              <a:spcBef>
                <a:spcPts val="25"/>
              </a:spcBef>
            </a:pPr>
            <a:fld id="{81D60167-4931-47E6-BA6A-407CBD079E47}" type="slidenum">
              <a:rPr spc="-35" dirty="0"/>
              <a:t>‹#›</a:t>
            </a:fld>
            <a:r>
              <a:rPr spc="-80" dirty="0"/>
              <a:t> </a:t>
            </a:r>
            <a:r>
              <a:rPr spc="195" dirty="0"/>
              <a:t>/</a:t>
            </a:r>
            <a:r>
              <a:rPr spc="-75" dirty="0"/>
              <a:t> </a:t>
            </a:r>
            <a:r>
              <a:rPr spc="-25" dirty="0"/>
              <a:t>32</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8/15/2026</a:t>
            </a:fld>
            <a:endParaRPr lang="en-US"/>
          </a:p>
        </p:txBody>
      </p:sp>
      <p:sp>
        <p:nvSpPr>
          <p:cNvPr id="4" name="Holder 4"/>
          <p:cNvSpPr>
            <a:spLocks noGrp="1"/>
          </p:cNvSpPr>
          <p:nvPr>
            <p:ph type="sldNum" sz="quarter" idx="7"/>
          </p:nvPr>
        </p:nvSpPr>
        <p:spPr/>
        <p:txBody>
          <a:bodyPr lIns="0" tIns="0" rIns="0" bIns="0"/>
          <a:lstStyle>
            <a:lvl1pPr>
              <a:defRPr sz="800" b="0" i="0">
                <a:solidFill>
                  <a:srgbClr val="6C6C6C"/>
                </a:solidFill>
                <a:latin typeface="Arial MT"/>
                <a:cs typeface="Arial MT"/>
              </a:defRPr>
            </a:lvl1pPr>
          </a:lstStyle>
          <a:p>
            <a:pPr marL="12700">
              <a:lnSpc>
                <a:spcPct val="100000"/>
              </a:lnSpc>
              <a:spcBef>
                <a:spcPts val="25"/>
              </a:spcBef>
            </a:pPr>
            <a:fld id="{81D60167-4931-47E6-BA6A-407CBD079E47}" type="slidenum">
              <a:rPr spc="-35" dirty="0"/>
              <a:t>‹#›</a:t>
            </a:fld>
            <a:r>
              <a:rPr spc="-80" dirty="0"/>
              <a:t> </a:t>
            </a:r>
            <a:r>
              <a:rPr spc="195" dirty="0"/>
              <a:t>/</a:t>
            </a:r>
            <a:r>
              <a:rPr spc="-75" dirty="0"/>
              <a:t> </a:t>
            </a:r>
            <a:r>
              <a:rPr spc="-25" dirty="0"/>
              <a:t>32</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5760085" cy="3240405"/>
          </a:xfrm>
          <a:custGeom>
            <a:avLst/>
            <a:gdLst/>
            <a:ahLst/>
            <a:cxnLst/>
            <a:rect l="l" t="t" r="r" b="b"/>
            <a:pathLst>
              <a:path w="5760085" h="3240405">
                <a:moveTo>
                  <a:pt x="5759996" y="0"/>
                </a:moveTo>
                <a:lnTo>
                  <a:pt x="0" y="0"/>
                </a:lnTo>
                <a:lnTo>
                  <a:pt x="0" y="3239998"/>
                </a:lnTo>
                <a:lnTo>
                  <a:pt x="5759996" y="3239998"/>
                </a:lnTo>
                <a:lnTo>
                  <a:pt x="5759996" y="0"/>
                </a:lnTo>
                <a:close/>
              </a:path>
            </a:pathLst>
          </a:custGeom>
          <a:solidFill>
            <a:srgbClr val="F9F9F9"/>
          </a:solidFill>
        </p:spPr>
        <p:txBody>
          <a:bodyPr wrap="square" lIns="0" tIns="0" rIns="0" bIns="0" rtlCol="0"/>
          <a:lstStyle/>
          <a:p>
            <a:endParaRPr/>
          </a:p>
        </p:txBody>
      </p:sp>
      <p:sp>
        <p:nvSpPr>
          <p:cNvPr id="17" name="bg object 17"/>
          <p:cNvSpPr/>
          <p:nvPr/>
        </p:nvSpPr>
        <p:spPr>
          <a:xfrm>
            <a:off x="0" y="0"/>
            <a:ext cx="5760085" cy="376555"/>
          </a:xfrm>
          <a:custGeom>
            <a:avLst/>
            <a:gdLst/>
            <a:ahLst/>
            <a:cxnLst/>
            <a:rect l="l" t="t" r="r" b="b"/>
            <a:pathLst>
              <a:path w="5760085" h="376555">
                <a:moveTo>
                  <a:pt x="5759996" y="0"/>
                </a:moveTo>
                <a:lnTo>
                  <a:pt x="0" y="0"/>
                </a:lnTo>
                <a:lnTo>
                  <a:pt x="0" y="376339"/>
                </a:lnTo>
                <a:lnTo>
                  <a:pt x="5759996" y="376339"/>
                </a:lnTo>
                <a:lnTo>
                  <a:pt x="5759996" y="0"/>
                </a:lnTo>
                <a:close/>
              </a:path>
            </a:pathLst>
          </a:custGeom>
          <a:solidFill>
            <a:srgbClr val="1F4D79"/>
          </a:solidFill>
        </p:spPr>
        <p:txBody>
          <a:bodyPr wrap="square" lIns="0" tIns="0" rIns="0" bIns="0" rtlCol="0"/>
          <a:lstStyle/>
          <a:p>
            <a:endParaRPr/>
          </a:p>
        </p:txBody>
      </p:sp>
      <p:sp>
        <p:nvSpPr>
          <p:cNvPr id="2" name="Holder 2"/>
          <p:cNvSpPr>
            <a:spLocks noGrp="1"/>
          </p:cNvSpPr>
          <p:nvPr>
            <p:ph type="title"/>
          </p:nvPr>
        </p:nvSpPr>
        <p:spPr>
          <a:xfrm>
            <a:off x="122770" y="76349"/>
            <a:ext cx="3495675" cy="207645"/>
          </a:xfrm>
          <a:prstGeom prst="rect">
            <a:avLst/>
          </a:prstGeom>
        </p:spPr>
        <p:txBody>
          <a:bodyPr wrap="square" lIns="0" tIns="0" rIns="0" bIns="0">
            <a:spAutoFit/>
          </a:bodyPr>
          <a:lstStyle>
            <a:lvl1pPr>
              <a:defRPr sz="1200" b="1" i="0">
                <a:solidFill>
                  <a:schemeClr val="bg1"/>
                </a:solidFill>
                <a:latin typeface="Arial"/>
                <a:cs typeface="Arial"/>
              </a:defRPr>
            </a:lvl1pPr>
          </a:lstStyle>
          <a:p>
            <a:endParaRPr/>
          </a:p>
        </p:txBody>
      </p:sp>
      <p:sp>
        <p:nvSpPr>
          <p:cNvPr id="3" name="Holder 3"/>
          <p:cNvSpPr>
            <a:spLocks noGrp="1"/>
          </p:cNvSpPr>
          <p:nvPr>
            <p:ph type="body" idx="1"/>
          </p:nvPr>
        </p:nvSpPr>
        <p:spPr>
          <a:xfrm>
            <a:off x="347294" y="929269"/>
            <a:ext cx="4932045" cy="1534160"/>
          </a:xfrm>
          <a:prstGeom prst="rect">
            <a:avLst/>
          </a:prstGeom>
        </p:spPr>
        <p:txBody>
          <a:bodyPr wrap="square" lIns="0" tIns="0" rIns="0" bIns="0">
            <a:spAutoFit/>
          </a:bodyPr>
          <a:lstStyle>
            <a:lvl1pPr>
              <a:defRPr sz="1100" b="0" i="0">
                <a:solidFill>
                  <a:srgbClr val="22373A"/>
                </a:solidFill>
                <a:latin typeface="Arial MT"/>
                <a:cs typeface="Arial MT"/>
              </a:defRPr>
            </a:lvl1pPr>
          </a:lstStyle>
          <a:p>
            <a:endParaRPr/>
          </a:p>
        </p:txBody>
      </p:sp>
      <p:sp>
        <p:nvSpPr>
          <p:cNvPr id="4" name="Holder 4"/>
          <p:cNvSpPr>
            <a:spLocks noGrp="1"/>
          </p:cNvSpPr>
          <p:nvPr>
            <p:ph type="ftr" sz="quarter" idx="5"/>
          </p:nvPr>
        </p:nvSpPr>
        <p:spPr>
          <a:xfrm>
            <a:off x="1960372" y="3017710"/>
            <a:ext cx="1845056" cy="1622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88290" y="3017710"/>
            <a:ext cx="1326134" cy="1622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8/15/2026</a:t>
            </a:fld>
            <a:endParaRPr lang="en-US"/>
          </a:p>
        </p:txBody>
      </p:sp>
      <p:sp>
        <p:nvSpPr>
          <p:cNvPr id="6" name="Holder 6"/>
          <p:cNvSpPr>
            <a:spLocks noGrp="1"/>
          </p:cNvSpPr>
          <p:nvPr>
            <p:ph type="sldNum" sz="quarter" idx="7"/>
          </p:nvPr>
        </p:nvSpPr>
        <p:spPr>
          <a:xfrm>
            <a:off x="5307723" y="3024750"/>
            <a:ext cx="330200" cy="150494"/>
          </a:xfrm>
          <a:prstGeom prst="rect">
            <a:avLst/>
          </a:prstGeom>
        </p:spPr>
        <p:txBody>
          <a:bodyPr wrap="square" lIns="0" tIns="0" rIns="0" bIns="0">
            <a:spAutoFit/>
          </a:bodyPr>
          <a:lstStyle>
            <a:lvl1pPr>
              <a:defRPr sz="800" b="0" i="0">
                <a:solidFill>
                  <a:srgbClr val="6C6C6C"/>
                </a:solidFill>
                <a:latin typeface="Arial MT"/>
                <a:cs typeface="Arial MT"/>
              </a:defRPr>
            </a:lvl1pPr>
          </a:lstStyle>
          <a:p>
            <a:pPr marL="12700">
              <a:lnSpc>
                <a:spcPct val="100000"/>
              </a:lnSpc>
              <a:spcBef>
                <a:spcPts val="25"/>
              </a:spcBef>
            </a:pPr>
            <a:fld id="{81D60167-4931-47E6-BA6A-407CBD079E47}" type="slidenum">
              <a:rPr spc="-35" dirty="0"/>
              <a:t>‹#›</a:t>
            </a:fld>
            <a:r>
              <a:rPr spc="-80" dirty="0"/>
              <a:t> </a:t>
            </a:r>
            <a:r>
              <a:rPr spc="195" dirty="0"/>
              <a:t>/</a:t>
            </a:r>
            <a:r>
              <a:rPr spc="-75" dirty="0"/>
              <a:t> </a:t>
            </a:r>
            <a:r>
              <a:rPr spc="-25" dirty="0"/>
              <a:t>32</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 Target="slide3.xml"/><Relationship Id="rId7" Type="http://schemas.openxmlformats.org/officeDocument/2006/relationships/slide" Target="slide26.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6.xml"/><Relationship Id="rId5" Type="http://schemas.openxmlformats.org/officeDocument/2006/relationships/slide" Target="slide12.xml"/><Relationship Id="rId10" Type="http://schemas.openxmlformats.org/officeDocument/2006/relationships/image" Target="../media/image6.png"/><Relationship Id="rId4" Type="http://schemas.openxmlformats.org/officeDocument/2006/relationships/slide" Target="slide6.xml"/><Relationship Id="rId9"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doi.org/10.18653/v1/2023.acl-long.99" TargetMode="External"/><Relationship Id="rId7"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hyperlink" Target="https://www.mitre.org/sites/default/files/publications/pr-18-0944-11-mitre-attack-design-and-philosophy.pdf" TargetMode="External"/><Relationship Id="rId5" Type="http://schemas.openxmlformats.org/officeDocument/2006/relationships/hyperlink" Target="https://doi.org/10.18653/v1/D19-1410" TargetMode="External"/><Relationship Id="rId4" Type="http://schemas.openxmlformats.org/officeDocument/2006/relationships/hyperlink" Target="https://doi.org/10.18653/v1/2023.emnlp-main.674" TargetMode="External"/><Relationship Id="rId9" Type="http://schemas.openxmlformats.org/officeDocument/2006/relationships/image" Target="../media/image6.png"/></Relationships>
</file>

<file path=ppt/slides/_rels/slide3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doi.org/10.1016/j.future.2025.108186" TargetMode="External"/><Relationship Id="rId7" Type="http://schemas.openxmlformats.org/officeDocument/2006/relationships/hyperlink" Target="https://doi.org/10.1109/TIFS.2025.3618381"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hyperlink" Target="https://doi.org/10.3390/s25030870" TargetMode="External"/><Relationship Id="rId5" Type="http://schemas.openxmlformats.org/officeDocument/2006/relationships/hyperlink" Target="https://ieeexplore.ieee.org/document/11395762" TargetMode="External"/><Relationship Id="rId10" Type="http://schemas.openxmlformats.org/officeDocument/2006/relationships/image" Target="../media/image6.png"/><Relationship Id="rId4" Type="http://schemas.openxmlformats.org/officeDocument/2006/relationships/hyperlink" Target="https://doi.org/10.1109/ICAIC67076.2026.11395762" TargetMode="External"/><Relationship Id="rId9"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5760085" cy="3240405"/>
          </a:xfrm>
          <a:custGeom>
            <a:avLst/>
            <a:gdLst/>
            <a:ahLst/>
            <a:cxnLst/>
            <a:rect l="l" t="t" r="r" b="b"/>
            <a:pathLst>
              <a:path w="5760085" h="3240405">
                <a:moveTo>
                  <a:pt x="5759996" y="0"/>
                </a:moveTo>
                <a:lnTo>
                  <a:pt x="0" y="0"/>
                </a:lnTo>
                <a:lnTo>
                  <a:pt x="0" y="3239998"/>
                </a:lnTo>
                <a:lnTo>
                  <a:pt x="5759996" y="3239998"/>
                </a:lnTo>
                <a:lnTo>
                  <a:pt x="5759996" y="0"/>
                </a:lnTo>
                <a:close/>
              </a:path>
            </a:pathLst>
          </a:custGeom>
          <a:solidFill>
            <a:srgbClr val="F9F9F9"/>
          </a:solidFill>
        </p:spPr>
        <p:txBody>
          <a:bodyPr wrap="square" lIns="0" tIns="0" rIns="0" bIns="0" rtlCol="0"/>
          <a:lstStyle/>
          <a:p>
            <a:endParaRPr/>
          </a:p>
        </p:txBody>
      </p:sp>
      <p:pic>
        <p:nvPicPr>
          <p:cNvPr id="3" name="object 3"/>
          <p:cNvPicPr/>
          <p:nvPr/>
        </p:nvPicPr>
        <p:blipFill>
          <a:blip r:embed="rId3" cstate="print"/>
          <a:stretch>
            <a:fillRect/>
          </a:stretch>
        </p:blipFill>
        <p:spPr>
          <a:xfrm>
            <a:off x="3710254" y="2535539"/>
            <a:ext cx="535306" cy="413934"/>
          </a:xfrm>
          <a:prstGeom prst="rect">
            <a:avLst/>
          </a:prstGeom>
        </p:spPr>
      </p:pic>
      <p:pic>
        <p:nvPicPr>
          <p:cNvPr id="4" name="object 4"/>
          <p:cNvPicPr/>
          <p:nvPr/>
        </p:nvPicPr>
        <p:blipFill>
          <a:blip r:embed="rId4" cstate="print"/>
          <a:stretch>
            <a:fillRect/>
          </a:stretch>
        </p:blipFill>
        <p:spPr>
          <a:xfrm>
            <a:off x="4425556" y="2535544"/>
            <a:ext cx="413928" cy="413928"/>
          </a:xfrm>
          <a:prstGeom prst="rect">
            <a:avLst/>
          </a:prstGeom>
        </p:spPr>
      </p:pic>
      <p:pic>
        <p:nvPicPr>
          <p:cNvPr id="5" name="object 5"/>
          <p:cNvPicPr/>
          <p:nvPr/>
        </p:nvPicPr>
        <p:blipFill>
          <a:blip r:embed="rId5" cstate="print"/>
          <a:stretch>
            <a:fillRect/>
          </a:stretch>
        </p:blipFill>
        <p:spPr>
          <a:xfrm>
            <a:off x="5019471" y="2535472"/>
            <a:ext cx="414000" cy="414000"/>
          </a:xfrm>
          <a:prstGeom prst="rect">
            <a:avLst/>
          </a:prstGeom>
        </p:spPr>
      </p:pic>
      <p:sp>
        <p:nvSpPr>
          <p:cNvPr id="6" name="object 6" descr="$PPTXTitle"/>
          <p:cNvSpPr txBox="1">
            <a:spLocks noGrp="1"/>
          </p:cNvSpPr>
          <p:nvPr>
            <p:ph type="title"/>
          </p:nvPr>
        </p:nvSpPr>
        <p:spPr>
          <a:xfrm>
            <a:off x="347294" y="314360"/>
            <a:ext cx="4515485" cy="244475"/>
          </a:xfrm>
          <a:prstGeom prst="rect">
            <a:avLst/>
          </a:prstGeom>
        </p:spPr>
        <p:txBody>
          <a:bodyPr vert="horz" wrap="square" lIns="0" tIns="17145" rIns="0" bIns="0" rtlCol="0">
            <a:spAutoFit/>
          </a:bodyPr>
          <a:lstStyle/>
          <a:p>
            <a:pPr marL="12700">
              <a:lnSpc>
                <a:spcPct val="100000"/>
              </a:lnSpc>
              <a:spcBef>
                <a:spcPts val="135"/>
              </a:spcBef>
            </a:pPr>
            <a:r>
              <a:rPr sz="1400" dirty="0">
                <a:solidFill>
                  <a:srgbClr val="22373A"/>
                </a:solidFill>
              </a:rPr>
              <a:t>From</a:t>
            </a:r>
            <a:r>
              <a:rPr sz="1400" spc="185" dirty="0">
                <a:solidFill>
                  <a:srgbClr val="22373A"/>
                </a:solidFill>
              </a:rPr>
              <a:t> </a:t>
            </a:r>
            <a:r>
              <a:rPr sz="1400" dirty="0">
                <a:solidFill>
                  <a:srgbClr val="22373A"/>
                </a:solidFill>
              </a:rPr>
              <a:t>Fragmented</a:t>
            </a:r>
            <a:r>
              <a:rPr sz="1400" spc="185" dirty="0">
                <a:solidFill>
                  <a:srgbClr val="22373A"/>
                </a:solidFill>
              </a:rPr>
              <a:t> </a:t>
            </a:r>
            <a:r>
              <a:rPr sz="1400" dirty="0">
                <a:solidFill>
                  <a:srgbClr val="22373A"/>
                </a:solidFill>
              </a:rPr>
              <a:t>Alerts</a:t>
            </a:r>
            <a:r>
              <a:rPr sz="1400" spc="190" dirty="0">
                <a:solidFill>
                  <a:srgbClr val="22373A"/>
                </a:solidFill>
              </a:rPr>
              <a:t> </a:t>
            </a:r>
            <a:r>
              <a:rPr sz="1400" spc="50" dirty="0">
                <a:solidFill>
                  <a:srgbClr val="22373A"/>
                </a:solidFill>
              </a:rPr>
              <a:t>to</a:t>
            </a:r>
            <a:r>
              <a:rPr sz="1400" spc="185" dirty="0">
                <a:solidFill>
                  <a:srgbClr val="22373A"/>
                </a:solidFill>
              </a:rPr>
              <a:t> </a:t>
            </a:r>
            <a:r>
              <a:rPr sz="1400" dirty="0">
                <a:solidFill>
                  <a:srgbClr val="22373A"/>
                </a:solidFill>
              </a:rPr>
              <a:t>Actionable</a:t>
            </a:r>
            <a:r>
              <a:rPr sz="1400" spc="190" dirty="0">
                <a:solidFill>
                  <a:srgbClr val="22373A"/>
                </a:solidFill>
              </a:rPr>
              <a:t> </a:t>
            </a:r>
            <a:r>
              <a:rPr sz="1400" spc="-10" dirty="0">
                <a:solidFill>
                  <a:srgbClr val="22373A"/>
                </a:solidFill>
              </a:rPr>
              <a:t>Intelligence:</a:t>
            </a:r>
            <a:endParaRPr sz="1400"/>
          </a:p>
        </p:txBody>
      </p:sp>
      <p:sp>
        <p:nvSpPr>
          <p:cNvPr id="7" name="object 7"/>
          <p:cNvSpPr txBox="1"/>
          <p:nvPr/>
        </p:nvSpPr>
        <p:spPr>
          <a:xfrm>
            <a:off x="347294" y="631558"/>
            <a:ext cx="4352290" cy="433070"/>
          </a:xfrm>
          <a:prstGeom prst="rect">
            <a:avLst/>
          </a:prstGeom>
        </p:spPr>
        <p:txBody>
          <a:bodyPr vert="horz" wrap="square" lIns="0" tIns="12700" rIns="0" bIns="0" rtlCol="0">
            <a:spAutoFit/>
          </a:bodyPr>
          <a:lstStyle/>
          <a:p>
            <a:pPr marL="12700" marR="5080">
              <a:lnSpc>
                <a:spcPct val="111400"/>
              </a:lnSpc>
              <a:spcBef>
                <a:spcPts val="100"/>
              </a:spcBef>
            </a:pPr>
            <a:r>
              <a:rPr sz="1200" spc="-60" dirty="0">
                <a:solidFill>
                  <a:srgbClr val="22373A"/>
                </a:solidFill>
                <a:latin typeface="Arial MT"/>
                <a:cs typeface="Arial MT"/>
              </a:rPr>
              <a:t>Semantic</a:t>
            </a:r>
            <a:r>
              <a:rPr sz="1200" spc="5" dirty="0">
                <a:solidFill>
                  <a:srgbClr val="22373A"/>
                </a:solidFill>
                <a:latin typeface="Arial MT"/>
                <a:cs typeface="Arial MT"/>
              </a:rPr>
              <a:t> </a:t>
            </a:r>
            <a:r>
              <a:rPr sz="1200" spc="-50" dirty="0">
                <a:solidFill>
                  <a:srgbClr val="22373A"/>
                </a:solidFill>
                <a:latin typeface="Arial MT"/>
                <a:cs typeface="Arial MT"/>
              </a:rPr>
              <a:t>Clustering,</a:t>
            </a:r>
            <a:r>
              <a:rPr sz="1200" spc="5" dirty="0">
                <a:solidFill>
                  <a:srgbClr val="22373A"/>
                </a:solidFill>
                <a:latin typeface="Arial MT"/>
                <a:cs typeface="Arial MT"/>
              </a:rPr>
              <a:t> </a:t>
            </a:r>
            <a:r>
              <a:rPr sz="1200" spc="-75" dirty="0">
                <a:solidFill>
                  <a:srgbClr val="22373A"/>
                </a:solidFill>
                <a:latin typeface="Arial MT"/>
                <a:cs typeface="Arial MT"/>
              </a:rPr>
              <a:t>Knowledge</a:t>
            </a:r>
            <a:r>
              <a:rPr sz="1200" spc="10" dirty="0">
                <a:solidFill>
                  <a:srgbClr val="22373A"/>
                </a:solidFill>
                <a:latin typeface="Arial MT"/>
                <a:cs typeface="Arial MT"/>
              </a:rPr>
              <a:t> </a:t>
            </a:r>
            <a:r>
              <a:rPr sz="1200" spc="-70" dirty="0">
                <a:solidFill>
                  <a:srgbClr val="22373A"/>
                </a:solidFill>
                <a:latin typeface="Arial MT"/>
                <a:cs typeface="Arial MT"/>
              </a:rPr>
              <a:t>Graph</a:t>
            </a:r>
            <a:r>
              <a:rPr sz="1200" spc="5" dirty="0">
                <a:solidFill>
                  <a:srgbClr val="22373A"/>
                </a:solidFill>
                <a:latin typeface="Arial MT"/>
                <a:cs typeface="Arial MT"/>
              </a:rPr>
              <a:t> </a:t>
            </a:r>
            <a:r>
              <a:rPr sz="1200" spc="-45" dirty="0">
                <a:solidFill>
                  <a:srgbClr val="22373A"/>
                </a:solidFill>
                <a:latin typeface="Arial MT"/>
                <a:cs typeface="Arial MT"/>
              </a:rPr>
              <a:t>Construction,</a:t>
            </a:r>
            <a:r>
              <a:rPr sz="1200" spc="5" dirty="0">
                <a:solidFill>
                  <a:srgbClr val="22373A"/>
                </a:solidFill>
                <a:latin typeface="Arial MT"/>
                <a:cs typeface="Arial MT"/>
              </a:rPr>
              <a:t> </a:t>
            </a:r>
            <a:r>
              <a:rPr sz="1200" spc="-50" dirty="0">
                <a:solidFill>
                  <a:srgbClr val="22373A"/>
                </a:solidFill>
                <a:latin typeface="Arial MT"/>
                <a:cs typeface="Arial MT"/>
              </a:rPr>
              <a:t>and</a:t>
            </a:r>
            <a:r>
              <a:rPr sz="1200" spc="10" dirty="0">
                <a:solidFill>
                  <a:srgbClr val="22373A"/>
                </a:solidFill>
                <a:latin typeface="Arial MT"/>
                <a:cs typeface="Arial MT"/>
              </a:rPr>
              <a:t> </a:t>
            </a:r>
            <a:r>
              <a:rPr sz="1200" spc="-100" dirty="0">
                <a:solidFill>
                  <a:srgbClr val="22373A"/>
                </a:solidFill>
                <a:latin typeface="Arial MT"/>
                <a:cs typeface="Arial MT"/>
              </a:rPr>
              <a:t>RAG-</a:t>
            </a:r>
            <a:r>
              <a:rPr sz="1200" spc="-45" dirty="0">
                <a:solidFill>
                  <a:srgbClr val="22373A"/>
                </a:solidFill>
                <a:latin typeface="Arial MT"/>
                <a:cs typeface="Arial MT"/>
              </a:rPr>
              <a:t>Based </a:t>
            </a:r>
            <a:r>
              <a:rPr sz="1200" spc="-35" dirty="0">
                <a:solidFill>
                  <a:srgbClr val="22373A"/>
                </a:solidFill>
                <a:latin typeface="Arial MT"/>
                <a:cs typeface="Arial MT"/>
              </a:rPr>
              <a:t>Incident </a:t>
            </a:r>
            <a:r>
              <a:rPr sz="1200" spc="-45" dirty="0">
                <a:solidFill>
                  <a:srgbClr val="22373A"/>
                </a:solidFill>
                <a:latin typeface="Arial MT"/>
                <a:cs typeface="Arial MT"/>
              </a:rPr>
              <a:t>Reporting</a:t>
            </a:r>
            <a:r>
              <a:rPr sz="1200" spc="-35" dirty="0">
                <a:solidFill>
                  <a:srgbClr val="22373A"/>
                </a:solidFill>
                <a:latin typeface="Arial MT"/>
                <a:cs typeface="Arial MT"/>
              </a:rPr>
              <a:t> </a:t>
            </a:r>
            <a:r>
              <a:rPr sz="1200" spc="-10" dirty="0">
                <a:solidFill>
                  <a:srgbClr val="22373A"/>
                </a:solidFill>
                <a:latin typeface="Arial MT"/>
                <a:cs typeface="Arial MT"/>
              </a:rPr>
              <a:t>on</a:t>
            </a:r>
            <a:r>
              <a:rPr sz="1200" spc="-35" dirty="0">
                <a:solidFill>
                  <a:srgbClr val="22373A"/>
                </a:solidFill>
                <a:latin typeface="Arial MT"/>
                <a:cs typeface="Arial MT"/>
              </a:rPr>
              <a:t> </a:t>
            </a:r>
            <a:r>
              <a:rPr sz="1200" spc="-50" dirty="0">
                <a:solidFill>
                  <a:srgbClr val="22373A"/>
                </a:solidFill>
                <a:latin typeface="Arial MT"/>
                <a:cs typeface="Arial MT"/>
              </a:rPr>
              <a:t>SIEM</a:t>
            </a:r>
            <a:r>
              <a:rPr sz="1200" spc="-30" dirty="0">
                <a:solidFill>
                  <a:srgbClr val="22373A"/>
                </a:solidFill>
                <a:latin typeface="Arial MT"/>
                <a:cs typeface="Arial MT"/>
              </a:rPr>
              <a:t> Log</a:t>
            </a:r>
            <a:r>
              <a:rPr sz="1200" spc="-35" dirty="0">
                <a:solidFill>
                  <a:srgbClr val="22373A"/>
                </a:solidFill>
                <a:latin typeface="Arial MT"/>
                <a:cs typeface="Arial MT"/>
              </a:rPr>
              <a:t> </a:t>
            </a:r>
            <a:r>
              <a:rPr sz="1200" spc="-10" dirty="0">
                <a:solidFill>
                  <a:srgbClr val="22373A"/>
                </a:solidFill>
                <a:latin typeface="Arial MT"/>
                <a:cs typeface="Arial MT"/>
              </a:rPr>
              <a:t>Streams</a:t>
            </a:r>
            <a:endParaRPr sz="1200">
              <a:latin typeface="Arial MT"/>
              <a:cs typeface="Arial MT"/>
            </a:endParaRPr>
          </a:p>
        </p:txBody>
      </p:sp>
      <p:sp>
        <p:nvSpPr>
          <p:cNvPr id="8" name="object 8"/>
          <p:cNvSpPr/>
          <p:nvPr/>
        </p:nvSpPr>
        <p:spPr>
          <a:xfrm>
            <a:off x="359994" y="1288446"/>
            <a:ext cx="5040630" cy="5080"/>
          </a:xfrm>
          <a:custGeom>
            <a:avLst/>
            <a:gdLst/>
            <a:ahLst/>
            <a:cxnLst/>
            <a:rect l="l" t="t" r="r" b="b"/>
            <a:pathLst>
              <a:path w="5040630" h="5080">
                <a:moveTo>
                  <a:pt x="0" y="5060"/>
                </a:moveTo>
                <a:lnTo>
                  <a:pt x="0" y="0"/>
                </a:lnTo>
                <a:lnTo>
                  <a:pt x="5040064" y="0"/>
                </a:lnTo>
                <a:lnTo>
                  <a:pt x="5040064" y="5060"/>
                </a:lnTo>
                <a:lnTo>
                  <a:pt x="0" y="5060"/>
                </a:lnTo>
                <a:close/>
              </a:path>
            </a:pathLst>
          </a:custGeom>
          <a:solidFill>
            <a:srgbClr val="2D7DB8"/>
          </a:solidFill>
        </p:spPr>
        <p:txBody>
          <a:bodyPr wrap="square" lIns="0" tIns="0" rIns="0" bIns="0" rtlCol="0"/>
          <a:lstStyle/>
          <a:p>
            <a:endParaRPr/>
          </a:p>
        </p:txBody>
      </p:sp>
      <p:sp>
        <p:nvSpPr>
          <p:cNvPr id="9" name="object 9"/>
          <p:cNvSpPr txBox="1"/>
          <p:nvPr/>
        </p:nvSpPr>
        <p:spPr>
          <a:xfrm>
            <a:off x="347294" y="1527473"/>
            <a:ext cx="2275205" cy="1310005"/>
          </a:xfrm>
          <a:prstGeom prst="rect">
            <a:avLst/>
          </a:prstGeom>
        </p:spPr>
        <p:txBody>
          <a:bodyPr vert="horz" wrap="square" lIns="0" tIns="12700" rIns="0" bIns="0" rtlCol="0">
            <a:spAutoFit/>
          </a:bodyPr>
          <a:lstStyle/>
          <a:p>
            <a:pPr marL="12700" marR="1244600">
              <a:lnSpc>
                <a:spcPct val="135300"/>
              </a:lnSpc>
              <a:spcBef>
                <a:spcPts val="100"/>
              </a:spcBef>
            </a:pPr>
            <a:r>
              <a:rPr sz="1000" spc="-20" dirty="0">
                <a:solidFill>
                  <a:srgbClr val="22373A"/>
                </a:solidFill>
                <a:latin typeface="Arial MT"/>
                <a:cs typeface="Arial MT"/>
              </a:rPr>
              <a:t>Joel</a:t>
            </a:r>
            <a:r>
              <a:rPr sz="1000" spc="-35" dirty="0">
                <a:solidFill>
                  <a:srgbClr val="22373A"/>
                </a:solidFill>
                <a:latin typeface="Arial MT"/>
                <a:cs typeface="Arial MT"/>
              </a:rPr>
              <a:t> Isaria</a:t>
            </a:r>
            <a:r>
              <a:rPr sz="1000" spc="-25" dirty="0">
                <a:solidFill>
                  <a:srgbClr val="22373A"/>
                </a:solidFill>
                <a:latin typeface="Arial MT"/>
                <a:cs typeface="Arial MT"/>
              </a:rPr>
              <a:t> </a:t>
            </a:r>
            <a:r>
              <a:rPr sz="1000" spc="-60" dirty="0">
                <a:solidFill>
                  <a:srgbClr val="22373A"/>
                </a:solidFill>
                <a:latin typeface="Arial MT"/>
                <a:cs typeface="Arial MT"/>
              </a:rPr>
              <a:t>Mwende </a:t>
            </a:r>
            <a:r>
              <a:rPr sz="1000" spc="-10" dirty="0">
                <a:solidFill>
                  <a:srgbClr val="22373A"/>
                </a:solidFill>
                <a:latin typeface="Arial MT"/>
                <a:cs typeface="Arial MT"/>
              </a:rPr>
              <a:t>1</a:t>
            </a:r>
            <a:r>
              <a:rPr lang="en-GB" sz="1000" spc="-10" dirty="0">
                <a:solidFill>
                  <a:srgbClr val="22373A"/>
                </a:solidFill>
                <a:latin typeface="Arial MT"/>
                <a:cs typeface="Arial MT"/>
              </a:rPr>
              <a:t>5</a:t>
            </a:r>
            <a:r>
              <a:rPr sz="1000" spc="-45" dirty="0">
                <a:solidFill>
                  <a:srgbClr val="22373A"/>
                </a:solidFill>
                <a:latin typeface="Arial MT"/>
                <a:cs typeface="Arial MT"/>
              </a:rPr>
              <a:t> </a:t>
            </a:r>
            <a:r>
              <a:rPr sz="1000" spc="-10" dirty="0">
                <a:solidFill>
                  <a:srgbClr val="22373A"/>
                </a:solidFill>
                <a:latin typeface="Arial MT"/>
                <a:cs typeface="Arial MT"/>
              </a:rPr>
              <a:t>August</a:t>
            </a:r>
            <a:r>
              <a:rPr sz="1000" spc="-45" dirty="0">
                <a:solidFill>
                  <a:srgbClr val="22373A"/>
                </a:solidFill>
                <a:latin typeface="Arial MT"/>
                <a:cs typeface="Arial MT"/>
              </a:rPr>
              <a:t> </a:t>
            </a:r>
            <a:r>
              <a:rPr sz="1000" spc="-20" dirty="0">
                <a:solidFill>
                  <a:srgbClr val="22373A"/>
                </a:solidFill>
                <a:latin typeface="Arial MT"/>
                <a:cs typeface="Arial MT"/>
              </a:rPr>
              <a:t>2026</a:t>
            </a:r>
            <a:endParaRPr sz="1000" dirty="0">
              <a:latin typeface="Arial MT"/>
              <a:cs typeface="Arial MT"/>
            </a:endParaRPr>
          </a:p>
          <a:p>
            <a:pPr marL="12700" marR="486409">
              <a:lnSpc>
                <a:spcPct val="113399"/>
              </a:lnSpc>
              <a:spcBef>
                <a:spcPts val="810"/>
              </a:spcBef>
            </a:pPr>
            <a:r>
              <a:rPr sz="800" dirty="0">
                <a:solidFill>
                  <a:srgbClr val="22373A"/>
                </a:solidFill>
                <a:latin typeface="Arial MT"/>
                <a:cs typeface="Arial MT"/>
              </a:rPr>
              <a:t>MSc</a:t>
            </a:r>
            <a:r>
              <a:rPr sz="800" spc="20" dirty="0">
                <a:solidFill>
                  <a:srgbClr val="22373A"/>
                </a:solidFill>
                <a:latin typeface="Arial MT"/>
                <a:cs typeface="Arial MT"/>
              </a:rPr>
              <a:t> </a:t>
            </a:r>
            <a:r>
              <a:rPr sz="800" spc="-10" dirty="0">
                <a:solidFill>
                  <a:srgbClr val="22373A"/>
                </a:solidFill>
                <a:latin typeface="Arial MT"/>
                <a:cs typeface="Arial MT"/>
              </a:rPr>
              <a:t>Computer</a:t>
            </a:r>
            <a:r>
              <a:rPr sz="800" spc="20" dirty="0">
                <a:solidFill>
                  <a:srgbClr val="22373A"/>
                </a:solidFill>
                <a:latin typeface="Arial MT"/>
                <a:cs typeface="Arial MT"/>
              </a:rPr>
              <a:t> </a:t>
            </a:r>
            <a:r>
              <a:rPr sz="800" spc="-25" dirty="0">
                <a:solidFill>
                  <a:srgbClr val="22373A"/>
                </a:solidFill>
                <a:latin typeface="Arial MT"/>
                <a:cs typeface="Arial MT"/>
              </a:rPr>
              <a:t>Science,</a:t>
            </a:r>
            <a:r>
              <a:rPr sz="800" spc="25" dirty="0">
                <a:solidFill>
                  <a:srgbClr val="22373A"/>
                </a:solidFill>
                <a:latin typeface="Arial MT"/>
                <a:cs typeface="Arial MT"/>
              </a:rPr>
              <a:t> </a:t>
            </a:r>
            <a:r>
              <a:rPr sz="800" spc="-10" dirty="0">
                <a:solidFill>
                  <a:srgbClr val="22373A"/>
                </a:solidFill>
                <a:latin typeface="Arial MT"/>
                <a:cs typeface="Arial MT"/>
              </a:rPr>
              <a:t>Cyber</a:t>
            </a:r>
            <a:r>
              <a:rPr sz="800" spc="20" dirty="0">
                <a:solidFill>
                  <a:srgbClr val="22373A"/>
                </a:solidFill>
                <a:latin typeface="Arial MT"/>
                <a:cs typeface="Arial MT"/>
              </a:rPr>
              <a:t> </a:t>
            </a:r>
            <a:r>
              <a:rPr sz="800" spc="-10" dirty="0">
                <a:solidFill>
                  <a:srgbClr val="22373A"/>
                </a:solidFill>
                <a:latin typeface="Arial MT"/>
                <a:cs typeface="Arial MT"/>
              </a:rPr>
              <a:t>Security </a:t>
            </a:r>
            <a:r>
              <a:rPr sz="800" dirty="0">
                <a:solidFill>
                  <a:srgbClr val="22373A"/>
                </a:solidFill>
                <a:latin typeface="Arial MT"/>
                <a:cs typeface="Arial MT"/>
              </a:rPr>
              <a:t>SRH</a:t>
            </a:r>
            <a:r>
              <a:rPr sz="800" spc="15" dirty="0">
                <a:solidFill>
                  <a:srgbClr val="22373A"/>
                </a:solidFill>
                <a:latin typeface="Arial MT"/>
                <a:cs typeface="Arial MT"/>
              </a:rPr>
              <a:t> </a:t>
            </a:r>
            <a:r>
              <a:rPr sz="800" spc="-10" dirty="0">
                <a:solidFill>
                  <a:srgbClr val="22373A"/>
                </a:solidFill>
                <a:latin typeface="Arial MT"/>
                <a:cs typeface="Arial MT"/>
              </a:rPr>
              <a:t>University</a:t>
            </a:r>
            <a:r>
              <a:rPr sz="800" spc="20" dirty="0">
                <a:solidFill>
                  <a:srgbClr val="22373A"/>
                </a:solidFill>
                <a:latin typeface="Arial MT"/>
                <a:cs typeface="Arial MT"/>
              </a:rPr>
              <a:t> </a:t>
            </a:r>
            <a:r>
              <a:rPr sz="800" dirty="0">
                <a:solidFill>
                  <a:srgbClr val="22373A"/>
                </a:solidFill>
                <a:latin typeface="Arial MT"/>
                <a:cs typeface="Arial MT"/>
              </a:rPr>
              <a:t>of</a:t>
            </a:r>
            <a:r>
              <a:rPr sz="800" spc="15" dirty="0">
                <a:solidFill>
                  <a:srgbClr val="22373A"/>
                </a:solidFill>
                <a:latin typeface="Arial MT"/>
                <a:cs typeface="Arial MT"/>
              </a:rPr>
              <a:t> </a:t>
            </a:r>
            <a:r>
              <a:rPr sz="800" dirty="0">
                <a:solidFill>
                  <a:srgbClr val="22373A"/>
                </a:solidFill>
                <a:latin typeface="Arial MT"/>
                <a:cs typeface="Arial MT"/>
              </a:rPr>
              <a:t>Applied</a:t>
            </a:r>
            <a:r>
              <a:rPr sz="800" spc="25" dirty="0">
                <a:solidFill>
                  <a:srgbClr val="22373A"/>
                </a:solidFill>
                <a:latin typeface="Arial MT"/>
                <a:cs typeface="Arial MT"/>
              </a:rPr>
              <a:t> </a:t>
            </a:r>
            <a:r>
              <a:rPr sz="800" spc="-10" dirty="0">
                <a:solidFill>
                  <a:srgbClr val="22373A"/>
                </a:solidFill>
                <a:latin typeface="Arial MT"/>
                <a:cs typeface="Arial MT"/>
              </a:rPr>
              <a:t>Sciences</a:t>
            </a:r>
            <a:endParaRPr sz="800" dirty="0">
              <a:latin typeface="Arial MT"/>
              <a:cs typeface="Arial MT"/>
            </a:endParaRPr>
          </a:p>
          <a:p>
            <a:pPr marL="12700">
              <a:lnSpc>
                <a:spcPct val="100000"/>
              </a:lnSpc>
              <a:spcBef>
                <a:spcPts val="620"/>
              </a:spcBef>
            </a:pPr>
            <a:r>
              <a:rPr sz="900" spc="-40" dirty="0">
                <a:solidFill>
                  <a:srgbClr val="6C6C6C"/>
                </a:solidFill>
                <a:latin typeface="Microsoft Sans Serif"/>
                <a:cs typeface="Microsoft Sans Serif"/>
              </a:rPr>
              <a:t>Supervisors:</a:t>
            </a:r>
            <a:r>
              <a:rPr sz="900" spc="150" dirty="0">
                <a:solidFill>
                  <a:srgbClr val="6C6C6C"/>
                </a:solidFill>
                <a:latin typeface="Microsoft Sans Serif"/>
                <a:cs typeface="Microsoft Sans Serif"/>
              </a:rPr>
              <a:t> </a:t>
            </a:r>
            <a:r>
              <a:rPr sz="900" dirty="0">
                <a:solidFill>
                  <a:srgbClr val="6C6C6C"/>
                </a:solidFill>
                <a:latin typeface="Microsoft Sans Serif"/>
                <a:cs typeface="Microsoft Sans Serif"/>
              </a:rPr>
              <a:t>Prof.</a:t>
            </a:r>
            <a:r>
              <a:rPr sz="900" spc="55" dirty="0">
                <a:solidFill>
                  <a:srgbClr val="6C6C6C"/>
                </a:solidFill>
                <a:latin typeface="Microsoft Sans Serif"/>
                <a:cs typeface="Microsoft Sans Serif"/>
              </a:rPr>
              <a:t> </a:t>
            </a:r>
            <a:r>
              <a:rPr sz="900" dirty="0">
                <a:solidFill>
                  <a:srgbClr val="6C6C6C"/>
                </a:solidFill>
                <a:latin typeface="Microsoft Sans Serif"/>
                <a:cs typeface="Microsoft Sans Serif"/>
              </a:rPr>
              <a:t>Dr.</a:t>
            </a:r>
            <a:r>
              <a:rPr sz="900" spc="50" dirty="0">
                <a:solidFill>
                  <a:srgbClr val="6C6C6C"/>
                </a:solidFill>
                <a:latin typeface="Microsoft Sans Serif"/>
                <a:cs typeface="Microsoft Sans Serif"/>
              </a:rPr>
              <a:t> </a:t>
            </a:r>
            <a:r>
              <a:rPr sz="900" spc="-30" dirty="0">
                <a:solidFill>
                  <a:srgbClr val="6C6C6C"/>
                </a:solidFill>
                <a:latin typeface="Microsoft Sans Serif"/>
                <a:cs typeface="Microsoft Sans Serif"/>
              </a:rPr>
              <a:t>Reiner</a:t>
            </a:r>
            <a:r>
              <a:rPr sz="900" spc="55" dirty="0">
                <a:solidFill>
                  <a:srgbClr val="6C6C6C"/>
                </a:solidFill>
                <a:latin typeface="Microsoft Sans Serif"/>
                <a:cs typeface="Microsoft Sans Serif"/>
              </a:rPr>
              <a:t> </a:t>
            </a:r>
            <a:r>
              <a:rPr sz="900" spc="-10" dirty="0">
                <a:solidFill>
                  <a:srgbClr val="6C6C6C"/>
                </a:solidFill>
                <a:latin typeface="Microsoft Sans Serif"/>
                <a:cs typeface="Microsoft Sans Serif"/>
              </a:rPr>
              <a:t>Creutzburg</a:t>
            </a:r>
            <a:endParaRPr sz="900" dirty="0">
              <a:latin typeface="Microsoft Sans Serif"/>
              <a:cs typeface="Microsoft Sans Serif"/>
            </a:endParaRPr>
          </a:p>
          <a:p>
            <a:pPr marL="644525" marR="5080">
              <a:lnSpc>
                <a:spcPct val="100000"/>
              </a:lnSpc>
              <a:spcBef>
                <a:spcPts val="10"/>
              </a:spcBef>
            </a:pPr>
            <a:r>
              <a:rPr sz="900" spc="-35" dirty="0">
                <a:solidFill>
                  <a:srgbClr val="6C6C6C"/>
                </a:solidFill>
                <a:latin typeface="Microsoft Sans Serif"/>
                <a:cs typeface="Microsoft Sans Serif"/>
              </a:rPr>
              <a:t>Navaneeth</a:t>
            </a:r>
            <a:r>
              <a:rPr sz="900" spc="40" dirty="0">
                <a:solidFill>
                  <a:srgbClr val="6C6C6C"/>
                </a:solidFill>
                <a:latin typeface="Microsoft Sans Serif"/>
                <a:cs typeface="Microsoft Sans Serif"/>
              </a:rPr>
              <a:t> </a:t>
            </a:r>
            <a:r>
              <a:rPr sz="900" spc="-30" dirty="0">
                <a:solidFill>
                  <a:srgbClr val="6C6C6C"/>
                </a:solidFill>
                <a:latin typeface="Microsoft Sans Serif"/>
                <a:cs typeface="Microsoft Sans Serif"/>
              </a:rPr>
              <a:t>Shivananjappa,</a:t>
            </a:r>
            <a:r>
              <a:rPr sz="900" spc="45" dirty="0">
                <a:solidFill>
                  <a:srgbClr val="6C6C6C"/>
                </a:solidFill>
                <a:latin typeface="Microsoft Sans Serif"/>
                <a:cs typeface="Microsoft Sans Serif"/>
              </a:rPr>
              <a:t> </a:t>
            </a:r>
            <a:r>
              <a:rPr sz="900" spc="-10" dirty="0">
                <a:solidFill>
                  <a:srgbClr val="6C6C6C"/>
                </a:solidFill>
                <a:latin typeface="Microsoft Sans Serif"/>
                <a:cs typeface="Microsoft Sans Serif"/>
              </a:rPr>
              <a:t>M.Sc. </a:t>
            </a:r>
            <a:r>
              <a:rPr sz="900" dirty="0">
                <a:solidFill>
                  <a:srgbClr val="6C6C6C"/>
                </a:solidFill>
                <a:latin typeface="Microsoft Sans Serif"/>
                <a:cs typeface="Microsoft Sans Serif"/>
              </a:rPr>
              <a:t>Prof.</a:t>
            </a:r>
            <a:r>
              <a:rPr sz="900" spc="55" dirty="0">
                <a:solidFill>
                  <a:srgbClr val="6C6C6C"/>
                </a:solidFill>
                <a:latin typeface="Microsoft Sans Serif"/>
                <a:cs typeface="Microsoft Sans Serif"/>
              </a:rPr>
              <a:t> </a:t>
            </a:r>
            <a:r>
              <a:rPr sz="900" dirty="0">
                <a:solidFill>
                  <a:srgbClr val="6C6C6C"/>
                </a:solidFill>
                <a:latin typeface="Microsoft Sans Serif"/>
                <a:cs typeface="Microsoft Sans Serif"/>
              </a:rPr>
              <a:t>Dr.</a:t>
            </a:r>
            <a:r>
              <a:rPr sz="900" spc="55" dirty="0">
                <a:solidFill>
                  <a:srgbClr val="6C6C6C"/>
                </a:solidFill>
                <a:latin typeface="Microsoft Sans Serif"/>
                <a:cs typeface="Microsoft Sans Serif"/>
              </a:rPr>
              <a:t> </a:t>
            </a:r>
            <a:r>
              <a:rPr sz="900" spc="-30" dirty="0">
                <a:solidFill>
                  <a:srgbClr val="6C6C6C"/>
                </a:solidFill>
                <a:latin typeface="Microsoft Sans Serif"/>
                <a:cs typeface="Microsoft Sans Serif"/>
              </a:rPr>
              <a:t>Tuğçe</a:t>
            </a:r>
            <a:r>
              <a:rPr sz="900" spc="55" dirty="0">
                <a:solidFill>
                  <a:srgbClr val="6C6C6C"/>
                </a:solidFill>
                <a:latin typeface="Microsoft Sans Serif"/>
                <a:cs typeface="Microsoft Sans Serif"/>
              </a:rPr>
              <a:t> </a:t>
            </a:r>
            <a:r>
              <a:rPr sz="900" spc="-20" dirty="0">
                <a:solidFill>
                  <a:srgbClr val="6C6C6C"/>
                </a:solidFill>
                <a:latin typeface="Microsoft Sans Serif"/>
                <a:cs typeface="Microsoft Sans Serif"/>
              </a:rPr>
              <a:t>Ballı</a:t>
            </a:r>
            <a:endParaRPr sz="900" dirty="0">
              <a:latin typeface="Microsoft Sans Serif"/>
              <a:cs typeface="Microsoft Sans Serif"/>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25" dirty="0"/>
              <a:t>Contents</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180340" cy="5080"/>
            </a:xfrm>
            <a:custGeom>
              <a:avLst/>
              <a:gdLst/>
              <a:ahLst/>
              <a:cxnLst/>
              <a:rect l="l" t="t" r="r" b="b"/>
              <a:pathLst>
                <a:path w="180340" h="5079">
                  <a:moveTo>
                    <a:pt x="0" y="5060"/>
                  </a:moveTo>
                  <a:lnTo>
                    <a:pt x="0" y="0"/>
                  </a:lnTo>
                  <a:lnTo>
                    <a:pt x="180002" y="0"/>
                  </a:lnTo>
                  <a:lnTo>
                    <a:pt x="180002" y="5060"/>
                  </a:lnTo>
                  <a:lnTo>
                    <a:pt x="0" y="5060"/>
                  </a:lnTo>
                  <a:close/>
                </a:path>
              </a:pathLst>
            </a:custGeom>
            <a:solidFill>
              <a:srgbClr val="2D7DB8"/>
            </a:solidFill>
          </p:spPr>
          <p:txBody>
            <a:bodyPr wrap="square" lIns="0" tIns="0" rIns="0" bIns="0" rtlCol="0"/>
            <a:lstStyle/>
            <a:p>
              <a:endParaRPr/>
            </a:p>
          </p:txBody>
        </p:sp>
      </p:grpSp>
      <p:sp>
        <p:nvSpPr>
          <p:cNvPr id="7" name="object 7"/>
          <p:cNvSpPr txBox="1"/>
          <p:nvPr/>
        </p:nvSpPr>
        <p:spPr>
          <a:xfrm>
            <a:off x="347294" y="744625"/>
            <a:ext cx="1633855" cy="1824355"/>
          </a:xfrm>
          <a:prstGeom prst="rect">
            <a:avLst/>
          </a:prstGeom>
        </p:spPr>
        <p:txBody>
          <a:bodyPr vert="horz" wrap="square" lIns="0" tIns="11430" rIns="0" bIns="0" rtlCol="0">
            <a:spAutoFit/>
          </a:bodyPr>
          <a:lstStyle/>
          <a:p>
            <a:pPr marL="12700">
              <a:lnSpc>
                <a:spcPct val="100000"/>
              </a:lnSpc>
              <a:spcBef>
                <a:spcPts val="90"/>
              </a:spcBef>
            </a:pPr>
            <a:r>
              <a:rPr sz="1100" spc="-10" dirty="0">
                <a:solidFill>
                  <a:srgbClr val="22373A"/>
                </a:solidFill>
                <a:latin typeface="Arial MT"/>
                <a:cs typeface="Arial MT"/>
                <a:hlinkClick r:id="rId3" action="ppaction://hlinksldjump"/>
              </a:rPr>
              <a:t>Motivation</a:t>
            </a:r>
            <a:r>
              <a:rPr sz="1100" spc="-35" dirty="0">
                <a:solidFill>
                  <a:srgbClr val="22373A"/>
                </a:solidFill>
                <a:latin typeface="Arial MT"/>
                <a:cs typeface="Arial MT"/>
                <a:hlinkClick r:id="rId3" action="ppaction://hlinksldjump"/>
              </a:rPr>
              <a:t> </a:t>
            </a:r>
            <a:r>
              <a:rPr sz="1100" spc="-55" dirty="0">
                <a:solidFill>
                  <a:srgbClr val="22373A"/>
                </a:solidFill>
                <a:latin typeface="Arial MT"/>
                <a:cs typeface="Arial MT"/>
                <a:hlinkClick r:id="rId3" action="ppaction://hlinksldjump"/>
              </a:rPr>
              <a:t>and</a:t>
            </a:r>
            <a:r>
              <a:rPr sz="1100" spc="-20" dirty="0">
                <a:solidFill>
                  <a:srgbClr val="22373A"/>
                </a:solidFill>
                <a:latin typeface="Arial MT"/>
                <a:cs typeface="Arial MT"/>
                <a:hlinkClick r:id="rId3" action="ppaction://hlinksldjump"/>
              </a:rPr>
              <a:t> </a:t>
            </a:r>
            <a:r>
              <a:rPr sz="1100" spc="-10" dirty="0">
                <a:solidFill>
                  <a:srgbClr val="22373A"/>
                </a:solidFill>
                <a:latin typeface="Arial MT"/>
                <a:cs typeface="Arial MT"/>
                <a:hlinkClick r:id="rId3" action="ppaction://hlinksldjump"/>
              </a:rPr>
              <a:t>Questions</a:t>
            </a:r>
            <a:endParaRPr sz="1100">
              <a:latin typeface="Arial MT"/>
              <a:cs typeface="Arial MT"/>
            </a:endParaRPr>
          </a:p>
          <a:p>
            <a:pPr marL="12700" marR="488950">
              <a:lnSpc>
                <a:spcPct val="243400"/>
              </a:lnSpc>
            </a:pPr>
            <a:r>
              <a:rPr sz="1100" spc="-10" dirty="0">
                <a:solidFill>
                  <a:srgbClr val="22373A"/>
                </a:solidFill>
                <a:latin typeface="Arial MT"/>
                <a:cs typeface="Arial MT"/>
                <a:hlinkClick r:id="rId4" action="ppaction://hlinksldjump"/>
              </a:rPr>
              <a:t>The</a:t>
            </a:r>
            <a:r>
              <a:rPr sz="1100" spc="-60" dirty="0">
                <a:solidFill>
                  <a:srgbClr val="22373A"/>
                </a:solidFill>
                <a:latin typeface="Arial MT"/>
                <a:cs typeface="Arial MT"/>
                <a:hlinkClick r:id="rId4" action="ppaction://hlinksldjump"/>
              </a:rPr>
              <a:t> </a:t>
            </a:r>
            <a:r>
              <a:rPr sz="1100" spc="-10" dirty="0">
                <a:solidFill>
                  <a:srgbClr val="22373A"/>
                </a:solidFill>
                <a:latin typeface="Arial MT"/>
                <a:cs typeface="Arial MT"/>
                <a:hlinkClick r:id="rId4" action="ppaction://hlinksldjump"/>
              </a:rPr>
              <a:t>Pipeline</a:t>
            </a:r>
            <a:r>
              <a:rPr sz="1100" spc="-10" dirty="0">
                <a:solidFill>
                  <a:srgbClr val="22373A"/>
                </a:solidFill>
                <a:latin typeface="Arial MT"/>
                <a:cs typeface="Arial MT"/>
              </a:rPr>
              <a:t> </a:t>
            </a:r>
            <a:r>
              <a:rPr sz="1100" spc="-45" dirty="0">
                <a:solidFill>
                  <a:srgbClr val="22373A"/>
                </a:solidFill>
                <a:latin typeface="Arial MT"/>
                <a:cs typeface="Arial MT"/>
                <a:hlinkClick r:id="rId5" action="ppaction://hlinksldjump"/>
              </a:rPr>
              <a:t>Experimental</a:t>
            </a:r>
            <a:r>
              <a:rPr sz="1100" dirty="0">
                <a:solidFill>
                  <a:srgbClr val="22373A"/>
                </a:solidFill>
                <a:latin typeface="Arial MT"/>
                <a:cs typeface="Arial MT"/>
                <a:hlinkClick r:id="rId5" action="ppaction://hlinksldjump"/>
              </a:rPr>
              <a:t> </a:t>
            </a:r>
            <a:r>
              <a:rPr sz="1100" spc="-55" dirty="0">
                <a:solidFill>
                  <a:srgbClr val="22373A"/>
                </a:solidFill>
                <a:latin typeface="Arial MT"/>
                <a:cs typeface="Arial MT"/>
                <a:hlinkClick r:id="rId5" action="ppaction://hlinksldjump"/>
              </a:rPr>
              <a:t>Setup</a:t>
            </a:r>
            <a:r>
              <a:rPr sz="1100" spc="-55" dirty="0">
                <a:solidFill>
                  <a:srgbClr val="22373A"/>
                </a:solidFill>
                <a:latin typeface="Arial MT"/>
                <a:cs typeface="Arial MT"/>
              </a:rPr>
              <a:t> </a:t>
            </a:r>
            <a:r>
              <a:rPr sz="1100" spc="-10" dirty="0">
                <a:solidFill>
                  <a:srgbClr val="22373A"/>
                </a:solidFill>
                <a:latin typeface="Arial MT"/>
                <a:cs typeface="Arial MT"/>
                <a:hlinkClick r:id="rId6" action="ppaction://hlinksldjump"/>
              </a:rPr>
              <a:t>Results</a:t>
            </a:r>
            <a:endParaRPr sz="1100">
              <a:latin typeface="Arial MT"/>
              <a:cs typeface="Arial MT"/>
            </a:endParaRPr>
          </a:p>
          <a:p>
            <a:pPr>
              <a:lnSpc>
                <a:spcPct val="100000"/>
              </a:lnSpc>
              <a:spcBef>
                <a:spcPts val="625"/>
              </a:spcBef>
            </a:pPr>
            <a:endParaRPr sz="1100">
              <a:latin typeface="Arial MT"/>
              <a:cs typeface="Arial MT"/>
            </a:endParaRPr>
          </a:p>
          <a:p>
            <a:pPr marL="12700">
              <a:lnSpc>
                <a:spcPct val="100000"/>
              </a:lnSpc>
            </a:pPr>
            <a:r>
              <a:rPr sz="1100" spc="-25" dirty="0">
                <a:solidFill>
                  <a:srgbClr val="22373A"/>
                </a:solidFill>
                <a:latin typeface="Arial MT"/>
                <a:cs typeface="Arial MT"/>
                <a:hlinkClick r:id="rId7" action="ppaction://hlinksldjump"/>
              </a:rPr>
              <a:t>Limitations</a:t>
            </a:r>
            <a:r>
              <a:rPr sz="1100" dirty="0">
                <a:solidFill>
                  <a:srgbClr val="22373A"/>
                </a:solidFill>
                <a:latin typeface="Arial MT"/>
                <a:cs typeface="Arial MT"/>
                <a:hlinkClick r:id="rId7" action="ppaction://hlinksldjump"/>
              </a:rPr>
              <a:t> </a:t>
            </a:r>
            <a:r>
              <a:rPr sz="1100" spc="-55" dirty="0">
                <a:solidFill>
                  <a:srgbClr val="22373A"/>
                </a:solidFill>
                <a:latin typeface="Arial MT"/>
                <a:cs typeface="Arial MT"/>
                <a:hlinkClick r:id="rId7" action="ppaction://hlinksldjump"/>
              </a:rPr>
              <a:t>and</a:t>
            </a:r>
            <a:r>
              <a:rPr sz="1100" spc="5" dirty="0">
                <a:solidFill>
                  <a:srgbClr val="22373A"/>
                </a:solidFill>
                <a:latin typeface="Arial MT"/>
                <a:cs typeface="Arial MT"/>
                <a:hlinkClick r:id="rId7" action="ppaction://hlinksldjump"/>
              </a:rPr>
              <a:t> </a:t>
            </a:r>
            <a:r>
              <a:rPr sz="1100" spc="-60" dirty="0">
                <a:solidFill>
                  <a:srgbClr val="22373A"/>
                </a:solidFill>
                <a:latin typeface="Arial MT"/>
                <a:cs typeface="Arial MT"/>
                <a:hlinkClick r:id="rId7" action="ppaction://hlinksldjump"/>
              </a:rPr>
              <a:t>Conclusions</a:t>
            </a:r>
            <a:endParaRPr sz="1100">
              <a:latin typeface="Arial MT"/>
              <a:cs typeface="Arial MT"/>
            </a:endParaRPr>
          </a:p>
        </p:txBody>
      </p:sp>
      <p:pic>
        <p:nvPicPr>
          <p:cNvPr id="8" name="object 8"/>
          <p:cNvPicPr/>
          <p:nvPr/>
        </p:nvPicPr>
        <p:blipFill>
          <a:blip r:embed="rId8" cstate="print"/>
          <a:stretch>
            <a:fillRect/>
          </a:stretch>
        </p:blipFill>
        <p:spPr>
          <a:xfrm>
            <a:off x="101282" y="2998905"/>
            <a:ext cx="241983" cy="187117"/>
          </a:xfrm>
          <a:prstGeom prst="rect">
            <a:avLst/>
          </a:prstGeom>
        </p:spPr>
      </p:pic>
      <p:pic>
        <p:nvPicPr>
          <p:cNvPr id="9" name="object 9"/>
          <p:cNvPicPr/>
          <p:nvPr/>
        </p:nvPicPr>
        <p:blipFill>
          <a:blip r:embed="rId9" cstate="print"/>
          <a:stretch>
            <a:fillRect/>
          </a:stretch>
        </p:blipFill>
        <p:spPr>
          <a:xfrm>
            <a:off x="433285" y="2998965"/>
            <a:ext cx="187057" cy="187057"/>
          </a:xfrm>
          <a:prstGeom prst="rect">
            <a:avLst/>
          </a:prstGeom>
        </p:spPr>
      </p:pic>
      <p:pic>
        <p:nvPicPr>
          <p:cNvPr id="10" name="object 10"/>
          <p:cNvPicPr/>
          <p:nvPr/>
        </p:nvPicPr>
        <p:blipFill>
          <a:blip r:embed="rId10" cstate="print"/>
          <a:stretch>
            <a:fillRect/>
          </a:stretch>
        </p:blipFill>
        <p:spPr>
          <a:xfrm>
            <a:off x="710349" y="2998815"/>
            <a:ext cx="187208" cy="187208"/>
          </a:xfrm>
          <a:prstGeom prst="rect">
            <a:avLst/>
          </a:prstGeom>
        </p:spPr>
      </p:pic>
      <p:sp>
        <p:nvSpPr>
          <p:cNvPr id="11" name="object 11"/>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1</a:t>
            </a:r>
            <a:r>
              <a:rPr spc="-80" dirty="0"/>
              <a:t> </a:t>
            </a:r>
            <a:r>
              <a:rPr spc="195" dirty="0"/>
              <a:t>/</a:t>
            </a:r>
            <a:r>
              <a:rPr spc="-75" dirty="0"/>
              <a:t> </a:t>
            </a:r>
            <a:r>
              <a:rPr spc="-25" dirty="0"/>
              <a:t>32</a:t>
            </a: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2770" y="76349"/>
            <a:ext cx="3495675" cy="196849"/>
          </a:xfrm>
          <a:prstGeom prst="rect">
            <a:avLst/>
          </a:prstGeom>
        </p:spPr>
        <p:txBody>
          <a:bodyPr vert="horz" wrap="square" lIns="0" tIns="12065" rIns="0" bIns="0" rtlCol="0">
            <a:spAutoFit/>
          </a:bodyPr>
          <a:lstStyle/>
          <a:p>
            <a:pPr marL="12700">
              <a:lnSpc>
                <a:spcPct val="100000"/>
              </a:lnSpc>
              <a:spcBef>
                <a:spcPts val="95"/>
              </a:spcBef>
            </a:pPr>
            <a:r>
              <a:rPr lang="en-GB" dirty="0"/>
              <a:t>T</a:t>
            </a:r>
            <a:r>
              <a:rPr dirty="0"/>
              <a:t>he</a:t>
            </a:r>
            <a:r>
              <a:rPr spc="100" dirty="0"/>
              <a:t> </a:t>
            </a:r>
            <a:r>
              <a:rPr spc="-35" dirty="0"/>
              <a:t>problem</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360045" cy="5080"/>
            </a:xfrm>
            <a:custGeom>
              <a:avLst/>
              <a:gdLst/>
              <a:ahLst/>
              <a:cxnLst/>
              <a:rect l="l" t="t" r="r" b="b"/>
              <a:pathLst>
                <a:path w="360045" h="5079">
                  <a:moveTo>
                    <a:pt x="0" y="5060"/>
                  </a:moveTo>
                  <a:lnTo>
                    <a:pt x="0" y="0"/>
                  </a:lnTo>
                  <a:lnTo>
                    <a:pt x="360004" y="0"/>
                  </a:lnTo>
                  <a:lnTo>
                    <a:pt x="360004" y="5060"/>
                  </a:lnTo>
                  <a:lnTo>
                    <a:pt x="0" y="5060"/>
                  </a:lnTo>
                  <a:close/>
                </a:path>
              </a:pathLst>
            </a:custGeom>
            <a:solidFill>
              <a:srgbClr val="2D7DB8"/>
            </a:solidFill>
          </p:spPr>
          <p:txBody>
            <a:bodyPr wrap="square" lIns="0" tIns="0" rIns="0" bIns="0" rtlCol="0"/>
            <a:lstStyle/>
            <a:p>
              <a:endParaRPr/>
            </a:p>
          </p:txBody>
        </p:sp>
      </p:grpSp>
      <p:sp>
        <p:nvSpPr>
          <p:cNvPr id="7" name="object 7"/>
          <p:cNvSpPr txBox="1"/>
          <p:nvPr/>
        </p:nvSpPr>
        <p:spPr>
          <a:xfrm>
            <a:off x="347294" y="1208873"/>
            <a:ext cx="4902835" cy="969010"/>
          </a:xfrm>
          <a:prstGeom prst="rect">
            <a:avLst/>
          </a:prstGeom>
        </p:spPr>
        <p:txBody>
          <a:bodyPr vert="horz" wrap="square" lIns="0" tIns="11430" rIns="0" bIns="0" rtlCol="0">
            <a:spAutoFit/>
          </a:bodyPr>
          <a:lstStyle/>
          <a:p>
            <a:pPr marL="12700">
              <a:lnSpc>
                <a:spcPct val="100000"/>
              </a:lnSpc>
              <a:spcBef>
                <a:spcPts val="90"/>
              </a:spcBef>
            </a:pPr>
            <a:r>
              <a:rPr sz="1100" dirty="0">
                <a:solidFill>
                  <a:srgbClr val="22373A"/>
                </a:solidFill>
                <a:latin typeface="Arial MT"/>
                <a:cs typeface="Arial MT"/>
              </a:rPr>
              <a:t>A</a:t>
            </a:r>
            <a:r>
              <a:rPr sz="1100" spc="-5" dirty="0">
                <a:solidFill>
                  <a:srgbClr val="22373A"/>
                </a:solidFill>
                <a:latin typeface="Arial MT"/>
                <a:cs typeface="Arial MT"/>
              </a:rPr>
              <a:t> </a:t>
            </a:r>
            <a:r>
              <a:rPr sz="1100" spc="-45" dirty="0">
                <a:solidFill>
                  <a:srgbClr val="22373A"/>
                </a:solidFill>
                <a:latin typeface="Arial MT"/>
                <a:cs typeface="Arial MT"/>
              </a:rPr>
              <a:t>security</a:t>
            </a:r>
            <a:r>
              <a:rPr sz="1100" spc="10" dirty="0">
                <a:solidFill>
                  <a:srgbClr val="22373A"/>
                </a:solidFill>
                <a:latin typeface="Arial MT"/>
                <a:cs typeface="Arial MT"/>
              </a:rPr>
              <a:t> </a:t>
            </a:r>
            <a:r>
              <a:rPr sz="1100" spc="-50" dirty="0">
                <a:solidFill>
                  <a:srgbClr val="22373A"/>
                </a:solidFill>
                <a:latin typeface="Arial MT"/>
                <a:cs typeface="Arial MT"/>
              </a:rPr>
              <a:t>operations</a:t>
            </a:r>
            <a:r>
              <a:rPr sz="1100" spc="10" dirty="0">
                <a:solidFill>
                  <a:srgbClr val="22373A"/>
                </a:solidFill>
                <a:latin typeface="Arial MT"/>
                <a:cs typeface="Arial MT"/>
              </a:rPr>
              <a:t> </a:t>
            </a:r>
            <a:r>
              <a:rPr sz="1100" spc="-40" dirty="0">
                <a:solidFill>
                  <a:srgbClr val="22373A"/>
                </a:solidFill>
                <a:latin typeface="Arial MT"/>
                <a:cs typeface="Arial MT"/>
              </a:rPr>
              <a:t>centre</a:t>
            </a:r>
            <a:r>
              <a:rPr sz="1100" spc="5" dirty="0">
                <a:solidFill>
                  <a:srgbClr val="22373A"/>
                </a:solidFill>
                <a:latin typeface="Arial MT"/>
                <a:cs typeface="Arial MT"/>
              </a:rPr>
              <a:t> </a:t>
            </a:r>
            <a:r>
              <a:rPr sz="1100" spc="-90" dirty="0">
                <a:solidFill>
                  <a:srgbClr val="22373A"/>
                </a:solidFill>
                <a:latin typeface="Arial MT"/>
                <a:cs typeface="Arial MT"/>
              </a:rPr>
              <a:t>receives</a:t>
            </a:r>
            <a:r>
              <a:rPr sz="1100" spc="15" dirty="0">
                <a:solidFill>
                  <a:srgbClr val="22373A"/>
                </a:solidFill>
                <a:latin typeface="Arial MT"/>
                <a:cs typeface="Arial MT"/>
              </a:rPr>
              <a:t> </a:t>
            </a:r>
            <a:r>
              <a:rPr sz="1100" spc="-65" dirty="0">
                <a:solidFill>
                  <a:srgbClr val="22373A"/>
                </a:solidFill>
                <a:latin typeface="Arial MT"/>
                <a:cs typeface="Arial MT"/>
              </a:rPr>
              <a:t>more</a:t>
            </a:r>
            <a:r>
              <a:rPr sz="1100" spc="10" dirty="0">
                <a:solidFill>
                  <a:srgbClr val="22373A"/>
                </a:solidFill>
                <a:latin typeface="Arial MT"/>
                <a:cs typeface="Arial MT"/>
              </a:rPr>
              <a:t> </a:t>
            </a:r>
            <a:r>
              <a:rPr sz="1100" spc="-35" dirty="0">
                <a:solidFill>
                  <a:srgbClr val="22373A"/>
                </a:solidFill>
                <a:latin typeface="Arial MT"/>
                <a:cs typeface="Arial MT"/>
              </a:rPr>
              <a:t>alerts</a:t>
            </a:r>
            <a:r>
              <a:rPr sz="1100" spc="10" dirty="0">
                <a:solidFill>
                  <a:srgbClr val="22373A"/>
                </a:solidFill>
                <a:latin typeface="Arial MT"/>
                <a:cs typeface="Arial MT"/>
              </a:rPr>
              <a:t> </a:t>
            </a:r>
            <a:r>
              <a:rPr sz="1100" spc="-85" dirty="0">
                <a:solidFill>
                  <a:srgbClr val="22373A"/>
                </a:solidFill>
                <a:latin typeface="Arial MT"/>
                <a:cs typeface="Arial MT"/>
              </a:rPr>
              <a:t>each</a:t>
            </a:r>
            <a:r>
              <a:rPr sz="1100" spc="10" dirty="0">
                <a:solidFill>
                  <a:srgbClr val="22373A"/>
                </a:solidFill>
                <a:latin typeface="Arial MT"/>
                <a:cs typeface="Arial MT"/>
              </a:rPr>
              <a:t> </a:t>
            </a:r>
            <a:r>
              <a:rPr sz="1100" spc="-60" dirty="0">
                <a:solidFill>
                  <a:srgbClr val="22373A"/>
                </a:solidFill>
                <a:latin typeface="Arial MT"/>
                <a:cs typeface="Arial MT"/>
              </a:rPr>
              <a:t>day</a:t>
            </a:r>
            <a:r>
              <a:rPr sz="1100" spc="5" dirty="0">
                <a:solidFill>
                  <a:srgbClr val="22373A"/>
                </a:solidFill>
                <a:latin typeface="Arial MT"/>
                <a:cs typeface="Arial MT"/>
              </a:rPr>
              <a:t> </a:t>
            </a:r>
            <a:r>
              <a:rPr sz="1100" spc="-10" dirty="0">
                <a:solidFill>
                  <a:srgbClr val="22373A"/>
                </a:solidFill>
                <a:latin typeface="Arial MT"/>
                <a:cs typeface="Arial MT"/>
              </a:rPr>
              <a:t>than</a:t>
            </a:r>
            <a:r>
              <a:rPr sz="1100" spc="10" dirty="0">
                <a:solidFill>
                  <a:srgbClr val="22373A"/>
                </a:solidFill>
                <a:latin typeface="Arial MT"/>
                <a:cs typeface="Arial MT"/>
              </a:rPr>
              <a:t> </a:t>
            </a:r>
            <a:r>
              <a:rPr sz="1100" dirty="0">
                <a:solidFill>
                  <a:srgbClr val="22373A"/>
                </a:solidFill>
                <a:latin typeface="Arial MT"/>
                <a:cs typeface="Arial MT"/>
              </a:rPr>
              <a:t>its</a:t>
            </a:r>
            <a:r>
              <a:rPr sz="1100" spc="10" dirty="0">
                <a:solidFill>
                  <a:srgbClr val="22373A"/>
                </a:solidFill>
                <a:latin typeface="Arial MT"/>
                <a:cs typeface="Arial MT"/>
              </a:rPr>
              <a:t> </a:t>
            </a:r>
            <a:r>
              <a:rPr sz="1100" spc="-65" dirty="0">
                <a:solidFill>
                  <a:srgbClr val="22373A"/>
                </a:solidFill>
                <a:latin typeface="Arial MT"/>
                <a:cs typeface="Arial MT"/>
              </a:rPr>
              <a:t>analysts</a:t>
            </a:r>
            <a:r>
              <a:rPr sz="1100" spc="5" dirty="0">
                <a:solidFill>
                  <a:srgbClr val="22373A"/>
                </a:solidFill>
                <a:latin typeface="Arial MT"/>
                <a:cs typeface="Arial MT"/>
              </a:rPr>
              <a:t> </a:t>
            </a:r>
            <a:r>
              <a:rPr sz="1100" spc="-65" dirty="0">
                <a:solidFill>
                  <a:srgbClr val="22373A"/>
                </a:solidFill>
                <a:latin typeface="Arial MT"/>
                <a:cs typeface="Arial MT"/>
              </a:rPr>
              <a:t>can</a:t>
            </a:r>
            <a:r>
              <a:rPr sz="1100" spc="10" dirty="0">
                <a:solidFill>
                  <a:srgbClr val="22373A"/>
                </a:solidFill>
                <a:latin typeface="Arial MT"/>
                <a:cs typeface="Arial MT"/>
              </a:rPr>
              <a:t> </a:t>
            </a:r>
            <a:r>
              <a:rPr sz="1100" spc="-10" dirty="0">
                <a:solidFill>
                  <a:srgbClr val="22373A"/>
                </a:solidFill>
                <a:latin typeface="Arial MT"/>
                <a:cs typeface="Arial MT"/>
              </a:rPr>
              <a:t>read.</a:t>
            </a:r>
            <a:endParaRPr sz="1100">
              <a:latin typeface="Arial MT"/>
              <a:cs typeface="Arial MT"/>
            </a:endParaRPr>
          </a:p>
          <a:p>
            <a:pPr marL="287020" indent="-135890">
              <a:lnSpc>
                <a:spcPct val="100000"/>
              </a:lnSpc>
              <a:spcBef>
                <a:spcPts val="1080"/>
              </a:spcBef>
              <a:buChar char="•"/>
              <a:tabLst>
                <a:tab pos="287020" algn="l"/>
              </a:tabLst>
            </a:pPr>
            <a:r>
              <a:rPr sz="1100" spc="-45" dirty="0">
                <a:solidFill>
                  <a:srgbClr val="22373A"/>
                </a:solidFill>
                <a:latin typeface="Arial MT"/>
                <a:cs typeface="Arial MT"/>
              </a:rPr>
              <a:t>Over</a:t>
            </a:r>
            <a:r>
              <a:rPr sz="1100" spc="-30" dirty="0">
                <a:solidFill>
                  <a:srgbClr val="22373A"/>
                </a:solidFill>
                <a:latin typeface="Arial MT"/>
                <a:cs typeface="Arial MT"/>
              </a:rPr>
              <a:t> </a:t>
            </a:r>
            <a:r>
              <a:rPr sz="1100" spc="-55" dirty="0">
                <a:solidFill>
                  <a:srgbClr val="2D7DB8"/>
                </a:solidFill>
                <a:latin typeface="Arial MT"/>
                <a:cs typeface="Arial MT"/>
              </a:rPr>
              <a:t>10,000</a:t>
            </a:r>
            <a:r>
              <a:rPr sz="1100" spc="-20" dirty="0">
                <a:solidFill>
                  <a:srgbClr val="2D7DB8"/>
                </a:solidFill>
                <a:latin typeface="Arial MT"/>
                <a:cs typeface="Arial MT"/>
              </a:rPr>
              <a:t> </a:t>
            </a:r>
            <a:r>
              <a:rPr sz="1100" spc="-35" dirty="0">
                <a:solidFill>
                  <a:srgbClr val="2D7DB8"/>
                </a:solidFill>
                <a:latin typeface="Arial MT"/>
                <a:cs typeface="Arial MT"/>
              </a:rPr>
              <a:t>alerts</a:t>
            </a:r>
            <a:r>
              <a:rPr sz="1100" spc="-40" dirty="0">
                <a:solidFill>
                  <a:srgbClr val="2D7DB8"/>
                </a:solidFill>
                <a:latin typeface="Arial MT"/>
                <a:cs typeface="Arial MT"/>
              </a:rPr>
              <a:t> </a:t>
            </a:r>
            <a:r>
              <a:rPr sz="1100" spc="-20" dirty="0">
                <a:solidFill>
                  <a:srgbClr val="2D7DB8"/>
                </a:solidFill>
                <a:latin typeface="Arial MT"/>
                <a:cs typeface="Arial MT"/>
              </a:rPr>
              <a:t>per</a:t>
            </a:r>
            <a:r>
              <a:rPr sz="1100" spc="-25" dirty="0">
                <a:solidFill>
                  <a:srgbClr val="2D7DB8"/>
                </a:solidFill>
                <a:latin typeface="Arial MT"/>
                <a:cs typeface="Arial MT"/>
              </a:rPr>
              <a:t> </a:t>
            </a:r>
            <a:r>
              <a:rPr sz="1100" spc="-60" dirty="0">
                <a:solidFill>
                  <a:srgbClr val="2D7DB8"/>
                </a:solidFill>
                <a:latin typeface="Arial MT"/>
                <a:cs typeface="Arial MT"/>
              </a:rPr>
              <a:t>day</a:t>
            </a:r>
            <a:r>
              <a:rPr sz="1100" spc="-15" dirty="0">
                <a:solidFill>
                  <a:srgbClr val="2D7DB8"/>
                </a:solidFill>
                <a:latin typeface="Arial MT"/>
                <a:cs typeface="Arial MT"/>
              </a:rPr>
              <a:t> </a:t>
            </a:r>
            <a:r>
              <a:rPr sz="1100" spc="-10" dirty="0">
                <a:solidFill>
                  <a:srgbClr val="22373A"/>
                </a:solidFill>
                <a:latin typeface="Arial MT"/>
                <a:cs typeface="Arial MT"/>
              </a:rPr>
              <a:t>is</a:t>
            </a:r>
            <a:r>
              <a:rPr sz="1100" spc="-25" dirty="0">
                <a:solidFill>
                  <a:srgbClr val="22373A"/>
                </a:solidFill>
                <a:latin typeface="Arial MT"/>
                <a:cs typeface="Arial MT"/>
              </a:rPr>
              <a:t> </a:t>
            </a:r>
            <a:r>
              <a:rPr sz="1100" spc="-10" dirty="0">
                <a:solidFill>
                  <a:srgbClr val="22373A"/>
                </a:solidFill>
                <a:latin typeface="Arial MT"/>
                <a:cs typeface="Arial MT"/>
              </a:rPr>
              <a:t>routine</a:t>
            </a:r>
            <a:endParaRPr sz="1100">
              <a:latin typeface="Arial MT"/>
              <a:cs typeface="Arial MT"/>
            </a:endParaRPr>
          </a:p>
          <a:p>
            <a:pPr marL="287020" indent="-135890">
              <a:lnSpc>
                <a:spcPct val="100000"/>
              </a:lnSpc>
              <a:spcBef>
                <a:spcPts val="540"/>
              </a:spcBef>
              <a:buChar char="•"/>
              <a:tabLst>
                <a:tab pos="287020" algn="l"/>
              </a:tabLst>
            </a:pPr>
            <a:r>
              <a:rPr sz="1100" spc="-10" dirty="0">
                <a:solidFill>
                  <a:srgbClr val="22373A"/>
                </a:solidFill>
                <a:latin typeface="Arial MT"/>
                <a:cs typeface="Arial MT"/>
              </a:rPr>
              <a:t>Up</a:t>
            </a:r>
            <a:r>
              <a:rPr sz="1100" dirty="0">
                <a:solidFill>
                  <a:srgbClr val="22373A"/>
                </a:solidFill>
                <a:latin typeface="Arial MT"/>
                <a:cs typeface="Arial MT"/>
              </a:rPr>
              <a:t> to</a:t>
            </a:r>
            <a:r>
              <a:rPr sz="1100" spc="5" dirty="0">
                <a:solidFill>
                  <a:srgbClr val="22373A"/>
                </a:solidFill>
                <a:latin typeface="Arial MT"/>
                <a:cs typeface="Arial MT"/>
              </a:rPr>
              <a:t> </a:t>
            </a:r>
            <a:r>
              <a:rPr sz="1100" spc="-50" dirty="0">
                <a:solidFill>
                  <a:srgbClr val="2D7DB8"/>
                </a:solidFill>
                <a:latin typeface="Arial MT"/>
                <a:cs typeface="Arial MT"/>
              </a:rPr>
              <a:t>70%</a:t>
            </a:r>
            <a:r>
              <a:rPr sz="1100" spc="5" dirty="0">
                <a:solidFill>
                  <a:srgbClr val="2D7DB8"/>
                </a:solidFill>
                <a:latin typeface="Arial MT"/>
                <a:cs typeface="Arial MT"/>
              </a:rPr>
              <a:t> </a:t>
            </a:r>
            <a:r>
              <a:rPr sz="1100" spc="-75" dirty="0">
                <a:solidFill>
                  <a:srgbClr val="22373A"/>
                </a:solidFill>
                <a:latin typeface="Arial MT"/>
                <a:cs typeface="Arial MT"/>
              </a:rPr>
              <a:t>are</a:t>
            </a:r>
            <a:r>
              <a:rPr sz="1100" spc="5" dirty="0">
                <a:solidFill>
                  <a:srgbClr val="22373A"/>
                </a:solidFill>
                <a:latin typeface="Arial MT"/>
                <a:cs typeface="Arial MT"/>
              </a:rPr>
              <a:t> </a:t>
            </a:r>
            <a:r>
              <a:rPr sz="1100" spc="-60" dirty="0">
                <a:solidFill>
                  <a:srgbClr val="22373A"/>
                </a:solidFill>
                <a:latin typeface="Arial MT"/>
                <a:cs typeface="Arial MT"/>
              </a:rPr>
              <a:t>false</a:t>
            </a:r>
            <a:r>
              <a:rPr sz="1100" spc="5" dirty="0">
                <a:solidFill>
                  <a:srgbClr val="22373A"/>
                </a:solidFill>
                <a:latin typeface="Arial MT"/>
                <a:cs typeface="Arial MT"/>
              </a:rPr>
              <a:t> </a:t>
            </a:r>
            <a:r>
              <a:rPr sz="1100" spc="-10" dirty="0">
                <a:solidFill>
                  <a:srgbClr val="22373A"/>
                </a:solidFill>
                <a:latin typeface="Arial MT"/>
                <a:cs typeface="Arial MT"/>
              </a:rPr>
              <a:t>positives</a:t>
            </a:r>
            <a:endParaRPr sz="1100">
              <a:latin typeface="Arial MT"/>
              <a:cs typeface="Arial MT"/>
            </a:endParaRPr>
          </a:p>
          <a:p>
            <a:pPr marL="287020" indent="-135890">
              <a:lnSpc>
                <a:spcPct val="100000"/>
              </a:lnSpc>
              <a:spcBef>
                <a:spcPts val="535"/>
              </a:spcBef>
              <a:buChar char="•"/>
              <a:tabLst>
                <a:tab pos="287020" algn="l"/>
              </a:tabLst>
            </a:pPr>
            <a:r>
              <a:rPr sz="1100" spc="-40" dirty="0">
                <a:solidFill>
                  <a:srgbClr val="22373A"/>
                </a:solidFill>
                <a:latin typeface="Arial MT"/>
                <a:cs typeface="Arial MT"/>
              </a:rPr>
              <a:t>Skilled</a:t>
            </a:r>
            <a:r>
              <a:rPr sz="1100" spc="-5" dirty="0">
                <a:solidFill>
                  <a:srgbClr val="22373A"/>
                </a:solidFill>
                <a:latin typeface="Arial MT"/>
                <a:cs typeface="Arial MT"/>
              </a:rPr>
              <a:t> </a:t>
            </a:r>
            <a:r>
              <a:rPr sz="1100" spc="-65" dirty="0">
                <a:solidFill>
                  <a:srgbClr val="22373A"/>
                </a:solidFill>
                <a:latin typeface="Arial MT"/>
                <a:cs typeface="Arial MT"/>
              </a:rPr>
              <a:t>analysts</a:t>
            </a:r>
            <a:r>
              <a:rPr sz="1100" spc="-5" dirty="0">
                <a:solidFill>
                  <a:srgbClr val="22373A"/>
                </a:solidFill>
                <a:latin typeface="Arial MT"/>
                <a:cs typeface="Arial MT"/>
              </a:rPr>
              <a:t> </a:t>
            </a:r>
            <a:r>
              <a:rPr sz="1100" spc="-65" dirty="0">
                <a:solidFill>
                  <a:srgbClr val="22373A"/>
                </a:solidFill>
                <a:latin typeface="Arial MT"/>
                <a:cs typeface="Arial MT"/>
              </a:rPr>
              <a:t>are</a:t>
            </a:r>
            <a:r>
              <a:rPr sz="1100" spc="-5" dirty="0">
                <a:solidFill>
                  <a:srgbClr val="22373A"/>
                </a:solidFill>
                <a:latin typeface="Arial MT"/>
                <a:cs typeface="Arial MT"/>
              </a:rPr>
              <a:t> </a:t>
            </a:r>
            <a:r>
              <a:rPr sz="1100" spc="-70" dirty="0">
                <a:solidFill>
                  <a:srgbClr val="22373A"/>
                </a:solidFill>
                <a:latin typeface="Arial MT"/>
                <a:cs typeface="Arial MT"/>
              </a:rPr>
              <a:t>scarce;</a:t>
            </a:r>
            <a:r>
              <a:rPr sz="1100" spc="-5" dirty="0">
                <a:solidFill>
                  <a:srgbClr val="22373A"/>
                </a:solidFill>
                <a:latin typeface="Arial MT"/>
                <a:cs typeface="Arial MT"/>
              </a:rPr>
              <a:t> </a:t>
            </a:r>
            <a:r>
              <a:rPr sz="1100" spc="-25" dirty="0">
                <a:solidFill>
                  <a:srgbClr val="22373A"/>
                </a:solidFill>
                <a:latin typeface="Arial MT"/>
                <a:cs typeface="Arial MT"/>
              </a:rPr>
              <a:t>triage</a:t>
            </a:r>
            <a:r>
              <a:rPr sz="1100" spc="-5" dirty="0">
                <a:solidFill>
                  <a:srgbClr val="22373A"/>
                </a:solidFill>
                <a:latin typeface="Arial MT"/>
                <a:cs typeface="Arial MT"/>
              </a:rPr>
              <a:t> </a:t>
            </a:r>
            <a:r>
              <a:rPr sz="1100" spc="-60" dirty="0">
                <a:solidFill>
                  <a:srgbClr val="22373A"/>
                </a:solidFill>
                <a:latin typeface="Arial MT"/>
                <a:cs typeface="Arial MT"/>
              </a:rPr>
              <a:t>stops</a:t>
            </a:r>
            <a:r>
              <a:rPr sz="1100" spc="-5" dirty="0">
                <a:solidFill>
                  <a:srgbClr val="22373A"/>
                </a:solidFill>
                <a:latin typeface="Arial MT"/>
                <a:cs typeface="Arial MT"/>
              </a:rPr>
              <a:t> </a:t>
            </a:r>
            <a:r>
              <a:rPr sz="1100" dirty="0">
                <a:solidFill>
                  <a:srgbClr val="22373A"/>
                </a:solidFill>
                <a:latin typeface="Arial MT"/>
                <a:cs typeface="Arial MT"/>
              </a:rPr>
              <a:t>at the</a:t>
            </a:r>
            <a:r>
              <a:rPr sz="1100" spc="-5" dirty="0">
                <a:solidFill>
                  <a:srgbClr val="22373A"/>
                </a:solidFill>
                <a:latin typeface="Arial MT"/>
                <a:cs typeface="Arial MT"/>
              </a:rPr>
              <a:t> </a:t>
            </a:r>
            <a:r>
              <a:rPr sz="1100" dirty="0">
                <a:solidFill>
                  <a:srgbClr val="22373A"/>
                </a:solidFill>
                <a:latin typeface="Arial MT"/>
                <a:cs typeface="Arial MT"/>
              </a:rPr>
              <a:t>top</a:t>
            </a:r>
            <a:r>
              <a:rPr sz="1100" spc="-5" dirty="0">
                <a:solidFill>
                  <a:srgbClr val="22373A"/>
                </a:solidFill>
                <a:latin typeface="Arial MT"/>
                <a:cs typeface="Arial MT"/>
              </a:rPr>
              <a:t> </a:t>
            </a:r>
            <a:r>
              <a:rPr sz="1100" dirty="0">
                <a:solidFill>
                  <a:srgbClr val="22373A"/>
                </a:solidFill>
                <a:latin typeface="Arial MT"/>
                <a:cs typeface="Arial MT"/>
              </a:rPr>
              <a:t>of</a:t>
            </a:r>
            <a:r>
              <a:rPr sz="1100" spc="-5" dirty="0">
                <a:solidFill>
                  <a:srgbClr val="22373A"/>
                </a:solidFill>
                <a:latin typeface="Arial MT"/>
                <a:cs typeface="Arial MT"/>
              </a:rPr>
              <a:t> </a:t>
            </a:r>
            <a:r>
              <a:rPr sz="1100" dirty="0">
                <a:solidFill>
                  <a:srgbClr val="22373A"/>
                </a:solidFill>
                <a:latin typeface="Arial MT"/>
                <a:cs typeface="Arial MT"/>
              </a:rPr>
              <a:t>the</a:t>
            </a:r>
            <a:r>
              <a:rPr sz="1100" spc="-5" dirty="0">
                <a:solidFill>
                  <a:srgbClr val="22373A"/>
                </a:solidFill>
                <a:latin typeface="Arial MT"/>
                <a:cs typeface="Arial MT"/>
              </a:rPr>
              <a:t> </a:t>
            </a:r>
            <a:r>
              <a:rPr sz="1100" spc="-10" dirty="0">
                <a:solidFill>
                  <a:srgbClr val="22373A"/>
                </a:solidFill>
                <a:latin typeface="Arial MT"/>
                <a:cs typeface="Arial MT"/>
              </a:rPr>
              <a:t>queue</a:t>
            </a:r>
            <a:endParaRPr sz="1100">
              <a:latin typeface="Arial MT"/>
              <a:cs typeface="Arial MT"/>
            </a:endParaRPr>
          </a:p>
        </p:txBody>
      </p:sp>
      <p:pic>
        <p:nvPicPr>
          <p:cNvPr id="8" name="object 8"/>
          <p:cNvPicPr/>
          <p:nvPr/>
        </p:nvPicPr>
        <p:blipFill>
          <a:blip r:embed="rId3" cstate="print"/>
          <a:stretch>
            <a:fillRect/>
          </a:stretch>
        </p:blipFill>
        <p:spPr>
          <a:xfrm>
            <a:off x="101282" y="2998905"/>
            <a:ext cx="241983" cy="187117"/>
          </a:xfrm>
          <a:prstGeom prst="rect">
            <a:avLst/>
          </a:prstGeom>
        </p:spPr>
      </p:pic>
      <p:pic>
        <p:nvPicPr>
          <p:cNvPr id="9" name="object 9"/>
          <p:cNvPicPr/>
          <p:nvPr/>
        </p:nvPicPr>
        <p:blipFill>
          <a:blip r:embed="rId4" cstate="print"/>
          <a:stretch>
            <a:fillRect/>
          </a:stretch>
        </p:blipFill>
        <p:spPr>
          <a:xfrm>
            <a:off x="433285" y="2998965"/>
            <a:ext cx="187057" cy="187057"/>
          </a:xfrm>
          <a:prstGeom prst="rect">
            <a:avLst/>
          </a:prstGeom>
        </p:spPr>
      </p:pic>
      <p:pic>
        <p:nvPicPr>
          <p:cNvPr id="10" name="object 10"/>
          <p:cNvPicPr/>
          <p:nvPr/>
        </p:nvPicPr>
        <p:blipFill>
          <a:blip r:embed="rId5" cstate="print"/>
          <a:stretch>
            <a:fillRect/>
          </a:stretch>
        </p:blipFill>
        <p:spPr>
          <a:xfrm>
            <a:off x="710349" y="2998815"/>
            <a:ext cx="187208" cy="187208"/>
          </a:xfrm>
          <a:prstGeom prst="rect">
            <a:avLst/>
          </a:prstGeom>
        </p:spPr>
      </p:pic>
      <p:sp>
        <p:nvSpPr>
          <p:cNvPr id="11" name="object 11"/>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2</a:t>
            </a:r>
            <a:r>
              <a:rPr spc="-80" dirty="0"/>
              <a:t> </a:t>
            </a:r>
            <a:r>
              <a:rPr spc="195" dirty="0"/>
              <a:t>/</a:t>
            </a:r>
            <a:r>
              <a:rPr spc="-75" dirty="0"/>
              <a:t> </a:t>
            </a:r>
            <a:r>
              <a:rPr spc="-25" dirty="0"/>
              <a:t>32</a:t>
            </a: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2770" y="76349"/>
            <a:ext cx="3495675" cy="196849"/>
          </a:xfrm>
          <a:prstGeom prst="rect">
            <a:avLst/>
          </a:prstGeom>
        </p:spPr>
        <p:txBody>
          <a:bodyPr vert="horz" wrap="square" lIns="0" tIns="12065" rIns="0" bIns="0" rtlCol="0">
            <a:spAutoFit/>
          </a:bodyPr>
          <a:lstStyle/>
          <a:p>
            <a:pPr marL="12700">
              <a:lnSpc>
                <a:spcPct val="100000"/>
              </a:lnSpc>
              <a:spcBef>
                <a:spcPts val="95"/>
              </a:spcBef>
            </a:pPr>
            <a:r>
              <a:rPr lang="en-GB" dirty="0"/>
              <a:t>T</a:t>
            </a:r>
            <a:r>
              <a:rPr dirty="0" err="1"/>
              <a:t>hree</a:t>
            </a:r>
            <a:r>
              <a:rPr spc="5" dirty="0"/>
              <a:t> </a:t>
            </a:r>
            <a:r>
              <a:rPr spc="-40" dirty="0"/>
              <a:t>gaps</a:t>
            </a:r>
            <a:r>
              <a:rPr spc="15" dirty="0"/>
              <a:t> </a:t>
            </a:r>
            <a:r>
              <a:rPr dirty="0"/>
              <a:t>in</a:t>
            </a:r>
            <a:r>
              <a:rPr spc="10" dirty="0"/>
              <a:t> </a:t>
            </a:r>
            <a:r>
              <a:rPr spc="-25" dirty="0"/>
              <a:t>existing</a:t>
            </a:r>
            <a:r>
              <a:rPr spc="15" dirty="0"/>
              <a:t> </a:t>
            </a:r>
            <a:r>
              <a:rPr spc="-20" dirty="0"/>
              <a:t>tools</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540385" cy="5080"/>
            </a:xfrm>
            <a:custGeom>
              <a:avLst/>
              <a:gdLst/>
              <a:ahLst/>
              <a:cxnLst/>
              <a:rect l="l" t="t" r="r" b="b"/>
              <a:pathLst>
                <a:path w="540385" h="5079">
                  <a:moveTo>
                    <a:pt x="0" y="5060"/>
                  </a:moveTo>
                  <a:lnTo>
                    <a:pt x="0" y="0"/>
                  </a:lnTo>
                  <a:lnTo>
                    <a:pt x="540006" y="0"/>
                  </a:lnTo>
                  <a:lnTo>
                    <a:pt x="540006" y="5060"/>
                  </a:lnTo>
                  <a:lnTo>
                    <a:pt x="0" y="5060"/>
                  </a:lnTo>
                  <a:close/>
                </a:path>
              </a:pathLst>
            </a:custGeom>
            <a:solidFill>
              <a:srgbClr val="2D7DB8"/>
            </a:solidFill>
          </p:spPr>
          <p:txBody>
            <a:bodyPr wrap="square" lIns="0" tIns="0" rIns="0" bIns="0" rtlCol="0"/>
            <a:lstStyle/>
            <a:p>
              <a:endParaRPr/>
            </a:p>
          </p:txBody>
        </p:sp>
      </p:grpSp>
      <p:sp>
        <p:nvSpPr>
          <p:cNvPr id="7" name="object 7"/>
          <p:cNvSpPr txBox="1"/>
          <p:nvPr/>
        </p:nvSpPr>
        <p:spPr>
          <a:xfrm>
            <a:off x="478815" y="749411"/>
            <a:ext cx="4905375" cy="1289050"/>
          </a:xfrm>
          <a:prstGeom prst="rect">
            <a:avLst/>
          </a:prstGeom>
        </p:spPr>
        <p:txBody>
          <a:bodyPr vert="horz" wrap="square" lIns="0" tIns="12700" rIns="0" bIns="0" rtlCol="0">
            <a:spAutoFit/>
          </a:bodyPr>
          <a:lstStyle/>
          <a:p>
            <a:pPr marL="155575" marR="56515" indent="-143510">
              <a:lnSpc>
                <a:spcPct val="118000"/>
              </a:lnSpc>
              <a:spcBef>
                <a:spcPts val="100"/>
              </a:spcBef>
              <a:buAutoNum type="arabicPlain"/>
              <a:tabLst>
                <a:tab pos="158115" algn="l"/>
              </a:tabLst>
            </a:pPr>
            <a:r>
              <a:rPr sz="1100" b="1" spc="-35" dirty="0">
                <a:solidFill>
                  <a:srgbClr val="22373A"/>
                </a:solidFill>
                <a:latin typeface="Arial"/>
                <a:cs typeface="Arial"/>
              </a:rPr>
              <a:t>Privacy.</a:t>
            </a:r>
            <a:r>
              <a:rPr sz="1100" b="1" spc="65" dirty="0">
                <a:solidFill>
                  <a:srgbClr val="22373A"/>
                </a:solidFill>
                <a:latin typeface="Arial"/>
                <a:cs typeface="Arial"/>
              </a:rPr>
              <a:t> </a:t>
            </a:r>
            <a:r>
              <a:rPr sz="1100" dirty="0">
                <a:solidFill>
                  <a:srgbClr val="22373A"/>
                </a:solidFill>
                <a:latin typeface="Arial MT"/>
                <a:cs typeface="Arial MT"/>
              </a:rPr>
              <a:t>Most </a:t>
            </a:r>
            <a:r>
              <a:rPr sz="1100" spc="-85" dirty="0">
                <a:solidFill>
                  <a:srgbClr val="22373A"/>
                </a:solidFill>
                <a:latin typeface="Arial MT"/>
                <a:cs typeface="Arial MT"/>
              </a:rPr>
              <a:t>systems</a:t>
            </a:r>
            <a:r>
              <a:rPr sz="1100" spc="10" dirty="0">
                <a:solidFill>
                  <a:srgbClr val="22373A"/>
                </a:solidFill>
                <a:latin typeface="Arial MT"/>
                <a:cs typeface="Arial MT"/>
              </a:rPr>
              <a:t> </a:t>
            </a:r>
            <a:r>
              <a:rPr sz="1100" spc="-90" dirty="0">
                <a:solidFill>
                  <a:srgbClr val="22373A"/>
                </a:solidFill>
                <a:latin typeface="Arial MT"/>
                <a:cs typeface="Arial MT"/>
              </a:rPr>
              <a:t>send</a:t>
            </a:r>
            <a:r>
              <a:rPr sz="1100" spc="15" dirty="0">
                <a:solidFill>
                  <a:srgbClr val="22373A"/>
                </a:solidFill>
                <a:latin typeface="Arial MT"/>
                <a:cs typeface="Arial MT"/>
              </a:rPr>
              <a:t> </a:t>
            </a:r>
            <a:r>
              <a:rPr sz="1100" spc="-60" dirty="0">
                <a:solidFill>
                  <a:srgbClr val="22373A"/>
                </a:solidFill>
                <a:latin typeface="Arial MT"/>
                <a:cs typeface="Arial MT"/>
              </a:rPr>
              <a:t>logs</a:t>
            </a:r>
            <a:r>
              <a:rPr sz="1100" dirty="0">
                <a:solidFill>
                  <a:srgbClr val="22373A"/>
                </a:solidFill>
                <a:latin typeface="Arial MT"/>
                <a:cs typeface="Arial MT"/>
              </a:rPr>
              <a:t> to a </a:t>
            </a:r>
            <a:r>
              <a:rPr sz="1100" spc="-40" dirty="0">
                <a:solidFill>
                  <a:srgbClr val="22373A"/>
                </a:solidFill>
                <a:latin typeface="Arial MT"/>
                <a:cs typeface="Arial MT"/>
              </a:rPr>
              <a:t>cloud</a:t>
            </a:r>
            <a:r>
              <a:rPr sz="1100" spc="-5" dirty="0">
                <a:solidFill>
                  <a:srgbClr val="22373A"/>
                </a:solidFill>
                <a:latin typeface="Arial MT"/>
                <a:cs typeface="Arial MT"/>
              </a:rPr>
              <a:t> </a:t>
            </a:r>
            <a:r>
              <a:rPr sz="1100" dirty="0">
                <a:solidFill>
                  <a:srgbClr val="22373A"/>
                </a:solidFill>
                <a:latin typeface="Arial MT"/>
                <a:cs typeface="Arial MT"/>
              </a:rPr>
              <a:t>API. </a:t>
            </a:r>
            <a:r>
              <a:rPr sz="1100" spc="-60" dirty="0">
                <a:solidFill>
                  <a:srgbClr val="22373A"/>
                </a:solidFill>
                <a:latin typeface="Arial MT"/>
                <a:cs typeface="Arial MT"/>
              </a:rPr>
              <a:t>Defence,</a:t>
            </a:r>
            <a:r>
              <a:rPr sz="1100" dirty="0">
                <a:solidFill>
                  <a:srgbClr val="22373A"/>
                </a:solidFill>
                <a:latin typeface="Arial MT"/>
                <a:cs typeface="Arial MT"/>
              </a:rPr>
              <a:t> </a:t>
            </a:r>
            <a:r>
              <a:rPr sz="1100" spc="-55" dirty="0">
                <a:solidFill>
                  <a:srgbClr val="22373A"/>
                </a:solidFill>
                <a:latin typeface="Arial MT"/>
                <a:cs typeface="Arial MT"/>
              </a:rPr>
              <a:t>healthcare</a:t>
            </a:r>
            <a:r>
              <a:rPr sz="1100" dirty="0">
                <a:solidFill>
                  <a:srgbClr val="22373A"/>
                </a:solidFill>
                <a:latin typeface="Arial MT"/>
                <a:cs typeface="Arial MT"/>
              </a:rPr>
              <a:t> </a:t>
            </a:r>
            <a:r>
              <a:rPr sz="1100" spc="-55" dirty="0">
                <a:solidFill>
                  <a:srgbClr val="22373A"/>
                </a:solidFill>
                <a:latin typeface="Arial MT"/>
                <a:cs typeface="Arial MT"/>
              </a:rPr>
              <a:t>and</a:t>
            </a:r>
            <a:r>
              <a:rPr sz="1100" dirty="0">
                <a:solidFill>
                  <a:srgbClr val="22373A"/>
                </a:solidFill>
                <a:latin typeface="Arial MT"/>
                <a:cs typeface="Arial MT"/>
              </a:rPr>
              <a:t> </a:t>
            </a:r>
            <a:r>
              <a:rPr sz="1100" spc="-10" dirty="0">
                <a:solidFill>
                  <a:srgbClr val="22373A"/>
                </a:solidFill>
                <a:latin typeface="Arial MT"/>
                <a:cs typeface="Arial MT"/>
              </a:rPr>
              <a:t>critical 	</a:t>
            </a:r>
            <a:r>
              <a:rPr sz="1100" spc="-30" dirty="0">
                <a:solidFill>
                  <a:srgbClr val="22373A"/>
                </a:solidFill>
                <a:latin typeface="Arial MT"/>
                <a:cs typeface="Arial MT"/>
              </a:rPr>
              <a:t>infrastructure</a:t>
            </a:r>
            <a:r>
              <a:rPr sz="1100" spc="25" dirty="0">
                <a:solidFill>
                  <a:srgbClr val="22373A"/>
                </a:solidFill>
                <a:latin typeface="Arial MT"/>
                <a:cs typeface="Arial MT"/>
              </a:rPr>
              <a:t> </a:t>
            </a:r>
            <a:r>
              <a:rPr sz="1100" spc="-10" dirty="0">
                <a:solidFill>
                  <a:srgbClr val="22373A"/>
                </a:solidFill>
                <a:latin typeface="Arial MT"/>
                <a:cs typeface="Arial MT"/>
              </a:rPr>
              <a:t>cannot.</a:t>
            </a:r>
            <a:endParaRPr sz="1100">
              <a:latin typeface="Arial MT"/>
              <a:cs typeface="Arial MT"/>
            </a:endParaRPr>
          </a:p>
          <a:p>
            <a:pPr marL="156210" indent="-143510">
              <a:lnSpc>
                <a:spcPct val="100000"/>
              </a:lnSpc>
              <a:spcBef>
                <a:spcPts val="540"/>
              </a:spcBef>
              <a:buAutoNum type="arabicPlain"/>
              <a:tabLst>
                <a:tab pos="156210" algn="l"/>
              </a:tabLst>
            </a:pPr>
            <a:r>
              <a:rPr sz="1100" b="1" spc="-35" dirty="0">
                <a:solidFill>
                  <a:srgbClr val="22373A"/>
                </a:solidFill>
                <a:latin typeface="Arial"/>
                <a:cs typeface="Arial"/>
              </a:rPr>
              <a:t>Grouping.</a:t>
            </a:r>
            <a:r>
              <a:rPr sz="1100" b="1" spc="15" dirty="0">
                <a:solidFill>
                  <a:srgbClr val="22373A"/>
                </a:solidFill>
                <a:latin typeface="Arial"/>
                <a:cs typeface="Arial"/>
              </a:rPr>
              <a:t> </a:t>
            </a:r>
            <a:r>
              <a:rPr sz="1100" spc="-20" dirty="0">
                <a:solidFill>
                  <a:srgbClr val="22373A"/>
                </a:solidFill>
                <a:latin typeface="Arial MT"/>
                <a:cs typeface="Arial MT"/>
              </a:rPr>
              <a:t>Attacks</a:t>
            </a:r>
            <a:r>
              <a:rPr sz="1100" spc="-15" dirty="0">
                <a:solidFill>
                  <a:srgbClr val="22373A"/>
                </a:solidFill>
                <a:latin typeface="Arial MT"/>
                <a:cs typeface="Arial MT"/>
              </a:rPr>
              <a:t> </a:t>
            </a:r>
            <a:r>
              <a:rPr sz="1100" spc="-25" dirty="0">
                <a:solidFill>
                  <a:srgbClr val="22373A"/>
                </a:solidFill>
                <a:latin typeface="Arial MT"/>
                <a:cs typeface="Arial MT"/>
              </a:rPr>
              <a:t>unfold</a:t>
            </a:r>
            <a:r>
              <a:rPr sz="1100" spc="-15" dirty="0">
                <a:solidFill>
                  <a:srgbClr val="22373A"/>
                </a:solidFill>
                <a:latin typeface="Arial MT"/>
                <a:cs typeface="Arial MT"/>
              </a:rPr>
              <a:t> </a:t>
            </a:r>
            <a:r>
              <a:rPr sz="1100" spc="-85" dirty="0">
                <a:solidFill>
                  <a:srgbClr val="22373A"/>
                </a:solidFill>
                <a:latin typeface="Arial MT"/>
                <a:cs typeface="Arial MT"/>
              </a:rPr>
              <a:t>across</a:t>
            </a:r>
            <a:r>
              <a:rPr sz="1100" spc="10" dirty="0">
                <a:solidFill>
                  <a:srgbClr val="22373A"/>
                </a:solidFill>
                <a:latin typeface="Arial MT"/>
                <a:cs typeface="Arial MT"/>
              </a:rPr>
              <a:t> </a:t>
            </a:r>
            <a:r>
              <a:rPr sz="1100" spc="-55" dirty="0">
                <a:solidFill>
                  <a:srgbClr val="22373A"/>
                </a:solidFill>
                <a:latin typeface="Arial MT"/>
                <a:cs typeface="Arial MT"/>
              </a:rPr>
              <a:t>many</a:t>
            </a:r>
            <a:r>
              <a:rPr sz="1100" spc="-20" dirty="0">
                <a:solidFill>
                  <a:srgbClr val="22373A"/>
                </a:solidFill>
                <a:latin typeface="Arial MT"/>
                <a:cs typeface="Arial MT"/>
              </a:rPr>
              <a:t> </a:t>
            </a:r>
            <a:r>
              <a:rPr sz="1100" spc="-25" dirty="0">
                <a:solidFill>
                  <a:srgbClr val="22373A"/>
                </a:solidFill>
                <a:latin typeface="Arial MT"/>
                <a:cs typeface="Arial MT"/>
              </a:rPr>
              <a:t>alerts.</a:t>
            </a:r>
            <a:r>
              <a:rPr sz="1100" spc="70" dirty="0">
                <a:solidFill>
                  <a:srgbClr val="22373A"/>
                </a:solidFill>
                <a:latin typeface="Arial MT"/>
                <a:cs typeface="Arial MT"/>
              </a:rPr>
              <a:t> </a:t>
            </a:r>
            <a:r>
              <a:rPr sz="1100" dirty="0">
                <a:solidFill>
                  <a:srgbClr val="22373A"/>
                </a:solidFill>
                <a:latin typeface="Arial MT"/>
                <a:cs typeface="Arial MT"/>
              </a:rPr>
              <a:t>Most</a:t>
            </a:r>
            <a:r>
              <a:rPr sz="1100" spc="-15" dirty="0">
                <a:solidFill>
                  <a:srgbClr val="22373A"/>
                </a:solidFill>
                <a:latin typeface="Arial MT"/>
                <a:cs typeface="Arial MT"/>
              </a:rPr>
              <a:t> </a:t>
            </a:r>
            <a:r>
              <a:rPr sz="1100" spc="-20" dirty="0">
                <a:solidFill>
                  <a:srgbClr val="22373A"/>
                </a:solidFill>
                <a:latin typeface="Arial MT"/>
                <a:cs typeface="Arial MT"/>
              </a:rPr>
              <a:t>tools </a:t>
            </a:r>
            <a:r>
              <a:rPr sz="1100" spc="-50" dirty="0">
                <a:solidFill>
                  <a:srgbClr val="22373A"/>
                </a:solidFill>
                <a:latin typeface="Arial MT"/>
                <a:cs typeface="Arial MT"/>
              </a:rPr>
              <a:t>classify</a:t>
            </a:r>
            <a:r>
              <a:rPr sz="1100" spc="-15" dirty="0">
                <a:solidFill>
                  <a:srgbClr val="22373A"/>
                </a:solidFill>
                <a:latin typeface="Arial MT"/>
                <a:cs typeface="Arial MT"/>
              </a:rPr>
              <a:t> </a:t>
            </a:r>
            <a:r>
              <a:rPr sz="1100" spc="-85" dirty="0">
                <a:solidFill>
                  <a:srgbClr val="22373A"/>
                </a:solidFill>
                <a:latin typeface="Arial MT"/>
                <a:cs typeface="Arial MT"/>
              </a:rPr>
              <a:t>each</a:t>
            </a:r>
            <a:r>
              <a:rPr sz="1100" spc="10" dirty="0">
                <a:solidFill>
                  <a:srgbClr val="22373A"/>
                </a:solidFill>
                <a:latin typeface="Arial MT"/>
                <a:cs typeface="Arial MT"/>
              </a:rPr>
              <a:t> </a:t>
            </a:r>
            <a:r>
              <a:rPr sz="1100" spc="-10" dirty="0">
                <a:solidFill>
                  <a:srgbClr val="22373A"/>
                </a:solidFill>
                <a:latin typeface="Arial MT"/>
                <a:cs typeface="Arial MT"/>
              </a:rPr>
              <a:t>alert</a:t>
            </a:r>
            <a:r>
              <a:rPr sz="1100" spc="-20" dirty="0">
                <a:solidFill>
                  <a:srgbClr val="22373A"/>
                </a:solidFill>
                <a:latin typeface="Arial MT"/>
                <a:cs typeface="Arial MT"/>
              </a:rPr>
              <a:t> </a:t>
            </a:r>
            <a:r>
              <a:rPr sz="1100" i="1" spc="-10" dirty="0">
                <a:solidFill>
                  <a:srgbClr val="22373A"/>
                </a:solidFill>
                <a:latin typeface="Arial"/>
                <a:cs typeface="Arial"/>
              </a:rPr>
              <a:t>alone</a:t>
            </a:r>
            <a:endParaRPr sz="1100">
              <a:latin typeface="Arial"/>
              <a:cs typeface="Arial"/>
            </a:endParaRPr>
          </a:p>
          <a:p>
            <a:pPr marL="158115">
              <a:lnSpc>
                <a:spcPct val="100000"/>
              </a:lnSpc>
              <a:spcBef>
                <a:spcPts val="235"/>
              </a:spcBef>
            </a:pPr>
            <a:r>
              <a:rPr sz="1100" spc="-55" dirty="0">
                <a:solidFill>
                  <a:srgbClr val="22373A"/>
                </a:solidFill>
                <a:latin typeface="Arial MT"/>
                <a:cs typeface="Arial MT"/>
              </a:rPr>
              <a:t>and</a:t>
            </a:r>
            <a:r>
              <a:rPr sz="1100" spc="-20" dirty="0">
                <a:solidFill>
                  <a:srgbClr val="22373A"/>
                </a:solidFill>
                <a:latin typeface="Arial MT"/>
                <a:cs typeface="Arial MT"/>
              </a:rPr>
              <a:t> </a:t>
            </a:r>
            <a:r>
              <a:rPr sz="1100" spc="-80" dirty="0">
                <a:solidFill>
                  <a:srgbClr val="22373A"/>
                </a:solidFill>
                <a:latin typeface="Arial MT"/>
                <a:cs typeface="Arial MT"/>
              </a:rPr>
              <a:t>lose</a:t>
            </a:r>
            <a:r>
              <a:rPr sz="1100" spc="5" dirty="0">
                <a:solidFill>
                  <a:srgbClr val="22373A"/>
                </a:solidFill>
                <a:latin typeface="Arial MT"/>
                <a:cs typeface="Arial MT"/>
              </a:rPr>
              <a:t> </a:t>
            </a:r>
            <a:r>
              <a:rPr sz="1100" dirty="0">
                <a:solidFill>
                  <a:srgbClr val="22373A"/>
                </a:solidFill>
                <a:latin typeface="Arial MT"/>
                <a:cs typeface="Arial MT"/>
              </a:rPr>
              <a:t>the</a:t>
            </a:r>
            <a:r>
              <a:rPr sz="1100" spc="-45" dirty="0">
                <a:solidFill>
                  <a:srgbClr val="22373A"/>
                </a:solidFill>
                <a:latin typeface="Arial MT"/>
                <a:cs typeface="Arial MT"/>
              </a:rPr>
              <a:t> </a:t>
            </a:r>
            <a:r>
              <a:rPr sz="1100" spc="-10" dirty="0">
                <a:solidFill>
                  <a:srgbClr val="22373A"/>
                </a:solidFill>
                <a:latin typeface="Arial MT"/>
                <a:cs typeface="Arial MT"/>
              </a:rPr>
              <a:t>thread.</a:t>
            </a:r>
            <a:endParaRPr sz="1100">
              <a:latin typeface="Arial MT"/>
              <a:cs typeface="Arial MT"/>
            </a:endParaRPr>
          </a:p>
          <a:p>
            <a:pPr marL="155575" marR="125730" indent="-143510">
              <a:lnSpc>
                <a:spcPct val="118000"/>
              </a:lnSpc>
              <a:spcBef>
                <a:spcPts val="300"/>
              </a:spcBef>
              <a:buAutoNum type="arabicPlain" startAt="3"/>
              <a:tabLst>
                <a:tab pos="158115" algn="l"/>
              </a:tabLst>
            </a:pPr>
            <a:r>
              <a:rPr sz="1100" b="1" spc="-25" dirty="0">
                <a:solidFill>
                  <a:srgbClr val="22373A"/>
                </a:solidFill>
                <a:latin typeface="Arial"/>
                <a:cs typeface="Arial"/>
              </a:rPr>
              <a:t>Verifiability.</a:t>
            </a:r>
            <a:r>
              <a:rPr sz="1100" b="1" spc="65" dirty="0">
                <a:solidFill>
                  <a:srgbClr val="22373A"/>
                </a:solidFill>
                <a:latin typeface="Arial"/>
                <a:cs typeface="Arial"/>
              </a:rPr>
              <a:t> </a:t>
            </a:r>
            <a:r>
              <a:rPr sz="1100" spc="-55" dirty="0">
                <a:solidFill>
                  <a:srgbClr val="22373A"/>
                </a:solidFill>
                <a:latin typeface="Arial MT"/>
                <a:cs typeface="Arial MT"/>
              </a:rPr>
              <a:t>Reports</a:t>
            </a:r>
            <a:r>
              <a:rPr sz="1100" spc="-5" dirty="0">
                <a:solidFill>
                  <a:srgbClr val="22373A"/>
                </a:solidFill>
                <a:latin typeface="Arial MT"/>
                <a:cs typeface="Arial MT"/>
              </a:rPr>
              <a:t> </a:t>
            </a:r>
            <a:r>
              <a:rPr sz="1100" spc="-75" dirty="0">
                <a:solidFill>
                  <a:srgbClr val="22373A"/>
                </a:solidFill>
                <a:latin typeface="Arial MT"/>
                <a:cs typeface="Arial MT"/>
              </a:rPr>
              <a:t>are</a:t>
            </a:r>
            <a:r>
              <a:rPr sz="1100" dirty="0">
                <a:solidFill>
                  <a:srgbClr val="22373A"/>
                </a:solidFill>
                <a:latin typeface="Arial MT"/>
                <a:cs typeface="Arial MT"/>
              </a:rPr>
              <a:t> </a:t>
            </a:r>
            <a:r>
              <a:rPr sz="1100" spc="-85" dirty="0">
                <a:solidFill>
                  <a:srgbClr val="22373A"/>
                </a:solidFill>
                <a:latin typeface="Arial MT"/>
                <a:cs typeface="Arial MT"/>
              </a:rPr>
              <a:t>scored</a:t>
            </a:r>
            <a:r>
              <a:rPr sz="1100" spc="10" dirty="0">
                <a:solidFill>
                  <a:srgbClr val="22373A"/>
                </a:solidFill>
                <a:latin typeface="Arial MT"/>
                <a:cs typeface="Arial MT"/>
              </a:rPr>
              <a:t> </a:t>
            </a:r>
            <a:r>
              <a:rPr sz="1100" spc="-20" dirty="0">
                <a:solidFill>
                  <a:srgbClr val="22373A"/>
                </a:solidFill>
                <a:latin typeface="Arial MT"/>
                <a:cs typeface="Arial MT"/>
              </a:rPr>
              <a:t>by</a:t>
            </a:r>
            <a:r>
              <a:rPr sz="1100" spc="-10" dirty="0">
                <a:solidFill>
                  <a:srgbClr val="22373A"/>
                </a:solidFill>
                <a:latin typeface="Arial MT"/>
                <a:cs typeface="Arial MT"/>
              </a:rPr>
              <a:t> </a:t>
            </a:r>
            <a:r>
              <a:rPr sz="1100" dirty="0">
                <a:solidFill>
                  <a:srgbClr val="22373A"/>
                </a:solidFill>
                <a:latin typeface="Arial MT"/>
                <a:cs typeface="Arial MT"/>
              </a:rPr>
              <a:t>text</a:t>
            </a:r>
            <a:r>
              <a:rPr sz="1100" spc="-5" dirty="0">
                <a:solidFill>
                  <a:srgbClr val="22373A"/>
                </a:solidFill>
                <a:latin typeface="Arial MT"/>
                <a:cs typeface="Arial MT"/>
              </a:rPr>
              <a:t> </a:t>
            </a:r>
            <a:r>
              <a:rPr sz="1100" spc="-25" dirty="0">
                <a:solidFill>
                  <a:srgbClr val="22373A"/>
                </a:solidFill>
                <a:latin typeface="Arial MT"/>
                <a:cs typeface="Arial MT"/>
              </a:rPr>
              <a:t>similarity</a:t>
            </a:r>
            <a:r>
              <a:rPr sz="1100" spc="-5" dirty="0">
                <a:solidFill>
                  <a:srgbClr val="22373A"/>
                </a:solidFill>
                <a:latin typeface="Arial MT"/>
                <a:cs typeface="Arial MT"/>
              </a:rPr>
              <a:t> </a:t>
            </a:r>
            <a:r>
              <a:rPr sz="1100" dirty="0">
                <a:solidFill>
                  <a:srgbClr val="22373A"/>
                </a:solidFill>
                <a:latin typeface="Arial MT"/>
                <a:cs typeface="Arial MT"/>
              </a:rPr>
              <a:t>or</a:t>
            </a:r>
            <a:r>
              <a:rPr sz="1100" spc="-5" dirty="0">
                <a:solidFill>
                  <a:srgbClr val="22373A"/>
                </a:solidFill>
                <a:latin typeface="Arial MT"/>
                <a:cs typeface="Arial MT"/>
              </a:rPr>
              <a:t> </a:t>
            </a:r>
            <a:r>
              <a:rPr sz="1100" spc="-35" dirty="0">
                <a:solidFill>
                  <a:srgbClr val="22373A"/>
                </a:solidFill>
                <a:latin typeface="Arial MT"/>
                <a:cs typeface="Arial MT"/>
              </a:rPr>
              <a:t>expert</a:t>
            </a:r>
            <a:r>
              <a:rPr sz="1100" spc="-5" dirty="0">
                <a:solidFill>
                  <a:srgbClr val="22373A"/>
                </a:solidFill>
                <a:latin typeface="Arial MT"/>
                <a:cs typeface="Arial MT"/>
              </a:rPr>
              <a:t> </a:t>
            </a:r>
            <a:r>
              <a:rPr sz="1100" spc="-30" dirty="0">
                <a:solidFill>
                  <a:srgbClr val="22373A"/>
                </a:solidFill>
                <a:latin typeface="Arial MT"/>
                <a:cs typeface="Arial MT"/>
              </a:rPr>
              <a:t>opinion,</a:t>
            </a:r>
            <a:r>
              <a:rPr sz="1100" spc="-10" dirty="0">
                <a:solidFill>
                  <a:srgbClr val="22373A"/>
                </a:solidFill>
                <a:latin typeface="Arial MT"/>
                <a:cs typeface="Arial MT"/>
              </a:rPr>
              <a:t> </a:t>
            </a:r>
            <a:r>
              <a:rPr sz="1100" dirty="0">
                <a:solidFill>
                  <a:srgbClr val="22373A"/>
                </a:solidFill>
                <a:latin typeface="Arial MT"/>
                <a:cs typeface="Arial MT"/>
              </a:rPr>
              <a:t>not</a:t>
            </a:r>
            <a:r>
              <a:rPr sz="1100" spc="-5" dirty="0">
                <a:solidFill>
                  <a:srgbClr val="22373A"/>
                </a:solidFill>
                <a:latin typeface="Arial MT"/>
                <a:cs typeface="Arial MT"/>
              </a:rPr>
              <a:t> </a:t>
            </a:r>
            <a:r>
              <a:rPr sz="1100" spc="-10" dirty="0">
                <a:solidFill>
                  <a:srgbClr val="22373A"/>
                </a:solidFill>
                <a:latin typeface="Arial MT"/>
                <a:cs typeface="Arial MT"/>
              </a:rPr>
              <a:t>against 	</a:t>
            </a:r>
            <a:r>
              <a:rPr sz="1100" spc="-25" dirty="0">
                <a:solidFill>
                  <a:srgbClr val="22373A"/>
                </a:solidFill>
                <a:latin typeface="Arial MT"/>
                <a:cs typeface="Arial MT"/>
              </a:rPr>
              <a:t>authoritative</a:t>
            </a:r>
            <a:r>
              <a:rPr sz="1100" spc="-15" dirty="0">
                <a:solidFill>
                  <a:srgbClr val="22373A"/>
                </a:solidFill>
                <a:latin typeface="Arial MT"/>
                <a:cs typeface="Arial MT"/>
              </a:rPr>
              <a:t> </a:t>
            </a:r>
            <a:r>
              <a:rPr sz="1100" spc="-10" dirty="0">
                <a:solidFill>
                  <a:srgbClr val="22373A"/>
                </a:solidFill>
                <a:latin typeface="Arial MT"/>
                <a:cs typeface="Arial MT"/>
              </a:rPr>
              <a:t>threat knowledge.</a:t>
            </a:r>
            <a:endParaRPr sz="1100">
              <a:latin typeface="Arial MT"/>
              <a:cs typeface="Arial MT"/>
            </a:endParaRPr>
          </a:p>
        </p:txBody>
      </p:sp>
      <p:sp>
        <p:nvSpPr>
          <p:cNvPr id="8" name="object 8"/>
          <p:cNvSpPr/>
          <p:nvPr/>
        </p:nvSpPr>
        <p:spPr>
          <a:xfrm>
            <a:off x="359994" y="2354021"/>
            <a:ext cx="5039995" cy="0"/>
          </a:xfrm>
          <a:custGeom>
            <a:avLst/>
            <a:gdLst/>
            <a:ahLst/>
            <a:cxnLst/>
            <a:rect l="l" t="t" r="r" b="b"/>
            <a:pathLst>
              <a:path w="5039995">
                <a:moveTo>
                  <a:pt x="0" y="0"/>
                </a:moveTo>
                <a:lnTo>
                  <a:pt x="5039995" y="0"/>
                </a:lnTo>
              </a:path>
            </a:pathLst>
          </a:custGeom>
          <a:ln w="7594">
            <a:solidFill>
              <a:srgbClr val="2D7DB8"/>
            </a:solidFill>
          </a:ln>
        </p:spPr>
        <p:txBody>
          <a:bodyPr wrap="square" lIns="0" tIns="0" rIns="0" bIns="0" rtlCol="0"/>
          <a:lstStyle/>
          <a:p>
            <a:endParaRPr/>
          </a:p>
        </p:txBody>
      </p:sp>
      <p:sp>
        <p:nvSpPr>
          <p:cNvPr id="9" name="object 9"/>
          <p:cNvSpPr txBox="1"/>
          <p:nvPr/>
        </p:nvSpPr>
        <p:spPr>
          <a:xfrm>
            <a:off x="347294" y="2503759"/>
            <a:ext cx="1875155" cy="177800"/>
          </a:xfrm>
          <a:prstGeom prst="rect">
            <a:avLst/>
          </a:prstGeom>
        </p:spPr>
        <p:txBody>
          <a:bodyPr vert="horz" wrap="square" lIns="0" tIns="12065" rIns="0" bIns="0" rtlCol="0">
            <a:spAutoFit/>
          </a:bodyPr>
          <a:lstStyle/>
          <a:p>
            <a:pPr marL="12700">
              <a:lnSpc>
                <a:spcPct val="100000"/>
              </a:lnSpc>
              <a:spcBef>
                <a:spcPts val="95"/>
              </a:spcBef>
            </a:pPr>
            <a:r>
              <a:rPr sz="1000" dirty="0">
                <a:solidFill>
                  <a:srgbClr val="22373A"/>
                </a:solidFill>
                <a:latin typeface="Arial MT"/>
                <a:cs typeface="Arial MT"/>
              </a:rPr>
              <a:t>All</a:t>
            </a:r>
            <a:r>
              <a:rPr sz="1000" spc="20" dirty="0">
                <a:solidFill>
                  <a:srgbClr val="22373A"/>
                </a:solidFill>
                <a:latin typeface="Arial MT"/>
                <a:cs typeface="Arial MT"/>
              </a:rPr>
              <a:t> </a:t>
            </a:r>
            <a:r>
              <a:rPr sz="1000" spc="-20" dirty="0">
                <a:solidFill>
                  <a:srgbClr val="22373A"/>
                </a:solidFill>
                <a:latin typeface="Arial MT"/>
                <a:cs typeface="Arial MT"/>
              </a:rPr>
              <a:t>three</a:t>
            </a:r>
            <a:r>
              <a:rPr sz="1000" spc="30" dirty="0">
                <a:solidFill>
                  <a:srgbClr val="22373A"/>
                </a:solidFill>
                <a:latin typeface="Arial MT"/>
                <a:cs typeface="Arial MT"/>
              </a:rPr>
              <a:t> </a:t>
            </a:r>
            <a:r>
              <a:rPr sz="1000" spc="-80" dirty="0">
                <a:solidFill>
                  <a:srgbClr val="22373A"/>
                </a:solidFill>
                <a:latin typeface="Arial MT"/>
                <a:cs typeface="Arial MT"/>
              </a:rPr>
              <a:t>addressed</a:t>
            </a:r>
            <a:r>
              <a:rPr sz="1000" spc="25" dirty="0">
                <a:solidFill>
                  <a:srgbClr val="22373A"/>
                </a:solidFill>
                <a:latin typeface="Arial MT"/>
                <a:cs typeface="Arial MT"/>
              </a:rPr>
              <a:t> </a:t>
            </a:r>
            <a:r>
              <a:rPr sz="1000" dirty="0">
                <a:solidFill>
                  <a:srgbClr val="22373A"/>
                </a:solidFill>
                <a:latin typeface="Arial MT"/>
                <a:cs typeface="Arial MT"/>
              </a:rPr>
              <a:t>in</a:t>
            </a:r>
            <a:r>
              <a:rPr sz="1000" spc="25" dirty="0">
                <a:solidFill>
                  <a:srgbClr val="22373A"/>
                </a:solidFill>
                <a:latin typeface="Arial MT"/>
                <a:cs typeface="Arial MT"/>
              </a:rPr>
              <a:t> </a:t>
            </a:r>
            <a:r>
              <a:rPr sz="1000" spc="-45" dirty="0">
                <a:solidFill>
                  <a:srgbClr val="22373A"/>
                </a:solidFill>
                <a:latin typeface="Arial MT"/>
                <a:cs typeface="Arial MT"/>
              </a:rPr>
              <a:t>one</a:t>
            </a:r>
            <a:r>
              <a:rPr sz="1000" spc="25" dirty="0">
                <a:solidFill>
                  <a:srgbClr val="22373A"/>
                </a:solidFill>
                <a:latin typeface="Arial MT"/>
                <a:cs typeface="Arial MT"/>
              </a:rPr>
              <a:t> </a:t>
            </a:r>
            <a:r>
              <a:rPr sz="1000" spc="-10" dirty="0">
                <a:solidFill>
                  <a:srgbClr val="22373A"/>
                </a:solidFill>
                <a:latin typeface="Arial MT"/>
                <a:cs typeface="Arial MT"/>
              </a:rPr>
              <a:t>pipeline.</a:t>
            </a:r>
            <a:endParaRPr sz="1000">
              <a:latin typeface="Arial MT"/>
              <a:cs typeface="Arial MT"/>
            </a:endParaRPr>
          </a:p>
        </p:txBody>
      </p:sp>
      <p:pic>
        <p:nvPicPr>
          <p:cNvPr id="10" name="object 10"/>
          <p:cNvPicPr/>
          <p:nvPr/>
        </p:nvPicPr>
        <p:blipFill>
          <a:blip r:embed="rId3" cstate="print"/>
          <a:stretch>
            <a:fillRect/>
          </a:stretch>
        </p:blipFill>
        <p:spPr>
          <a:xfrm>
            <a:off x="101282" y="2998905"/>
            <a:ext cx="241983" cy="187117"/>
          </a:xfrm>
          <a:prstGeom prst="rect">
            <a:avLst/>
          </a:prstGeom>
        </p:spPr>
      </p:pic>
      <p:pic>
        <p:nvPicPr>
          <p:cNvPr id="11" name="object 11"/>
          <p:cNvPicPr/>
          <p:nvPr/>
        </p:nvPicPr>
        <p:blipFill>
          <a:blip r:embed="rId4" cstate="print"/>
          <a:stretch>
            <a:fillRect/>
          </a:stretch>
        </p:blipFill>
        <p:spPr>
          <a:xfrm>
            <a:off x="433285" y="2998965"/>
            <a:ext cx="187057" cy="187057"/>
          </a:xfrm>
          <a:prstGeom prst="rect">
            <a:avLst/>
          </a:prstGeom>
        </p:spPr>
      </p:pic>
      <p:pic>
        <p:nvPicPr>
          <p:cNvPr id="12" name="object 12"/>
          <p:cNvPicPr/>
          <p:nvPr/>
        </p:nvPicPr>
        <p:blipFill>
          <a:blip r:embed="rId5" cstate="print"/>
          <a:stretch>
            <a:fillRect/>
          </a:stretch>
        </p:blipFill>
        <p:spPr>
          <a:xfrm>
            <a:off x="710349" y="2998815"/>
            <a:ext cx="187208" cy="187208"/>
          </a:xfrm>
          <a:prstGeom prst="rect">
            <a:avLst/>
          </a:prstGeom>
        </p:spPr>
      </p:pic>
      <p:sp>
        <p:nvSpPr>
          <p:cNvPr id="13" name="object 13"/>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3</a:t>
            </a:r>
            <a:r>
              <a:rPr spc="-80" dirty="0"/>
              <a:t> </a:t>
            </a:r>
            <a:r>
              <a:rPr spc="195" dirty="0"/>
              <a:t>/</a:t>
            </a:r>
            <a:r>
              <a:rPr spc="-75" dirty="0"/>
              <a:t> </a:t>
            </a:r>
            <a:r>
              <a:rPr spc="-25" dirty="0"/>
              <a:t>32</a:t>
            </a: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45" dirty="0"/>
              <a:t>Research</a:t>
            </a:r>
            <a:r>
              <a:rPr spc="5" dirty="0"/>
              <a:t> </a:t>
            </a:r>
            <a:r>
              <a:rPr spc="-50" dirty="0"/>
              <a:t>questions</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720090" cy="5080"/>
            </a:xfrm>
            <a:custGeom>
              <a:avLst/>
              <a:gdLst/>
              <a:ahLst/>
              <a:cxnLst/>
              <a:rect l="l" t="t" r="r" b="b"/>
              <a:pathLst>
                <a:path w="720090" h="5079">
                  <a:moveTo>
                    <a:pt x="0" y="5060"/>
                  </a:moveTo>
                  <a:lnTo>
                    <a:pt x="0" y="0"/>
                  </a:lnTo>
                  <a:lnTo>
                    <a:pt x="720009" y="0"/>
                  </a:lnTo>
                  <a:lnTo>
                    <a:pt x="720009" y="5060"/>
                  </a:lnTo>
                  <a:lnTo>
                    <a:pt x="0" y="5060"/>
                  </a:lnTo>
                  <a:close/>
                </a:path>
              </a:pathLst>
            </a:custGeom>
            <a:solidFill>
              <a:srgbClr val="2D7DB8"/>
            </a:solidFill>
          </p:spPr>
          <p:txBody>
            <a:bodyPr wrap="square" lIns="0" tIns="0" rIns="0" bIns="0" rtlCol="0"/>
            <a:lstStyle/>
            <a:p>
              <a:endParaRPr/>
            </a:p>
          </p:txBody>
        </p:sp>
      </p:grpSp>
      <p:sp>
        <p:nvSpPr>
          <p:cNvPr id="7" name="object 7"/>
          <p:cNvSpPr txBox="1"/>
          <p:nvPr/>
        </p:nvSpPr>
        <p:spPr>
          <a:xfrm>
            <a:off x="268516" y="1051938"/>
            <a:ext cx="5072380" cy="1289050"/>
          </a:xfrm>
          <a:prstGeom prst="rect">
            <a:avLst/>
          </a:prstGeom>
        </p:spPr>
        <p:txBody>
          <a:bodyPr vert="horz" wrap="square" lIns="0" tIns="12700" rIns="0" bIns="0" rtlCol="0">
            <a:spAutoFit/>
          </a:bodyPr>
          <a:lstStyle/>
          <a:p>
            <a:pPr marL="368300" marR="300355" indent="-356235">
              <a:lnSpc>
                <a:spcPct val="118000"/>
              </a:lnSpc>
              <a:spcBef>
                <a:spcPts val="100"/>
              </a:spcBef>
            </a:pPr>
            <a:r>
              <a:rPr sz="1100" b="1" dirty="0">
                <a:solidFill>
                  <a:srgbClr val="22373A"/>
                </a:solidFill>
                <a:latin typeface="Arial"/>
                <a:cs typeface="Arial"/>
              </a:rPr>
              <a:t>RQ1</a:t>
            </a:r>
            <a:r>
              <a:rPr sz="1100" b="1" spc="140" dirty="0">
                <a:solidFill>
                  <a:srgbClr val="22373A"/>
                </a:solidFill>
                <a:latin typeface="Arial"/>
                <a:cs typeface="Arial"/>
              </a:rPr>
              <a:t> </a:t>
            </a:r>
            <a:r>
              <a:rPr sz="1100" spc="-50" dirty="0">
                <a:solidFill>
                  <a:srgbClr val="22373A"/>
                </a:solidFill>
                <a:latin typeface="Arial MT"/>
                <a:cs typeface="Arial MT"/>
              </a:rPr>
              <a:t>How</a:t>
            </a:r>
            <a:r>
              <a:rPr sz="1100" spc="-5" dirty="0">
                <a:solidFill>
                  <a:srgbClr val="22373A"/>
                </a:solidFill>
                <a:latin typeface="Arial MT"/>
                <a:cs typeface="Arial MT"/>
              </a:rPr>
              <a:t> </a:t>
            </a:r>
            <a:r>
              <a:rPr sz="1100" spc="-35" dirty="0">
                <a:solidFill>
                  <a:srgbClr val="22373A"/>
                </a:solidFill>
                <a:latin typeface="Arial MT"/>
                <a:cs typeface="Arial MT"/>
              </a:rPr>
              <a:t>effectively</a:t>
            </a:r>
            <a:r>
              <a:rPr sz="1100" dirty="0">
                <a:solidFill>
                  <a:srgbClr val="22373A"/>
                </a:solidFill>
                <a:latin typeface="Arial MT"/>
                <a:cs typeface="Arial MT"/>
              </a:rPr>
              <a:t> </a:t>
            </a:r>
            <a:r>
              <a:rPr sz="1100" spc="-40" dirty="0">
                <a:solidFill>
                  <a:srgbClr val="22373A"/>
                </a:solidFill>
                <a:latin typeface="Arial MT"/>
                <a:cs typeface="Arial MT"/>
              </a:rPr>
              <a:t>an</a:t>
            </a:r>
            <a:r>
              <a:rPr sz="1100" spc="-5" dirty="0">
                <a:solidFill>
                  <a:srgbClr val="22373A"/>
                </a:solidFill>
                <a:latin typeface="Arial MT"/>
                <a:cs typeface="Arial MT"/>
              </a:rPr>
              <a:t> </a:t>
            </a:r>
            <a:r>
              <a:rPr sz="1100" spc="-80" dirty="0">
                <a:solidFill>
                  <a:srgbClr val="22373A"/>
                </a:solidFill>
                <a:latin typeface="Arial MT"/>
                <a:cs typeface="Arial MT"/>
              </a:rPr>
              <a:t>embedding-</a:t>
            </a:r>
            <a:r>
              <a:rPr sz="1100" spc="-75" dirty="0">
                <a:solidFill>
                  <a:srgbClr val="22373A"/>
                </a:solidFill>
                <a:latin typeface="Arial MT"/>
                <a:cs typeface="Arial MT"/>
              </a:rPr>
              <a:t>based</a:t>
            </a:r>
            <a:r>
              <a:rPr sz="1100" dirty="0">
                <a:solidFill>
                  <a:srgbClr val="22373A"/>
                </a:solidFill>
                <a:latin typeface="Arial MT"/>
                <a:cs typeface="Arial MT"/>
              </a:rPr>
              <a:t> </a:t>
            </a:r>
            <a:r>
              <a:rPr sz="1100" spc="-40" dirty="0">
                <a:solidFill>
                  <a:srgbClr val="22373A"/>
                </a:solidFill>
                <a:latin typeface="Arial MT"/>
                <a:cs typeface="Arial MT"/>
              </a:rPr>
              <a:t>clustering</a:t>
            </a:r>
            <a:r>
              <a:rPr sz="1100" dirty="0">
                <a:solidFill>
                  <a:srgbClr val="22373A"/>
                </a:solidFill>
                <a:latin typeface="Arial MT"/>
                <a:cs typeface="Arial MT"/>
              </a:rPr>
              <a:t> </a:t>
            </a:r>
            <a:r>
              <a:rPr sz="1100" spc="-45" dirty="0">
                <a:solidFill>
                  <a:srgbClr val="22373A"/>
                </a:solidFill>
                <a:latin typeface="Arial MT"/>
                <a:cs typeface="Arial MT"/>
              </a:rPr>
              <a:t>group</a:t>
            </a:r>
            <a:r>
              <a:rPr sz="1100" spc="-5" dirty="0">
                <a:solidFill>
                  <a:srgbClr val="22373A"/>
                </a:solidFill>
                <a:latin typeface="Arial MT"/>
                <a:cs typeface="Arial MT"/>
              </a:rPr>
              <a:t> </a:t>
            </a:r>
            <a:r>
              <a:rPr sz="1100" spc="-35" dirty="0">
                <a:solidFill>
                  <a:srgbClr val="22373A"/>
                </a:solidFill>
                <a:latin typeface="Arial MT"/>
                <a:cs typeface="Arial MT"/>
              </a:rPr>
              <a:t>relate</a:t>
            </a:r>
            <a:r>
              <a:rPr sz="1100" dirty="0">
                <a:solidFill>
                  <a:srgbClr val="22373A"/>
                </a:solidFill>
                <a:latin typeface="Arial MT"/>
                <a:cs typeface="Arial MT"/>
              </a:rPr>
              <a:t> </a:t>
            </a:r>
            <a:r>
              <a:rPr sz="1100" spc="-35" dirty="0">
                <a:solidFill>
                  <a:srgbClr val="22373A"/>
                </a:solidFill>
                <a:latin typeface="Arial MT"/>
                <a:cs typeface="Arial MT"/>
              </a:rPr>
              <a:t>SIEM</a:t>
            </a:r>
            <a:r>
              <a:rPr sz="1100" spc="-5" dirty="0">
                <a:solidFill>
                  <a:srgbClr val="22373A"/>
                </a:solidFill>
                <a:latin typeface="Arial MT"/>
                <a:cs typeface="Arial MT"/>
              </a:rPr>
              <a:t> </a:t>
            </a:r>
            <a:r>
              <a:rPr sz="1100" spc="-35" dirty="0">
                <a:solidFill>
                  <a:srgbClr val="22373A"/>
                </a:solidFill>
                <a:latin typeface="Arial MT"/>
                <a:cs typeface="Arial MT"/>
              </a:rPr>
              <a:t>alerts</a:t>
            </a:r>
            <a:r>
              <a:rPr sz="1100" dirty="0">
                <a:solidFill>
                  <a:srgbClr val="22373A"/>
                </a:solidFill>
                <a:latin typeface="Arial MT"/>
                <a:cs typeface="Arial MT"/>
              </a:rPr>
              <a:t> </a:t>
            </a:r>
            <a:r>
              <a:rPr sz="1100" spc="-20" dirty="0">
                <a:solidFill>
                  <a:srgbClr val="22373A"/>
                </a:solidFill>
                <a:latin typeface="Arial MT"/>
                <a:cs typeface="Arial MT"/>
              </a:rPr>
              <a:t>into </a:t>
            </a:r>
            <a:r>
              <a:rPr sz="1100" spc="-50" dirty="0">
                <a:solidFill>
                  <a:srgbClr val="22373A"/>
                </a:solidFill>
                <a:latin typeface="Arial MT"/>
                <a:cs typeface="Arial MT"/>
              </a:rPr>
              <a:t>coherent</a:t>
            </a:r>
            <a:r>
              <a:rPr sz="1100" spc="-10" dirty="0">
                <a:solidFill>
                  <a:srgbClr val="22373A"/>
                </a:solidFill>
                <a:latin typeface="Arial MT"/>
                <a:cs typeface="Arial MT"/>
              </a:rPr>
              <a:t> </a:t>
            </a:r>
            <a:r>
              <a:rPr sz="1100" spc="-30" dirty="0">
                <a:solidFill>
                  <a:srgbClr val="22373A"/>
                </a:solidFill>
                <a:latin typeface="Arial MT"/>
                <a:cs typeface="Arial MT"/>
              </a:rPr>
              <a:t>incident</a:t>
            </a:r>
            <a:r>
              <a:rPr sz="1100" spc="-5" dirty="0">
                <a:solidFill>
                  <a:srgbClr val="22373A"/>
                </a:solidFill>
                <a:latin typeface="Arial MT"/>
                <a:cs typeface="Arial MT"/>
              </a:rPr>
              <a:t> </a:t>
            </a:r>
            <a:r>
              <a:rPr sz="1100" spc="-10" dirty="0">
                <a:solidFill>
                  <a:srgbClr val="22373A"/>
                </a:solidFill>
                <a:latin typeface="Arial MT"/>
                <a:cs typeface="Arial MT"/>
              </a:rPr>
              <a:t>communities?</a:t>
            </a:r>
            <a:endParaRPr sz="1100" dirty="0">
              <a:latin typeface="Arial MT"/>
              <a:cs typeface="Arial MT"/>
            </a:endParaRPr>
          </a:p>
          <a:p>
            <a:pPr marL="368300" marR="38100" indent="-356235">
              <a:lnSpc>
                <a:spcPct val="118000"/>
              </a:lnSpc>
              <a:spcBef>
                <a:spcPts val="300"/>
              </a:spcBef>
            </a:pPr>
            <a:r>
              <a:rPr sz="1100" b="1" dirty="0">
                <a:solidFill>
                  <a:srgbClr val="22373A"/>
                </a:solidFill>
                <a:latin typeface="Arial"/>
                <a:cs typeface="Arial"/>
              </a:rPr>
              <a:t>RQ2</a:t>
            </a:r>
            <a:r>
              <a:rPr sz="1100" b="1" spc="140" dirty="0">
                <a:solidFill>
                  <a:srgbClr val="22373A"/>
                </a:solidFill>
                <a:latin typeface="Arial"/>
                <a:cs typeface="Arial"/>
              </a:rPr>
              <a:t> </a:t>
            </a:r>
            <a:r>
              <a:rPr sz="1100" dirty="0">
                <a:solidFill>
                  <a:srgbClr val="22373A"/>
                </a:solidFill>
                <a:latin typeface="Arial MT"/>
                <a:cs typeface="Arial MT"/>
              </a:rPr>
              <a:t>To</a:t>
            </a:r>
            <a:r>
              <a:rPr sz="1100" spc="-5" dirty="0">
                <a:solidFill>
                  <a:srgbClr val="22373A"/>
                </a:solidFill>
                <a:latin typeface="Arial MT"/>
                <a:cs typeface="Arial MT"/>
              </a:rPr>
              <a:t> </a:t>
            </a:r>
            <a:r>
              <a:rPr sz="1100" spc="-10" dirty="0">
                <a:solidFill>
                  <a:srgbClr val="22373A"/>
                </a:solidFill>
                <a:latin typeface="Arial MT"/>
                <a:cs typeface="Arial MT"/>
              </a:rPr>
              <a:t>what</a:t>
            </a:r>
            <a:r>
              <a:rPr sz="1100" spc="-5" dirty="0">
                <a:solidFill>
                  <a:srgbClr val="22373A"/>
                </a:solidFill>
                <a:latin typeface="Arial MT"/>
                <a:cs typeface="Arial MT"/>
              </a:rPr>
              <a:t> </a:t>
            </a:r>
            <a:r>
              <a:rPr sz="1100" spc="-25" dirty="0">
                <a:solidFill>
                  <a:srgbClr val="22373A"/>
                </a:solidFill>
                <a:latin typeface="Arial MT"/>
                <a:cs typeface="Arial MT"/>
              </a:rPr>
              <a:t>extent</a:t>
            </a:r>
            <a:r>
              <a:rPr sz="1100" spc="-10" dirty="0">
                <a:solidFill>
                  <a:srgbClr val="22373A"/>
                </a:solidFill>
                <a:latin typeface="Arial MT"/>
                <a:cs typeface="Arial MT"/>
              </a:rPr>
              <a:t> </a:t>
            </a:r>
            <a:r>
              <a:rPr sz="1100" spc="-65" dirty="0">
                <a:solidFill>
                  <a:srgbClr val="22373A"/>
                </a:solidFill>
                <a:latin typeface="Arial MT"/>
                <a:cs typeface="Arial MT"/>
              </a:rPr>
              <a:t>can</a:t>
            </a:r>
            <a:r>
              <a:rPr sz="1100" spc="-5" dirty="0">
                <a:solidFill>
                  <a:srgbClr val="22373A"/>
                </a:solidFill>
                <a:latin typeface="Arial MT"/>
                <a:cs typeface="Arial MT"/>
              </a:rPr>
              <a:t> </a:t>
            </a:r>
            <a:r>
              <a:rPr sz="1100" spc="-50" dirty="0">
                <a:solidFill>
                  <a:srgbClr val="22373A"/>
                </a:solidFill>
                <a:latin typeface="Arial MT"/>
                <a:cs typeface="Arial MT"/>
              </a:rPr>
              <a:t>LLM-</a:t>
            </a:r>
            <a:r>
              <a:rPr sz="1100" spc="-30" dirty="0">
                <a:solidFill>
                  <a:srgbClr val="22373A"/>
                </a:solidFill>
                <a:latin typeface="Arial MT"/>
                <a:cs typeface="Arial MT"/>
              </a:rPr>
              <a:t>extracted</a:t>
            </a:r>
            <a:r>
              <a:rPr sz="1100" spc="-5" dirty="0">
                <a:solidFill>
                  <a:srgbClr val="22373A"/>
                </a:solidFill>
                <a:latin typeface="Arial MT"/>
                <a:cs typeface="Arial MT"/>
              </a:rPr>
              <a:t> </a:t>
            </a:r>
            <a:r>
              <a:rPr sz="1100" spc="-50" dirty="0">
                <a:solidFill>
                  <a:srgbClr val="22373A"/>
                </a:solidFill>
                <a:latin typeface="Arial MT"/>
                <a:cs typeface="Arial MT"/>
              </a:rPr>
              <a:t>relationships</a:t>
            </a:r>
            <a:r>
              <a:rPr sz="1100" spc="-5" dirty="0">
                <a:solidFill>
                  <a:srgbClr val="22373A"/>
                </a:solidFill>
                <a:latin typeface="Arial MT"/>
                <a:cs typeface="Arial MT"/>
              </a:rPr>
              <a:t> </a:t>
            </a:r>
            <a:r>
              <a:rPr sz="1100" spc="-10" dirty="0">
                <a:solidFill>
                  <a:srgbClr val="22373A"/>
                </a:solidFill>
                <a:latin typeface="Arial MT"/>
                <a:cs typeface="Arial MT"/>
              </a:rPr>
              <a:t>form</a:t>
            </a:r>
            <a:r>
              <a:rPr sz="1100" spc="-5" dirty="0">
                <a:solidFill>
                  <a:srgbClr val="22373A"/>
                </a:solidFill>
                <a:latin typeface="Arial MT"/>
                <a:cs typeface="Arial MT"/>
              </a:rPr>
              <a:t> </a:t>
            </a:r>
            <a:r>
              <a:rPr sz="1100" dirty="0">
                <a:solidFill>
                  <a:srgbClr val="22373A"/>
                </a:solidFill>
                <a:latin typeface="Arial MT"/>
                <a:cs typeface="Arial MT"/>
              </a:rPr>
              <a:t>a</a:t>
            </a:r>
            <a:r>
              <a:rPr sz="1100" spc="-5" dirty="0">
                <a:solidFill>
                  <a:srgbClr val="22373A"/>
                </a:solidFill>
                <a:latin typeface="Arial MT"/>
                <a:cs typeface="Arial MT"/>
              </a:rPr>
              <a:t> </a:t>
            </a:r>
            <a:r>
              <a:rPr sz="1100" spc="-45" dirty="0">
                <a:solidFill>
                  <a:srgbClr val="22373A"/>
                </a:solidFill>
                <a:latin typeface="Arial MT"/>
                <a:cs typeface="Arial MT"/>
              </a:rPr>
              <a:t>meaningful,</a:t>
            </a:r>
            <a:r>
              <a:rPr sz="1100" spc="-5" dirty="0">
                <a:solidFill>
                  <a:srgbClr val="22373A"/>
                </a:solidFill>
                <a:latin typeface="Arial MT"/>
                <a:cs typeface="Arial MT"/>
              </a:rPr>
              <a:t> </a:t>
            </a:r>
            <a:r>
              <a:rPr sz="1100" spc="-10" dirty="0">
                <a:solidFill>
                  <a:srgbClr val="22373A"/>
                </a:solidFill>
                <a:latin typeface="Arial MT"/>
                <a:cs typeface="Arial MT"/>
              </a:rPr>
              <a:t>interpretable </a:t>
            </a:r>
            <a:r>
              <a:rPr sz="1100" spc="-55" dirty="0">
                <a:solidFill>
                  <a:srgbClr val="22373A"/>
                </a:solidFill>
                <a:latin typeface="Arial MT"/>
                <a:cs typeface="Arial MT"/>
              </a:rPr>
              <a:t>representation</a:t>
            </a:r>
            <a:r>
              <a:rPr sz="1100" spc="-5" dirty="0">
                <a:solidFill>
                  <a:srgbClr val="22373A"/>
                </a:solidFill>
                <a:latin typeface="Arial MT"/>
                <a:cs typeface="Arial MT"/>
              </a:rPr>
              <a:t> </a:t>
            </a:r>
            <a:r>
              <a:rPr sz="1100" dirty="0">
                <a:solidFill>
                  <a:srgbClr val="22373A"/>
                </a:solidFill>
                <a:latin typeface="Arial MT"/>
                <a:cs typeface="Arial MT"/>
              </a:rPr>
              <a:t>of attack</a:t>
            </a:r>
            <a:r>
              <a:rPr sz="1100" spc="-5" dirty="0">
                <a:solidFill>
                  <a:srgbClr val="22373A"/>
                </a:solidFill>
                <a:latin typeface="Arial MT"/>
                <a:cs typeface="Arial MT"/>
              </a:rPr>
              <a:t> </a:t>
            </a:r>
            <a:r>
              <a:rPr sz="1100" spc="-10" dirty="0">
                <a:solidFill>
                  <a:srgbClr val="22373A"/>
                </a:solidFill>
                <a:latin typeface="Arial MT"/>
                <a:cs typeface="Arial MT"/>
              </a:rPr>
              <a:t>behavior?</a:t>
            </a:r>
            <a:endParaRPr sz="1100" dirty="0">
              <a:latin typeface="Arial MT"/>
              <a:cs typeface="Arial MT"/>
            </a:endParaRPr>
          </a:p>
          <a:p>
            <a:pPr marL="368300" marR="5080" indent="-356235">
              <a:lnSpc>
                <a:spcPct val="118000"/>
              </a:lnSpc>
              <a:spcBef>
                <a:spcPts val="300"/>
              </a:spcBef>
            </a:pPr>
            <a:r>
              <a:rPr sz="1100" b="1" dirty="0">
                <a:solidFill>
                  <a:srgbClr val="22373A"/>
                </a:solidFill>
                <a:latin typeface="Arial"/>
                <a:cs typeface="Arial"/>
              </a:rPr>
              <a:t>RQ3</a:t>
            </a:r>
            <a:r>
              <a:rPr sz="1100" b="1" spc="175" dirty="0">
                <a:solidFill>
                  <a:srgbClr val="22373A"/>
                </a:solidFill>
                <a:latin typeface="Arial"/>
                <a:cs typeface="Arial"/>
              </a:rPr>
              <a:t> </a:t>
            </a:r>
            <a:r>
              <a:rPr sz="1100" spc="-75" dirty="0">
                <a:solidFill>
                  <a:srgbClr val="22373A"/>
                </a:solidFill>
                <a:latin typeface="Arial MT"/>
                <a:cs typeface="Arial MT"/>
              </a:rPr>
              <a:t>Does</a:t>
            </a:r>
            <a:r>
              <a:rPr sz="1100" spc="20" dirty="0">
                <a:solidFill>
                  <a:srgbClr val="22373A"/>
                </a:solidFill>
                <a:latin typeface="Arial MT"/>
                <a:cs typeface="Arial MT"/>
              </a:rPr>
              <a:t> </a:t>
            </a:r>
            <a:r>
              <a:rPr sz="1100" spc="-75" dirty="0">
                <a:solidFill>
                  <a:srgbClr val="22373A"/>
                </a:solidFill>
                <a:latin typeface="Arial MT"/>
                <a:cs typeface="Arial MT"/>
              </a:rPr>
              <a:t>knowledge-</a:t>
            </a:r>
            <a:r>
              <a:rPr sz="1100" spc="-70" dirty="0">
                <a:solidFill>
                  <a:srgbClr val="22373A"/>
                </a:solidFill>
                <a:latin typeface="Arial MT"/>
                <a:cs typeface="Arial MT"/>
              </a:rPr>
              <a:t>graph-</a:t>
            </a:r>
            <a:r>
              <a:rPr sz="1100" spc="-60" dirty="0">
                <a:solidFill>
                  <a:srgbClr val="22373A"/>
                </a:solidFill>
                <a:latin typeface="Arial MT"/>
                <a:cs typeface="Arial MT"/>
              </a:rPr>
              <a:t>grounded</a:t>
            </a:r>
            <a:r>
              <a:rPr sz="1100" spc="20" dirty="0">
                <a:solidFill>
                  <a:srgbClr val="22373A"/>
                </a:solidFill>
                <a:latin typeface="Arial MT"/>
                <a:cs typeface="Arial MT"/>
              </a:rPr>
              <a:t> </a:t>
            </a:r>
            <a:r>
              <a:rPr sz="1100" spc="-35" dirty="0">
                <a:solidFill>
                  <a:srgbClr val="22373A"/>
                </a:solidFill>
                <a:latin typeface="Arial MT"/>
                <a:cs typeface="Arial MT"/>
              </a:rPr>
              <a:t>retrieval</a:t>
            </a:r>
            <a:r>
              <a:rPr sz="1100" spc="20" dirty="0">
                <a:solidFill>
                  <a:srgbClr val="22373A"/>
                </a:solidFill>
                <a:latin typeface="Arial MT"/>
                <a:cs typeface="Arial MT"/>
              </a:rPr>
              <a:t> </a:t>
            </a:r>
            <a:r>
              <a:rPr sz="1100" spc="-50" dirty="0">
                <a:solidFill>
                  <a:srgbClr val="22373A"/>
                </a:solidFill>
                <a:latin typeface="Arial MT"/>
                <a:cs typeface="Arial MT"/>
              </a:rPr>
              <a:t>improve</a:t>
            </a:r>
            <a:r>
              <a:rPr sz="1100" spc="20" dirty="0">
                <a:solidFill>
                  <a:srgbClr val="22373A"/>
                </a:solidFill>
                <a:latin typeface="Arial MT"/>
                <a:cs typeface="Arial MT"/>
              </a:rPr>
              <a:t> </a:t>
            </a:r>
            <a:r>
              <a:rPr sz="1100" spc="-65" dirty="0">
                <a:solidFill>
                  <a:srgbClr val="22373A"/>
                </a:solidFill>
                <a:latin typeface="Arial MT"/>
                <a:cs typeface="Arial MT"/>
              </a:rPr>
              <a:t>generated</a:t>
            </a:r>
            <a:r>
              <a:rPr sz="1100" spc="20" dirty="0">
                <a:solidFill>
                  <a:srgbClr val="22373A"/>
                </a:solidFill>
                <a:latin typeface="Arial MT"/>
                <a:cs typeface="Arial MT"/>
              </a:rPr>
              <a:t> </a:t>
            </a:r>
            <a:r>
              <a:rPr sz="1100" spc="-30" dirty="0">
                <a:solidFill>
                  <a:srgbClr val="22373A"/>
                </a:solidFill>
                <a:latin typeface="Arial MT"/>
                <a:cs typeface="Arial MT"/>
              </a:rPr>
              <a:t>incident</a:t>
            </a:r>
            <a:r>
              <a:rPr sz="1100" spc="20" dirty="0">
                <a:solidFill>
                  <a:srgbClr val="22373A"/>
                </a:solidFill>
                <a:latin typeface="Arial MT"/>
                <a:cs typeface="Arial MT"/>
              </a:rPr>
              <a:t> </a:t>
            </a:r>
            <a:r>
              <a:rPr sz="1100" spc="-40" dirty="0">
                <a:solidFill>
                  <a:srgbClr val="22373A"/>
                </a:solidFill>
                <a:latin typeface="Arial MT"/>
                <a:cs typeface="Arial MT"/>
              </a:rPr>
              <a:t>reports</a:t>
            </a:r>
            <a:r>
              <a:rPr sz="1100" spc="20" dirty="0">
                <a:solidFill>
                  <a:srgbClr val="22373A"/>
                </a:solidFill>
                <a:latin typeface="Arial MT"/>
                <a:cs typeface="Arial MT"/>
              </a:rPr>
              <a:t> </a:t>
            </a:r>
            <a:r>
              <a:rPr sz="1100" spc="-20" dirty="0">
                <a:solidFill>
                  <a:srgbClr val="22373A"/>
                </a:solidFill>
                <a:latin typeface="Arial MT"/>
                <a:cs typeface="Arial MT"/>
              </a:rPr>
              <a:t>over </a:t>
            </a:r>
            <a:r>
              <a:rPr sz="1100" spc="-60" dirty="0">
                <a:solidFill>
                  <a:srgbClr val="22373A"/>
                </a:solidFill>
                <a:latin typeface="Arial MT"/>
                <a:cs typeface="Arial MT"/>
              </a:rPr>
              <a:t>non-</a:t>
            </a:r>
            <a:r>
              <a:rPr sz="1100" spc="-55" dirty="0">
                <a:solidFill>
                  <a:srgbClr val="22373A"/>
                </a:solidFill>
                <a:latin typeface="Arial MT"/>
                <a:cs typeface="Arial MT"/>
              </a:rPr>
              <a:t>grounded</a:t>
            </a:r>
            <a:r>
              <a:rPr sz="1100" spc="-15" dirty="0">
                <a:solidFill>
                  <a:srgbClr val="22373A"/>
                </a:solidFill>
                <a:latin typeface="Arial MT"/>
                <a:cs typeface="Arial MT"/>
              </a:rPr>
              <a:t> </a:t>
            </a:r>
            <a:r>
              <a:rPr sz="1100" spc="-10" dirty="0">
                <a:solidFill>
                  <a:srgbClr val="22373A"/>
                </a:solidFill>
                <a:latin typeface="Arial MT"/>
                <a:cs typeface="Arial MT"/>
              </a:rPr>
              <a:t>generation?</a:t>
            </a:r>
            <a:endParaRPr sz="1100" dirty="0">
              <a:latin typeface="Arial MT"/>
              <a:cs typeface="Arial MT"/>
            </a:endParaRPr>
          </a:p>
        </p:txBody>
      </p:sp>
      <p:pic>
        <p:nvPicPr>
          <p:cNvPr id="8" name="object 8"/>
          <p:cNvPicPr/>
          <p:nvPr/>
        </p:nvPicPr>
        <p:blipFill>
          <a:blip r:embed="rId3" cstate="print"/>
          <a:stretch>
            <a:fillRect/>
          </a:stretch>
        </p:blipFill>
        <p:spPr>
          <a:xfrm>
            <a:off x="101282" y="2998905"/>
            <a:ext cx="241983" cy="187117"/>
          </a:xfrm>
          <a:prstGeom prst="rect">
            <a:avLst/>
          </a:prstGeom>
        </p:spPr>
      </p:pic>
      <p:pic>
        <p:nvPicPr>
          <p:cNvPr id="9" name="object 9"/>
          <p:cNvPicPr/>
          <p:nvPr/>
        </p:nvPicPr>
        <p:blipFill>
          <a:blip r:embed="rId4" cstate="print"/>
          <a:stretch>
            <a:fillRect/>
          </a:stretch>
        </p:blipFill>
        <p:spPr>
          <a:xfrm>
            <a:off x="433285" y="2998965"/>
            <a:ext cx="187057" cy="187057"/>
          </a:xfrm>
          <a:prstGeom prst="rect">
            <a:avLst/>
          </a:prstGeom>
        </p:spPr>
      </p:pic>
      <p:pic>
        <p:nvPicPr>
          <p:cNvPr id="10" name="object 10"/>
          <p:cNvPicPr/>
          <p:nvPr/>
        </p:nvPicPr>
        <p:blipFill>
          <a:blip r:embed="rId5" cstate="print"/>
          <a:stretch>
            <a:fillRect/>
          </a:stretch>
        </p:blipFill>
        <p:spPr>
          <a:xfrm>
            <a:off x="710349" y="2998815"/>
            <a:ext cx="187208" cy="187208"/>
          </a:xfrm>
          <a:prstGeom prst="rect">
            <a:avLst/>
          </a:prstGeom>
        </p:spPr>
      </p:pic>
      <p:sp>
        <p:nvSpPr>
          <p:cNvPr id="11" name="object 11"/>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4</a:t>
            </a:r>
            <a:r>
              <a:rPr spc="-80" dirty="0"/>
              <a:t> </a:t>
            </a:r>
            <a:r>
              <a:rPr spc="195" dirty="0"/>
              <a:t>/</a:t>
            </a:r>
            <a:r>
              <a:rPr spc="-75" dirty="0"/>
              <a:t> </a:t>
            </a:r>
            <a:r>
              <a:rPr spc="-25" dirty="0"/>
              <a:t>32</a:t>
            </a: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2770" y="76349"/>
            <a:ext cx="3495675" cy="196849"/>
          </a:xfrm>
          <a:prstGeom prst="rect">
            <a:avLst/>
          </a:prstGeom>
        </p:spPr>
        <p:txBody>
          <a:bodyPr vert="horz" wrap="square" lIns="0" tIns="12065" rIns="0" bIns="0" rtlCol="0">
            <a:spAutoFit/>
          </a:bodyPr>
          <a:lstStyle/>
          <a:p>
            <a:pPr marL="12700">
              <a:lnSpc>
                <a:spcPct val="100000"/>
              </a:lnSpc>
              <a:spcBef>
                <a:spcPts val="95"/>
              </a:spcBef>
            </a:pPr>
            <a:r>
              <a:rPr lang="en-GB" dirty="0"/>
              <a:t>T</a:t>
            </a:r>
            <a:r>
              <a:rPr dirty="0"/>
              <a:t>he</a:t>
            </a:r>
            <a:r>
              <a:rPr spc="100" dirty="0"/>
              <a:t> </a:t>
            </a:r>
            <a:r>
              <a:rPr spc="-30" dirty="0"/>
              <a:t>pipeline</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900430" cy="5080"/>
            </a:xfrm>
            <a:custGeom>
              <a:avLst/>
              <a:gdLst/>
              <a:ahLst/>
              <a:cxnLst/>
              <a:rect l="l" t="t" r="r" b="b"/>
              <a:pathLst>
                <a:path w="900430" h="5079">
                  <a:moveTo>
                    <a:pt x="0" y="5060"/>
                  </a:moveTo>
                  <a:lnTo>
                    <a:pt x="0" y="0"/>
                  </a:lnTo>
                  <a:lnTo>
                    <a:pt x="900011" y="0"/>
                  </a:lnTo>
                  <a:lnTo>
                    <a:pt x="900011" y="5060"/>
                  </a:lnTo>
                  <a:lnTo>
                    <a:pt x="0" y="5060"/>
                  </a:lnTo>
                  <a:close/>
                </a:path>
              </a:pathLst>
            </a:custGeom>
            <a:solidFill>
              <a:srgbClr val="2D7DB8"/>
            </a:solidFill>
          </p:spPr>
          <p:txBody>
            <a:bodyPr wrap="square" lIns="0" tIns="0" rIns="0" bIns="0" rtlCol="0"/>
            <a:lstStyle/>
            <a:p>
              <a:endParaRPr/>
            </a:p>
          </p:txBody>
        </p:sp>
      </p:grpSp>
      <p:grpSp>
        <p:nvGrpSpPr>
          <p:cNvPr id="7" name="object 7"/>
          <p:cNvGrpSpPr/>
          <p:nvPr/>
        </p:nvGrpSpPr>
        <p:grpSpPr>
          <a:xfrm>
            <a:off x="1642088" y="734620"/>
            <a:ext cx="1310640" cy="1292860"/>
            <a:chOff x="1642088" y="734620"/>
            <a:chExt cx="1310640" cy="1292860"/>
          </a:xfrm>
        </p:grpSpPr>
        <p:sp>
          <p:nvSpPr>
            <p:cNvPr id="8" name="object 8"/>
            <p:cNvSpPr/>
            <p:nvPr/>
          </p:nvSpPr>
          <p:spPr>
            <a:xfrm>
              <a:off x="1644628" y="737160"/>
              <a:ext cx="1305560" cy="1287780"/>
            </a:xfrm>
            <a:custGeom>
              <a:avLst/>
              <a:gdLst/>
              <a:ahLst/>
              <a:cxnLst/>
              <a:rect l="l" t="t" r="r" b="b"/>
              <a:pathLst>
                <a:path w="1305560" h="1287780">
                  <a:moveTo>
                    <a:pt x="1279687" y="0"/>
                  </a:moveTo>
                  <a:lnTo>
                    <a:pt x="25305" y="0"/>
                  </a:lnTo>
                  <a:lnTo>
                    <a:pt x="15455" y="1988"/>
                  </a:lnTo>
                  <a:lnTo>
                    <a:pt x="7411" y="7411"/>
                  </a:lnTo>
                  <a:lnTo>
                    <a:pt x="1988" y="15455"/>
                  </a:lnTo>
                  <a:lnTo>
                    <a:pt x="0" y="25305"/>
                  </a:lnTo>
                  <a:lnTo>
                    <a:pt x="0" y="1262152"/>
                  </a:lnTo>
                  <a:lnTo>
                    <a:pt x="1988" y="1272002"/>
                  </a:lnTo>
                  <a:lnTo>
                    <a:pt x="7411" y="1280046"/>
                  </a:lnTo>
                  <a:lnTo>
                    <a:pt x="15455" y="1285469"/>
                  </a:lnTo>
                  <a:lnTo>
                    <a:pt x="25305" y="1287457"/>
                  </a:lnTo>
                  <a:lnTo>
                    <a:pt x="1279687" y="1287457"/>
                  </a:lnTo>
                  <a:lnTo>
                    <a:pt x="1289537" y="1285469"/>
                  </a:lnTo>
                  <a:lnTo>
                    <a:pt x="1297580" y="1280046"/>
                  </a:lnTo>
                  <a:lnTo>
                    <a:pt x="1303003" y="1272002"/>
                  </a:lnTo>
                  <a:lnTo>
                    <a:pt x="1304992" y="1262152"/>
                  </a:lnTo>
                  <a:lnTo>
                    <a:pt x="1304992" y="25305"/>
                  </a:lnTo>
                  <a:lnTo>
                    <a:pt x="1303003" y="15455"/>
                  </a:lnTo>
                  <a:lnTo>
                    <a:pt x="1297580" y="7411"/>
                  </a:lnTo>
                  <a:lnTo>
                    <a:pt x="1289537" y="1988"/>
                  </a:lnTo>
                  <a:lnTo>
                    <a:pt x="1279687" y="0"/>
                  </a:lnTo>
                  <a:close/>
                </a:path>
              </a:pathLst>
            </a:custGeom>
            <a:solidFill>
              <a:srgbClr val="F7F7F7"/>
            </a:solidFill>
          </p:spPr>
          <p:txBody>
            <a:bodyPr wrap="square" lIns="0" tIns="0" rIns="0" bIns="0" rtlCol="0"/>
            <a:lstStyle/>
            <a:p>
              <a:endParaRPr/>
            </a:p>
          </p:txBody>
        </p:sp>
        <p:sp>
          <p:nvSpPr>
            <p:cNvPr id="9" name="object 9"/>
            <p:cNvSpPr/>
            <p:nvPr/>
          </p:nvSpPr>
          <p:spPr>
            <a:xfrm>
              <a:off x="1644628" y="737160"/>
              <a:ext cx="1305560" cy="1287780"/>
            </a:xfrm>
            <a:custGeom>
              <a:avLst/>
              <a:gdLst/>
              <a:ahLst/>
              <a:cxnLst/>
              <a:rect l="l" t="t" r="r" b="b"/>
              <a:pathLst>
                <a:path w="1305560" h="1287780">
                  <a:moveTo>
                    <a:pt x="1279687" y="0"/>
                  </a:moveTo>
                  <a:lnTo>
                    <a:pt x="25305" y="0"/>
                  </a:lnTo>
                  <a:lnTo>
                    <a:pt x="15455" y="1988"/>
                  </a:lnTo>
                  <a:lnTo>
                    <a:pt x="7411" y="7411"/>
                  </a:lnTo>
                  <a:lnTo>
                    <a:pt x="1988" y="15455"/>
                  </a:lnTo>
                  <a:lnTo>
                    <a:pt x="0" y="25305"/>
                  </a:lnTo>
                  <a:lnTo>
                    <a:pt x="0" y="1262152"/>
                  </a:lnTo>
                  <a:lnTo>
                    <a:pt x="1988" y="1272002"/>
                  </a:lnTo>
                  <a:lnTo>
                    <a:pt x="7411" y="1280046"/>
                  </a:lnTo>
                  <a:lnTo>
                    <a:pt x="15455" y="1285469"/>
                  </a:lnTo>
                  <a:lnTo>
                    <a:pt x="25305" y="1287457"/>
                  </a:lnTo>
                  <a:lnTo>
                    <a:pt x="1279687" y="1287457"/>
                  </a:lnTo>
                  <a:lnTo>
                    <a:pt x="1289537" y="1285469"/>
                  </a:lnTo>
                  <a:lnTo>
                    <a:pt x="1297580" y="1280046"/>
                  </a:lnTo>
                  <a:lnTo>
                    <a:pt x="1303003" y="1272002"/>
                  </a:lnTo>
                  <a:lnTo>
                    <a:pt x="1304992" y="1262152"/>
                  </a:lnTo>
                  <a:lnTo>
                    <a:pt x="1304992" y="25305"/>
                  </a:lnTo>
                  <a:lnTo>
                    <a:pt x="1303003" y="15455"/>
                  </a:lnTo>
                  <a:lnTo>
                    <a:pt x="1297580" y="7411"/>
                  </a:lnTo>
                  <a:lnTo>
                    <a:pt x="1289537" y="1988"/>
                  </a:lnTo>
                  <a:lnTo>
                    <a:pt x="1279687" y="0"/>
                  </a:lnTo>
                  <a:close/>
                </a:path>
              </a:pathLst>
            </a:custGeom>
            <a:ln w="5060">
              <a:solidFill>
                <a:srgbClr val="B2B2B2"/>
              </a:solidFill>
            </a:ln>
          </p:spPr>
          <p:txBody>
            <a:bodyPr wrap="square" lIns="0" tIns="0" rIns="0" bIns="0" rtlCol="0"/>
            <a:lstStyle/>
            <a:p>
              <a:endParaRPr/>
            </a:p>
          </p:txBody>
        </p:sp>
      </p:grpSp>
      <p:sp>
        <p:nvSpPr>
          <p:cNvPr id="10" name="object 10"/>
          <p:cNvSpPr txBox="1"/>
          <p:nvPr/>
        </p:nvSpPr>
        <p:spPr>
          <a:xfrm>
            <a:off x="1719160" y="504227"/>
            <a:ext cx="1156335" cy="224790"/>
          </a:xfrm>
          <a:prstGeom prst="rect">
            <a:avLst/>
          </a:prstGeom>
          <a:solidFill>
            <a:srgbClr val="EFEFEF"/>
          </a:solidFill>
          <a:ln w="5060">
            <a:solidFill>
              <a:srgbClr val="22373A"/>
            </a:solidFill>
          </a:ln>
        </p:spPr>
        <p:txBody>
          <a:bodyPr vert="horz" wrap="square" lIns="0" tIns="32384" rIns="0" bIns="0" rtlCol="0">
            <a:spAutoFit/>
          </a:bodyPr>
          <a:lstStyle/>
          <a:p>
            <a:pPr marL="376555">
              <a:lnSpc>
                <a:spcPct val="100000"/>
              </a:lnSpc>
              <a:spcBef>
                <a:spcPts val="254"/>
              </a:spcBef>
            </a:pPr>
            <a:r>
              <a:rPr sz="800" dirty="0">
                <a:solidFill>
                  <a:srgbClr val="22373A"/>
                </a:solidFill>
                <a:latin typeface="Arial MT"/>
                <a:cs typeface="Arial MT"/>
              </a:rPr>
              <a:t>Raw</a:t>
            </a:r>
            <a:r>
              <a:rPr sz="800" spc="-40" dirty="0">
                <a:solidFill>
                  <a:srgbClr val="22373A"/>
                </a:solidFill>
                <a:latin typeface="Arial MT"/>
                <a:cs typeface="Arial MT"/>
              </a:rPr>
              <a:t> </a:t>
            </a:r>
            <a:r>
              <a:rPr sz="800" spc="-20" dirty="0">
                <a:solidFill>
                  <a:srgbClr val="22373A"/>
                </a:solidFill>
                <a:latin typeface="Arial MT"/>
                <a:cs typeface="Arial MT"/>
              </a:rPr>
              <a:t>logs</a:t>
            </a:r>
            <a:endParaRPr sz="800">
              <a:latin typeface="Arial MT"/>
              <a:cs typeface="Arial MT"/>
            </a:endParaRPr>
          </a:p>
        </p:txBody>
      </p:sp>
      <p:grpSp>
        <p:nvGrpSpPr>
          <p:cNvPr id="11" name="object 11"/>
          <p:cNvGrpSpPr/>
          <p:nvPr/>
        </p:nvGrpSpPr>
        <p:grpSpPr>
          <a:xfrm>
            <a:off x="1716620" y="809151"/>
            <a:ext cx="1161415" cy="1450975"/>
            <a:chOff x="1716620" y="809151"/>
            <a:chExt cx="1161415" cy="1450975"/>
          </a:xfrm>
        </p:grpSpPr>
        <p:sp>
          <p:nvSpPr>
            <p:cNvPr id="12" name="object 12"/>
            <p:cNvSpPr/>
            <p:nvPr/>
          </p:nvSpPr>
          <p:spPr>
            <a:xfrm>
              <a:off x="1719160" y="811691"/>
              <a:ext cx="1156335" cy="216535"/>
            </a:xfrm>
            <a:custGeom>
              <a:avLst/>
              <a:gdLst/>
              <a:ahLst/>
              <a:cxnLst/>
              <a:rect l="l" t="t" r="r" b="b"/>
              <a:pathLst>
                <a:path w="1156335" h="216534">
                  <a:moveTo>
                    <a:pt x="1130624" y="0"/>
                  </a:moveTo>
                  <a:lnTo>
                    <a:pt x="25305" y="0"/>
                  </a:lnTo>
                  <a:lnTo>
                    <a:pt x="15455" y="1988"/>
                  </a:lnTo>
                  <a:lnTo>
                    <a:pt x="7411" y="7411"/>
                  </a:lnTo>
                  <a:lnTo>
                    <a:pt x="1988" y="15455"/>
                  </a:lnTo>
                  <a:lnTo>
                    <a:pt x="0" y="25305"/>
                  </a:lnTo>
                  <a:lnTo>
                    <a:pt x="0" y="190696"/>
                  </a:lnTo>
                  <a:lnTo>
                    <a:pt x="1988" y="200546"/>
                  </a:lnTo>
                  <a:lnTo>
                    <a:pt x="7411" y="208590"/>
                  </a:lnTo>
                  <a:lnTo>
                    <a:pt x="15455" y="214013"/>
                  </a:lnTo>
                  <a:lnTo>
                    <a:pt x="25305" y="216002"/>
                  </a:lnTo>
                  <a:lnTo>
                    <a:pt x="1130624" y="216002"/>
                  </a:lnTo>
                  <a:lnTo>
                    <a:pt x="1140474" y="214013"/>
                  </a:lnTo>
                  <a:lnTo>
                    <a:pt x="1148518" y="208590"/>
                  </a:lnTo>
                  <a:lnTo>
                    <a:pt x="1153941" y="200546"/>
                  </a:lnTo>
                  <a:lnTo>
                    <a:pt x="1155929" y="190696"/>
                  </a:lnTo>
                  <a:lnTo>
                    <a:pt x="1155929" y="25305"/>
                  </a:lnTo>
                  <a:lnTo>
                    <a:pt x="1153941" y="15455"/>
                  </a:lnTo>
                  <a:lnTo>
                    <a:pt x="1148518" y="7411"/>
                  </a:lnTo>
                  <a:lnTo>
                    <a:pt x="1140474" y="1988"/>
                  </a:lnTo>
                  <a:lnTo>
                    <a:pt x="1130624" y="0"/>
                  </a:lnTo>
                  <a:close/>
                </a:path>
              </a:pathLst>
            </a:custGeom>
            <a:solidFill>
              <a:srgbClr val="FFFFFF"/>
            </a:solidFill>
          </p:spPr>
          <p:txBody>
            <a:bodyPr wrap="square" lIns="0" tIns="0" rIns="0" bIns="0" rtlCol="0"/>
            <a:lstStyle/>
            <a:p>
              <a:endParaRPr/>
            </a:p>
          </p:txBody>
        </p:sp>
        <p:sp>
          <p:nvSpPr>
            <p:cNvPr id="13" name="object 13"/>
            <p:cNvSpPr/>
            <p:nvPr/>
          </p:nvSpPr>
          <p:spPr>
            <a:xfrm>
              <a:off x="1719160" y="811691"/>
              <a:ext cx="1156335" cy="216535"/>
            </a:xfrm>
            <a:custGeom>
              <a:avLst/>
              <a:gdLst/>
              <a:ahLst/>
              <a:cxnLst/>
              <a:rect l="l" t="t" r="r" b="b"/>
              <a:pathLst>
                <a:path w="1156335" h="216534">
                  <a:moveTo>
                    <a:pt x="1130624" y="0"/>
                  </a:moveTo>
                  <a:lnTo>
                    <a:pt x="25305" y="0"/>
                  </a:lnTo>
                  <a:lnTo>
                    <a:pt x="15455" y="1988"/>
                  </a:lnTo>
                  <a:lnTo>
                    <a:pt x="7411" y="7411"/>
                  </a:lnTo>
                  <a:lnTo>
                    <a:pt x="1988" y="15455"/>
                  </a:lnTo>
                  <a:lnTo>
                    <a:pt x="0" y="25305"/>
                  </a:lnTo>
                  <a:lnTo>
                    <a:pt x="0" y="190696"/>
                  </a:lnTo>
                  <a:lnTo>
                    <a:pt x="1988" y="200546"/>
                  </a:lnTo>
                  <a:lnTo>
                    <a:pt x="7411" y="208590"/>
                  </a:lnTo>
                  <a:lnTo>
                    <a:pt x="15455" y="214013"/>
                  </a:lnTo>
                  <a:lnTo>
                    <a:pt x="25305" y="216002"/>
                  </a:lnTo>
                  <a:lnTo>
                    <a:pt x="1130624" y="216002"/>
                  </a:lnTo>
                  <a:lnTo>
                    <a:pt x="1140474" y="214013"/>
                  </a:lnTo>
                  <a:lnTo>
                    <a:pt x="1148518" y="208590"/>
                  </a:lnTo>
                  <a:lnTo>
                    <a:pt x="1153941" y="200546"/>
                  </a:lnTo>
                  <a:lnTo>
                    <a:pt x="1155929" y="190696"/>
                  </a:lnTo>
                  <a:lnTo>
                    <a:pt x="1155929" y="25305"/>
                  </a:lnTo>
                  <a:lnTo>
                    <a:pt x="1153941" y="15455"/>
                  </a:lnTo>
                  <a:lnTo>
                    <a:pt x="1148518" y="7411"/>
                  </a:lnTo>
                  <a:lnTo>
                    <a:pt x="1140474" y="1988"/>
                  </a:lnTo>
                  <a:lnTo>
                    <a:pt x="1130624" y="0"/>
                  </a:lnTo>
                  <a:close/>
                </a:path>
              </a:pathLst>
            </a:custGeom>
            <a:ln w="5060">
              <a:solidFill>
                <a:srgbClr val="22373A"/>
              </a:solidFill>
            </a:ln>
          </p:spPr>
          <p:txBody>
            <a:bodyPr wrap="square" lIns="0" tIns="0" rIns="0" bIns="0" rtlCol="0"/>
            <a:lstStyle/>
            <a:p>
              <a:endParaRPr/>
            </a:p>
          </p:txBody>
        </p:sp>
        <p:sp>
          <p:nvSpPr>
            <p:cNvPr id="14" name="object 14"/>
            <p:cNvSpPr/>
            <p:nvPr/>
          </p:nvSpPr>
          <p:spPr>
            <a:xfrm>
              <a:off x="1719160" y="1119156"/>
              <a:ext cx="1156335" cy="216535"/>
            </a:xfrm>
            <a:custGeom>
              <a:avLst/>
              <a:gdLst/>
              <a:ahLst/>
              <a:cxnLst/>
              <a:rect l="l" t="t" r="r" b="b"/>
              <a:pathLst>
                <a:path w="1156335" h="216534">
                  <a:moveTo>
                    <a:pt x="1130624" y="0"/>
                  </a:moveTo>
                  <a:lnTo>
                    <a:pt x="25305" y="0"/>
                  </a:lnTo>
                  <a:lnTo>
                    <a:pt x="15455" y="1988"/>
                  </a:lnTo>
                  <a:lnTo>
                    <a:pt x="7411" y="7411"/>
                  </a:lnTo>
                  <a:lnTo>
                    <a:pt x="1988" y="15455"/>
                  </a:lnTo>
                  <a:lnTo>
                    <a:pt x="0" y="25305"/>
                  </a:lnTo>
                  <a:lnTo>
                    <a:pt x="0" y="190696"/>
                  </a:lnTo>
                  <a:lnTo>
                    <a:pt x="1988" y="200547"/>
                  </a:lnTo>
                  <a:lnTo>
                    <a:pt x="7411" y="208590"/>
                  </a:lnTo>
                  <a:lnTo>
                    <a:pt x="15455" y="214013"/>
                  </a:lnTo>
                  <a:lnTo>
                    <a:pt x="25305" y="216002"/>
                  </a:lnTo>
                  <a:lnTo>
                    <a:pt x="1130624" y="216002"/>
                  </a:lnTo>
                  <a:lnTo>
                    <a:pt x="1140474" y="214013"/>
                  </a:lnTo>
                  <a:lnTo>
                    <a:pt x="1148518" y="208590"/>
                  </a:lnTo>
                  <a:lnTo>
                    <a:pt x="1153941" y="200547"/>
                  </a:lnTo>
                  <a:lnTo>
                    <a:pt x="1155929" y="190696"/>
                  </a:lnTo>
                  <a:lnTo>
                    <a:pt x="1155929" y="25305"/>
                  </a:lnTo>
                  <a:lnTo>
                    <a:pt x="1153941" y="15455"/>
                  </a:lnTo>
                  <a:lnTo>
                    <a:pt x="1148518" y="7411"/>
                  </a:lnTo>
                  <a:lnTo>
                    <a:pt x="1140474" y="1988"/>
                  </a:lnTo>
                  <a:lnTo>
                    <a:pt x="1130624" y="0"/>
                  </a:lnTo>
                  <a:close/>
                </a:path>
              </a:pathLst>
            </a:custGeom>
            <a:solidFill>
              <a:srgbClr val="FFFFFF"/>
            </a:solidFill>
          </p:spPr>
          <p:txBody>
            <a:bodyPr wrap="square" lIns="0" tIns="0" rIns="0" bIns="0" rtlCol="0"/>
            <a:lstStyle/>
            <a:p>
              <a:endParaRPr/>
            </a:p>
          </p:txBody>
        </p:sp>
        <p:sp>
          <p:nvSpPr>
            <p:cNvPr id="15" name="object 15"/>
            <p:cNvSpPr/>
            <p:nvPr/>
          </p:nvSpPr>
          <p:spPr>
            <a:xfrm>
              <a:off x="1719160" y="1119156"/>
              <a:ext cx="1156335" cy="216535"/>
            </a:xfrm>
            <a:custGeom>
              <a:avLst/>
              <a:gdLst/>
              <a:ahLst/>
              <a:cxnLst/>
              <a:rect l="l" t="t" r="r" b="b"/>
              <a:pathLst>
                <a:path w="1156335" h="216534">
                  <a:moveTo>
                    <a:pt x="1130624" y="0"/>
                  </a:moveTo>
                  <a:lnTo>
                    <a:pt x="25305" y="0"/>
                  </a:lnTo>
                  <a:lnTo>
                    <a:pt x="15455" y="1988"/>
                  </a:lnTo>
                  <a:lnTo>
                    <a:pt x="7411" y="7411"/>
                  </a:lnTo>
                  <a:lnTo>
                    <a:pt x="1988" y="15455"/>
                  </a:lnTo>
                  <a:lnTo>
                    <a:pt x="0" y="25305"/>
                  </a:lnTo>
                  <a:lnTo>
                    <a:pt x="0" y="190696"/>
                  </a:lnTo>
                  <a:lnTo>
                    <a:pt x="1988" y="200547"/>
                  </a:lnTo>
                  <a:lnTo>
                    <a:pt x="7411" y="208590"/>
                  </a:lnTo>
                  <a:lnTo>
                    <a:pt x="15455" y="214013"/>
                  </a:lnTo>
                  <a:lnTo>
                    <a:pt x="25305" y="216002"/>
                  </a:lnTo>
                  <a:lnTo>
                    <a:pt x="1130624" y="216002"/>
                  </a:lnTo>
                  <a:lnTo>
                    <a:pt x="1140474" y="214013"/>
                  </a:lnTo>
                  <a:lnTo>
                    <a:pt x="1148518" y="208590"/>
                  </a:lnTo>
                  <a:lnTo>
                    <a:pt x="1153941" y="200547"/>
                  </a:lnTo>
                  <a:lnTo>
                    <a:pt x="1155929" y="190696"/>
                  </a:lnTo>
                  <a:lnTo>
                    <a:pt x="1155929" y="25305"/>
                  </a:lnTo>
                  <a:lnTo>
                    <a:pt x="1153941" y="15455"/>
                  </a:lnTo>
                  <a:lnTo>
                    <a:pt x="1148518" y="7411"/>
                  </a:lnTo>
                  <a:lnTo>
                    <a:pt x="1140474" y="1988"/>
                  </a:lnTo>
                  <a:lnTo>
                    <a:pt x="1130624" y="0"/>
                  </a:lnTo>
                  <a:close/>
                </a:path>
              </a:pathLst>
            </a:custGeom>
            <a:ln w="5060">
              <a:solidFill>
                <a:srgbClr val="22373A"/>
              </a:solidFill>
            </a:ln>
          </p:spPr>
          <p:txBody>
            <a:bodyPr wrap="square" lIns="0" tIns="0" rIns="0" bIns="0" rtlCol="0"/>
            <a:lstStyle/>
            <a:p>
              <a:endParaRPr/>
            </a:p>
          </p:txBody>
        </p:sp>
        <p:sp>
          <p:nvSpPr>
            <p:cNvPr id="16" name="object 16"/>
            <p:cNvSpPr/>
            <p:nvPr/>
          </p:nvSpPr>
          <p:spPr>
            <a:xfrm>
              <a:off x="1719160" y="1426620"/>
              <a:ext cx="1156335" cy="216535"/>
            </a:xfrm>
            <a:custGeom>
              <a:avLst/>
              <a:gdLst/>
              <a:ahLst/>
              <a:cxnLst/>
              <a:rect l="l" t="t" r="r" b="b"/>
              <a:pathLst>
                <a:path w="1156335" h="216535">
                  <a:moveTo>
                    <a:pt x="1130624" y="0"/>
                  </a:moveTo>
                  <a:lnTo>
                    <a:pt x="25305" y="0"/>
                  </a:lnTo>
                  <a:lnTo>
                    <a:pt x="15455" y="1988"/>
                  </a:lnTo>
                  <a:lnTo>
                    <a:pt x="7411" y="7411"/>
                  </a:lnTo>
                  <a:lnTo>
                    <a:pt x="1988" y="15455"/>
                  </a:lnTo>
                  <a:lnTo>
                    <a:pt x="0" y="25305"/>
                  </a:lnTo>
                  <a:lnTo>
                    <a:pt x="0" y="190697"/>
                  </a:lnTo>
                  <a:lnTo>
                    <a:pt x="1988" y="200547"/>
                  </a:lnTo>
                  <a:lnTo>
                    <a:pt x="7411" y="208590"/>
                  </a:lnTo>
                  <a:lnTo>
                    <a:pt x="15455" y="214013"/>
                  </a:lnTo>
                  <a:lnTo>
                    <a:pt x="25305" y="216002"/>
                  </a:lnTo>
                  <a:lnTo>
                    <a:pt x="1130624" y="216002"/>
                  </a:lnTo>
                  <a:lnTo>
                    <a:pt x="1140474" y="214013"/>
                  </a:lnTo>
                  <a:lnTo>
                    <a:pt x="1148518" y="208590"/>
                  </a:lnTo>
                  <a:lnTo>
                    <a:pt x="1153941" y="200547"/>
                  </a:lnTo>
                  <a:lnTo>
                    <a:pt x="1155929" y="190697"/>
                  </a:lnTo>
                  <a:lnTo>
                    <a:pt x="1155929" y="25305"/>
                  </a:lnTo>
                  <a:lnTo>
                    <a:pt x="1153941" y="15455"/>
                  </a:lnTo>
                  <a:lnTo>
                    <a:pt x="1148518" y="7411"/>
                  </a:lnTo>
                  <a:lnTo>
                    <a:pt x="1140474" y="1988"/>
                  </a:lnTo>
                  <a:lnTo>
                    <a:pt x="1130624" y="0"/>
                  </a:lnTo>
                  <a:close/>
                </a:path>
              </a:pathLst>
            </a:custGeom>
            <a:solidFill>
              <a:srgbClr val="FFFFFF"/>
            </a:solidFill>
          </p:spPr>
          <p:txBody>
            <a:bodyPr wrap="square" lIns="0" tIns="0" rIns="0" bIns="0" rtlCol="0"/>
            <a:lstStyle/>
            <a:p>
              <a:endParaRPr/>
            </a:p>
          </p:txBody>
        </p:sp>
        <p:sp>
          <p:nvSpPr>
            <p:cNvPr id="17" name="object 17"/>
            <p:cNvSpPr/>
            <p:nvPr/>
          </p:nvSpPr>
          <p:spPr>
            <a:xfrm>
              <a:off x="1719160" y="1426620"/>
              <a:ext cx="1156335" cy="216535"/>
            </a:xfrm>
            <a:custGeom>
              <a:avLst/>
              <a:gdLst/>
              <a:ahLst/>
              <a:cxnLst/>
              <a:rect l="l" t="t" r="r" b="b"/>
              <a:pathLst>
                <a:path w="1156335" h="216535">
                  <a:moveTo>
                    <a:pt x="1130624" y="0"/>
                  </a:moveTo>
                  <a:lnTo>
                    <a:pt x="25305" y="0"/>
                  </a:lnTo>
                  <a:lnTo>
                    <a:pt x="15455" y="1988"/>
                  </a:lnTo>
                  <a:lnTo>
                    <a:pt x="7411" y="7411"/>
                  </a:lnTo>
                  <a:lnTo>
                    <a:pt x="1988" y="15455"/>
                  </a:lnTo>
                  <a:lnTo>
                    <a:pt x="0" y="25305"/>
                  </a:lnTo>
                  <a:lnTo>
                    <a:pt x="0" y="190697"/>
                  </a:lnTo>
                  <a:lnTo>
                    <a:pt x="1988" y="200547"/>
                  </a:lnTo>
                  <a:lnTo>
                    <a:pt x="7411" y="208590"/>
                  </a:lnTo>
                  <a:lnTo>
                    <a:pt x="15455" y="214013"/>
                  </a:lnTo>
                  <a:lnTo>
                    <a:pt x="25305" y="216002"/>
                  </a:lnTo>
                  <a:lnTo>
                    <a:pt x="1130624" y="216002"/>
                  </a:lnTo>
                  <a:lnTo>
                    <a:pt x="1140474" y="214013"/>
                  </a:lnTo>
                  <a:lnTo>
                    <a:pt x="1148518" y="208590"/>
                  </a:lnTo>
                  <a:lnTo>
                    <a:pt x="1153941" y="200547"/>
                  </a:lnTo>
                  <a:lnTo>
                    <a:pt x="1155929" y="190697"/>
                  </a:lnTo>
                  <a:lnTo>
                    <a:pt x="1155929" y="25305"/>
                  </a:lnTo>
                  <a:lnTo>
                    <a:pt x="1153941" y="15455"/>
                  </a:lnTo>
                  <a:lnTo>
                    <a:pt x="1148518" y="7411"/>
                  </a:lnTo>
                  <a:lnTo>
                    <a:pt x="1140474" y="1988"/>
                  </a:lnTo>
                  <a:lnTo>
                    <a:pt x="1130624" y="0"/>
                  </a:lnTo>
                  <a:close/>
                </a:path>
              </a:pathLst>
            </a:custGeom>
            <a:ln w="5060">
              <a:solidFill>
                <a:srgbClr val="22373A"/>
              </a:solidFill>
            </a:ln>
          </p:spPr>
          <p:txBody>
            <a:bodyPr wrap="square" lIns="0" tIns="0" rIns="0" bIns="0" rtlCol="0"/>
            <a:lstStyle/>
            <a:p>
              <a:endParaRPr/>
            </a:p>
          </p:txBody>
        </p:sp>
        <p:sp>
          <p:nvSpPr>
            <p:cNvPr id="18" name="object 18"/>
            <p:cNvSpPr/>
            <p:nvPr/>
          </p:nvSpPr>
          <p:spPr>
            <a:xfrm>
              <a:off x="1719160" y="1734084"/>
              <a:ext cx="1156335" cy="216535"/>
            </a:xfrm>
            <a:custGeom>
              <a:avLst/>
              <a:gdLst/>
              <a:ahLst/>
              <a:cxnLst/>
              <a:rect l="l" t="t" r="r" b="b"/>
              <a:pathLst>
                <a:path w="1156335" h="216535">
                  <a:moveTo>
                    <a:pt x="1130624" y="0"/>
                  </a:moveTo>
                  <a:lnTo>
                    <a:pt x="25305" y="0"/>
                  </a:lnTo>
                  <a:lnTo>
                    <a:pt x="15455" y="1988"/>
                  </a:lnTo>
                  <a:lnTo>
                    <a:pt x="7411" y="7411"/>
                  </a:lnTo>
                  <a:lnTo>
                    <a:pt x="1988" y="15455"/>
                  </a:lnTo>
                  <a:lnTo>
                    <a:pt x="0" y="25305"/>
                  </a:lnTo>
                  <a:lnTo>
                    <a:pt x="0" y="190697"/>
                  </a:lnTo>
                  <a:lnTo>
                    <a:pt x="1988" y="200547"/>
                  </a:lnTo>
                  <a:lnTo>
                    <a:pt x="7411" y="208590"/>
                  </a:lnTo>
                  <a:lnTo>
                    <a:pt x="15455" y="214014"/>
                  </a:lnTo>
                  <a:lnTo>
                    <a:pt x="25305" y="216002"/>
                  </a:lnTo>
                  <a:lnTo>
                    <a:pt x="1130624" y="216002"/>
                  </a:lnTo>
                  <a:lnTo>
                    <a:pt x="1140474" y="214014"/>
                  </a:lnTo>
                  <a:lnTo>
                    <a:pt x="1148518" y="208590"/>
                  </a:lnTo>
                  <a:lnTo>
                    <a:pt x="1153941" y="200547"/>
                  </a:lnTo>
                  <a:lnTo>
                    <a:pt x="1155929" y="190697"/>
                  </a:lnTo>
                  <a:lnTo>
                    <a:pt x="1155929" y="25305"/>
                  </a:lnTo>
                  <a:lnTo>
                    <a:pt x="1153941" y="15455"/>
                  </a:lnTo>
                  <a:lnTo>
                    <a:pt x="1148518" y="7411"/>
                  </a:lnTo>
                  <a:lnTo>
                    <a:pt x="1140474" y="1988"/>
                  </a:lnTo>
                  <a:lnTo>
                    <a:pt x="1130624" y="0"/>
                  </a:lnTo>
                  <a:close/>
                </a:path>
              </a:pathLst>
            </a:custGeom>
            <a:solidFill>
              <a:srgbClr val="FFFFFF"/>
            </a:solidFill>
          </p:spPr>
          <p:txBody>
            <a:bodyPr wrap="square" lIns="0" tIns="0" rIns="0" bIns="0" rtlCol="0"/>
            <a:lstStyle/>
            <a:p>
              <a:endParaRPr/>
            </a:p>
          </p:txBody>
        </p:sp>
        <p:sp>
          <p:nvSpPr>
            <p:cNvPr id="19" name="object 19"/>
            <p:cNvSpPr/>
            <p:nvPr/>
          </p:nvSpPr>
          <p:spPr>
            <a:xfrm>
              <a:off x="1719160" y="1734084"/>
              <a:ext cx="1156335" cy="216535"/>
            </a:xfrm>
            <a:custGeom>
              <a:avLst/>
              <a:gdLst/>
              <a:ahLst/>
              <a:cxnLst/>
              <a:rect l="l" t="t" r="r" b="b"/>
              <a:pathLst>
                <a:path w="1156335" h="216535">
                  <a:moveTo>
                    <a:pt x="1130624" y="0"/>
                  </a:moveTo>
                  <a:lnTo>
                    <a:pt x="25305" y="0"/>
                  </a:lnTo>
                  <a:lnTo>
                    <a:pt x="15455" y="1988"/>
                  </a:lnTo>
                  <a:lnTo>
                    <a:pt x="7411" y="7411"/>
                  </a:lnTo>
                  <a:lnTo>
                    <a:pt x="1988" y="15455"/>
                  </a:lnTo>
                  <a:lnTo>
                    <a:pt x="0" y="25305"/>
                  </a:lnTo>
                  <a:lnTo>
                    <a:pt x="0" y="190697"/>
                  </a:lnTo>
                  <a:lnTo>
                    <a:pt x="1988" y="200547"/>
                  </a:lnTo>
                  <a:lnTo>
                    <a:pt x="7411" y="208590"/>
                  </a:lnTo>
                  <a:lnTo>
                    <a:pt x="15455" y="214014"/>
                  </a:lnTo>
                  <a:lnTo>
                    <a:pt x="25305" y="216002"/>
                  </a:lnTo>
                  <a:lnTo>
                    <a:pt x="1130624" y="216002"/>
                  </a:lnTo>
                  <a:lnTo>
                    <a:pt x="1140474" y="214014"/>
                  </a:lnTo>
                  <a:lnTo>
                    <a:pt x="1148518" y="208590"/>
                  </a:lnTo>
                  <a:lnTo>
                    <a:pt x="1153941" y="200547"/>
                  </a:lnTo>
                  <a:lnTo>
                    <a:pt x="1155929" y="190697"/>
                  </a:lnTo>
                  <a:lnTo>
                    <a:pt x="1155929" y="25305"/>
                  </a:lnTo>
                  <a:lnTo>
                    <a:pt x="1153941" y="15455"/>
                  </a:lnTo>
                  <a:lnTo>
                    <a:pt x="1148518" y="7411"/>
                  </a:lnTo>
                  <a:lnTo>
                    <a:pt x="1140474" y="1988"/>
                  </a:lnTo>
                  <a:lnTo>
                    <a:pt x="1130624" y="0"/>
                  </a:lnTo>
                  <a:close/>
                </a:path>
              </a:pathLst>
            </a:custGeom>
            <a:ln w="5060">
              <a:solidFill>
                <a:srgbClr val="22373A"/>
              </a:solidFill>
            </a:ln>
          </p:spPr>
          <p:txBody>
            <a:bodyPr wrap="square" lIns="0" tIns="0" rIns="0" bIns="0" rtlCol="0"/>
            <a:lstStyle/>
            <a:p>
              <a:endParaRPr/>
            </a:p>
          </p:txBody>
        </p:sp>
        <p:sp>
          <p:nvSpPr>
            <p:cNvPr id="20" name="object 20"/>
            <p:cNvSpPr/>
            <p:nvPr/>
          </p:nvSpPr>
          <p:spPr>
            <a:xfrm>
              <a:off x="1719160" y="2041549"/>
              <a:ext cx="1156335" cy="216535"/>
            </a:xfrm>
            <a:custGeom>
              <a:avLst/>
              <a:gdLst/>
              <a:ahLst/>
              <a:cxnLst/>
              <a:rect l="l" t="t" r="r" b="b"/>
              <a:pathLst>
                <a:path w="1156335" h="216535">
                  <a:moveTo>
                    <a:pt x="1130624" y="0"/>
                  </a:moveTo>
                  <a:lnTo>
                    <a:pt x="25305" y="0"/>
                  </a:lnTo>
                  <a:lnTo>
                    <a:pt x="15455" y="1988"/>
                  </a:lnTo>
                  <a:lnTo>
                    <a:pt x="7411" y="7411"/>
                  </a:lnTo>
                  <a:lnTo>
                    <a:pt x="1988" y="15455"/>
                  </a:lnTo>
                  <a:lnTo>
                    <a:pt x="0" y="25305"/>
                  </a:lnTo>
                  <a:lnTo>
                    <a:pt x="0" y="190696"/>
                  </a:lnTo>
                  <a:lnTo>
                    <a:pt x="1988" y="200547"/>
                  </a:lnTo>
                  <a:lnTo>
                    <a:pt x="7411" y="208590"/>
                  </a:lnTo>
                  <a:lnTo>
                    <a:pt x="15455" y="214013"/>
                  </a:lnTo>
                  <a:lnTo>
                    <a:pt x="25305" y="216002"/>
                  </a:lnTo>
                  <a:lnTo>
                    <a:pt x="1130624" y="216002"/>
                  </a:lnTo>
                  <a:lnTo>
                    <a:pt x="1140474" y="214013"/>
                  </a:lnTo>
                  <a:lnTo>
                    <a:pt x="1148518" y="208590"/>
                  </a:lnTo>
                  <a:lnTo>
                    <a:pt x="1153941" y="200547"/>
                  </a:lnTo>
                  <a:lnTo>
                    <a:pt x="1155929" y="190696"/>
                  </a:lnTo>
                  <a:lnTo>
                    <a:pt x="1155929" y="25305"/>
                  </a:lnTo>
                  <a:lnTo>
                    <a:pt x="1153941" y="15455"/>
                  </a:lnTo>
                  <a:lnTo>
                    <a:pt x="1148518" y="7411"/>
                  </a:lnTo>
                  <a:lnTo>
                    <a:pt x="1140474" y="1988"/>
                  </a:lnTo>
                  <a:lnTo>
                    <a:pt x="1130624" y="0"/>
                  </a:lnTo>
                  <a:close/>
                </a:path>
              </a:pathLst>
            </a:custGeom>
            <a:solidFill>
              <a:srgbClr val="FFFFFF"/>
            </a:solidFill>
          </p:spPr>
          <p:txBody>
            <a:bodyPr wrap="square" lIns="0" tIns="0" rIns="0" bIns="0" rtlCol="0"/>
            <a:lstStyle/>
            <a:p>
              <a:endParaRPr/>
            </a:p>
          </p:txBody>
        </p:sp>
        <p:sp>
          <p:nvSpPr>
            <p:cNvPr id="21" name="object 21"/>
            <p:cNvSpPr/>
            <p:nvPr/>
          </p:nvSpPr>
          <p:spPr>
            <a:xfrm>
              <a:off x="1719160" y="2041549"/>
              <a:ext cx="1156335" cy="216535"/>
            </a:xfrm>
            <a:custGeom>
              <a:avLst/>
              <a:gdLst/>
              <a:ahLst/>
              <a:cxnLst/>
              <a:rect l="l" t="t" r="r" b="b"/>
              <a:pathLst>
                <a:path w="1156335" h="216535">
                  <a:moveTo>
                    <a:pt x="1130624" y="0"/>
                  </a:moveTo>
                  <a:lnTo>
                    <a:pt x="25305" y="0"/>
                  </a:lnTo>
                  <a:lnTo>
                    <a:pt x="15455" y="1988"/>
                  </a:lnTo>
                  <a:lnTo>
                    <a:pt x="7411" y="7411"/>
                  </a:lnTo>
                  <a:lnTo>
                    <a:pt x="1988" y="15455"/>
                  </a:lnTo>
                  <a:lnTo>
                    <a:pt x="0" y="25305"/>
                  </a:lnTo>
                  <a:lnTo>
                    <a:pt x="0" y="190696"/>
                  </a:lnTo>
                  <a:lnTo>
                    <a:pt x="1988" y="200547"/>
                  </a:lnTo>
                  <a:lnTo>
                    <a:pt x="7411" y="208590"/>
                  </a:lnTo>
                  <a:lnTo>
                    <a:pt x="15455" y="214013"/>
                  </a:lnTo>
                  <a:lnTo>
                    <a:pt x="25305" y="216002"/>
                  </a:lnTo>
                  <a:lnTo>
                    <a:pt x="1130624" y="216002"/>
                  </a:lnTo>
                  <a:lnTo>
                    <a:pt x="1140474" y="214013"/>
                  </a:lnTo>
                  <a:lnTo>
                    <a:pt x="1148518" y="208590"/>
                  </a:lnTo>
                  <a:lnTo>
                    <a:pt x="1153941" y="200547"/>
                  </a:lnTo>
                  <a:lnTo>
                    <a:pt x="1155929" y="190696"/>
                  </a:lnTo>
                  <a:lnTo>
                    <a:pt x="1155929" y="25305"/>
                  </a:lnTo>
                  <a:lnTo>
                    <a:pt x="1153941" y="15455"/>
                  </a:lnTo>
                  <a:lnTo>
                    <a:pt x="1148518" y="7411"/>
                  </a:lnTo>
                  <a:lnTo>
                    <a:pt x="1140474" y="1988"/>
                  </a:lnTo>
                  <a:lnTo>
                    <a:pt x="1130624" y="0"/>
                  </a:lnTo>
                  <a:close/>
                </a:path>
              </a:pathLst>
            </a:custGeom>
            <a:ln w="5060">
              <a:solidFill>
                <a:srgbClr val="22373A"/>
              </a:solidFill>
            </a:ln>
          </p:spPr>
          <p:txBody>
            <a:bodyPr wrap="square" lIns="0" tIns="0" rIns="0" bIns="0" rtlCol="0"/>
            <a:lstStyle/>
            <a:p>
              <a:endParaRPr/>
            </a:p>
          </p:txBody>
        </p:sp>
      </p:grpSp>
      <p:sp>
        <p:nvSpPr>
          <p:cNvPr id="22" name="object 22"/>
          <p:cNvSpPr txBox="1"/>
          <p:nvPr/>
        </p:nvSpPr>
        <p:spPr>
          <a:xfrm>
            <a:off x="1722684" y="841932"/>
            <a:ext cx="1149350" cy="1367155"/>
          </a:xfrm>
          <a:prstGeom prst="rect">
            <a:avLst/>
          </a:prstGeom>
        </p:spPr>
        <p:txBody>
          <a:bodyPr vert="horz" wrap="square" lIns="0" tIns="12065" rIns="0" bIns="0" rtlCol="0">
            <a:spAutoFit/>
          </a:bodyPr>
          <a:lstStyle/>
          <a:p>
            <a:pPr marL="93345" indent="-93345" algn="ctr">
              <a:lnSpc>
                <a:spcPct val="100000"/>
              </a:lnSpc>
              <a:spcBef>
                <a:spcPts val="95"/>
              </a:spcBef>
              <a:buFont typeface="Microsoft Tai Le"/>
              <a:buAutoNum type="arabicPlain"/>
              <a:tabLst>
                <a:tab pos="93345" algn="l"/>
              </a:tabLst>
            </a:pPr>
            <a:r>
              <a:rPr sz="800" dirty="0">
                <a:solidFill>
                  <a:srgbClr val="22373A"/>
                </a:solidFill>
                <a:latin typeface="Arial MT"/>
                <a:cs typeface="Arial MT"/>
              </a:rPr>
              <a:t>Alert</a:t>
            </a:r>
            <a:r>
              <a:rPr sz="800" spc="105" dirty="0">
                <a:solidFill>
                  <a:srgbClr val="22373A"/>
                </a:solidFill>
                <a:latin typeface="Arial MT"/>
                <a:cs typeface="Arial MT"/>
              </a:rPr>
              <a:t> </a:t>
            </a:r>
            <a:r>
              <a:rPr sz="800" i="1" dirty="0">
                <a:solidFill>
                  <a:srgbClr val="22373A"/>
                </a:solidFill>
                <a:latin typeface="Arial"/>
                <a:cs typeface="Arial"/>
              </a:rPr>
              <a:t>→</a:t>
            </a:r>
            <a:r>
              <a:rPr sz="800" i="1" spc="110" dirty="0">
                <a:solidFill>
                  <a:srgbClr val="22373A"/>
                </a:solidFill>
                <a:latin typeface="Arial"/>
                <a:cs typeface="Arial"/>
              </a:rPr>
              <a:t> </a:t>
            </a:r>
            <a:r>
              <a:rPr sz="800" spc="-20" dirty="0">
                <a:solidFill>
                  <a:srgbClr val="22373A"/>
                </a:solidFill>
                <a:latin typeface="Arial MT"/>
                <a:cs typeface="Arial MT"/>
              </a:rPr>
              <a:t>text</a:t>
            </a:r>
            <a:endParaRPr sz="800">
              <a:latin typeface="Arial MT"/>
              <a:cs typeface="Arial MT"/>
            </a:endParaRPr>
          </a:p>
          <a:p>
            <a:pPr>
              <a:lnSpc>
                <a:spcPct val="100000"/>
              </a:lnSpc>
              <a:spcBef>
                <a:spcPts val="465"/>
              </a:spcBef>
              <a:buClr>
                <a:srgbClr val="22373A"/>
              </a:buClr>
              <a:buFont typeface="Microsoft Tai Le"/>
              <a:buAutoNum type="arabicPlain"/>
            </a:pPr>
            <a:endParaRPr sz="800">
              <a:latin typeface="Arial MT"/>
              <a:cs typeface="Arial MT"/>
            </a:endParaRPr>
          </a:p>
          <a:p>
            <a:pPr marL="93345" indent="-93345" algn="ctr">
              <a:lnSpc>
                <a:spcPct val="100000"/>
              </a:lnSpc>
              <a:buFont typeface="Microsoft Tai Le"/>
              <a:buAutoNum type="arabicPlain"/>
              <a:tabLst>
                <a:tab pos="93345" algn="l"/>
              </a:tabLst>
            </a:pPr>
            <a:r>
              <a:rPr sz="800" spc="-10" dirty="0">
                <a:solidFill>
                  <a:srgbClr val="22373A"/>
                </a:solidFill>
                <a:latin typeface="Arial MT"/>
                <a:cs typeface="Arial MT"/>
              </a:rPr>
              <a:t>Embedding</a:t>
            </a:r>
            <a:endParaRPr sz="800">
              <a:latin typeface="Arial MT"/>
              <a:cs typeface="Arial MT"/>
            </a:endParaRPr>
          </a:p>
          <a:p>
            <a:pPr>
              <a:lnSpc>
                <a:spcPct val="100000"/>
              </a:lnSpc>
              <a:spcBef>
                <a:spcPts val="615"/>
              </a:spcBef>
              <a:buClr>
                <a:srgbClr val="22373A"/>
              </a:buClr>
              <a:buFont typeface="Microsoft Tai Le"/>
              <a:buAutoNum type="arabicPlain"/>
            </a:pPr>
            <a:endParaRPr sz="800">
              <a:latin typeface="Arial MT"/>
              <a:cs typeface="Arial MT"/>
            </a:endParaRPr>
          </a:p>
          <a:p>
            <a:pPr marL="93345" indent="-93345" algn="ctr">
              <a:lnSpc>
                <a:spcPct val="100000"/>
              </a:lnSpc>
              <a:spcBef>
                <a:spcPts val="5"/>
              </a:spcBef>
              <a:buFont typeface="Microsoft Tai Le"/>
              <a:buAutoNum type="arabicPlain"/>
              <a:tabLst>
                <a:tab pos="93345" algn="l"/>
              </a:tabLst>
            </a:pPr>
            <a:r>
              <a:rPr sz="800" spc="-10" dirty="0">
                <a:solidFill>
                  <a:srgbClr val="22373A"/>
                </a:solidFill>
                <a:latin typeface="Arial MT"/>
                <a:cs typeface="Arial MT"/>
              </a:rPr>
              <a:t>Communities</a:t>
            </a:r>
            <a:endParaRPr sz="800">
              <a:latin typeface="Arial MT"/>
              <a:cs typeface="Arial MT"/>
            </a:endParaRPr>
          </a:p>
          <a:p>
            <a:pPr>
              <a:lnSpc>
                <a:spcPct val="100000"/>
              </a:lnSpc>
              <a:spcBef>
                <a:spcPts val="450"/>
              </a:spcBef>
              <a:buClr>
                <a:srgbClr val="22373A"/>
              </a:buClr>
              <a:buFont typeface="Microsoft Tai Le"/>
              <a:buAutoNum type="arabicPlain"/>
            </a:pPr>
            <a:endParaRPr sz="800">
              <a:latin typeface="Arial MT"/>
              <a:cs typeface="Arial MT"/>
            </a:endParaRPr>
          </a:p>
          <a:p>
            <a:pPr marL="93345" indent="-93345" algn="ctr">
              <a:lnSpc>
                <a:spcPct val="100000"/>
              </a:lnSpc>
              <a:buFont typeface="Microsoft Tai Le"/>
              <a:buAutoNum type="arabicPlain"/>
              <a:tabLst>
                <a:tab pos="93345" algn="l"/>
              </a:tabLst>
            </a:pPr>
            <a:r>
              <a:rPr sz="800" dirty="0">
                <a:solidFill>
                  <a:srgbClr val="22373A"/>
                </a:solidFill>
                <a:latin typeface="Arial MT"/>
                <a:cs typeface="Arial MT"/>
              </a:rPr>
              <a:t>Triples</a:t>
            </a:r>
            <a:r>
              <a:rPr sz="800" spc="-25" dirty="0">
                <a:solidFill>
                  <a:srgbClr val="22373A"/>
                </a:solidFill>
                <a:latin typeface="Arial MT"/>
                <a:cs typeface="Arial MT"/>
              </a:rPr>
              <a:t> </a:t>
            </a:r>
            <a:r>
              <a:rPr sz="800" spc="-10" dirty="0">
                <a:solidFill>
                  <a:srgbClr val="22373A"/>
                </a:solidFill>
                <a:latin typeface="Arial MT"/>
                <a:cs typeface="Arial MT"/>
              </a:rPr>
              <a:t>(LLM)</a:t>
            </a:r>
            <a:endParaRPr sz="800">
              <a:latin typeface="Arial MT"/>
              <a:cs typeface="Arial MT"/>
            </a:endParaRPr>
          </a:p>
          <a:p>
            <a:pPr>
              <a:lnSpc>
                <a:spcPct val="100000"/>
              </a:lnSpc>
              <a:spcBef>
                <a:spcPts val="550"/>
              </a:spcBef>
              <a:buClr>
                <a:srgbClr val="22373A"/>
              </a:buClr>
              <a:buFont typeface="Microsoft Tai Le"/>
              <a:buAutoNum type="arabicPlain"/>
            </a:pPr>
            <a:endParaRPr sz="800">
              <a:latin typeface="Arial MT"/>
              <a:cs typeface="Arial MT"/>
            </a:endParaRPr>
          </a:p>
          <a:p>
            <a:pPr marL="93345" indent="-93345" algn="ctr">
              <a:lnSpc>
                <a:spcPct val="100000"/>
              </a:lnSpc>
              <a:buFont typeface="Microsoft Tai Le"/>
              <a:buAutoNum type="arabicPlain"/>
              <a:tabLst>
                <a:tab pos="93345" algn="l"/>
              </a:tabLst>
            </a:pPr>
            <a:r>
              <a:rPr sz="800" spc="-20" dirty="0">
                <a:solidFill>
                  <a:srgbClr val="22373A"/>
                </a:solidFill>
                <a:latin typeface="Arial MT"/>
                <a:cs typeface="Arial MT"/>
              </a:rPr>
              <a:t>Knowledge</a:t>
            </a:r>
            <a:r>
              <a:rPr sz="800" spc="35" dirty="0">
                <a:solidFill>
                  <a:srgbClr val="22373A"/>
                </a:solidFill>
                <a:latin typeface="Arial MT"/>
                <a:cs typeface="Arial MT"/>
              </a:rPr>
              <a:t> </a:t>
            </a:r>
            <a:r>
              <a:rPr sz="800" spc="-10" dirty="0">
                <a:solidFill>
                  <a:srgbClr val="22373A"/>
                </a:solidFill>
                <a:latin typeface="Arial MT"/>
                <a:cs typeface="Arial MT"/>
              </a:rPr>
              <a:t>graph</a:t>
            </a:r>
            <a:endParaRPr sz="800">
              <a:latin typeface="Arial MT"/>
              <a:cs typeface="Arial MT"/>
            </a:endParaRPr>
          </a:p>
        </p:txBody>
      </p:sp>
      <p:grpSp>
        <p:nvGrpSpPr>
          <p:cNvPr id="23" name="object 23"/>
          <p:cNvGrpSpPr/>
          <p:nvPr/>
        </p:nvGrpSpPr>
        <p:grpSpPr>
          <a:xfrm>
            <a:off x="1716620" y="2346473"/>
            <a:ext cx="1161415" cy="221615"/>
            <a:chOff x="1716620" y="2346473"/>
            <a:chExt cx="1161415" cy="221615"/>
          </a:xfrm>
        </p:grpSpPr>
        <p:sp>
          <p:nvSpPr>
            <p:cNvPr id="24" name="object 24"/>
            <p:cNvSpPr/>
            <p:nvPr/>
          </p:nvSpPr>
          <p:spPr>
            <a:xfrm>
              <a:off x="1719160" y="2349013"/>
              <a:ext cx="1156335" cy="216535"/>
            </a:xfrm>
            <a:custGeom>
              <a:avLst/>
              <a:gdLst/>
              <a:ahLst/>
              <a:cxnLst/>
              <a:rect l="l" t="t" r="r" b="b"/>
              <a:pathLst>
                <a:path w="1156335" h="216535">
                  <a:moveTo>
                    <a:pt x="1130624" y="0"/>
                  </a:moveTo>
                  <a:lnTo>
                    <a:pt x="25305" y="0"/>
                  </a:lnTo>
                  <a:lnTo>
                    <a:pt x="15455" y="1988"/>
                  </a:lnTo>
                  <a:lnTo>
                    <a:pt x="7411" y="7411"/>
                  </a:lnTo>
                  <a:lnTo>
                    <a:pt x="1988" y="15455"/>
                  </a:lnTo>
                  <a:lnTo>
                    <a:pt x="0" y="25305"/>
                  </a:lnTo>
                  <a:lnTo>
                    <a:pt x="0" y="190696"/>
                  </a:lnTo>
                  <a:lnTo>
                    <a:pt x="1988" y="200547"/>
                  </a:lnTo>
                  <a:lnTo>
                    <a:pt x="7411" y="208590"/>
                  </a:lnTo>
                  <a:lnTo>
                    <a:pt x="15455" y="214013"/>
                  </a:lnTo>
                  <a:lnTo>
                    <a:pt x="25305" y="216002"/>
                  </a:lnTo>
                  <a:lnTo>
                    <a:pt x="1130624" y="216002"/>
                  </a:lnTo>
                  <a:lnTo>
                    <a:pt x="1140474" y="214013"/>
                  </a:lnTo>
                  <a:lnTo>
                    <a:pt x="1148518" y="208590"/>
                  </a:lnTo>
                  <a:lnTo>
                    <a:pt x="1153941" y="200547"/>
                  </a:lnTo>
                  <a:lnTo>
                    <a:pt x="1155929" y="190696"/>
                  </a:lnTo>
                  <a:lnTo>
                    <a:pt x="1155929" y="25305"/>
                  </a:lnTo>
                  <a:lnTo>
                    <a:pt x="1153941" y="15455"/>
                  </a:lnTo>
                  <a:lnTo>
                    <a:pt x="1148518" y="7411"/>
                  </a:lnTo>
                  <a:lnTo>
                    <a:pt x="1140474" y="1988"/>
                  </a:lnTo>
                  <a:lnTo>
                    <a:pt x="1130624" y="0"/>
                  </a:lnTo>
                  <a:close/>
                </a:path>
              </a:pathLst>
            </a:custGeom>
            <a:solidFill>
              <a:srgbClr val="FFFFFF"/>
            </a:solidFill>
          </p:spPr>
          <p:txBody>
            <a:bodyPr wrap="square" lIns="0" tIns="0" rIns="0" bIns="0" rtlCol="0"/>
            <a:lstStyle/>
            <a:p>
              <a:endParaRPr/>
            </a:p>
          </p:txBody>
        </p:sp>
        <p:sp>
          <p:nvSpPr>
            <p:cNvPr id="25" name="object 25"/>
            <p:cNvSpPr/>
            <p:nvPr/>
          </p:nvSpPr>
          <p:spPr>
            <a:xfrm>
              <a:off x="1719160" y="2349013"/>
              <a:ext cx="1156335" cy="216535"/>
            </a:xfrm>
            <a:custGeom>
              <a:avLst/>
              <a:gdLst/>
              <a:ahLst/>
              <a:cxnLst/>
              <a:rect l="l" t="t" r="r" b="b"/>
              <a:pathLst>
                <a:path w="1156335" h="216535">
                  <a:moveTo>
                    <a:pt x="1130624" y="0"/>
                  </a:moveTo>
                  <a:lnTo>
                    <a:pt x="25305" y="0"/>
                  </a:lnTo>
                  <a:lnTo>
                    <a:pt x="15455" y="1988"/>
                  </a:lnTo>
                  <a:lnTo>
                    <a:pt x="7411" y="7411"/>
                  </a:lnTo>
                  <a:lnTo>
                    <a:pt x="1988" y="15455"/>
                  </a:lnTo>
                  <a:lnTo>
                    <a:pt x="0" y="25305"/>
                  </a:lnTo>
                  <a:lnTo>
                    <a:pt x="0" y="190696"/>
                  </a:lnTo>
                  <a:lnTo>
                    <a:pt x="1988" y="200547"/>
                  </a:lnTo>
                  <a:lnTo>
                    <a:pt x="7411" y="208590"/>
                  </a:lnTo>
                  <a:lnTo>
                    <a:pt x="15455" y="214013"/>
                  </a:lnTo>
                  <a:lnTo>
                    <a:pt x="25305" y="216002"/>
                  </a:lnTo>
                  <a:lnTo>
                    <a:pt x="1130624" y="216002"/>
                  </a:lnTo>
                  <a:lnTo>
                    <a:pt x="1140474" y="214013"/>
                  </a:lnTo>
                  <a:lnTo>
                    <a:pt x="1148518" y="208590"/>
                  </a:lnTo>
                  <a:lnTo>
                    <a:pt x="1153941" y="200547"/>
                  </a:lnTo>
                  <a:lnTo>
                    <a:pt x="1155929" y="190696"/>
                  </a:lnTo>
                  <a:lnTo>
                    <a:pt x="1155929" y="25305"/>
                  </a:lnTo>
                  <a:lnTo>
                    <a:pt x="1153941" y="15455"/>
                  </a:lnTo>
                  <a:lnTo>
                    <a:pt x="1148518" y="7411"/>
                  </a:lnTo>
                  <a:lnTo>
                    <a:pt x="1140474" y="1988"/>
                  </a:lnTo>
                  <a:lnTo>
                    <a:pt x="1130624" y="0"/>
                  </a:lnTo>
                  <a:close/>
                </a:path>
              </a:pathLst>
            </a:custGeom>
            <a:ln w="5060">
              <a:solidFill>
                <a:srgbClr val="22373A"/>
              </a:solidFill>
            </a:ln>
          </p:spPr>
          <p:txBody>
            <a:bodyPr wrap="square" lIns="0" tIns="0" rIns="0" bIns="0" rtlCol="0"/>
            <a:lstStyle/>
            <a:p>
              <a:endParaRPr/>
            </a:p>
          </p:txBody>
        </p:sp>
      </p:grpSp>
      <p:sp>
        <p:nvSpPr>
          <p:cNvPr id="26" name="object 26"/>
          <p:cNvSpPr txBox="1"/>
          <p:nvPr/>
        </p:nvSpPr>
        <p:spPr>
          <a:xfrm>
            <a:off x="2041182" y="2379242"/>
            <a:ext cx="512445" cy="147320"/>
          </a:xfrm>
          <a:prstGeom prst="rect">
            <a:avLst/>
          </a:prstGeom>
        </p:spPr>
        <p:txBody>
          <a:bodyPr vert="horz" wrap="square" lIns="0" tIns="12065" rIns="0" bIns="0" rtlCol="0">
            <a:spAutoFit/>
          </a:bodyPr>
          <a:lstStyle/>
          <a:p>
            <a:pPr marL="12700">
              <a:lnSpc>
                <a:spcPct val="100000"/>
              </a:lnSpc>
              <a:spcBef>
                <a:spcPts val="95"/>
              </a:spcBef>
            </a:pPr>
            <a:r>
              <a:rPr sz="800" b="1" dirty="0">
                <a:solidFill>
                  <a:srgbClr val="22373A"/>
                </a:solidFill>
                <a:latin typeface="Microsoft Tai Le"/>
                <a:cs typeface="Microsoft Tai Le"/>
              </a:rPr>
              <a:t>6</a:t>
            </a:r>
            <a:r>
              <a:rPr sz="800" b="1" spc="45" dirty="0">
                <a:solidFill>
                  <a:srgbClr val="22373A"/>
                </a:solidFill>
                <a:latin typeface="Microsoft Tai Le"/>
                <a:cs typeface="Microsoft Tai Le"/>
              </a:rPr>
              <a:t> </a:t>
            </a:r>
            <a:r>
              <a:rPr sz="800" spc="-10" dirty="0">
                <a:solidFill>
                  <a:srgbClr val="22373A"/>
                </a:solidFill>
                <a:latin typeface="Arial MT"/>
                <a:cs typeface="Arial MT"/>
              </a:rPr>
              <a:t>Retrieval</a:t>
            </a:r>
            <a:endParaRPr sz="800">
              <a:latin typeface="Arial MT"/>
              <a:cs typeface="Arial MT"/>
            </a:endParaRPr>
          </a:p>
        </p:txBody>
      </p:sp>
      <p:grpSp>
        <p:nvGrpSpPr>
          <p:cNvPr id="27" name="object 27"/>
          <p:cNvGrpSpPr/>
          <p:nvPr/>
        </p:nvGrpSpPr>
        <p:grpSpPr>
          <a:xfrm>
            <a:off x="1716620" y="2653937"/>
            <a:ext cx="1161415" cy="221615"/>
            <a:chOff x="1716620" y="2653937"/>
            <a:chExt cx="1161415" cy="221615"/>
          </a:xfrm>
        </p:grpSpPr>
        <p:sp>
          <p:nvSpPr>
            <p:cNvPr id="28" name="object 28"/>
            <p:cNvSpPr/>
            <p:nvPr/>
          </p:nvSpPr>
          <p:spPr>
            <a:xfrm>
              <a:off x="1719160" y="2656477"/>
              <a:ext cx="1156335" cy="216535"/>
            </a:xfrm>
            <a:custGeom>
              <a:avLst/>
              <a:gdLst/>
              <a:ahLst/>
              <a:cxnLst/>
              <a:rect l="l" t="t" r="r" b="b"/>
              <a:pathLst>
                <a:path w="1156335" h="216535">
                  <a:moveTo>
                    <a:pt x="1130624" y="0"/>
                  </a:moveTo>
                  <a:lnTo>
                    <a:pt x="25305" y="0"/>
                  </a:lnTo>
                  <a:lnTo>
                    <a:pt x="15455" y="1988"/>
                  </a:lnTo>
                  <a:lnTo>
                    <a:pt x="7411" y="7411"/>
                  </a:lnTo>
                  <a:lnTo>
                    <a:pt x="1988" y="15455"/>
                  </a:lnTo>
                  <a:lnTo>
                    <a:pt x="0" y="25305"/>
                  </a:lnTo>
                  <a:lnTo>
                    <a:pt x="0" y="190697"/>
                  </a:lnTo>
                  <a:lnTo>
                    <a:pt x="1988" y="200547"/>
                  </a:lnTo>
                  <a:lnTo>
                    <a:pt x="7411" y="208590"/>
                  </a:lnTo>
                  <a:lnTo>
                    <a:pt x="15455" y="214013"/>
                  </a:lnTo>
                  <a:lnTo>
                    <a:pt x="25305" y="216002"/>
                  </a:lnTo>
                  <a:lnTo>
                    <a:pt x="1130624" y="216002"/>
                  </a:lnTo>
                  <a:lnTo>
                    <a:pt x="1140474" y="214013"/>
                  </a:lnTo>
                  <a:lnTo>
                    <a:pt x="1148518" y="208590"/>
                  </a:lnTo>
                  <a:lnTo>
                    <a:pt x="1153941" y="200547"/>
                  </a:lnTo>
                  <a:lnTo>
                    <a:pt x="1155929" y="190697"/>
                  </a:lnTo>
                  <a:lnTo>
                    <a:pt x="1155929" y="25305"/>
                  </a:lnTo>
                  <a:lnTo>
                    <a:pt x="1153941" y="15455"/>
                  </a:lnTo>
                  <a:lnTo>
                    <a:pt x="1148518" y="7411"/>
                  </a:lnTo>
                  <a:lnTo>
                    <a:pt x="1140474" y="1988"/>
                  </a:lnTo>
                  <a:lnTo>
                    <a:pt x="1130624" y="0"/>
                  </a:lnTo>
                  <a:close/>
                </a:path>
              </a:pathLst>
            </a:custGeom>
            <a:solidFill>
              <a:srgbClr val="FFFFFF"/>
            </a:solidFill>
          </p:spPr>
          <p:txBody>
            <a:bodyPr wrap="square" lIns="0" tIns="0" rIns="0" bIns="0" rtlCol="0"/>
            <a:lstStyle/>
            <a:p>
              <a:endParaRPr/>
            </a:p>
          </p:txBody>
        </p:sp>
        <p:sp>
          <p:nvSpPr>
            <p:cNvPr id="29" name="object 29"/>
            <p:cNvSpPr/>
            <p:nvPr/>
          </p:nvSpPr>
          <p:spPr>
            <a:xfrm>
              <a:off x="1719160" y="2656477"/>
              <a:ext cx="1156335" cy="216535"/>
            </a:xfrm>
            <a:custGeom>
              <a:avLst/>
              <a:gdLst/>
              <a:ahLst/>
              <a:cxnLst/>
              <a:rect l="l" t="t" r="r" b="b"/>
              <a:pathLst>
                <a:path w="1156335" h="216535">
                  <a:moveTo>
                    <a:pt x="1130624" y="0"/>
                  </a:moveTo>
                  <a:lnTo>
                    <a:pt x="25305" y="0"/>
                  </a:lnTo>
                  <a:lnTo>
                    <a:pt x="15455" y="1988"/>
                  </a:lnTo>
                  <a:lnTo>
                    <a:pt x="7411" y="7411"/>
                  </a:lnTo>
                  <a:lnTo>
                    <a:pt x="1988" y="15455"/>
                  </a:lnTo>
                  <a:lnTo>
                    <a:pt x="0" y="25305"/>
                  </a:lnTo>
                  <a:lnTo>
                    <a:pt x="0" y="190697"/>
                  </a:lnTo>
                  <a:lnTo>
                    <a:pt x="1988" y="200547"/>
                  </a:lnTo>
                  <a:lnTo>
                    <a:pt x="7411" y="208590"/>
                  </a:lnTo>
                  <a:lnTo>
                    <a:pt x="15455" y="214013"/>
                  </a:lnTo>
                  <a:lnTo>
                    <a:pt x="25305" y="216002"/>
                  </a:lnTo>
                  <a:lnTo>
                    <a:pt x="1130624" y="216002"/>
                  </a:lnTo>
                  <a:lnTo>
                    <a:pt x="1140474" y="214013"/>
                  </a:lnTo>
                  <a:lnTo>
                    <a:pt x="1148518" y="208590"/>
                  </a:lnTo>
                  <a:lnTo>
                    <a:pt x="1153941" y="200547"/>
                  </a:lnTo>
                  <a:lnTo>
                    <a:pt x="1155929" y="190697"/>
                  </a:lnTo>
                  <a:lnTo>
                    <a:pt x="1155929" y="25305"/>
                  </a:lnTo>
                  <a:lnTo>
                    <a:pt x="1153941" y="15455"/>
                  </a:lnTo>
                  <a:lnTo>
                    <a:pt x="1148518" y="7411"/>
                  </a:lnTo>
                  <a:lnTo>
                    <a:pt x="1140474" y="1988"/>
                  </a:lnTo>
                  <a:lnTo>
                    <a:pt x="1130624" y="0"/>
                  </a:lnTo>
                  <a:close/>
                </a:path>
              </a:pathLst>
            </a:custGeom>
            <a:ln w="5060">
              <a:solidFill>
                <a:srgbClr val="22373A"/>
              </a:solidFill>
            </a:ln>
          </p:spPr>
          <p:txBody>
            <a:bodyPr wrap="square" lIns="0" tIns="0" rIns="0" bIns="0" rtlCol="0"/>
            <a:lstStyle/>
            <a:p>
              <a:endParaRPr/>
            </a:p>
          </p:txBody>
        </p:sp>
      </p:grpSp>
      <p:sp>
        <p:nvSpPr>
          <p:cNvPr id="30" name="object 30"/>
          <p:cNvSpPr txBox="1"/>
          <p:nvPr/>
        </p:nvSpPr>
        <p:spPr>
          <a:xfrm>
            <a:off x="2086686" y="2676853"/>
            <a:ext cx="421005" cy="147320"/>
          </a:xfrm>
          <a:prstGeom prst="rect">
            <a:avLst/>
          </a:prstGeom>
        </p:spPr>
        <p:txBody>
          <a:bodyPr vert="horz" wrap="square" lIns="0" tIns="12065" rIns="0" bIns="0" rtlCol="0">
            <a:spAutoFit/>
          </a:bodyPr>
          <a:lstStyle/>
          <a:p>
            <a:pPr marL="12700">
              <a:lnSpc>
                <a:spcPct val="100000"/>
              </a:lnSpc>
              <a:spcBef>
                <a:spcPts val="95"/>
              </a:spcBef>
            </a:pPr>
            <a:r>
              <a:rPr sz="800" b="1" dirty="0">
                <a:solidFill>
                  <a:srgbClr val="22373A"/>
                </a:solidFill>
                <a:latin typeface="Microsoft Tai Le"/>
                <a:cs typeface="Microsoft Tai Le"/>
              </a:rPr>
              <a:t>7</a:t>
            </a:r>
            <a:r>
              <a:rPr sz="800" b="1" spc="45" dirty="0">
                <a:solidFill>
                  <a:srgbClr val="22373A"/>
                </a:solidFill>
                <a:latin typeface="Microsoft Tai Le"/>
                <a:cs typeface="Microsoft Tai Le"/>
              </a:rPr>
              <a:t> </a:t>
            </a:r>
            <a:r>
              <a:rPr sz="800" spc="-10" dirty="0">
                <a:solidFill>
                  <a:srgbClr val="22373A"/>
                </a:solidFill>
                <a:latin typeface="Arial MT"/>
                <a:cs typeface="Arial MT"/>
              </a:rPr>
              <a:t>Report</a:t>
            </a:r>
            <a:endParaRPr sz="800">
              <a:latin typeface="Arial MT"/>
              <a:cs typeface="Arial MT"/>
            </a:endParaRPr>
          </a:p>
        </p:txBody>
      </p:sp>
      <p:grpSp>
        <p:nvGrpSpPr>
          <p:cNvPr id="31" name="object 31"/>
          <p:cNvGrpSpPr/>
          <p:nvPr/>
        </p:nvGrpSpPr>
        <p:grpSpPr>
          <a:xfrm>
            <a:off x="2282552" y="722760"/>
            <a:ext cx="852169" cy="1922780"/>
            <a:chOff x="2282552" y="722760"/>
            <a:chExt cx="852169" cy="1922780"/>
          </a:xfrm>
        </p:grpSpPr>
        <p:sp>
          <p:nvSpPr>
            <p:cNvPr id="32" name="object 32"/>
            <p:cNvSpPr/>
            <p:nvPr/>
          </p:nvSpPr>
          <p:spPr>
            <a:xfrm>
              <a:off x="2297125" y="722760"/>
              <a:ext cx="0" cy="53975"/>
            </a:xfrm>
            <a:custGeom>
              <a:avLst/>
              <a:gdLst/>
              <a:ahLst/>
              <a:cxnLst/>
              <a:rect l="l" t="t" r="r" b="b"/>
              <a:pathLst>
                <a:path h="53975">
                  <a:moveTo>
                    <a:pt x="0" y="0"/>
                  </a:moveTo>
                  <a:lnTo>
                    <a:pt x="0" y="53701"/>
                  </a:lnTo>
                </a:path>
              </a:pathLst>
            </a:custGeom>
            <a:ln w="10122">
              <a:solidFill>
                <a:srgbClr val="22373A"/>
              </a:solidFill>
            </a:ln>
          </p:spPr>
          <p:txBody>
            <a:bodyPr wrap="square" lIns="0" tIns="0" rIns="0" bIns="0" rtlCol="0"/>
            <a:lstStyle/>
            <a:p>
              <a:endParaRPr/>
            </a:p>
          </p:txBody>
        </p:sp>
        <p:sp>
          <p:nvSpPr>
            <p:cNvPr id="33" name="object 33"/>
            <p:cNvSpPr/>
            <p:nvPr/>
          </p:nvSpPr>
          <p:spPr>
            <a:xfrm>
              <a:off x="2287109" y="769873"/>
              <a:ext cx="20320" cy="26670"/>
            </a:xfrm>
            <a:custGeom>
              <a:avLst/>
              <a:gdLst/>
              <a:ahLst/>
              <a:cxnLst/>
              <a:rect l="l" t="t" r="r" b="b"/>
              <a:pathLst>
                <a:path w="20319" h="26670">
                  <a:moveTo>
                    <a:pt x="20032" y="0"/>
                  </a:moveTo>
                  <a:lnTo>
                    <a:pt x="10016" y="8865"/>
                  </a:lnTo>
                  <a:lnTo>
                    <a:pt x="0" y="0"/>
                  </a:lnTo>
                  <a:lnTo>
                    <a:pt x="10016" y="26311"/>
                  </a:lnTo>
                  <a:lnTo>
                    <a:pt x="20032" y="0"/>
                  </a:lnTo>
                  <a:close/>
                </a:path>
              </a:pathLst>
            </a:custGeom>
            <a:solidFill>
              <a:srgbClr val="22373A"/>
            </a:solidFill>
          </p:spPr>
          <p:txBody>
            <a:bodyPr wrap="square" lIns="0" tIns="0" rIns="0" bIns="0" rtlCol="0"/>
            <a:lstStyle/>
            <a:p>
              <a:endParaRPr/>
            </a:p>
          </p:txBody>
        </p:sp>
        <p:sp>
          <p:nvSpPr>
            <p:cNvPr id="34" name="object 34"/>
            <p:cNvSpPr/>
            <p:nvPr/>
          </p:nvSpPr>
          <p:spPr>
            <a:xfrm>
              <a:off x="2287109" y="769873"/>
              <a:ext cx="20320" cy="26670"/>
            </a:xfrm>
            <a:custGeom>
              <a:avLst/>
              <a:gdLst/>
              <a:ahLst/>
              <a:cxnLst/>
              <a:rect l="l" t="t" r="r" b="b"/>
              <a:pathLst>
                <a:path w="20319" h="26670">
                  <a:moveTo>
                    <a:pt x="10016" y="26311"/>
                  </a:moveTo>
                  <a:lnTo>
                    <a:pt x="20032" y="0"/>
                  </a:lnTo>
                  <a:lnTo>
                    <a:pt x="10016" y="8865"/>
                  </a:lnTo>
                  <a:lnTo>
                    <a:pt x="0" y="0"/>
                  </a:lnTo>
                  <a:lnTo>
                    <a:pt x="10016" y="26311"/>
                  </a:lnTo>
                  <a:close/>
                </a:path>
              </a:pathLst>
            </a:custGeom>
            <a:ln w="9112">
              <a:solidFill>
                <a:srgbClr val="22373A"/>
              </a:solidFill>
            </a:ln>
          </p:spPr>
          <p:txBody>
            <a:bodyPr wrap="square" lIns="0" tIns="0" rIns="0" bIns="0" rtlCol="0"/>
            <a:lstStyle/>
            <a:p>
              <a:endParaRPr/>
            </a:p>
          </p:txBody>
        </p:sp>
        <p:sp>
          <p:nvSpPr>
            <p:cNvPr id="35" name="object 35"/>
            <p:cNvSpPr/>
            <p:nvPr/>
          </p:nvSpPr>
          <p:spPr>
            <a:xfrm>
              <a:off x="2297125" y="1030224"/>
              <a:ext cx="0" cy="53975"/>
            </a:xfrm>
            <a:custGeom>
              <a:avLst/>
              <a:gdLst/>
              <a:ahLst/>
              <a:cxnLst/>
              <a:rect l="l" t="t" r="r" b="b"/>
              <a:pathLst>
                <a:path h="53975">
                  <a:moveTo>
                    <a:pt x="0" y="0"/>
                  </a:moveTo>
                  <a:lnTo>
                    <a:pt x="0" y="53701"/>
                  </a:lnTo>
                </a:path>
              </a:pathLst>
            </a:custGeom>
            <a:ln w="10122">
              <a:solidFill>
                <a:srgbClr val="22373A"/>
              </a:solidFill>
            </a:ln>
          </p:spPr>
          <p:txBody>
            <a:bodyPr wrap="square" lIns="0" tIns="0" rIns="0" bIns="0" rtlCol="0"/>
            <a:lstStyle/>
            <a:p>
              <a:endParaRPr/>
            </a:p>
          </p:txBody>
        </p:sp>
        <p:sp>
          <p:nvSpPr>
            <p:cNvPr id="36" name="object 36"/>
            <p:cNvSpPr/>
            <p:nvPr/>
          </p:nvSpPr>
          <p:spPr>
            <a:xfrm>
              <a:off x="2287109" y="1077338"/>
              <a:ext cx="20320" cy="26670"/>
            </a:xfrm>
            <a:custGeom>
              <a:avLst/>
              <a:gdLst/>
              <a:ahLst/>
              <a:cxnLst/>
              <a:rect l="l" t="t" r="r" b="b"/>
              <a:pathLst>
                <a:path w="20319" h="26669">
                  <a:moveTo>
                    <a:pt x="20032" y="0"/>
                  </a:moveTo>
                  <a:lnTo>
                    <a:pt x="10016" y="8865"/>
                  </a:lnTo>
                  <a:lnTo>
                    <a:pt x="0" y="0"/>
                  </a:lnTo>
                  <a:lnTo>
                    <a:pt x="10016" y="26311"/>
                  </a:lnTo>
                  <a:lnTo>
                    <a:pt x="20032" y="0"/>
                  </a:lnTo>
                  <a:close/>
                </a:path>
              </a:pathLst>
            </a:custGeom>
            <a:solidFill>
              <a:srgbClr val="22373A"/>
            </a:solidFill>
          </p:spPr>
          <p:txBody>
            <a:bodyPr wrap="square" lIns="0" tIns="0" rIns="0" bIns="0" rtlCol="0"/>
            <a:lstStyle/>
            <a:p>
              <a:endParaRPr/>
            </a:p>
          </p:txBody>
        </p:sp>
        <p:sp>
          <p:nvSpPr>
            <p:cNvPr id="37" name="object 37"/>
            <p:cNvSpPr/>
            <p:nvPr/>
          </p:nvSpPr>
          <p:spPr>
            <a:xfrm>
              <a:off x="2287109" y="1077338"/>
              <a:ext cx="20320" cy="26670"/>
            </a:xfrm>
            <a:custGeom>
              <a:avLst/>
              <a:gdLst/>
              <a:ahLst/>
              <a:cxnLst/>
              <a:rect l="l" t="t" r="r" b="b"/>
              <a:pathLst>
                <a:path w="20319" h="26669">
                  <a:moveTo>
                    <a:pt x="10016" y="26311"/>
                  </a:moveTo>
                  <a:lnTo>
                    <a:pt x="20032" y="0"/>
                  </a:lnTo>
                  <a:lnTo>
                    <a:pt x="10016" y="8865"/>
                  </a:lnTo>
                  <a:lnTo>
                    <a:pt x="0" y="0"/>
                  </a:lnTo>
                  <a:lnTo>
                    <a:pt x="10016" y="26311"/>
                  </a:lnTo>
                  <a:close/>
                </a:path>
              </a:pathLst>
            </a:custGeom>
            <a:ln w="9112">
              <a:solidFill>
                <a:srgbClr val="22373A"/>
              </a:solidFill>
            </a:ln>
          </p:spPr>
          <p:txBody>
            <a:bodyPr wrap="square" lIns="0" tIns="0" rIns="0" bIns="0" rtlCol="0"/>
            <a:lstStyle/>
            <a:p>
              <a:endParaRPr/>
            </a:p>
          </p:txBody>
        </p:sp>
        <p:sp>
          <p:nvSpPr>
            <p:cNvPr id="38" name="object 38"/>
            <p:cNvSpPr/>
            <p:nvPr/>
          </p:nvSpPr>
          <p:spPr>
            <a:xfrm>
              <a:off x="2297125" y="1337689"/>
              <a:ext cx="0" cy="53975"/>
            </a:xfrm>
            <a:custGeom>
              <a:avLst/>
              <a:gdLst/>
              <a:ahLst/>
              <a:cxnLst/>
              <a:rect l="l" t="t" r="r" b="b"/>
              <a:pathLst>
                <a:path h="53975">
                  <a:moveTo>
                    <a:pt x="0" y="0"/>
                  </a:moveTo>
                  <a:lnTo>
                    <a:pt x="0" y="53701"/>
                  </a:lnTo>
                </a:path>
              </a:pathLst>
            </a:custGeom>
            <a:ln w="10122">
              <a:solidFill>
                <a:srgbClr val="22373A"/>
              </a:solidFill>
            </a:ln>
          </p:spPr>
          <p:txBody>
            <a:bodyPr wrap="square" lIns="0" tIns="0" rIns="0" bIns="0" rtlCol="0"/>
            <a:lstStyle/>
            <a:p>
              <a:endParaRPr/>
            </a:p>
          </p:txBody>
        </p:sp>
        <p:sp>
          <p:nvSpPr>
            <p:cNvPr id="39" name="object 39"/>
            <p:cNvSpPr/>
            <p:nvPr/>
          </p:nvSpPr>
          <p:spPr>
            <a:xfrm>
              <a:off x="2287109" y="1384802"/>
              <a:ext cx="20320" cy="26670"/>
            </a:xfrm>
            <a:custGeom>
              <a:avLst/>
              <a:gdLst/>
              <a:ahLst/>
              <a:cxnLst/>
              <a:rect l="l" t="t" r="r" b="b"/>
              <a:pathLst>
                <a:path w="20319" h="26669">
                  <a:moveTo>
                    <a:pt x="20032" y="0"/>
                  </a:moveTo>
                  <a:lnTo>
                    <a:pt x="10016" y="8865"/>
                  </a:lnTo>
                  <a:lnTo>
                    <a:pt x="0" y="0"/>
                  </a:lnTo>
                  <a:lnTo>
                    <a:pt x="10016" y="26311"/>
                  </a:lnTo>
                  <a:lnTo>
                    <a:pt x="20032" y="0"/>
                  </a:lnTo>
                  <a:close/>
                </a:path>
              </a:pathLst>
            </a:custGeom>
            <a:solidFill>
              <a:srgbClr val="22373A"/>
            </a:solidFill>
          </p:spPr>
          <p:txBody>
            <a:bodyPr wrap="square" lIns="0" tIns="0" rIns="0" bIns="0" rtlCol="0"/>
            <a:lstStyle/>
            <a:p>
              <a:endParaRPr/>
            </a:p>
          </p:txBody>
        </p:sp>
        <p:sp>
          <p:nvSpPr>
            <p:cNvPr id="40" name="object 40"/>
            <p:cNvSpPr/>
            <p:nvPr/>
          </p:nvSpPr>
          <p:spPr>
            <a:xfrm>
              <a:off x="2287109" y="1384802"/>
              <a:ext cx="20320" cy="26670"/>
            </a:xfrm>
            <a:custGeom>
              <a:avLst/>
              <a:gdLst/>
              <a:ahLst/>
              <a:cxnLst/>
              <a:rect l="l" t="t" r="r" b="b"/>
              <a:pathLst>
                <a:path w="20319" h="26669">
                  <a:moveTo>
                    <a:pt x="10016" y="26311"/>
                  </a:moveTo>
                  <a:lnTo>
                    <a:pt x="20032" y="0"/>
                  </a:lnTo>
                  <a:lnTo>
                    <a:pt x="10016" y="8865"/>
                  </a:lnTo>
                  <a:lnTo>
                    <a:pt x="0" y="0"/>
                  </a:lnTo>
                  <a:lnTo>
                    <a:pt x="10016" y="26311"/>
                  </a:lnTo>
                  <a:close/>
                </a:path>
              </a:pathLst>
            </a:custGeom>
            <a:ln w="9112">
              <a:solidFill>
                <a:srgbClr val="22373A"/>
              </a:solidFill>
            </a:ln>
          </p:spPr>
          <p:txBody>
            <a:bodyPr wrap="square" lIns="0" tIns="0" rIns="0" bIns="0" rtlCol="0"/>
            <a:lstStyle/>
            <a:p>
              <a:endParaRPr/>
            </a:p>
          </p:txBody>
        </p:sp>
        <p:sp>
          <p:nvSpPr>
            <p:cNvPr id="41" name="object 41"/>
            <p:cNvSpPr/>
            <p:nvPr/>
          </p:nvSpPr>
          <p:spPr>
            <a:xfrm>
              <a:off x="2297125" y="1645153"/>
              <a:ext cx="0" cy="53975"/>
            </a:xfrm>
            <a:custGeom>
              <a:avLst/>
              <a:gdLst/>
              <a:ahLst/>
              <a:cxnLst/>
              <a:rect l="l" t="t" r="r" b="b"/>
              <a:pathLst>
                <a:path h="53975">
                  <a:moveTo>
                    <a:pt x="0" y="0"/>
                  </a:moveTo>
                  <a:lnTo>
                    <a:pt x="0" y="53701"/>
                  </a:lnTo>
                </a:path>
              </a:pathLst>
            </a:custGeom>
            <a:ln w="10122">
              <a:solidFill>
                <a:srgbClr val="22373A"/>
              </a:solidFill>
            </a:ln>
          </p:spPr>
          <p:txBody>
            <a:bodyPr wrap="square" lIns="0" tIns="0" rIns="0" bIns="0" rtlCol="0"/>
            <a:lstStyle/>
            <a:p>
              <a:endParaRPr/>
            </a:p>
          </p:txBody>
        </p:sp>
        <p:sp>
          <p:nvSpPr>
            <p:cNvPr id="42" name="object 42"/>
            <p:cNvSpPr/>
            <p:nvPr/>
          </p:nvSpPr>
          <p:spPr>
            <a:xfrm>
              <a:off x="2287109" y="1692266"/>
              <a:ext cx="20320" cy="26670"/>
            </a:xfrm>
            <a:custGeom>
              <a:avLst/>
              <a:gdLst/>
              <a:ahLst/>
              <a:cxnLst/>
              <a:rect l="l" t="t" r="r" b="b"/>
              <a:pathLst>
                <a:path w="20319" h="26669">
                  <a:moveTo>
                    <a:pt x="20032" y="0"/>
                  </a:moveTo>
                  <a:lnTo>
                    <a:pt x="10016" y="8865"/>
                  </a:lnTo>
                  <a:lnTo>
                    <a:pt x="0" y="0"/>
                  </a:lnTo>
                  <a:lnTo>
                    <a:pt x="10016" y="26311"/>
                  </a:lnTo>
                  <a:lnTo>
                    <a:pt x="20032" y="0"/>
                  </a:lnTo>
                  <a:close/>
                </a:path>
              </a:pathLst>
            </a:custGeom>
            <a:solidFill>
              <a:srgbClr val="22373A"/>
            </a:solidFill>
          </p:spPr>
          <p:txBody>
            <a:bodyPr wrap="square" lIns="0" tIns="0" rIns="0" bIns="0" rtlCol="0"/>
            <a:lstStyle/>
            <a:p>
              <a:endParaRPr/>
            </a:p>
          </p:txBody>
        </p:sp>
        <p:sp>
          <p:nvSpPr>
            <p:cNvPr id="43" name="object 43"/>
            <p:cNvSpPr/>
            <p:nvPr/>
          </p:nvSpPr>
          <p:spPr>
            <a:xfrm>
              <a:off x="2287109" y="1692266"/>
              <a:ext cx="20320" cy="26670"/>
            </a:xfrm>
            <a:custGeom>
              <a:avLst/>
              <a:gdLst/>
              <a:ahLst/>
              <a:cxnLst/>
              <a:rect l="l" t="t" r="r" b="b"/>
              <a:pathLst>
                <a:path w="20319" h="26669">
                  <a:moveTo>
                    <a:pt x="10016" y="26311"/>
                  </a:moveTo>
                  <a:lnTo>
                    <a:pt x="20032" y="0"/>
                  </a:lnTo>
                  <a:lnTo>
                    <a:pt x="10016" y="8865"/>
                  </a:lnTo>
                  <a:lnTo>
                    <a:pt x="0" y="0"/>
                  </a:lnTo>
                  <a:lnTo>
                    <a:pt x="10016" y="26311"/>
                  </a:lnTo>
                  <a:close/>
                </a:path>
              </a:pathLst>
            </a:custGeom>
            <a:ln w="9112">
              <a:solidFill>
                <a:srgbClr val="22373A"/>
              </a:solidFill>
            </a:ln>
          </p:spPr>
          <p:txBody>
            <a:bodyPr wrap="square" lIns="0" tIns="0" rIns="0" bIns="0" rtlCol="0"/>
            <a:lstStyle/>
            <a:p>
              <a:endParaRPr/>
            </a:p>
          </p:txBody>
        </p:sp>
        <p:sp>
          <p:nvSpPr>
            <p:cNvPr id="44" name="object 44"/>
            <p:cNvSpPr/>
            <p:nvPr/>
          </p:nvSpPr>
          <p:spPr>
            <a:xfrm>
              <a:off x="2297125" y="1952617"/>
              <a:ext cx="0" cy="53975"/>
            </a:xfrm>
            <a:custGeom>
              <a:avLst/>
              <a:gdLst/>
              <a:ahLst/>
              <a:cxnLst/>
              <a:rect l="l" t="t" r="r" b="b"/>
              <a:pathLst>
                <a:path h="53975">
                  <a:moveTo>
                    <a:pt x="0" y="0"/>
                  </a:moveTo>
                  <a:lnTo>
                    <a:pt x="0" y="53701"/>
                  </a:lnTo>
                </a:path>
              </a:pathLst>
            </a:custGeom>
            <a:ln w="10122">
              <a:solidFill>
                <a:srgbClr val="22373A"/>
              </a:solidFill>
            </a:ln>
          </p:spPr>
          <p:txBody>
            <a:bodyPr wrap="square" lIns="0" tIns="0" rIns="0" bIns="0" rtlCol="0"/>
            <a:lstStyle/>
            <a:p>
              <a:endParaRPr/>
            </a:p>
          </p:txBody>
        </p:sp>
        <p:sp>
          <p:nvSpPr>
            <p:cNvPr id="45" name="object 45"/>
            <p:cNvSpPr/>
            <p:nvPr/>
          </p:nvSpPr>
          <p:spPr>
            <a:xfrm>
              <a:off x="2287109" y="1999730"/>
              <a:ext cx="20320" cy="26670"/>
            </a:xfrm>
            <a:custGeom>
              <a:avLst/>
              <a:gdLst/>
              <a:ahLst/>
              <a:cxnLst/>
              <a:rect l="l" t="t" r="r" b="b"/>
              <a:pathLst>
                <a:path w="20319" h="26669">
                  <a:moveTo>
                    <a:pt x="20032" y="0"/>
                  </a:moveTo>
                  <a:lnTo>
                    <a:pt x="10016" y="8865"/>
                  </a:lnTo>
                  <a:lnTo>
                    <a:pt x="0" y="0"/>
                  </a:lnTo>
                  <a:lnTo>
                    <a:pt x="10016" y="26311"/>
                  </a:lnTo>
                  <a:lnTo>
                    <a:pt x="20032" y="0"/>
                  </a:lnTo>
                  <a:close/>
                </a:path>
              </a:pathLst>
            </a:custGeom>
            <a:solidFill>
              <a:srgbClr val="22373A"/>
            </a:solidFill>
          </p:spPr>
          <p:txBody>
            <a:bodyPr wrap="square" lIns="0" tIns="0" rIns="0" bIns="0" rtlCol="0"/>
            <a:lstStyle/>
            <a:p>
              <a:endParaRPr/>
            </a:p>
          </p:txBody>
        </p:sp>
        <p:sp>
          <p:nvSpPr>
            <p:cNvPr id="46" name="object 46"/>
            <p:cNvSpPr/>
            <p:nvPr/>
          </p:nvSpPr>
          <p:spPr>
            <a:xfrm>
              <a:off x="2287109" y="1999730"/>
              <a:ext cx="20320" cy="26670"/>
            </a:xfrm>
            <a:custGeom>
              <a:avLst/>
              <a:gdLst/>
              <a:ahLst/>
              <a:cxnLst/>
              <a:rect l="l" t="t" r="r" b="b"/>
              <a:pathLst>
                <a:path w="20319" h="26669">
                  <a:moveTo>
                    <a:pt x="10016" y="26311"/>
                  </a:moveTo>
                  <a:lnTo>
                    <a:pt x="20032" y="0"/>
                  </a:lnTo>
                  <a:lnTo>
                    <a:pt x="10016" y="8865"/>
                  </a:lnTo>
                  <a:lnTo>
                    <a:pt x="0" y="0"/>
                  </a:lnTo>
                  <a:lnTo>
                    <a:pt x="10016" y="26311"/>
                  </a:lnTo>
                  <a:close/>
                </a:path>
              </a:pathLst>
            </a:custGeom>
            <a:ln w="9112">
              <a:solidFill>
                <a:srgbClr val="22373A"/>
              </a:solidFill>
            </a:ln>
          </p:spPr>
          <p:txBody>
            <a:bodyPr wrap="square" lIns="0" tIns="0" rIns="0" bIns="0" rtlCol="0"/>
            <a:lstStyle/>
            <a:p>
              <a:endParaRPr/>
            </a:p>
          </p:txBody>
        </p:sp>
        <p:sp>
          <p:nvSpPr>
            <p:cNvPr id="47" name="object 47"/>
            <p:cNvSpPr/>
            <p:nvPr/>
          </p:nvSpPr>
          <p:spPr>
            <a:xfrm>
              <a:off x="2297125" y="2260082"/>
              <a:ext cx="0" cy="53975"/>
            </a:xfrm>
            <a:custGeom>
              <a:avLst/>
              <a:gdLst/>
              <a:ahLst/>
              <a:cxnLst/>
              <a:rect l="l" t="t" r="r" b="b"/>
              <a:pathLst>
                <a:path h="53975">
                  <a:moveTo>
                    <a:pt x="0" y="0"/>
                  </a:moveTo>
                  <a:lnTo>
                    <a:pt x="0" y="53701"/>
                  </a:lnTo>
                </a:path>
              </a:pathLst>
            </a:custGeom>
            <a:ln w="10122">
              <a:solidFill>
                <a:srgbClr val="22373A"/>
              </a:solidFill>
            </a:ln>
          </p:spPr>
          <p:txBody>
            <a:bodyPr wrap="square" lIns="0" tIns="0" rIns="0" bIns="0" rtlCol="0"/>
            <a:lstStyle/>
            <a:p>
              <a:endParaRPr/>
            </a:p>
          </p:txBody>
        </p:sp>
        <p:sp>
          <p:nvSpPr>
            <p:cNvPr id="48" name="object 48"/>
            <p:cNvSpPr/>
            <p:nvPr/>
          </p:nvSpPr>
          <p:spPr>
            <a:xfrm>
              <a:off x="2287109" y="2307195"/>
              <a:ext cx="20320" cy="26670"/>
            </a:xfrm>
            <a:custGeom>
              <a:avLst/>
              <a:gdLst/>
              <a:ahLst/>
              <a:cxnLst/>
              <a:rect l="l" t="t" r="r" b="b"/>
              <a:pathLst>
                <a:path w="20319" h="26669">
                  <a:moveTo>
                    <a:pt x="20032" y="0"/>
                  </a:moveTo>
                  <a:lnTo>
                    <a:pt x="10016" y="8865"/>
                  </a:lnTo>
                  <a:lnTo>
                    <a:pt x="0" y="0"/>
                  </a:lnTo>
                  <a:lnTo>
                    <a:pt x="10016" y="26311"/>
                  </a:lnTo>
                  <a:lnTo>
                    <a:pt x="20032" y="0"/>
                  </a:lnTo>
                  <a:close/>
                </a:path>
              </a:pathLst>
            </a:custGeom>
            <a:solidFill>
              <a:srgbClr val="22373A"/>
            </a:solidFill>
          </p:spPr>
          <p:txBody>
            <a:bodyPr wrap="square" lIns="0" tIns="0" rIns="0" bIns="0" rtlCol="0"/>
            <a:lstStyle/>
            <a:p>
              <a:endParaRPr/>
            </a:p>
          </p:txBody>
        </p:sp>
        <p:sp>
          <p:nvSpPr>
            <p:cNvPr id="49" name="object 49"/>
            <p:cNvSpPr/>
            <p:nvPr/>
          </p:nvSpPr>
          <p:spPr>
            <a:xfrm>
              <a:off x="2287109" y="2307195"/>
              <a:ext cx="20320" cy="26670"/>
            </a:xfrm>
            <a:custGeom>
              <a:avLst/>
              <a:gdLst/>
              <a:ahLst/>
              <a:cxnLst/>
              <a:rect l="l" t="t" r="r" b="b"/>
              <a:pathLst>
                <a:path w="20319" h="26669">
                  <a:moveTo>
                    <a:pt x="10016" y="26311"/>
                  </a:moveTo>
                  <a:lnTo>
                    <a:pt x="20032" y="0"/>
                  </a:lnTo>
                  <a:lnTo>
                    <a:pt x="10016" y="8865"/>
                  </a:lnTo>
                  <a:lnTo>
                    <a:pt x="0" y="0"/>
                  </a:lnTo>
                  <a:lnTo>
                    <a:pt x="10016" y="26311"/>
                  </a:lnTo>
                  <a:close/>
                </a:path>
              </a:pathLst>
            </a:custGeom>
            <a:ln w="9112">
              <a:solidFill>
                <a:srgbClr val="22373A"/>
              </a:solidFill>
            </a:ln>
          </p:spPr>
          <p:txBody>
            <a:bodyPr wrap="square" lIns="0" tIns="0" rIns="0" bIns="0" rtlCol="0"/>
            <a:lstStyle/>
            <a:p>
              <a:endParaRPr/>
            </a:p>
          </p:txBody>
        </p:sp>
        <p:sp>
          <p:nvSpPr>
            <p:cNvPr id="50" name="object 50"/>
            <p:cNvSpPr/>
            <p:nvPr/>
          </p:nvSpPr>
          <p:spPr>
            <a:xfrm>
              <a:off x="2297125" y="2567546"/>
              <a:ext cx="0" cy="53975"/>
            </a:xfrm>
            <a:custGeom>
              <a:avLst/>
              <a:gdLst/>
              <a:ahLst/>
              <a:cxnLst/>
              <a:rect l="l" t="t" r="r" b="b"/>
              <a:pathLst>
                <a:path h="53975">
                  <a:moveTo>
                    <a:pt x="0" y="0"/>
                  </a:moveTo>
                  <a:lnTo>
                    <a:pt x="0" y="53701"/>
                  </a:lnTo>
                </a:path>
              </a:pathLst>
            </a:custGeom>
            <a:ln w="10122">
              <a:solidFill>
                <a:srgbClr val="22373A"/>
              </a:solidFill>
            </a:ln>
          </p:spPr>
          <p:txBody>
            <a:bodyPr wrap="square" lIns="0" tIns="0" rIns="0" bIns="0" rtlCol="0"/>
            <a:lstStyle/>
            <a:p>
              <a:endParaRPr/>
            </a:p>
          </p:txBody>
        </p:sp>
        <p:sp>
          <p:nvSpPr>
            <p:cNvPr id="51" name="object 51"/>
            <p:cNvSpPr/>
            <p:nvPr/>
          </p:nvSpPr>
          <p:spPr>
            <a:xfrm>
              <a:off x="2287109" y="2614659"/>
              <a:ext cx="20320" cy="26670"/>
            </a:xfrm>
            <a:custGeom>
              <a:avLst/>
              <a:gdLst/>
              <a:ahLst/>
              <a:cxnLst/>
              <a:rect l="l" t="t" r="r" b="b"/>
              <a:pathLst>
                <a:path w="20319" h="26669">
                  <a:moveTo>
                    <a:pt x="20032" y="0"/>
                  </a:moveTo>
                  <a:lnTo>
                    <a:pt x="10016" y="8865"/>
                  </a:lnTo>
                  <a:lnTo>
                    <a:pt x="0" y="0"/>
                  </a:lnTo>
                  <a:lnTo>
                    <a:pt x="10016" y="26311"/>
                  </a:lnTo>
                  <a:lnTo>
                    <a:pt x="20032" y="0"/>
                  </a:lnTo>
                  <a:close/>
                </a:path>
              </a:pathLst>
            </a:custGeom>
            <a:solidFill>
              <a:srgbClr val="22373A"/>
            </a:solidFill>
          </p:spPr>
          <p:txBody>
            <a:bodyPr wrap="square" lIns="0" tIns="0" rIns="0" bIns="0" rtlCol="0"/>
            <a:lstStyle/>
            <a:p>
              <a:endParaRPr/>
            </a:p>
          </p:txBody>
        </p:sp>
        <p:sp>
          <p:nvSpPr>
            <p:cNvPr id="52" name="object 52"/>
            <p:cNvSpPr/>
            <p:nvPr/>
          </p:nvSpPr>
          <p:spPr>
            <a:xfrm>
              <a:off x="2287109" y="2614659"/>
              <a:ext cx="20320" cy="26670"/>
            </a:xfrm>
            <a:custGeom>
              <a:avLst/>
              <a:gdLst/>
              <a:ahLst/>
              <a:cxnLst/>
              <a:rect l="l" t="t" r="r" b="b"/>
              <a:pathLst>
                <a:path w="20319" h="26669">
                  <a:moveTo>
                    <a:pt x="10016" y="26311"/>
                  </a:moveTo>
                  <a:lnTo>
                    <a:pt x="20032" y="0"/>
                  </a:lnTo>
                  <a:lnTo>
                    <a:pt x="10016" y="8865"/>
                  </a:lnTo>
                  <a:lnTo>
                    <a:pt x="0" y="0"/>
                  </a:lnTo>
                  <a:lnTo>
                    <a:pt x="10016" y="26311"/>
                  </a:lnTo>
                  <a:close/>
                </a:path>
              </a:pathLst>
            </a:custGeom>
            <a:ln w="9112">
              <a:solidFill>
                <a:srgbClr val="22373A"/>
              </a:solidFill>
            </a:ln>
          </p:spPr>
          <p:txBody>
            <a:bodyPr wrap="square" lIns="0" tIns="0" rIns="0" bIns="0" rtlCol="0"/>
            <a:lstStyle/>
            <a:p>
              <a:endParaRPr/>
            </a:p>
          </p:txBody>
        </p:sp>
        <p:sp>
          <p:nvSpPr>
            <p:cNvPr id="53" name="object 53"/>
            <p:cNvSpPr/>
            <p:nvPr/>
          </p:nvSpPr>
          <p:spPr>
            <a:xfrm>
              <a:off x="2877620" y="2149550"/>
              <a:ext cx="252095" cy="307975"/>
            </a:xfrm>
            <a:custGeom>
              <a:avLst/>
              <a:gdLst/>
              <a:ahLst/>
              <a:cxnLst/>
              <a:rect l="l" t="t" r="r" b="b"/>
              <a:pathLst>
                <a:path w="252094" h="307975">
                  <a:moveTo>
                    <a:pt x="0" y="0"/>
                  </a:moveTo>
                  <a:lnTo>
                    <a:pt x="252003" y="0"/>
                  </a:lnTo>
                  <a:lnTo>
                    <a:pt x="252003" y="307464"/>
                  </a:lnTo>
                  <a:lnTo>
                    <a:pt x="32699" y="307464"/>
                  </a:lnTo>
                </a:path>
              </a:pathLst>
            </a:custGeom>
            <a:ln w="10122">
              <a:solidFill>
                <a:srgbClr val="2D7DB8"/>
              </a:solidFill>
            </a:ln>
          </p:spPr>
          <p:txBody>
            <a:bodyPr wrap="square" lIns="0" tIns="0" rIns="0" bIns="0" rtlCol="0"/>
            <a:lstStyle/>
            <a:p>
              <a:endParaRPr/>
            </a:p>
          </p:txBody>
        </p:sp>
        <p:sp>
          <p:nvSpPr>
            <p:cNvPr id="54" name="object 54"/>
            <p:cNvSpPr/>
            <p:nvPr/>
          </p:nvSpPr>
          <p:spPr>
            <a:xfrm>
              <a:off x="2890597" y="2446998"/>
              <a:ext cx="26670" cy="20320"/>
            </a:xfrm>
            <a:custGeom>
              <a:avLst/>
              <a:gdLst/>
              <a:ahLst/>
              <a:cxnLst/>
              <a:rect l="l" t="t" r="r" b="b"/>
              <a:pathLst>
                <a:path w="26669" h="20319">
                  <a:moveTo>
                    <a:pt x="26311" y="20032"/>
                  </a:moveTo>
                  <a:lnTo>
                    <a:pt x="17445" y="10016"/>
                  </a:lnTo>
                  <a:lnTo>
                    <a:pt x="26311" y="0"/>
                  </a:lnTo>
                  <a:lnTo>
                    <a:pt x="0" y="10016"/>
                  </a:lnTo>
                  <a:lnTo>
                    <a:pt x="26311" y="20032"/>
                  </a:lnTo>
                  <a:close/>
                </a:path>
              </a:pathLst>
            </a:custGeom>
            <a:solidFill>
              <a:srgbClr val="2D7DB8"/>
            </a:solidFill>
          </p:spPr>
          <p:txBody>
            <a:bodyPr wrap="square" lIns="0" tIns="0" rIns="0" bIns="0" rtlCol="0"/>
            <a:lstStyle/>
            <a:p>
              <a:endParaRPr/>
            </a:p>
          </p:txBody>
        </p:sp>
        <p:sp>
          <p:nvSpPr>
            <p:cNvPr id="55" name="object 55"/>
            <p:cNvSpPr/>
            <p:nvPr/>
          </p:nvSpPr>
          <p:spPr>
            <a:xfrm>
              <a:off x="2890597" y="2446998"/>
              <a:ext cx="26670" cy="20320"/>
            </a:xfrm>
            <a:custGeom>
              <a:avLst/>
              <a:gdLst/>
              <a:ahLst/>
              <a:cxnLst/>
              <a:rect l="l" t="t" r="r" b="b"/>
              <a:pathLst>
                <a:path w="26669" h="20319">
                  <a:moveTo>
                    <a:pt x="0" y="10016"/>
                  </a:moveTo>
                  <a:lnTo>
                    <a:pt x="26311" y="20032"/>
                  </a:lnTo>
                  <a:lnTo>
                    <a:pt x="17445" y="10016"/>
                  </a:lnTo>
                  <a:lnTo>
                    <a:pt x="26311" y="0"/>
                  </a:lnTo>
                  <a:lnTo>
                    <a:pt x="0" y="10016"/>
                  </a:lnTo>
                  <a:close/>
                </a:path>
              </a:pathLst>
            </a:custGeom>
            <a:ln w="9112">
              <a:solidFill>
                <a:srgbClr val="2D7DB8"/>
              </a:solidFill>
            </a:ln>
          </p:spPr>
          <p:txBody>
            <a:bodyPr wrap="square" lIns="0" tIns="0" rIns="0" bIns="0" rtlCol="0"/>
            <a:lstStyle/>
            <a:p>
              <a:endParaRPr/>
            </a:p>
          </p:txBody>
        </p:sp>
      </p:grpSp>
      <p:sp>
        <p:nvSpPr>
          <p:cNvPr id="56" name="object 56"/>
          <p:cNvSpPr txBox="1"/>
          <p:nvPr/>
        </p:nvSpPr>
        <p:spPr>
          <a:xfrm>
            <a:off x="3191281" y="2239784"/>
            <a:ext cx="885190" cy="302260"/>
          </a:xfrm>
          <a:prstGeom prst="rect">
            <a:avLst/>
          </a:prstGeom>
        </p:spPr>
        <p:txBody>
          <a:bodyPr vert="horz" wrap="square" lIns="0" tIns="12700" rIns="0" bIns="0" rtlCol="0">
            <a:spAutoFit/>
          </a:bodyPr>
          <a:lstStyle/>
          <a:p>
            <a:pPr marL="12700" marR="5080">
              <a:lnSpc>
                <a:spcPct val="113399"/>
              </a:lnSpc>
              <a:spcBef>
                <a:spcPts val="100"/>
              </a:spcBef>
            </a:pPr>
            <a:r>
              <a:rPr sz="800" i="1" spc="-10" dirty="0">
                <a:solidFill>
                  <a:srgbClr val="2D7DB8"/>
                </a:solidFill>
                <a:latin typeface="Trebuchet MS"/>
                <a:cs typeface="Trebuchet MS"/>
              </a:rPr>
              <a:t>constrains</a:t>
            </a:r>
            <a:r>
              <a:rPr sz="800" i="1" spc="-50" dirty="0">
                <a:solidFill>
                  <a:srgbClr val="2D7DB8"/>
                </a:solidFill>
                <a:latin typeface="Trebuchet MS"/>
                <a:cs typeface="Trebuchet MS"/>
              </a:rPr>
              <a:t> </a:t>
            </a:r>
            <a:r>
              <a:rPr sz="800" i="1" spc="-10" dirty="0">
                <a:solidFill>
                  <a:srgbClr val="2D7DB8"/>
                </a:solidFill>
                <a:latin typeface="Trebuchet MS"/>
                <a:cs typeface="Trebuchet MS"/>
              </a:rPr>
              <a:t>what</a:t>
            </a:r>
            <a:r>
              <a:rPr sz="800" i="1" spc="-50" dirty="0">
                <a:solidFill>
                  <a:srgbClr val="2D7DB8"/>
                </a:solidFill>
                <a:latin typeface="Trebuchet MS"/>
                <a:cs typeface="Trebuchet MS"/>
              </a:rPr>
              <a:t> </a:t>
            </a:r>
            <a:r>
              <a:rPr sz="800" i="1" spc="-45" dirty="0">
                <a:solidFill>
                  <a:srgbClr val="2D7DB8"/>
                </a:solidFill>
                <a:latin typeface="Trebuchet MS"/>
                <a:cs typeface="Trebuchet MS"/>
              </a:rPr>
              <a:t>re-</a:t>
            </a:r>
            <a:r>
              <a:rPr sz="800" i="1" spc="-30" dirty="0">
                <a:solidFill>
                  <a:srgbClr val="2D7DB8"/>
                </a:solidFill>
                <a:latin typeface="Trebuchet MS"/>
                <a:cs typeface="Trebuchet MS"/>
              </a:rPr>
              <a:t>trieval</a:t>
            </a:r>
            <a:r>
              <a:rPr sz="800" i="1" spc="-15" dirty="0">
                <a:solidFill>
                  <a:srgbClr val="2D7DB8"/>
                </a:solidFill>
                <a:latin typeface="Trebuchet MS"/>
                <a:cs typeface="Trebuchet MS"/>
              </a:rPr>
              <a:t> </a:t>
            </a:r>
            <a:r>
              <a:rPr sz="800" i="1" dirty="0">
                <a:solidFill>
                  <a:srgbClr val="2D7DB8"/>
                </a:solidFill>
                <a:latin typeface="Trebuchet MS"/>
                <a:cs typeface="Trebuchet MS"/>
              </a:rPr>
              <a:t>may</a:t>
            </a:r>
            <a:r>
              <a:rPr sz="800" i="1" spc="-10" dirty="0">
                <a:solidFill>
                  <a:srgbClr val="2D7DB8"/>
                </a:solidFill>
                <a:latin typeface="Trebuchet MS"/>
                <a:cs typeface="Trebuchet MS"/>
              </a:rPr>
              <a:t> return</a:t>
            </a:r>
            <a:endParaRPr sz="800">
              <a:latin typeface="Trebuchet MS"/>
              <a:cs typeface="Trebuchet MS"/>
            </a:endParaRPr>
          </a:p>
        </p:txBody>
      </p:sp>
      <p:sp>
        <p:nvSpPr>
          <p:cNvPr id="57" name="object 57"/>
          <p:cNvSpPr txBox="1"/>
          <p:nvPr/>
        </p:nvSpPr>
        <p:spPr>
          <a:xfrm>
            <a:off x="1442838" y="1082745"/>
            <a:ext cx="150495" cy="596265"/>
          </a:xfrm>
          <a:prstGeom prst="rect">
            <a:avLst/>
          </a:prstGeom>
        </p:spPr>
        <p:txBody>
          <a:bodyPr vert="vert270" wrap="square" lIns="0" tIns="3175" rIns="0" bIns="0" rtlCol="0">
            <a:spAutoFit/>
          </a:bodyPr>
          <a:lstStyle/>
          <a:p>
            <a:pPr marL="12700">
              <a:lnSpc>
                <a:spcPct val="100000"/>
              </a:lnSpc>
              <a:spcBef>
                <a:spcPts val="25"/>
              </a:spcBef>
            </a:pPr>
            <a:r>
              <a:rPr sz="800" i="1" spc="-20" dirty="0">
                <a:solidFill>
                  <a:srgbClr val="6C6C6C"/>
                </a:solidFill>
                <a:latin typeface="Trebuchet MS"/>
                <a:cs typeface="Trebuchet MS"/>
              </a:rPr>
              <a:t>unsupervised</a:t>
            </a:r>
            <a:endParaRPr sz="800">
              <a:latin typeface="Trebuchet MS"/>
              <a:cs typeface="Trebuchet MS"/>
            </a:endParaRPr>
          </a:p>
        </p:txBody>
      </p:sp>
      <p:pic>
        <p:nvPicPr>
          <p:cNvPr id="58" name="object 58"/>
          <p:cNvPicPr/>
          <p:nvPr/>
        </p:nvPicPr>
        <p:blipFill>
          <a:blip r:embed="rId3" cstate="print"/>
          <a:stretch>
            <a:fillRect/>
          </a:stretch>
        </p:blipFill>
        <p:spPr>
          <a:xfrm>
            <a:off x="101282" y="2998905"/>
            <a:ext cx="241983" cy="187117"/>
          </a:xfrm>
          <a:prstGeom prst="rect">
            <a:avLst/>
          </a:prstGeom>
        </p:spPr>
      </p:pic>
      <p:pic>
        <p:nvPicPr>
          <p:cNvPr id="59" name="object 59"/>
          <p:cNvPicPr/>
          <p:nvPr/>
        </p:nvPicPr>
        <p:blipFill>
          <a:blip r:embed="rId4" cstate="print"/>
          <a:stretch>
            <a:fillRect/>
          </a:stretch>
        </p:blipFill>
        <p:spPr>
          <a:xfrm>
            <a:off x="433285" y="2998965"/>
            <a:ext cx="187057" cy="187057"/>
          </a:xfrm>
          <a:prstGeom prst="rect">
            <a:avLst/>
          </a:prstGeom>
        </p:spPr>
      </p:pic>
      <p:pic>
        <p:nvPicPr>
          <p:cNvPr id="60" name="object 60"/>
          <p:cNvPicPr/>
          <p:nvPr/>
        </p:nvPicPr>
        <p:blipFill>
          <a:blip r:embed="rId5" cstate="print"/>
          <a:stretch>
            <a:fillRect/>
          </a:stretch>
        </p:blipFill>
        <p:spPr>
          <a:xfrm>
            <a:off x="710349" y="2998815"/>
            <a:ext cx="187208" cy="187208"/>
          </a:xfrm>
          <a:prstGeom prst="rect">
            <a:avLst/>
          </a:prstGeom>
        </p:spPr>
      </p:pic>
      <p:sp>
        <p:nvSpPr>
          <p:cNvPr id="61" name="object 61"/>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5</a:t>
            </a:r>
            <a:r>
              <a:rPr spc="-80" dirty="0"/>
              <a:t> </a:t>
            </a:r>
            <a:r>
              <a:rPr spc="195" dirty="0"/>
              <a:t>/</a:t>
            </a:r>
            <a:r>
              <a:rPr spc="-75" dirty="0"/>
              <a:t> </a:t>
            </a:r>
            <a:r>
              <a:rPr spc="-25" dirty="0"/>
              <a:t>32</a:t>
            </a: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Stage</a:t>
            </a:r>
            <a:r>
              <a:rPr spc="10" dirty="0"/>
              <a:t> </a:t>
            </a:r>
            <a:r>
              <a:rPr dirty="0"/>
              <a:t>1:</a:t>
            </a:r>
            <a:r>
              <a:rPr spc="130" dirty="0"/>
              <a:t> </a:t>
            </a:r>
            <a:r>
              <a:rPr dirty="0"/>
              <a:t>Alerts</a:t>
            </a:r>
            <a:r>
              <a:rPr spc="15" dirty="0"/>
              <a:t> </a:t>
            </a:r>
            <a:r>
              <a:rPr spc="-30" dirty="0"/>
              <a:t>become</a:t>
            </a:r>
            <a:r>
              <a:rPr spc="15" dirty="0"/>
              <a:t> </a:t>
            </a:r>
            <a:r>
              <a:rPr spc="-45" dirty="0"/>
              <a:t>sentences</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1080135" cy="5080"/>
            </a:xfrm>
            <a:custGeom>
              <a:avLst/>
              <a:gdLst/>
              <a:ahLst/>
              <a:cxnLst/>
              <a:rect l="l" t="t" r="r" b="b"/>
              <a:pathLst>
                <a:path w="1080135" h="5079">
                  <a:moveTo>
                    <a:pt x="0" y="5060"/>
                  </a:moveTo>
                  <a:lnTo>
                    <a:pt x="0" y="0"/>
                  </a:lnTo>
                  <a:lnTo>
                    <a:pt x="1080013" y="0"/>
                  </a:lnTo>
                  <a:lnTo>
                    <a:pt x="1080013" y="5060"/>
                  </a:lnTo>
                  <a:lnTo>
                    <a:pt x="0" y="5060"/>
                  </a:lnTo>
                  <a:close/>
                </a:path>
              </a:pathLst>
            </a:custGeom>
            <a:solidFill>
              <a:srgbClr val="2D7DB8"/>
            </a:solidFill>
          </p:spPr>
          <p:txBody>
            <a:bodyPr wrap="square" lIns="0" tIns="0" rIns="0" bIns="0" rtlCol="0"/>
            <a:lstStyle/>
            <a:p>
              <a:endParaRPr/>
            </a:p>
          </p:txBody>
        </p:sp>
      </p:grpSp>
      <p:sp>
        <p:nvSpPr>
          <p:cNvPr id="7" name="object 7"/>
          <p:cNvSpPr txBox="1"/>
          <p:nvPr/>
        </p:nvSpPr>
        <p:spPr>
          <a:xfrm>
            <a:off x="347294" y="876374"/>
            <a:ext cx="4203065" cy="191770"/>
          </a:xfrm>
          <a:prstGeom prst="rect">
            <a:avLst/>
          </a:prstGeom>
        </p:spPr>
        <p:txBody>
          <a:bodyPr vert="horz" wrap="square" lIns="0" tIns="11430" rIns="0" bIns="0" rtlCol="0">
            <a:spAutoFit/>
          </a:bodyPr>
          <a:lstStyle/>
          <a:p>
            <a:pPr marL="12700">
              <a:lnSpc>
                <a:spcPct val="100000"/>
              </a:lnSpc>
              <a:spcBef>
                <a:spcPts val="90"/>
              </a:spcBef>
            </a:pPr>
            <a:r>
              <a:rPr sz="1100" dirty="0">
                <a:solidFill>
                  <a:srgbClr val="22373A"/>
                </a:solidFill>
                <a:latin typeface="Arial MT"/>
                <a:cs typeface="Arial MT"/>
              </a:rPr>
              <a:t>A</a:t>
            </a:r>
            <a:r>
              <a:rPr sz="1100" spc="-70" dirty="0">
                <a:solidFill>
                  <a:srgbClr val="22373A"/>
                </a:solidFill>
                <a:latin typeface="Arial MT"/>
                <a:cs typeface="Arial MT"/>
              </a:rPr>
              <a:t> </a:t>
            </a:r>
            <a:r>
              <a:rPr sz="1100" spc="-35" dirty="0">
                <a:solidFill>
                  <a:srgbClr val="22373A"/>
                </a:solidFill>
                <a:latin typeface="Arial MT"/>
                <a:cs typeface="Arial MT"/>
              </a:rPr>
              <a:t>fixed</a:t>
            </a:r>
            <a:r>
              <a:rPr sz="1100" spc="-40" dirty="0">
                <a:solidFill>
                  <a:srgbClr val="22373A"/>
                </a:solidFill>
                <a:latin typeface="Arial MT"/>
                <a:cs typeface="Arial MT"/>
              </a:rPr>
              <a:t> </a:t>
            </a:r>
            <a:r>
              <a:rPr sz="1100" spc="-30" dirty="0">
                <a:solidFill>
                  <a:srgbClr val="22373A"/>
                </a:solidFill>
                <a:latin typeface="Arial MT"/>
                <a:cs typeface="Arial MT"/>
              </a:rPr>
              <a:t>template,</a:t>
            </a:r>
            <a:r>
              <a:rPr sz="1100" dirty="0">
                <a:solidFill>
                  <a:srgbClr val="22373A"/>
                </a:solidFill>
                <a:latin typeface="Arial MT"/>
                <a:cs typeface="Arial MT"/>
              </a:rPr>
              <a:t> </a:t>
            </a:r>
            <a:r>
              <a:rPr sz="1100" spc="-10" dirty="0">
                <a:solidFill>
                  <a:srgbClr val="22373A"/>
                </a:solidFill>
                <a:latin typeface="Arial MT"/>
                <a:cs typeface="Arial MT"/>
              </a:rPr>
              <a:t>no</a:t>
            </a:r>
            <a:r>
              <a:rPr sz="1100" spc="-5" dirty="0">
                <a:solidFill>
                  <a:srgbClr val="22373A"/>
                </a:solidFill>
                <a:latin typeface="Arial MT"/>
                <a:cs typeface="Arial MT"/>
              </a:rPr>
              <a:t> </a:t>
            </a:r>
            <a:r>
              <a:rPr sz="1100" dirty="0">
                <a:solidFill>
                  <a:srgbClr val="22373A"/>
                </a:solidFill>
                <a:latin typeface="Arial MT"/>
                <a:cs typeface="Arial MT"/>
              </a:rPr>
              <a:t>LLM,</a:t>
            </a:r>
            <a:r>
              <a:rPr sz="1100" spc="-5" dirty="0">
                <a:solidFill>
                  <a:srgbClr val="22373A"/>
                </a:solidFill>
                <a:latin typeface="Arial MT"/>
                <a:cs typeface="Arial MT"/>
              </a:rPr>
              <a:t> </a:t>
            </a:r>
            <a:r>
              <a:rPr sz="1100" spc="-90" dirty="0">
                <a:solidFill>
                  <a:srgbClr val="22373A"/>
                </a:solidFill>
                <a:latin typeface="Arial MT"/>
                <a:cs typeface="Arial MT"/>
              </a:rPr>
              <a:t>so</a:t>
            </a:r>
            <a:r>
              <a:rPr sz="1100" spc="15" dirty="0">
                <a:solidFill>
                  <a:srgbClr val="22373A"/>
                </a:solidFill>
                <a:latin typeface="Arial MT"/>
                <a:cs typeface="Arial MT"/>
              </a:rPr>
              <a:t> </a:t>
            </a:r>
            <a:r>
              <a:rPr sz="1100" dirty="0">
                <a:solidFill>
                  <a:srgbClr val="22373A"/>
                </a:solidFill>
                <a:latin typeface="Arial MT"/>
                <a:cs typeface="Arial MT"/>
              </a:rPr>
              <a:t>the</a:t>
            </a:r>
            <a:r>
              <a:rPr sz="1100" spc="-5" dirty="0">
                <a:solidFill>
                  <a:srgbClr val="22373A"/>
                </a:solidFill>
                <a:latin typeface="Arial MT"/>
                <a:cs typeface="Arial MT"/>
              </a:rPr>
              <a:t> </a:t>
            </a:r>
            <a:r>
              <a:rPr sz="1100" spc="-105" dirty="0">
                <a:solidFill>
                  <a:srgbClr val="22373A"/>
                </a:solidFill>
                <a:latin typeface="Arial MT"/>
                <a:cs typeface="Arial MT"/>
              </a:rPr>
              <a:t>same</a:t>
            </a:r>
            <a:r>
              <a:rPr sz="1100" spc="30" dirty="0">
                <a:solidFill>
                  <a:srgbClr val="22373A"/>
                </a:solidFill>
                <a:latin typeface="Arial MT"/>
                <a:cs typeface="Arial MT"/>
              </a:rPr>
              <a:t> </a:t>
            </a:r>
            <a:r>
              <a:rPr sz="1100" spc="-10" dirty="0">
                <a:solidFill>
                  <a:srgbClr val="22373A"/>
                </a:solidFill>
                <a:latin typeface="Arial MT"/>
                <a:cs typeface="Arial MT"/>
              </a:rPr>
              <a:t>flow</a:t>
            </a:r>
            <a:r>
              <a:rPr sz="1100" dirty="0">
                <a:solidFill>
                  <a:srgbClr val="22373A"/>
                </a:solidFill>
                <a:latin typeface="Arial MT"/>
                <a:cs typeface="Arial MT"/>
              </a:rPr>
              <a:t> </a:t>
            </a:r>
            <a:r>
              <a:rPr sz="1100" spc="-85" dirty="0">
                <a:solidFill>
                  <a:srgbClr val="22373A"/>
                </a:solidFill>
                <a:latin typeface="Arial MT"/>
                <a:cs typeface="Arial MT"/>
              </a:rPr>
              <a:t>always</a:t>
            </a:r>
            <a:r>
              <a:rPr sz="1100" spc="10" dirty="0">
                <a:solidFill>
                  <a:srgbClr val="22373A"/>
                </a:solidFill>
                <a:latin typeface="Arial MT"/>
                <a:cs typeface="Arial MT"/>
              </a:rPr>
              <a:t> </a:t>
            </a:r>
            <a:r>
              <a:rPr sz="1100" spc="-60" dirty="0">
                <a:solidFill>
                  <a:srgbClr val="22373A"/>
                </a:solidFill>
                <a:latin typeface="Arial MT"/>
                <a:cs typeface="Arial MT"/>
              </a:rPr>
              <a:t>yields</a:t>
            </a:r>
            <a:r>
              <a:rPr sz="1100" spc="-5" dirty="0">
                <a:solidFill>
                  <a:srgbClr val="22373A"/>
                </a:solidFill>
                <a:latin typeface="Arial MT"/>
                <a:cs typeface="Arial MT"/>
              </a:rPr>
              <a:t> </a:t>
            </a:r>
            <a:r>
              <a:rPr sz="1100" dirty="0">
                <a:solidFill>
                  <a:srgbClr val="22373A"/>
                </a:solidFill>
                <a:latin typeface="Arial MT"/>
                <a:cs typeface="Arial MT"/>
              </a:rPr>
              <a:t>the</a:t>
            </a:r>
            <a:r>
              <a:rPr sz="1100" spc="-5" dirty="0">
                <a:solidFill>
                  <a:srgbClr val="22373A"/>
                </a:solidFill>
                <a:latin typeface="Arial MT"/>
                <a:cs typeface="Arial MT"/>
              </a:rPr>
              <a:t> </a:t>
            </a:r>
            <a:r>
              <a:rPr sz="1100" spc="-105" dirty="0">
                <a:solidFill>
                  <a:srgbClr val="22373A"/>
                </a:solidFill>
                <a:latin typeface="Arial MT"/>
                <a:cs typeface="Arial MT"/>
              </a:rPr>
              <a:t>same</a:t>
            </a:r>
            <a:r>
              <a:rPr sz="1100" spc="30" dirty="0">
                <a:solidFill>
                  <a:srgbClr val="22373A"/>
                </a:solidFill>
                <a:latin typeface="Arial MT"/>
                <a:cs typeface="Arial MT"/>
              </a:rPr>
              <a:t> </a:t>
            </a:r>
            <a:r>
              <a:rPr sz="1100" spc="-10" dirty="0">
                <a:solidFill>
                  <a:srgbClr val="22373A"/>
                </a:solidFill>
                <a:latin typeface="Arial MT"/>
                <a:cs typeface="Arial MT"/>
              </a:rPr>
              <a:t>text.</a:t>
            </a:r>
            <a:endParaRPr sz="1100">
              <a:latin typeface="Arial MT"/>
              <a:cs typeface="Arial MT"/>
            </a:endParaRPr>
          </a:p>
        </p:txBody>
      </p:sp>
      <p:graphicFrame>
        <p:nvGraphicFramePr>
          <p:cNvPr id="8" name="object 8"/>
          <p:cNvGraphicFramePr>
            <a:graphicFrameLocks noGrp="1"/>
          </p:cNvGraphicFramePr>
          <p:nvPr/>
        </p:nvGraphicFramePr>
        <p:xfrm>
          <a:off x="359994" y="1143126"/>
          <a:ext cx="5039995" cy="746125"/>
        </p:xfrm>
        <a:graphic>
          <a:graphicData uri="http://schemas.openxmlformats.org/drawingml/2006/table">
            <a:tbl>
              <a:tblPr firstRow="1" bandRow="1">
                <a:tableStyleId>{2D5ABB26-0587-4C30-8999-92F81FD0307C}</a:tableStyleId>
              </a:tblPr>
              <a:tblGrid>
                <a:gridCol w="5039995">
                  <a:extLst>
                    <a:ext uri="{9D8B030D-6E8A-4147-A177-3AD203B41FA5}">
                      <a16:colId xmlns:a16="http://schemas.microsoft.com/office/drawing/2014/main" val="20000"/>
                    </a:ext>
                  </a:extLst>
                </a:gridCol>
              </a:tblGrid>
              <a:tr h="199390">
                <a:tc>
                  <a:txBody>
                    <a:bodyPr/>
                    <a:lstStyle/>
                    <a:p>
                      <a:pPr marL="45720">
                        <a:lnSpc>
                          <a:spcPts val="1275"/>
                        </a:lnSpc>
                      </a:pPr>
                      <a:r>
                        <a:rPr sz="1100" b="1" spc="-10" dirty="0">
                          <a:solidFill>
                            <a:srgbClr val="22373A"/>
                          </a:solidFill>
                          <a:latin typeface="Arial"/>
                          <a:cs typeface="Arial"/>
                        </a:rPr>
                        <a:t>Example</a:t>
                      </a:r>
                      <a:endParaRPr sz="1100">
                        <a:latin typeface="Arial"/>
                        <a:cs typeface="Arial"/>
                      </a:endParaRPr>
                    </a:p>
                  </a:txBody>
                  <a:tcPr marL="0" marR="0" marT="0" marB="0">
                    <a:solidFill>
                      <a:srgbClr val="CED2D3"/>
                    </a:solidFill>
                  </a:tcPr>
                </a:tc>
                <a:extLst>
                  <a:ext uri="{0D108BD9-81ED-4DB2-BD59-A6C34878D82A}">
                    <a16:rowId xmlns:a16="http://schemas.microsoft.com/office/drawing/2014/main" val="10000"/>
                  </a:ext>
                </a:extLst>
              </a:tr>
              <a:tr h="546735">
                <a:tc>
                  <a:txBody>
                    <a:bodyPr/>
                    <a:lstStyle/>
                    <a:p>
                      <a:pPr marL="45720">
                        <a:lnSpc>
                          <a:spcPts val="1170"/>
                        </a:lnSpc>
                        <a:tabLst>
                          <a:tab pos="2701925" algn="l"/>
                          <a:tab pos="4097020" algn="l"/>
                        </a:tabLst>
                      </a:pPr>
                      <a:r>
                        <a:rPr sz="1000" dirty="0">
                          <a:solidFill>
                            <a:srgbClr val="22373A"/>
                          </a:solidFill>
                          <a:latin typeface="Cambria"/>
                          <a:cs typeface="Cambria"/>
                        </a:rPr>
                        <a:t>Network</a:t>
                      </a:r>
                      <a:r>
                        <a:rPr sz="1000" spc="280" dirty="0">
                          <a:solidFill>
                            <a:srgbClr val="22373A"/>
                          </a:solidFill>
                          <a:latin typeface="Cambria"/>
                          <a:cs typeface="Cambria"/>
                        </a:rPr>
                        <a:t> </a:t>
                      </a:r>
                      <a:r>
                        <a:rPr sz="1000" dirty="0">
                          <a:solidFill>
                            <a:srgbClr val="22373A"/>
                          </a:solidFill>
                          <a:latin typeface="Cambria"/>
                          <a:cs typeface="Cambria"/>
                        </a:rPr>
                        <a:t>flow</a:t>
                      </a:r>
                      <a:r>
                        <a:rPr sz="1000" spc="285" dirty="0">
                          <a:solidFill>
                            <a:srgbClr val="22373A"/>
                          </a:solidFill>
                          <a:latin typeface="Cambria"/>
                          <a:cs typeface="Cambria"/>
                        </a:rPr>
                        <a:t> </a:t>
                      </a:r>
                      <a:r>
                        <a:rPr sz="1000" spc="80" dirty="0">
                          <a:solidFill>
                            <a:srgbClr val="22373A"/>
                          </a:solidFill>
                          <a:latin typeface="Cambria"/>
                          <a:cs typeface="Cambria"/>
                        </a:rPr>
                        <a:t>targeting</a:t>
                      </a:r>
                      <a:r>
                        <a:rPr sz="1000" spc="285" dirty="0">
                          <a:solidFill>
                            <a:srgbClr val="22373A"/>
                          </a:solidFill>
                          <a:latin typeface="Cambria"/>
                          <a:cs typeface="Cambria"/>
                        </a:rPr>
                        <a:t> </a:t>
                      </a:r>
                      <a:r>
                        <a:rPr sz="1000" dirty="0">
                          <a:solidFill>
                            <a:srgbClr val="22373A"/>
                          </a:solidFill>
                          <a:latin typeface="Cambria"/>
                          <a:cs typeface="Cambria"/>
                        </a:rPr>
                        <a:t>SSH</a:t>
                      </a:r>
                      <a:r>
                        <a:rPr sz="1000" spc="285" dirty="0">
                          <a:solidFill>
                            <a:srgbClr val="22373A"/>
                          </a:solidFill>
                          <a:latin typeface="Cambria"/>
                          <a:cs typeface="Cambria"/>
                        </a:rPr>
                        <a:t> </a:t>
                      </a:r>
                      <a:r>
                        <a:rPr sz="1000" dirty="0">
                          <a:solidFill>
                            <a:srgbClr val="22373A"/>
                          </a:solidFill>
                          <a:latin typeface="Cambria"/>
                          <a:cs typeface="Cambria"/>
                        </a:rPr>
                        <a:t>on</a:t>
                      </a:r>
                      <a:r>
                        <a:rPr sz="1000" spc="285" dirty="0">
                          <a:solidFill>
                            <a:srgbClr val="22373A"/>
                          </a:solidFill>
                          <a:latin typeface="Cambria"/>
                          <a:cs typeface="Cambria"/>
                        </a:rPr>
                        <a:t> </a:t>
                      </a:r>
                      <a:r>
                        <a:rPr sz="1000" spc="60" dirty="0">
                          <a:solidFill>
                            <a:srgbClr val="22373A"/>
                          </a:solidFill>
                          <a:latin typeface="Cambria"/>
                          <a:cs typeface="Cambria"/>
                        </a:rPr>
                        <a:t>port</a:t>
                      </a:r>
                      <a:r>
                        <a:rPr sz="1000" spc="285" dirty="0">
                          <a:solidFill>
                            <a:srgbClr val="22373A"/>
                          </a:solidFill>
                          <a:latin typeface="Cambria"/>
                          <a:cs typeface="Cambria"/>
                        </a:rPr>
                        <a:t> </a:t>
                      </a:r>
                      <a:r>
                        <a:rPr sz="1000" spc="55" dirty="0">
                          <a:solidFill>
                            <a:srgbClr val="22373A"/>
                          </a:solidFill>
                          <a:latin typeface="Cambria"/>
                          <a:cs typeface="Cambria"/>
                        </a:rPr>
                        <a:t>22.</a:t>
                      </a:r>
                      <a:r>
                        <a:rPr sz="1000" dirty="0">
                          <a:solidFill>
                            <a:srgbClr val="22373A"/>
                          </a:solidFill>
                          <a:latin typeface="Cambria"/>
                          <a:cs typeface="Cambria"/>
                        </a:rPr>
                        <a:t>	Connection</a:t>
                      </a:r>
                      <a:r>
                        <a:rPr sz="1000" spc="210" dirty="0">
                          <a:solidFill>
                            <a:srgbClr val="22373A"/>
                          </a:solidFill>
                          <a:latin typeface="Cambria"/>
                          <a:cs typeface="Cambria"/>
                        </a:rPr>
                        <a:t>  </a:t>
                      </a:r>
                      <a:r>
                        <a:rPr sz="1000" spc="120" dirty="0">
                          <a:solidFill>
                            <a:srgbClr val="22373A"/>
                          </a:solidFill>
                          <a:latin typeface="Cambria"/>
                          <a:cs typeface="Cambria"/>
                        </a:rPr>
                        <a:t>profile:</a:t>
                      </a:r>
                      <a:r>
                        <a:rPr sz="1000" dirty="0">
                          <a:solidFill>
                            <a:srgbClr val="22373A"/>
                          </a:solidFill>
                          <a:latin typeface="Cambria"/>
                          <a:cs typeface="Cambria"/>
                        </a:rPr>
                        <a:t>	</a:t>
                      </a:r>
                      <a:r>
                        <a:rPr sz="1000" spc="114" dirty="0">
                          <a:solidFill>
                            <a:srgbClr val="22373A"/>
                          </a:solidFill>
                          <a:latin typeface="Cambria"/>
                          <a:cs typeface="Cambria"/>
                        </a:rPr>
                        <a:t>short-</a:t>
                      </a:r>
                      <a:r>
                        <a:rPr sz="1000" spc="90" dirty="0">
                          <a:solidFill>
                            <a:srgbClr val="22373A"/>
                          </a:solidFill>
                          <a:latin typeface="Cambria"/>
                          <a:cs typeface="Cambria"/>
                        </a:rPr>
                        <a:t>lived.</a:t>
                      </a:r>
                      <a:endParaRPr sz="1000">
                        <a:latin typeface="Cambria"/>
                        <a:cs typeface="Cambria"/>
                      </a:endParaRPr>
                    </a:p>
                    <a:p>
                      <a:pPr marL="45720" marR="137795">
                        <a:lnSpc>
                          <a:spcPct val="114599"/>
                        </a:lnSpc>
                        <a:tabLst>
                          <a:tab pos="1307465" algn="l"/>
                          <a:tab pos="4429125" algn="l"/>
                        </a:tabLst>
                      </a:pPr>
                      <a:r>
                        <a:rPr sz="1000" spc="114" dirty="0">
                          <a:solidFill>
                            <a:srgbClr val="22373A"/>
                          </a:solidFill>
                          <a:latin typeface="Cambria"/>
                          <a:cs typeface="Cambria"/>
                        </a:rPr>
                        <a:t>Traffic</a:t>
                      </a:r>
                      <a:r>
                        <a:rPr sz="1000" spc="310" dirty="0">
                          <a:solidFill>
                            <a:srgbClr val="22373A"/>
                          </a:solidFill>
                          <a:latin typeface="Cambria"/>
                          <a:cs typeface="Cambria"/>
                        </a:rPr>
                        <a:t> </a:t>
                      </a:r>
                      <a:r>
                        <a:rPr sz="1000" spc="-10" dirty="0">
                          <a:solidFill>
                            <a:srgbClr val="22373A"/>
                          </a:solidFill>
                          <a:latin typeface="Cambria"/>
                          <a:cs typeface="Cambria"/>
                        </a:rPr>
                        <a:t>exchange:</a:t>
                      </a:r>
                      <a:r>
                        <a:rPr sz="1000" dirty="0">
                          <a:solidFill>
                            <a:srgbClr val="22373A"/>
                          </a:solidFill>
                          <a:latin typeface="Cambria"/>
                          <a:cs typeface="Cambria"/>
                        </a:rPr>
                        <a:t>	low</a:t>
                      </a:r>
                      <a:r>
                        <a:rPr sz="1000" spc="315" dirty="0">
                          <a:solidFill>
                            <a:srgbClr val="22373A"/>
                          </a:solidFill>
                          <a:latin typeface="Cambria"/>
                          <a:cs typeface="Cambria"/>
                        </a:rPr>
                        <a:t> </a:t>
                      </a:r>
                      <a:r>
                        <a:rPr sz="1000" dirty="0">
                          <a:solidFill>
                            <a:srgbClr val="22373A"/>
                          </a:solidFill>
                          <a:latin typeface="Cambria"/>
                          <a:cs typeface="Cambria"/>
                        </a:rPr>
                        <a:t>packet</a:t>
                      </a:r>
                      <a:r>
                        <a:rPr sz="1000" spc="315" dirty="0">
                          <a:solidFill>
                            <a:srgbClr val="22373A"/>
                          </a:solidFill>
                          <a:latin typeface="Cambria"/>
                          <a:cs typeface="Cambria"/>
                        </a:rPr>
                        <a:t> </a:t>
                      </a:r>
                      <a:r>
                        <a:rPr sz="1000" spc="80" dirty="0">
                          <a:solidFill>
                            <a:srgbClr val="22373A"/>
                          </a:solidFill>
                          <a:latin typeface="Cambria"/>
                          <a:cs typeface="Cambria"/>
                        </a:rPr>
                        <a:t>count,</a:t>
                      </a:r>
                      <a:r>
                        <a:rPr sz="1000" spc="315" dirty="0">
                          <a:solidFill>
                            <a:srgbClr val="22373A"/>
                          </a:solidFill>
                          <a:latin typeface="Cambria"/>
                          <a:cs typeface="Cambria"/>
                        </a:rPr>
                        <a:t> </a:t>
                      </a:r>
                      <a:r>
                        <a:rPr sz="1000" dirty="0">
                          <a:solidFill>
                            <a:srgbClr val="22373A"/>
                          </a:solidFill>
                          <a:latin typeface="Cambria"/>
                          <a:cs typeface="Cambria"/>
                        </a:rPr>
                        <a:t>35</a:t>
                      </a:r>
                      <a:r>
                        <a:rPr sz="1000" spc="320" dirty="0">
                          <a:solidFill>
                            <a:srgbClr val="22373A"/>
                          </a:solidFill>
                          <a:latin typeface="Cambria"/>
                          <a:cs typeface="Cambria"/>
                        </a:rPr>
                        <a:t> </a:t>
                      </a:r>
                      <a:r>
                        <a:rPr sz="1000" dirty="0">
                          <a:solidFill>
                            <a:srgbClr val="22373A"/>
                          </a:solidFill>
                          <a:latin typeface="Cambria"/>
                          <a:cs typeface="Cambria"/>
                        </a:rPr>
                        <a:t>outbound</a:t>
                      </a:r>
                      <a:r>
                        <a:rPr sz="1000" spc="315" dirty="0">
                          <a:solidFill>
                            <a:srgbClr val="22373A"/>
                          </a:solidFill>
                          <a:latin typeface="Cambria"/>
                          <a:cs typeface="Cambria"/>
                        </a:rPr>
                        <a:t> </a:t>
                      </a:r>
                      <a:r>
                        <a:rPr sz="1000" dirty="0">
                          <a:solidFill>
                            <a:srgbClr val="22373A"/>
                          </a:solidFill>
                          <a:latin typeface="Cambria"/>
                          <a:cs typeface="Cambria"/>
                        </a:rPr>
                        <a:t>and</a:t>
                      </a:r>
                      <a:r>
                        <a:rPr sz="1000" spc="315" dirty="0">
                          <a:solidFill>
                            <a:srgbClr val="22373A"/>
                          </a:solidFill>
                          <a:latin typeface="Cambria"/>
                          <a:cs typeface="Cambria"/>
                        </a:rPr>
                        <a:t> </a:t>
                      </a:r>
                      <a:r>
                        <a:rPr sz="1000" dirty="0">
                          <a:solidFill>
                            <a:srgbClr val="22373A"/>
                          </a:solidFill>
                          <a:latin typeface="Cambria"/>
                          <a:cs typeface="Cambria"/>
                        </a:rPr>
                        <a:t>40</a:t>
                      </a:r>
                      <a:r>
                        <a:rPr sz="1000" spc="320" dirty="0">
                          <a:solidFill>
                            <a:srgbClr val="22373A"/>
                          </a:solidFill>
                          <a:latin typeface="Cambria"/>
                          <a:cs typeface="Cambria"/>
                        </a:rPr>
                        <a:t> </a:t>
                      </a:r>
                      <a:r>
                        <a:rPr sz="1000" spc="-10" dirty="0">
                          <a:solidFill>
                            <a:srgbClr val="22373A"/>
                          </a:solidFill>
                          <a:latin typeface="Cambria"/>
                          <a:cs typeface="Cambria"/>
                        </a:rPr>
                        <a:t>inbound.</a:t>
                      </a:r>
                      <a:r>
                        <a:rPr sz="1000" dirty="0">
                          <a:solidFill>
                            <a:srgbClr val="22373A"/>
                          </a:solidFill>
                          <a:latin typeface="Cambria"/>
                          <a:cs typeface="Cambria"/>
                        </a:rPr>
                        <a:t>	</a:t>
                      </a:r>
                      <a:r>
                        <a:rPr sz="1000" spc="-10" dirty="0">
                          <a:solidFill>
                            <a:srgbClr val="22373A"/>
                          </a:solidFill>
                          <a:latin typeface="Cambria"/>
                          <a:cs typeface="Cambria"/>
                        </a:rPr>
                        <a:t>Timing: </a:t>
                      </a:r>
                      <a:r>
                        <a:rPr sz="1000" spc="55" dirty="0">
                          <a:solidFill>
                            <a:srgbClr val="22373A"/>
                          </a:solidFill>
                          <a:latin typeface="Cambria"/>
                          <a:cs typeface="Cambria"/>
                        </a:rPr>
                        <a:t>rapid</a:t>
                      </a:r>
                      <a:r>
                        <a:rPr sz="1000" spc="355" dirty="0">
                          <a:solidFill>
                            <a:srgbClr val="22373A"/>
                          </a:solidFill>
                          <a:latin typeface="Cambria"/>
                          <a:cs typeface="Cambria"/>
                        </a:rPr>
                        <a:t> </a:t>
                      </a:r>
                      <a:r>
                        <a:rPr sz="1000" spc="95" dirty="0">
                          <a:solidFill>
                            <a:srgbClr val="22373A"/>
                          </a:solidFill>
                          <a:latin typeface="Cambria"/>
                          <a:cs typeface="Cambria"/>
                        </a:rPr>
                        <a:t>inter-</a:t>
                      </a:r>
                      <a:r>
                        <a:rPr sz="1000" spc="135" dirty="0">
                          <a:solidFill>
                            <a:srgbClr val="22373A"/>
                          </a:solidFill>
                          <a:latin typeface="Cambria"/>
                          <a:cs typeface="Cambria"/>
                        </a:rPr>
                        <a:t>arrival.</a:t>
                      </a:r>
                      <a:endParaRPr sz="1000">
                        <a:latin typeface="Cambria"/>
                        <a:cs typeface="Cambria"/>
                      </a:endParaRPr>
                    </a:p>
                  </a:txBody>
                  <a:tcPr marL="0" marR="0" marT="0" marB="0">
                    <a:solidFill>
                      <a:srgbClr val="E4E6E6"/>
                    </a:solidFill>
                  </a:tcPr>
                </a:tc>
                <a:extLst>
                  <a:ext uri="{0D108BD9-81ED-4DB2-BD59-A6C34878D82A}">
                    <a16:rowId xmlns:a16="http://schemas.microsoft.com/office/drawing/2014/main" val="10001"/>
                  </a:ext>
                </a:extLst>
              </a:tr>
            </a:tbl>
          </a:graphicData>
        </a:graphic>
      </p:graphicFrame>
      <p:sp>
        <p:nvSpPr>
          <p:cNvPr id="9" name="object 9"/>
          <p:cNvSpPr/>
          <p:nvPr/>
        </p:nvSpPr>
        <p:spPr>
          <a:xfrm>
            <a:off x="359994" y="2220734"/>
            <a:ext cx="5039995" cy="0"/>
          </a:xfrm>
          <a:custGeom>
            <a:avLst/>
            <a:gdLst/>
            <a:ahLst/>
            <a:cxnLst/>
            <a:rect l="l" t="t" r="r" b="b"/>
            <a:pathLst>
              <a:path w="5039995">
                <a:moveTo>
                  <a:pt x="0" y="0"/>
                </a:moveTo>
                <a:lnTo>
                  <a:pt x="5039995" y="0"/>
                </a:lnTo>
              </a:path>
            </a:pathLst>
          </a:custGeom>
          <a:ln w="7594">
            <a:solidFill>
              <a:srgbClr val="2D7DB8"/>
            </a:solidFill>
          </a:ln>
        </p:spPr>
        <p:txBody>
          <a:bodyPr wrap="square" lIns="0" tIns="0" rIns="0" bIns="0" rtlCol="0"/>
          <a:lstStyle/>
          <a:p>
            <a:endParaRPr/>
          </a:p>
        </p:txBody>
      </p:sp>
      <p:sp>
        <p:nvSpPr>
          <p:cNvPr id="10" name="object 10"/>
          <p:cNvSpPr txBox="1"/>
          <p:nvPr/>
        </p:nvSpPr>
        <p:spPr>
          <a:xfrm>
            <a:off x="347294" y="2370485"/>
            <a:ext cx="4683125" cy="177800"/>
          </a:xfrm>
          <a:prstGeom prst="rect">
            <a:avLst/>
          </a:prstGeom>
        </p:spPr>
        <p:txBody>
          <a:bodyPr vert="horz" wrap="square" lIns="0" tIns="12065" rIns="0" bIns="0" rtlCol="0">
            <a:spAutoFit/>
          </a:bodyPr>
          <a:lstStyle/>
          <a:p>
            <a:pPr marL="12700">
              <a:lnSpc>
                <a:spcPct val="100000"/>
              </a:lnSpc>
              <a:spcBef>
                <a:spcPts val="95"/>
              </a:spcBef>
            </a:pPr>
            <a:r>
              <a:rPr sz="1000" dirty="0">
                <a:solidFill>
                  <a:srgbClr val="22373A"/>
                </a:solidFill>
                <a:latin typeface="Arial MT"/>
                <a:cs typeface="Arial MT"/>
              </a:rPr>
              <a:t>The</a:t>
            </a:r>
            <a:r>
              <a:rPr sz="1000" spc="-15" dirty="0">
                <a:solidFill>
                  <a:srgbClr val="22373A"/>
                </a:solidFill>
                <a:latin typeface="Arial MT"/>
                <a:cs typeface="Arial MT"/>
              </a:rPr>
              <a:t> </a:t>
            </a:r>
            <a:r>
              <a:rPr sz="1000" spc="-70" dirty="0">
                <a:solidFill>
                  <a:srgbClr val="22373A"/>
                </a:solidFill>
                <a:latin typeface="Arial MT"/>
                <a:cs typeface="Arial MT"/>
              </a:rPr>
              <a:t>class</a:t>
            </a:r>
            <a:r>
              <a:rPr sz="1000" dirty="0">
                <a:solidFill>
                  <a:srgbClr val="22373A"/>
                </a:solidFill>
                <a:latin typeface="Arial MT"/>
                <a:cs typeface="Arial MT"/>
              </a:rPr>
              <a:t> </a:t>
            </a:r>
            <a:r>
              <a:rPr sz="1000" spc="-25" dirty="0">
                <a:solidFill>
                  <a:srgbClr val="22373A"/>
                </a:solidFill>
                <a:latin typeface="Arial MT"/>
                <a:cs typeface="Arial MT"/>
              </a:rPr>
              <a:t>label</a:t>
            </a:r>
            <a:r>
              <a:rPr sz="1000" spc="-5" dirty="0">
                <a:solidFill>
                  <a:srgbClr val="22373A"/>
                </a:solidFill>
                <a:latin typeface="Arial MT"/>
                <a:cs typeface="Arial MT"/>
              </a:rPr>
              <a:t> </a:t>
            </a:r>
            <a:r>
              <a:rPr sz="1000" dirty="0">
                <a:solidFill>
                  <a:srgbClr val="22373A"/>
                </a:solidFill>
                <a:latin typeface="Arial MT"/>
                <a:cs typeface="Arial MT"/>
              </a:rPr>
              <a:t>is</a:t>
            </a:r>
            <a:r>
              <a:rPr sz="1000" spc="-5" dirty="0">
                <a:solidFill>
                  <a:srgbClr val="22373A"/>
                </a:solidFill>
                <a:latin typeface="Arial MT"/>
                <a:cs typeface="Arial MT"/>
              </a:rPr>
              <a:t> </a:t>
            </a:r>
            <a:r>
              <a:rPr sz="1000" spc="-30" dirty="0">
                <a:solidFill>
                  <a:srgbClr val="22373A"/>
                </a:solidFill>
                <a:latin typeface="Arial MT"/>
                <a:cs typeface="Arial MT"/>
              </a:rPr>
              <a:t>deliberately</a:t>
            </a:r>
            <a:r>
              <a:rPr sz="1000" spc="-5" dirty="0">
                <a:solidFill>
                  <a:srgbClr val="22373A"/>
                </a:solidFill>
                <a:latin typeface="Arial MT"/>
                <a:cs typeface="Arial MT"/>
              </a:rPr>
              <a:t> </a:t>
            </a:r>
            <a:r>
              <a:rPr sz="1000" spc="-40" dirty="0">
                <a:solidFill>
                  <a:srgbClr val="22373A"/>
                </a:solidFill>
                <a:latin typeface="Arial MT"/>
                <a:cs typeface="Arial MT"/>
              </a:rPr>
              <a:t>excluded:</a:t>
            </a:r>
            <a:r>
              <a:rPr sz="1000" spc="85" dirty="0">
                <a:solidFill>
                  <a:srgbClr val="22373A"/>
                </a:solidFill>
                <a:latin typeface="Arial MT"/>
                <a:cs typeface="Arial MT"/>
              </a:rPr>
              <a:t> </a:t>
            </a:r>
            <a:r>
              <a:rPr sz="1000" dirty="0">
                <a:solidFill>
                  <a:srgbClr val="22373A"/>
                </a:solidFill>
                <a:latin typeface="Arial MT"/>
                <a:cs typeface="Arial MT"/>
              </a:rPr>
              <a:t>no</a:t>
            </a:r>
            <a:r>
              <a:rPr sz="1000" spc="-10" dirty="0">
                <a:solidFill>
                  <a:srgbClr val="22373A"/>
                </a:solidFill>
                <a:latin typeface="Arial MT"/>
                <a:cs typeface="Arial MT"/>
              </a:rPr>
              <a:t> </a:t>
            </a:r>
            <a:r>
              <a:rPr sz="1000" spc="-30" dirty="0">
                <a:solidFill>
                  <a:srgbClr val="22373A"/>
                </a:solidFill>
                <a:latin typeface="Arial MT"/>
                <a:cs typeface="Arial MT"/>
              </a:rPr>
              <a:t>ground</a:t>
            </a:r>
            <a:r>
              <a:rPr sz="1000" spc="-5" dirty="0">
                <a:solidFill>
                  <a:srgbClr val="22373A"/>
                </a:solidFill>
                <a:latin typeface="Arial MT"/>
                <a:cs typeface="Arial MT"/>
              </a:rPr>
              <a:t> </a:t>
            </a:r>
            <a:r>
              <a:rPr sz="1000" dirty="0">
                <a:solidFill>
                  <a:srgbClr val="22373A"/>
                </a:solidFill>
                <a:latin typeface="Arial MT"/>
                <a:cs typeface="Arial MT"/>
              </a:rPr>
              <a:t>truth</a:t>
            </a:r>
            <a:r>
              <a:rPr sz="1000" spc="-5" dirty="0">
                <a:solidFill>
                  <a:srgbClr val="22373A"/>
                </a:solidFill>
                <a:latin typeface="Arial MT"/>
                <a:cs typeface="Arial MT"/>
              </a:rPr>
              <a:t> </a:t>
            </a:r>
            <a:r>
              <a:rPr sz="1000" spc="-40" dirty="0">
                <a:solidFill>
                  <a:srgbClr val="22373A"/>
                </a:solidFill>
                <a:latin typeface="Arial MT"/>
                <a:cs typeface="Arial MT"/>
              </a:rPr>
              <a:t>enters</a:t>
            </a:r>
            <a:r>
              <a:rPr sz="1000" dirty="0">
                <a:solidFill>
                  <a:srgbClr val="22373A"/>
                </a:solidFill>
                <a:latin typeface="Arial MT"/>
                <a:cs typeface="Arial MT"/>
              </a:rPr>
              <a:t> the</a:t>
            </a:r>
            <a:r>
              <a:rPr sz="1000" spc="-10" dirty="0">
                <a:solidFill>
                  <a:srgbClr val="22373A"/>
                </a:solidFill>
                <a:latin typeface="Arial MT"/>
                <a:cs typeface="Arial MT"/>
              </a:rPr>
              <a:t> </a:t>
            </a:r>
            <a:r>
              <a:rPr sz="1000" spc="-55" dirty="0">
                <a:solidFill>
                  <a:srgbClr val="22373A"/>
                </a:solidFill>
                <a:latin typeface="Arial MT"/>
                <a:cs typeface="Arial MT"/>
              </a:rPr>
              <a:t>unsupervised</a:t>
            </a:r>
            <a:r>
              <a:rPr sz="1000" spc="-5" dirty="0">
                <a:solidFill>
                  <a:srgbClr val="22373A"/>
                </a:solidFill>
                <a:latin typeface="Arial MT"/>
                <a:cs typeface="Arial MT"/>
              </a:rPr>
              <a:t> </a:t>
            </a:r>
            <a:r>
              <a:rPr sz="1000" spc="-10" dirty="0">
                <a:solidFill>
                  <a:srgbClr val="22373A"/>
                </a:solidFill>
                <a:latin typeface="Arial MT"/>
                <a:cs typeface="Arial MT"/>
              </a:rPr>
              <a:t>stages.</a:t>
            </a:r>
            <a:endParaRPr sz="1000">
              <a:latin typeface="Arial MT"/>
              <a:cs typeface="Arial MT"/>
            </a:endParaRPr>
          </a:p>
        </p:txBody>
      </p:sp>
      <p:pic>
        <p:nvPicPr>
          <p:cNvPr id="11" name="object 11"/>
          <p:cNvPicPr/>
          <p:nvPr/>
        </p:nvPicPr>
        <p:blipFill>
          <a:blip r:embed="rId3" cstate="print"/>
          <a:stretch>
            <a:fillRect/>
          </a:stretch>
        </p:blipFill>
        <p:spPr>
          <a:xfrm>
            <a:off x="101282" y="2998905"/>
            <a:ext cx="241983" cy="187117"/>
          </a:xfrm>
          <a:prstGeom prst="rect">
            <a:avLst/>
          </a:prstGeom>
        </p:spPr>
      </p:pic>
      <p:pic>
        <p:nvPicPr>
          <p:cNvPr id="12" name="object 12"/>
          <p:cNvPicPr/>
          <p:nvPr/>
        </p:nvPicPr>
        <p:blipFill>
          <a:blip r:embed="rId4" cstate="print"/>
          <a:stretch>
            <a:fillRect/>
          </a:stretch>
        </p:blipFill>
        <p:spPr>
          <a:xfrm>
            <a:off x="433285" y="2998965"/>
            <a:ext cx="187057" cy="187057"/>
          </a:xfrm>
          <a:prstGeom prst="rect">
            <a:avLst/>
          </a:prstGeom>
        </p:spPr>
      </p:pic>
      <p:pic>
        <p:nvPicPr>
          <p:cNvPr id="13" name="object 13"/>
          <p:cNvPicPr/>
          <p:nvPr/>
        </p:nvPicPr>
        <p:blipFill>
          <a:blip r:embed="rId5" cstate="print"/>
          <a:stretch>
            <a:fillRect/>
          </a:stretch>
        </p:blipFill>
        <p:spPr>
          <a:xfrm>
            <a:off x="710349" y="2998815"/>
            <a:ext cx="187208" cy="187208"/>
          </a:xfrm>
          <a:prstGeom prst="rect">
            <a:avLst/>
          </a:prstGeom>
        </p:spPr>
      </p:pic>
      <p:sp>
        <p:nvSpPr>
          <p:cNvPr id="14" name="object 14"/>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6</a:t>
            </a:r>
            <a:r>
              <a:rPr spc="-80" dirty="0"/>
              <a:t> </a:t>
            </a:r>
            <a:r>
              <a:rPr spc="195" dirty="0"/>
              <a:t>/</a:t>
            </a:r>
            <a:r>
              <a:rPr spc="-75" dirty="0"/>
              <a:t> </a:t>
            </a:r>
            <a:r>
              <a:rPr spc="-25" dirty="0"/>
              <a:t>32</a:t>
            </a: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2770" y="76349"/>
            <a:ext cx="2304415" cy="207645"/>
          </a:xfrm>
          <a:prstGeom prst="rect">
            <a:avLst/>
          </a:prstGeom>
        </p:spPr>
        <p:txBody>
          <a:bodyPr vert="horz" wrap="square" lIns="0" tIns="12065" rIns="0" bIns="0" rtlCol="0">
            <a:spAutoFit/>
          </a:bodyPr>
          <a:lstStyle/>
          <a:p>
            <a:pPr marL="12700">
              <a:lnSpc>
                <a:spcPct val="100000"/>
              </a:lnSpc>
              <a:spcBef>
                <a:spcPts val="95"/>
              </a:spcBef>
            </a:pPr>
            <a:r>
              <a:rPr spc="-25" dirty="0"/>
              <a:t>Stages</a:t>
            </a:r>
            <a:r>
              <a:rPr spc="40" dirty="0"/>
              <a:t> </a:t>
            </a:r>
            <a:r>
              <a:rPr dirty="0"/>
              <a:t>2–3:</a:t>
            </a:r>
            <a:r>
              <a:rPr spc="170" dirty="0"/>
              <a:t> </a:t>
            </a:r>
            <a:r>
              <a:rPr dirty="0"/>
              <a:t>Embed,</a:t>
            </a:r>
            <a:r>
              <a:rPr spc="40" dirty="0"/>
              <a:t> </a:t>
            </a:r>
            <a:r>
              <a:rPr dirty="0"/>
              <a:t>then</a:t>
            </a:r>
            <a:r>
              <a:rPr spc="40" dirty="0"/>
              <a:t> </a:t>
            </a:r>
            <a:r>
              <a:rPr spc="-25" dirty="0"/>
              <a:t>group</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1260475" cy="5080"/>
            </a:xfrm>
            <a:custGeom>
              <a:avLst/>
              <a:gdLst/>
              <a:ahLst/>
              <a:cxnLst/>
              <a:rect l="l" t="t" r="r" b="b"/>
              <a:pathLst>
                <a:path w="1260475" h="5079">
                  <a:moveTo>
                    <a:pt x="0" y="5060"/>
                  </a:moveTo>
                  <a:lnTo>
                    <a:pt x="0" y="0"/>
                  </a:lnTo>
                  <a:lnTo>
                    <a:pt x="1260016" y="0"/>
                  </a:lnTo>
                  <a:lnTo>
                    <a:pt x="1260016" y="5060"/>
                  </a:lnTo>
                  <a:lnTo>
                    <a:pt x="0" y="5060"/>
                  </a:lnTo>
                  <a:close/>
                </a:path>
              </a:pathLst>
            </a:custGeom>
            <a:solidFill>
              <a:srgbClr val="2D7DB8"/>
            </a:solidFill>
          </p:spPr>
          <p:txBody>
            <a:bodyPr wrap="square" lIns="0" tIns="0" rIns="0" bIns="0" rtlCol="0"/>
            <a:lstStyle/>
            <a:p>
              <a:endParaRPr/>
            </a:p>
          </p:txBody>
        </p:sp>
      </p:grpSp>
      <p:sp>
        <p:nvSpPr>
          <p:cNvPr id="7" name="object 7"/>
          <p:cNvSpPr txBox="1"/>
          <p:nvPr/>
        </p:nvSpPr>
        <p:spPr>
          <a:xfrm>
            <a:off x="486283" y="1310828"/>
            <a:ext cx="3749040" cy="950901"/>
          </a:xfrm>
          <a:prstGeom prst="rect">
            <a:avLst/>
          </a:prstGeom>
        </p:spPr>
        <p:txBody>
          <a:bodyPr vert="horz" wrap="square" lIns="0" tIns="80645" rIns="0" bIns="0" rtlCol="0">
            <a:spAutoFit/>
          </a:bodyPr>
          <a:lstStyle/>
          <a:p>
            <a:pPr marL="148590" indent="-135890">
              <a:lnSpc>
                <a:spcPct val="100000"/>
              </a:lnSpc>
              <a:spcBef>
                <a:spcPts val="635"/>
              </a:spcBef>
              <a:buChar char="•"/>
              <a:tabLst>
                <a:tab pos="148590" algn="l"/>
              </a:tabLst>
            </a:pPr>
            <a:r>
              <a:rPr sz="1100" spc="-75" dirty="0">
                <a:solidFill>
                  <a:srgbClr val="22373A"/>
                </a:solidFill>
                <a:latin typeface="Arial MT"/>
                <a:cs typeface="Arial MT"/>
              </a:rPr>
              <a:t>Each</a:t>
            </a:r>
            <a:r>
              <a:rPr sz="1100" spc="45" dirty="0">
                <a:solidFill>
                  <a:srgbClr val="22373A"/>
                </a:solidFill>
                <a:latin typeface="Arial MT"/>
                <a:cs typeface="Arial MT"/>
              </a:rPr>
              <a:t> </a:t>
            </a:r>
            <a:r>
              <a:rPr sz="1100" spc="-85" dirty="0">
                <a:solidFill>
                  <a:srgbClr val="22373A"/>
                </a:solidFill>
                <a:latin typeface="Arial MT"/>
                <a:cs typeface="Arial MT"/>
              </a:rPr>
              <a:t>sentence</a:t>
            </a:r>
            <a:r>
              <a:rPr sz="1100" spc="50" dirty="0">
                <a:solidFill>
                  <a:srgbClr val="22373A"/>
                </a:solidFill>
                <a:latin typeface="Arial MT"/>
                <a:cs typeface="Arial MT"/>
              </a:rPr>
              <a:t> </a:t>
            </a:r>
            <a:r>
              <a:rPr sz="1100" i="1" dirty="0">
                <a:solidFill>
                  <a:srgbClr val="22373A"/>
                </a:solidFill>
                <a:latin typeface="Arial"/>
                <a:cs typeface="Arial"/>
              </a:rPr>
              <a:t>→</a:t>
            </a:r>
            <a:r>
              <a:rPr sz="1100" i="1" spc="50" dirty="0">
                <a:solidFill>
                  <a:srgbClr val="22373A"/>
                </a:solidFill>
                <a:latin typeface="Arial"/>
                <a:cs typeface="Arial"/>
              </a:rPr>
              <a:t> </a:t>
            </a:r>
            <a:r>
              <a:rPr sz="1100" spc="-75" dirty="0">
                <a:solidFill>
                  <a:srgbClr val="22373A"/>
                </a:solidFill>
                <a:latin typeface="Arial MT"/>
                <a:cs typeface="Arial MT"/>
              </a:rPr>
              <a:t>384-</a:t>
            </a:r>
            <a:r>
              <a:rPr sz="1100" spc="-60" dirty="0">
                <a:solidFill>
                  <a:srgbClr val="22373A"/>
                </a:solidFill>
                <a:latin typeface="Arial MT"/>
                <a:cs typeface="Arial MT"/>
              </a:rPr>
              <a:t>dimensional</a:t>
            </a:r>
            <a:r>
              <a:rPr sz="1100" spc="50" dirty="0">
                <a:solidFill>
                  <a:srgbClr val="22373A"/>
                </a:solidFill>
                <a:latin typeface="Arial MT"/>
                <a:cs typeface="Arial MT"/>
              </a:rPr>
              <a:t> </a:t>
            </a:r>
            <a:r>
              <a:rPr sz="1100" spc="-35" dirty="0">
                <a:solidFill>
                  <a:srgbClr val="22373A"/>
                </a:solidFill>
                <a:latin typeface="Arial MT"/>
                <a:cs typeface="Arial MT"/>
              </a:rPr>
              <a:t>vector</a:t>
            </a:r>
            <a:r>
              <a:rPr sz="1100" spc="50" dirty="0">
                <a:solidFill>
                  <a:srgbClr val="22373A"/>
                </a:solidFill>
                <a:latin typeface="Arial MT"/>
                <a:cs typeface="Arial MT"/>
              </a:rPr>
              <a:t> </a:t>
            </a:r>
            <a:r>
              <a:rPr sz="1100" spc="-10" dirty="0">
                <a:solidFill>
                  <a:srgbClr val="22373A"/>
                </a:solidFill>
                <a:latin typeface="Arial MT"/>
                <a:cs typeface="Arial MT"/>
              </a:rPr>
              <a:t>(all-</a:t>
            </a:r>
            <a:r>
              <a:rPr sz="1100" spc="-25" dirty="0">
                <a:solidFill>
                  <a:srgbClr val="22373A"/>
                </a:solidFill>
                <a:latin typeface="Arial MT"/>
                <a:cs typeface="Arial MT"/>
              </a:rPr>
              <a:t>MiniLM-</a:t>
            </a:r>
            <a:r>
              <a:rPr sz="1100" spc="-30" dirty="0">
                <a:solidFill>
                  <a:srgbClr val="22373A"/>
                </a:solidFill>
                <a:latin typeface="Arial MT"/>
                <a:cs typeface="Arial MT"/>
              </a:rPr>
              <a:t>L6-</a:t>
            </a:r>
            <a:r>
              <a:rPr sz="1100" spc="-25" dirty="0">
                <a:solidFill>
                  <a:srgbClr val="22373A"/>
                </a:solidFill>
                <a:latin typeface="Arial MT"/>
                <a:cs typeface="Arial MT"/>
              </a:rPr>
              <a:t>v2)</a:t>
            </a:r>
            <a:endParaRPr sz="1100" dirty="0">
              <a:latin typeface="Arial MT"/>
              <a:cs typeface="Arial MT"/>
            </a:endParaRPr>
          </a:p>
          <a:p>
            <a:pPr marL="148590" indent="-135890">
              <a:lnSpc>
                <a:spcPct val="100000"/>
              </a:lnSpc>
              <a:spcBef>
                <a:spcPts val="540"/>
              </a:spcBef>
              <a:buChar char="•"/>
              <a:tabLst>
                <a:tab pos="148590" algn="l"/>
              </a:tabLst>
            </a:pPr>
            <a:r>
              <a:rPr sz="1100" spc="-80" dirty="0">
                <a:solidFill>
                  <a:srgbClr val="22373A"/>
                </a:solidFill>
                <a:latin typeface="Arial MT"/>
                <a:cs typeface="Arial MT"/>
              </a:rPr>
              <a:t>Greedy</a:t>
            </a:r>
            <a:r>
              <a:rPr sz="1100" spc="5" dirty="0">
                <a:solidFill>
                  <a:srgbClr val="22373A"/>
                </a:solidFill>
                <a:latin typeface="Arial MT"/>
                <a:cs typeface="Arial MT"/>
              </a:rPr>
              <a:t> </a:t>
            </a:r>
            <a:r>
              <a:rPr sz="1100" spc="-70" dirty="0">
                <a:solidFill>
                  <a:srgbClr val="22373A"/>
                </a:solidFill>
                <a:latin typeface="Arial MT"/>
                <a:cs typeface="Arial MT"/>
              </a:rPr>
              <a:t>cosine-</a:t>
            </a:r>
            <a:r>
              <a:rPr sz="1100" spc="-55" dirty="0">
                <a:solidFill>
                  <a:srgbClr val="22373A"/>
                </a:solidFill>
                <a:latin typeface="Arial MT"/>
                <a:cs typeface="Arial MT"/>
              </a:rPr>
              <a:t>threshold</a:t>
            </a:r>
            <a:r>
              <a:rPr sz="1100" spc="-15" dirty="0">
                <a:solidFill>
                  <a:srgbClr val="22373A"/>
                </a:solidFill>
                <a:latin typeface="Arial MT"/>
                <a:cs typeface="Arial MT"/>
              </a:rPr>
              <a:t> </a:t>
            </a:r>
            <a:r>
              <a:rPr sz="1100" spc="-35" dirty="0">
                <a:solidFill>
                  <a:srgbClr val="22373A"/>
                </a:solidFill>
                <a:latin typeface="Arial MT"/>
                <a:cs typeface="Arial MT"/>
              </a:rPr>
              <a:t>clustering,</a:t>
            </a:r>
            <a:r>
              <a:rPr sz="1100" spc="-5" dirty="0">
                <a:solidFill>
                  <a:srgbClr val="22373A"/>
                </a:solidFill>
                <a:latin typeface="Arial MT"/>
                <a:cs typeface="Arial MT"/>
              </a:rPr>
              <a:t> </a:t>
            </a:r>
            <a:r>
              <a:rPr sz="1100" spc="-20" dirty="0">
                <a:solidFill>
                  <a:srgbClr val="22373A"/>
                </a:solidFill>
                <a:latin typeface="Arial MT"/>
                <a:cs typeface="Arial MT"/>
              </a:rPr>
              <a:t>directly</a:t>
            </a:r>
            <a:r>
              <a:rPr sz="1100" spc="-5" dirty="0">
                <a:solidFill>
                  <a:srgbClr val="22373A"/>
                </a:solidFill>
                <a:latin typeface="Arial MT"/>
                <a:cs typeface="Arial MT"/>
              </a:rPr>
              <a:t> </a:t>
            </a:r>
            <a:r>
              <a:rPr sz="1100" spc="-10" dirty="0">
                <a:solidFill>
                  <a:srgbClr val="22373A"/>
                </a:solidFill>
                <a:latin typeface="Arial MT"/>
                <a:cs typeface="Arial MT"/>
              </a:rPr>
              <a:t>on</a:t>
            </a:r>
            <a:r>
              <a:rPr sz="1100" spc="-5" dirty="0">
                <a:solidFill>
                  <a:srgbClr val="22373A"/>
                </a:solidFill>
                <a:latin typeface="Arial MT"/>
                <a:cs typeface="Arial MT"/>
              </a:rPr>
              <a:t> </a:t>
            </a:r>
            <a:r>
              <a:rPr sz="1100" dirty="0">
                <a:solidFill>
                  <a:srgbClr val="22373A"/>
                </a:solidFill>
                <a:latin typeface="Arial MT"/>
                <a:cs typeface="Arial MT"/>
              </a:rPr>
              <a:t>the </a:t>
            </a:r>
            <a:r>
              <a:rPr sz="1100" spc="-45" dirty="0">
                <a:solidFill>
                  <a:srgbClr val="22373A"/>
                </a:solidFill>
                <a:latin typeface="Arial MT"/>
                <a:cs typeface="Arial MT"/>
              </a:rPr>
              <a:t>embeddings</a:t>
            </a:r>
            <a:endParaRPr lang="en-GB" sz="1100" spc="-45" dirty="0">
              <a:solidFill>
                <a:srgbClr val="22373A"/>
              </a:solidFill>
              <a:latin typeface="Arial MT"/>
              <a:cs typeface="Arial MT"/>
            </a:endParaRPr>
          </a:p>
          <a:p>
            <a:pPr marL="148590" indent="-135890">
              <a:lnSpc>
                <a:spcPct val="100000"/>
              </a:lnSpc>
              <a:spcBef>
                <a:spcPts val="540"/>
              </a:spcBef>
              <a:buChar char="•"/>
              <a:tabLst>
                <a:tab pos="148590" algn="l"/>
              </a:tabLst>
            </a:pPr>
            <a:r>
              <a:rPr lang="en-GB" sz="1100" spc="-45" dirty="0">
                <a:solidFill>
                  <a:srgbClr val="22373A"/>
                </a:solidFill>
                <a:latin typeface="Arial MT"/>
                <a:cs typeface="Arial MT"/>
              </a:rPr>
              <a:t> Grouping based on threshold sweep</a:t>
            </a:r>
            <a:endParaRPr sz="1100" dirty="0">
              <a:latin typeface="Arial MT"/>
              <a:cs typeface="Arial MT"/>
            </a:endParaRPr>
          </a:p>
          <a:p>
            <a:pPr marL="148590" indent="-135890">
              <a:lnSpc>
                <a:spcPct val="100000"/>
              </a:lnSpc>
              <a:spcBef>
                <a:spcPts val="535"/>
              </a:spcBef>
              <a:buChar char="•"/>
              <a:tabLst>
                <a:tab pos="148590" algn="l"/>
              </a:tabLst>
            </a:pPr>
            <a:endParaRPr sz="1100" dirty="0">
              <a:latin typeface="Arial MT"/>
              <a:cs typeface="Arial MT"/>
            </a:endParaRPr>
          </a:p>
        </p:txBody>
      </p:sp>
      <p:pic>
        <p:nvPicPr>
          <p:cNvPr id="8" name="object 8"/>
          <p:cNvPicPr/>
          <p:nvPr/>
        </p:nvPicPr>
        <p:blipFill>
          <a:blip r:embed="rId3" cstate="print"/>
          <a:stretch>
            <a:fillRect/>
          </a:stretch>
        </p:blipFill>
        <p:spPr>
          <a:xfrm>
            <a:off x="101282" y="2998905"/>
            <a:ext cx="241983" cy="187117"/>
          </a:xfrm>
          <a:prstGeom prst="rect">
            <a:avLst/>
          </a:prstGeom>
        </p:spPr>
      </p:pic>
      <p:pic>
        <p:nvPicPr>
          <p:cNvPr id="9" name="object 9"/>
          <p:cNvPicPr/>
          <p:nvPr/>
        </p:nvPicPr>
        <p:blipFill>
          <a:blip r:embed="rId4" cstate="print"/>
          <a:stretch>
            <a:fillRect/>
          </a:stretch>
        </p:blipFill>
        <p:spPr>
          <a:xfrm>
            <a:off x="433285" y="2998965"/>
            <a:ext cx="187057" cy="187057"/>
          </a:xfrm>
          <a:prstGeom prst="rect">
            <a:avLst/>
          </a:prstGeom>
        </p:spPr>
      </p:pic>
      <p:pic>
        <p:nvPicPr>
          <p:cNvPr id="10" name="object 10"/>
          <p:cNvPicPr/>
          <p:nvPr/>
        </p:nvPicPr>
        <p:blipFill>
          <a:blip r:embed="rId5" cstate="print"/>
          <a:stretch>
            <a:fillRect/>
          </a:stretch>
        </p:blipFill>
        <p:spPr>
          <a:xfrm>
            <a:off x="710349" y="2998815"/>
            <a:ext cx="187208" cy="187208"/>
          </a:xfrm>
          <a:prstGeom prst="rect">
            <a:avLst/>
          </a:prstGeom>
        </p:spPr>
      </p:pic>
      <p:sp>
        <p:nvSpPr>
          <p:cNvPr id="11" name="object 11"/>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7</a:t>
            </a:r>
            <a:r>
              <a:rPr spc="-80" dirty="0"/>
              <a:t> </a:t>
            </a:r>
            <a:r>
              <a:rPr spc="195" dirty="0"/>
              <a:t>/</a:t>
            </a:r>
            <a:r>
              <a:rPr spc="-75" dirty="0"/>
              <a:t> </a:t>
            </a:r>
            <a:r>
              <a:rPr spc="-25" dirty="0"/>
              <a:t>32</a:t>
            </a: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Stage</a:t>
            </a:r>
            <a:r>
              <a:rPr spc="20" dirty="0"/>
              <a:t> </a:t>
            </a:r>
            <a:r>
              <a:rPr dirty="0"/>
              <a:t>4:</a:t>
            </a:r>
            <a:r>
              <a:rPr spc="155" dirty="0"/>
              <a:t> </a:t>
            </a:r>
            <a:r>
              <a:rPr spc="-10" dirty="0"/>
              <a:t>Triple</a:t>
            </a:r>
            <a:r>
              <a:rPr spc="25" dirty="0"/>
              <a:t> </a:t>
            </a:r>
            <a:r>
              <a:rPr spc="-10" dirty="0"/>
              <a:t>extraction</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1440180" cy="5080"/>
            </a:xfrm>
            <a:custGeom>
              <a:avLst/>
              <a:gdLst/>
              <a:ahLst/>
              <a:cxnLst/>
              <a:rect l="l" t="t" r="r" b="b"/>
              <a:pathLst>
                <a:path w="1440180" h="5079">
                  <a:moveTo>
                    <a:pt x="0" y="5060"/>
                  </a:moveTo>
                  <a:lnTo>
                    <a:pt x="0" y="0"/>
                  </a:lnTo>
                  <a:lnTo>
                    <a:pt x="1440018" y="0"/>
                  </a:lnTo>
                  <a:lnTo>
                    <a:pt x="1440018" y="5060"/>
                  </a:lnTo>
                  <a:lnTo>
                    <a:pt x="0" y="5060"/>
                  </a:lnTo>
                  <a:close/>
                </a:path>
              </a:pathLst>
            </a:custGeom>
            <a:solidFill>
              <a:srgbClr val="2D7DB8"/>
            </a:solidFill>
          </p:spPr>
          <p:txBody>
            <a:bodyPr wrap="square" lIns="0" tIns="0" rIns="0" bIns="0" rtlCol="0"/>
            <a:lstStyle/>
            <a:p>
              <a:endParaRPr/>
            </a:p>
          </p:txBody>
        </p:sp>
      </p:grpSp>
      <p:sp>
        <p:nvSpPr>
          <p:cNvPr id="7" name="object 7"/>
          <p:cNvSpPr txBox="1"/>
          <p:nvPr/>
        </p:nvSpPr>
        <p:spPr>
          <a:xfrm>
            <a:off x="347294" y="668945"/>
            <a:ext cx="3872229" cy="191770"/>
          </a:xfrm>
          <a:prstGeom prst="rect">
            <a:avLst/>
          </a:prstGeom>
        </p:spPr>
        <p:txBody>
          <a:bodyPr vert="horz" wrap="square" lIns="0" tIns="11430" rIns="0" bIns="0" rtlCol="0">
            <a:spAutoFit/>
          </a:bodyPr>
          <a:lstStyle/>
          <a:p>
            <a:pPr marL="12700">
              <a:lnSpc>
                <a:spcPct val="100000"/>
              </a:lnSpc>
              <a:spcBef>
                <a:spcPts val="90"/>
              </a:spcBef>
            </a:pPr>
            <a:r>
              <a:rPr sz="1100" dirty="0">
                <a:solidFill>
                  <a:srgbClr val="22373A"/>
                </a:solidFill>
                <a:latin typeface="Arial MT"/>
                <a:cs typeface="Arial MT"/>
              </a:rPr>
              <a:t>A </a:t>
            </a:r>
            <a:r>
              <a:rPr sz="1100" spc="-25" dirty="0">
                <a:solidFill>
                  <a:srgbClr val="22373A"/>
                </a:solidFill>
                <a:latin typeface="Arial MT"/>
                <a:cs typeface="Arial MT"/>
              </a:rPr>
              <a:t>local</a:t>
            </a:r>
            <a:r>
              <a:rPr sz="1100" spc="5" dirty="0">
                <a:solidFill>
                  <a:srgbClr val="22373A"/>
                </a:solidFill>
                <a:latin typeface="Arial MT"/>
                <a:cs typeface="Arial MT"/>
              </a:rPr>
              <a:t> </a:t>
            </a:r>
            <a:r>
              <a:rPr sz="1100" dirty="0">
                <a:solidFill>
                  <a:srgbClr val="22373A"/>
                </a:solidFill>
                <a:latin typeface="Arial MT"/>
                <a:cs typeface="Arial MT"/>
              </a:rPr>
              <a:t>LLM</a:t>
            </a:r>
            <a:r>
              <a:rPr sz="1100" spc="5" dirty="0">
                <a:solidFill>
                  <a:srgbClr val="22373A"/>
                </a:solidFill>
                <a:latin typeface="Arial MT"/>
                <a:cs typeface="Arial MT"/>
              </a:rPr>
              <a:t> </a:t>
            </a:r>
            <a:r>
              <a:rPr sz="1100" spc="-80" dirty="0">
                <a:solidFill>
                  <a:srgbClr val="22373A"/>
                </a:solidFill>
                <a:latin typeface="Arial MT"/>
                <a:cs typeface="Arial MT"/>
              </a:rPr>
              <a:t>reads</a:t>
            </a:r>
            <a:r>
              <a:rPr sz="1100" spc="5" dirty="0">
                <a:solidFill>
                  <a:srgbClr val="22373A"/>
                </a:solidFill>
                <a:latin typeface="Arial MT"/>
                <a:cs typeface="Arial MT"/>
              </a:rPr>
              <a:t> </a:t>
            </a:r>
            <a:r>
              <a:rPr sz="1100" spc="-85" dirty="0">
                <a:solidFill>
                  <a:srgbClr val="22373A"/>
                </a:solidFill>
                <a:latin typeface="Arial MT"/>
                <a:cs typeface="Arial MT"/>
              </a:rPr>
              <a:t>each</a:t>
            </a:r>
            <a:r>
              <a:rPr sz="1100" spc="10" dirty="0">
                <a:solidFill>
                  <a:srgbClr val="22373A"/>
                </a:solidFill>
                <a:latin typeface="Arial MT"/>
                <a:cs typeface="Arial MT"/>
              </a:rPr>
              <a:t> </a:t>
            </a:r>
            <a:r>
              <a:rPr sz="1100" spc="-40" dirty="0">
                <a:solidFill>
                  <a:srgbClr val="22373A"/>
                </a:solidFill>
                <a:latin typeface="Arial MT"/>
                <a:cs typeface="Arial MT"/>
              </a:rPr>
              <a:t>community</a:t>
            </a:r>
            <a:r>
              <a:rPr sz="1100" spc="10" dirty="0">
                <a:solidFill>
                  <a:srgbClr val="22373A"/>
                </a:solidFill>
                <a:latin typeface="Arial MT"/>
                <a:cs typeface="Arial MT"/>
              </a:rPr>
              <a:t> </a:t>
            </a:r>
            <a:r>
              <a:rPr sz="1100" spc="-55" dirty="0">
                <a:solidFill>
                  <a:srgbClr val="22373A"/>
                </a:solidFill>
                <a:latin typeface="Arial MT"/>
                <a:cs typeface="Arial MT"/>
              </a:rPr>
              <a:t>and</a:t>
            </a:r>
            <a:r>
              <a:rPr sz="1100" spc="5" dirty="0">
                <a:solidFill>
                  <a:srgbClr val="22373A"/>
                </a:solidFill>
                <a:latin typeface="Arial MT"/>
                <a:cs typeface="Arial MT"/>
              </a:rPr>
              <a:t> </a:t>
            </a:r>
            <a:r>
              <a:rPr sz="1100" spc="-35" dirty="0">
                <a:solidFill>
                  <a:srgbClr val="22373A"/>
                </a:solidFill>
                <a:latin typeface="Arial MT"/>
                <a:cs typeface="Arial MT"/>
              </a:rPr>
              <a:t>extracts</a:t>
            </a:r>
            <a:r>
              <a:rPr sz="1100" spc="5" dirty="0">
                <a:solidFill>
                  <a:srgbClr val="22373A"/>
                </a:solidFill>
                <a:latin typeface="Arial MT"/>
                <a:cs typeface="Arial MT"/>
              </a:rPr>
              <a:t> </a:t>
            </a:r>
            <a:r>
              <a:rPr sz="1100" spc="-55" dirty="0">
                <a:solidFill>
                  <a:srgbClr val="22373A"/>
                </a:solidFill>
                <a:latin typeface="Arial MT"/>
                <a:cs typeface="Arial MT"/>
              </a:rPr>
              <a:t>behavioral</a:t>
            </a:r>
            <a:r>
              <a:rPr sz="1100" spc="5" dirty="0">
                <a:solidFill>
                  <a:srgbClr val="22373A"/>
                </a:solidFill>
                <a:latin typeface="Arial MT"/>
                <a:cs typeface="Arial MT"/>
              </a:rPr>
              <a:t> </a:t>
            </a:r>
            <a:r>
              <a:rPr sz="1100" spc="-10" dirty="0">
                <a:solidFill>
                  <a:srgbClr val="22373A"/>
                </a:solidFill>
                <a:latin typeface="Arial MT"/>
                <a:cs typeface="Arial MT"/>
              </a:rPr>
              <a:t>triples:</a:t>
            </a:r>
            <a:endParaRPr sz="1100">
              <a:latin typeface="Arial MT"/>
              <a:cs typeface="Arial MT"/>
            </a:endParaRPr>
          </a:p>
        </p:txBody>
      </p:sp>
      <p:graphicFrame>
        <p:nvGraphicFramePr>
          <p:cNvPr id="8" name="object 8"/>
          <p:cNvGraphicFramePr>
            <a:graphicFrameLocks noGrp="1"/>
          </p:cNvGraphicFramePr>
          <p:nvPr/>
        </p:nvGraphicFramePr>
        <p:xfrm>
          <a:off x="359994" y="935697"/>
          <a:ext cx="5039995" cy="407669"/>
        </p:xfrm>
        <a:graphic>
          <a:graphicData uri="http://schemas.openxmlformats.org/drawingml/2006/table">
            <a:tbl>
              <a:tblPr firstRow="1" bandRow="1">
                <a:tableStyleId>{2D5ABB26-0587-4C30-8999-92F81FD0307C}</a:tableStyleId>
              </a:tblPr>
              <a:tblGrid>
                <a:gridCol w="5039995">
                  <a:extLst>
                    <a:ext uri="{9D8B030D-6E8A-4147-A177-3AD203B41FA5}">
                      <a16:colId xmlns:a16="http://schemas.microsoft.com/office/drawing/2014/main" val="20000"/>
                    </a:ext>
                  </a:extLst>
                </a:gridCol>
              </a:tblGrid>
              <a:tr h="199390">
                <a:tc>
                  <a:txBody>
                    <a:bodyPr/>
                    <a:lstStyle/>
                    <a:p>
                      <a:pPr>
                        <a:lnSpc>
                          <a:spcPct val="100000"/>
                        </a:lnSpc>
                      </a:pPr>
                      <a:endParaRPr sz="1000">
                        <a:latin typeface="Times New Roman"/>
                        <a:cs typeface="Times New Roman"/>
                      </a:endParaRPr>
                    </a:p>
                  </a:txBody>
                  <a:tcPr marL="0" marR="0" marT="0" marB="0">
                    <a:solidFill>
                      <a:srgbClr val="CED2D3"/>
                    </a:solidFill>
                  </a:tcPr>
                </a:tc>
                <a:extLst>
                  <a:ext uri="{0D108BD9-81ED-4DB2-BD59-A6C34878D82A}">
                    <a16:rowId xmlns:a16="http://schemas.microsoft.com/office/drawing/2014/main" val="10000"/>
                  </a:ext>
                </a:extLst>
              </a:tr>
              <a:tr h="208279">
                <a:tc>
                  <a:txBody>
                    <a:bodyPr/>
                    <a:lstStyle/>
                    <a:p>
                      <a:pPr marL="45720">
                        <a:lnSpc>
                          <a:spcPct val="100000"/>
                        </a:lnSpc>
                        <a:spcBef>
                          <a:spcPts val="55"/>
                        </a:spcBef>
                      </a:pPr>
                      <a:r>
                        <a:rPr sz="1000" spc="100" dirty="0">
                          <a:solidFill>
                            <a:srgbClr val="22373A"/>
                          </a:solidFill>
                          <a:latin typeface="Cambria"/>
                          <a:cs typeface="Cambria"/>
                        </a:rPr>
                        <a:t>(ssh_brute_force_client,</a:t>
                      </a:r>
                      <a:r>
                        <a:rPr sz="1000" spc="285" dirty="0">
                          <a:solidFill>
                            <a:srgbClr val="22373A"/>
                          </a:solidFill>
                          <a:latin typeface="Cambria"/>
                          <a:cs typeface="Cambria"/>
                        </a:rPr>
                        <a:t> </a:t>
                      </a:r>
                      <a:r>
                        <a:rPr sz="1000" spc="-30" dirty="0">
                          <a:solidFill>
                            <a:srgbClr val="22373A"/>
                          </a:solidFill>
                          <a:latin typeface="Cambria"/>
                          <a:cs typeface="Cambria"/>
                        </a:rPr>
                        <a:t>BRUTE_FORCES_CREDENTIAL,</a:t>
                      </a:r>
                      <a:r>
                        <a:rPr sz="1000" spc="285" dirty="0">
                          <a:solidFill>
                            <a:srgbClr val="22373A"/>
                          </a:solidFill>
                          <a:latin typeface="Cambria"/>
                          <a:cs typeface="Cambria"/>
                        </a:rPr>
                        <a:t> </a:t>
                      </a:r>
                      <a:r>
                        <a:rPr sz="1000" spc="45" dirty="0">
                          <a:solidFill>
                            <a:srgbClr val="22373A"/>
                          </a:solidFill>
                          <a:latin typeface="Cambria"/>
                          <a:cs typeface="Cambria"/>
                        </a:rPr>
                        <a:t>ssh_port_22)</a:t>
                      </a:r>
                      <a:endParaRPr sz="1000">
                        <a:latin typeface="Cambria"/>
                        <a:cs typeface="Cambria"/>
                      </a:endParaRPr>
                    </a:p>
                  </a:txBody>
                  <a:tcPr marL="0" marR="0" marT="6985" marB="0">
                    <a:solidFill>
                      <a:srgbClr val="E4E6E6"/>
                    </a:solidFill>
                  </a:tcPr>
                </a:tc>
                <a:extLst>
                  <a:ext uri="{0D108BD9-81ED-4DB2-BD59-A6C34878D82A}">
                    <a16:rowId xmlns:a16="http://schemas.microsoft.com/office/drawing/2014/main" val="10001"/>
                  </a:ext>
                </a:extLst>
              </a:tr>
            </a:tbl>
          </a:graphicData>
        </a:graphic>
      </p:graphicFrame>
      <p:sp>
        <p:nvSpPr>
          <p:cNvPr id="9" name="object 9"/>
          <p:cNvSpPr txBox="1"/>
          <p:nvPr/>
        </p:nvSpPr>
        <p:spPr>
          <a:xfrm>
            <a:off x="486283" y="1440482"/>
            <a:ext cx="3641725" cy="497205"/>
          </a:xfrm>
          <a:prstGeom prst="rect">
            <a:avLst/>
          </a:prstGeom>
        </p:spPr>
        <p:txBody>
          <a:bodyPr vert="horz" wrap="square" lIns="0" tIns="80645" rIns="0" bIns="0" rtlCol="0">
            <a:spAutoFit/>
          </a:bodyPr>
          <a:lstStyle/>
          <a:p>
            <a:pPr marL="148590" indent="-135890">
              <a:lnSpc>
                <a:spcPct val="100000"/>
              </a:lnSpc>
              <a:spcBef>
                <a:spcPts val="635"/>
              </a:spcBef>
              <a:buChar char="•"/>
              <a:tabLst>
                <a:tab pos="148590" algn="l"/>
              </a:tabLst>
            </a:pPr>
            <a:r>
              <a:rPr sz="1100" spc="-40" dirty="0">
                <a:solidFill>
                  <a:srgbClr val="22373A"/>
                </a:solidFill>
                <a:latin typeface="Arial MT"/>
                <a:cs typeface="Arial MT"/>
              </a:rPr>
              <a:t>Relation</a:t>
            </a:r>
            <a:r>
              <a:rPr sz="1100" spc="-20" dirty="0">
                <a:solidFill>
                  <a:srgbClr val="22373A"/>
                </a:solidFill>
                <a:latin typeface="Arial MT"/>
                <a:cs typeface="Arial MT"/>
              </a:rPr>
              <a:t> </a:t>
            </a:r>
            <a:r>
              <a:rPr sz="1100" spc="-45" dirty="0">
                <a:solidFill>
                  <a:srgbClr val="22373A"/>
                </a:solidFill>
                <a:latin typeface="Arial MT"/>
                <a:cs typeface="Arial MT"/>
              </a:rPr>
              <a:t>drawn</a:t>
            </a:r>
            <a:r>
              <a:rPr sz="1100" spc="-15" dirty="0">
                <a:solidFill>
                  <a:srgbClr val="22373A"/>
                </a:solidFill>
                <a:latin typeface="Arial MT"/>
                <a:cs typeface="Arial MT"/>
              </a:rPr>
              <a:t> </a:t>
            </a:r>
            <a:r>
              <a:rPr sz="1100" dirty="0">
                <a:solidFill>
                  <a:srgbClr val="22373A"/>
                </a:solidFill>
                <a:latin typeface="Arial MT"/>
                <a:cs typeface="Arial MT"/>
              </a:rPr>
              <a:t>from</a:t>
            </a:r>
            <a:r>
              <a:rPr sz="1100" spc="-15" dirty="0">
                <a:solidFill>
                  <a:srgbClr val="22373A"/>
                </a:solidFill>
                <a:latin typeface="Arial MT"/>
                <a:cs typeface="Arial MT"/>
              </a:rPr>
              <a:t> </a:t>
            </a:r>
            <a:r>
              <a:rPr sz="1100" dirty="0">
                <a:solidFill>
                  <a:srgbClr val="22373A"/>
                </a:solidFill>
                <a:latin typeface="Arial MT"/>
                <a:cs typeface="Arial MT"/>
              </a:rPr>
              <a:t>a</a:t>
            </a:r>
            <a:r>
              <a:rPr sz="1100" spc="-20" dirty="0">
                <a:solidFill>
                  <a:srgbClr val="22373A"/>
                </a:solidFill>
                <a:latin typeface="Arial MT"/>
                <a:cs typeface="Arial MT"/>
              </a:rPr>
              <a:t> </a:t>
            </a:r>
            <a:r>
              <a:rPr sz="1100" spc="-35" dirty="0">
                <a:solidFill>
                  <a:srgbClr val="2D7DB8"/>
                </a:solidFill>
                <a:latin typeface="Arial MT"/>
                <a:cs typeface="Arial MT"/>
              </a:rPr>
              <a:t>fixed</a:t>
            </a:r>
            <a:r>
              <a:rPr sz="1100" spc="-15" dirty="0">
                <a:solidFill>
                  <a:srgbClr val="2D7DB8"/>
                </a:solidFill>
                <a:latin typeface="Arial MT"/>
                <a:cs typeface="Arial MT"/>
              </a:rPr>
              <a:t> </a:t>
            </a:r>
            <a:r>
              <a:rPr sz="1100" spc="-55" dirty="0">
                <a:solidFill>
                  <a:srgbClr val="2D7DB8"/>
                </a:solidFill>
                <a:latin typeface="Arial MT"/>
                <a:cs typeface="Arial MT"/>
              </a:rPr>
              <a:t>vocabulary</a:t>
            </a:r>
            <a:r>
              <a:rPr sz="1100" spc="-20" dirty="0">
                <a:solidFill>
                  <a:srgbClr val="2D7DB8"/>
                </a:solidFill>
                <a:latin typeface="Arial MT"/>
                <a:cs typeface="Arial MT"/>
              </a:rPr>
              <a:t> </a:t>
            </a:r>
            <a:r>
              <a:rPr sz="1100" dirty="0">
                <a:solidFill>
                  <a:srgbClr val="22373A"/>
                </a:solidFill>
                <a:latin typeface="Arial MT"/>
                <a:cs typeface="Arial MT"/>
              </a:rPr>
              <a:t>(7</a:t>
            </a:r>
            <a:r>
              <a:rPr sz="1100" spc="-15" dirty="0">
                <a:solidFill>
                  <a:srgbClr val="22373A"/>
                </a:solidFill>
                <a:latin typeface="Arial MT"/>
                <a:cs typeface="Arial MT"/>
              </a:rPr>
              <a:t> </a:t>
            </a:r>
            <a:r>
              <a:rPr sz="1100" spc="-40" dirty="0">
                <a:solidFill>
                  <a:srgbClr val="22373A"/>
                </a:solidFill>
                <a:latin typeface="Arial MT"/>
                <a:cs typeface="Arial MT"/>
              </a:rPr>
              <a:t>network,</a:t>
            </a:r>
            <a:r>
              <a:rPr sz="1100" spc="-15" dirty="0">
                <a:solidFill>
                  <a:srgbClr val="22373A"/>
                </a:solidFill>
                <a:latin typeface="Arial MT"/>
                <a:cs typeface="Arial MT"/>
              </a:rPr>
              <a:t> </a:t>
            </a:r>
            <a:r>
              <a:rPr sz="1100" spc="-30" dirty="0">
                <a:solidFill>
                  <a:srgbClr val="22373A"/>
                </a:solidFill>
                <a:latin typeface="Arial MT"/>
                <a:cs typeface="Arial MT"/>
              </a:rPr>
              <a:t>10</a:t>
            </a:r>
            <a:r>
              <a:rPr sz="1100" spc="-20" dirty="0">
                <a:solidFill>
                  <a:srgbClr val="22373A"/>
                </a:solidFill>
                <a:latin typeface="Arial MT"/>
                <a:cs typeface="Arial MT"/>
              </a:rPr>
              <a:t> </a:t>
            </a:r>
            <a:r>
              <a:rPr sz="1100" spc="-10" dirty="0">
                <a:solidFill>
                  <a:srgbClr val="22373A"/>
                </a:solidFill>
                <a:latin typeface="Arial MT"/>
                <a:cs typeface="Arial MT"/>
              </a:rPr>
              <a:t>host)</a:t>
            </a:r>
            <a:endParaRPr sz="1100">
              <a:latin typeface="Arial MT"/>
              <a:cs typeface="Arial MT"/>
            </a:endParaRPr>
          </a:p>
          <a:p>
            <a:pPr marL="148590" indent="-135890">
              <a:lnSpc>
                <a:spcPct val="100000"/>
              </a:lnSpc>
              <a:spcBef>
                <a:spcPts val="540"/>
              </a:spcBef>
              <a:buChar char="•"/>
              <a:tabLst>
                <a:tab pos="148590" algn="l"/>
              </a:tabLst>
            </a:pPr>
            <a:r>
              <a:rPr sz="1100" dirty="0">
                <a:solidFill>
                  <a:srgbClr val="22373A"/>
                </a:solidFill>
                <a:latin typeface="Arial MT"/>
                <a:cs typeface="Arial MT"/>
              </a:rPr>
              <a:t>Output </a:t>
            </a:r>
            <a:r>
              <a:rPr sz="1100" spc="-55" dirty="0">
                <a:solidFill>
                  <a:srgbClr val="22373A"/>
                </a:solidFill>
                <a:latin typeface="Arial MT"/>
                <a:cs typeface="Arial MT"/>
              </a:rPr>
              <a:t>constrained</a:t>
            </a:r>
            <a:r>
              <a:rPr sz="1100" spc="5" dirty="0">
                <a:solidFill>
                  <a:srgbClr val="22373A"/>
                </a:solidFill>
                <a:latin typeface="Arial MT"/>
                <a:cs typeface="Arial MT"/>
              </a:rPr>
              <a:t> </a:t>
            </a:r>
            <a:r>
              <a:rPr sz="1100" spc="-20" dirty="0">
                <a:solidFill>
                  <a:srgbClr val="22373A"/>
                </a:solidFill>
                <a:latin typeface="Arial MT"/>
                <a:cs typeface="Arial MT"/>
              </a:rPr>
              <a:t>by</a:t>
            </a:r>
            <a:r>
              <a:rPr sz="1100" spc="5" dirty="0">
                <a:solidFill>
                  <a:srgbClr val="22373A"/>
                </a:solidFill>
                <a:latin typeface="Arial MT"/>
                <a:cs typeface="Arial MT"/>
              </a:rPr>
              <a:t> </a:t>
            </a:r>
            <a:r>
              <a:rPr sz="1100" dirty="0">
                <a:solidFill>
                  <a:srgbClr val="22373A"/>
                </a:solidFill>
                <a:latin typeface="Arial MT"/>
                <a:cs typeface="Arial MT"/>
              </a:rPr>
              <a:t>a</a:t>
            </a:r>
            <a:r>
              <a:rPr sz="1100" spc="5" dirty="0">
                <a:solidFill>
                  <a:srgbClr val="22373A"/>
                </a:solidFill>
                <a:latin typeface="Arial MT"/>
                <a:cs typeface="Arial MT"/>
              </a:rPr>
              <a:t> </a:t>
            </a:r>
            <a:r>
              <a:rPr sz="1100" spc="-85" dirty="0">
                <a:solidFill>
                  <a:srgbClr val="22373A"/>
                </a:solidFill>
                <a:latin typeface="Arial MT"/>
                <a:cs typeface="Arial MT"/>
              </a:rPr>
              <a:t>JSON-</a:t>
            </a:r>
            <a:r>
              <a:rPr sz="1100" spc="-75" dirty="0">
                <a:solidFill>
                  <a:srgbClr val="22373A"/>
                </a:solidFill>
                <a:latin typeface="Arial MT"/>
                <a:cs typeface="Arial MT"/>
              </a:rPr>
              <a:t>schema</a:t>
            </a:r>
            <a:r>
              <a:rPr sz="1100" spc="5" dirty="0">
                <a:solidFill>
                  <a:srgbClr val="22373A"/>
                </a:solidFill>
                <a:latin typeface="Arial MT"/>
                <a:cs typeface="Arial MT"/>
              </a:rPr>
              <a:t> </a:t>
            </a:r>
            <a:r>
              <a:rPr sz="1100" spc="-10" dirty="0">
                <a:solidFill>
                  <a:srgbClr val="22373A"/>
                </a:solidFill>
                <a:latin typeface="Arial MT"/>
                <a:cs typeface="Arial MT"/>
              </a:rPr>
              <a:t>grammar</a:t>
            </a:r>
            <a:endParaRPr sz="1100">
              <a:latin typeface="Arial MT"/>
              <a:cs typeface="Arial MT"/>
            </a:endParaRPr>
          </a:p>
        </p:txBody>
      </p:sp>
      <p:sp>
        <p:nvSpPr>
          <p:cNvPr id="10" name="object 10"/>
          <p:cNvSpPr/>
          <p:nvPr/>
        </p:nvSpPr>
        <p:spPr>
          <a:xfrm>
            <a:off x="359994" y="2253551"/>
            <a:ext cx="5039995" cy="0"/>
          </a:xfrm>
          <a:custGeom>
            <a:avLst/>
            <a:gdLst/>
            <a:ahLst/>
            <a:cxnLst/>
            <a:rect l="l" t="t" r="r" b="b"/>
            <a:pathLst>
              <a:path w="5039995">
                <a:moveTo>
                  <a:pt x="0" y="0"/>
                </a:moveTo>
                <a:lnTo>
                  <a:pt x="5039995" y="0"/>
                </a:lnTo>
              </a:path>
            </a:pathLst>
          </a:custGeom>
          <a:ln w="7594">
            <a:solidFill>
              <a:srgbClr val="2D7DB8"/>
            </a:solidFill>
          </a:ln>
        </p:spPr>
        <p:txBody>
          <a:bodyPr wrap="square" lIns="0" tIns="0" rIns="0" bIns="0" rtlCol="0"/>
          <a:lstStyle/>
          <a:p>
            <a:endParaRPr/>
          </a:p>
        </p:txBody>
      </p:sp>
      <p:pic>
        <p:nvPicPr>
          <p:cNvPr id="12" name="object 12"/>
          <p:cNvPicPr/>
          <p:nvPr/>
        </p:nvPicPr>
        <p:blipFill>
          <a:blip r:embed="rId3" cstate="print"/>
          <a:stretch>
            <a:fillRect/>
          </a:stretch>
        </p:blipFill>
        <p:spPr>
          <a:xfrm>
            <a:off x="101282" y="2998905"/>
            <a:ext cx="241983" cy="187117"/>
          </a:xfrm>
          <a:prstGeom prst="rect">
            <a:avLst/>
          </a:prstGeom>
        </p:spPr>
      </p:pic>
      <p:pic>
        <p:nvPicPr>
          <p:cNvPr id="13" name="object 13"/>
          <p:cNvPicPr/>
          <p:nvPr/>
        </p:nvPicPr>
        <p:blipFill>
          <a:blip r:embed="rId4" cstate="print"/>
          <a:stretch>
            <a:fillRect/>
          </a:stretch>
        </p:blipFill>
        <p:spPr>
          <a:xfrm>
            <a:off x="433285" y="2998965"/>
            <a:ext cx="187057" cy="187057"/>
          </a:xfrm>
          <a:prstGeom prst="rect">
            <a:avLst/>
          </a:prstGeom>
        </p:spPr>
      </p:pic>
      <p:pic>
        <p:nvPicPr>
          <p:cNvPr id="14" name="object 14"/>
          <p:cNvPicPr/>
          <p:nvPr/>
        </p:nvPicPr>
        <p:blipFill>
          <a:blip r:embed="rId5" cstate="print"/>
          <a:stretch>
            <a:fillRect/>
          </a:stretch>
        </p:blipFill>
        <p:spPr>
          <a:xfrm>
            <a:off x="710349" y="2998815"/>
            <a:ext cx="187208" cy="187208"/>
          </a:xfrm>
          <a:prstGeom prst="rect">
            <a:avLst/>
          </a:prstGeom>
        </p:spPr>
      </p:pic>
      <p:sp>
        <p:nvSpPr>
          <p:cNvPr id="15" name="object 15"/>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8</a:t>
            </a:r>
            <a:r>
              <a:rPr spc="-80" dirty="0"/>
              <a:t> </a:t>
            </a:r>
            <a:r>
              <a:rPr spc="195" dirty="0"/>
              <a:t>/</a:t>
            </a:r>
            <a:r>
              <a:rPr spc="-75" dirty="0"/>
              <a:t> </a:t>
            </a:r>
            <a:r>
              <a:rPr spc="-25" dirty="0"/>
              <a:t>32</a:t>
            </a: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Stage</a:t>
            </a:r>
            <a:r>
              <a:rPr spc="30" dirty="0"/>
              <a:t> </a:t>
            </a:r>
            <a:r>
              <a:rPr dirty="0"/>
              <a:t>5:</a:t>
            </a:r>
            <a:r>
              <a:rPr spc="165" dirty="0"/>
              <a:t> </a:t>
            </a:r>
            <a:r>
              <a:rPr spc="-35" dirty="0"/>
              <a:t>Knowledge</a:t>
            </a:r>
            <a:r>
              <a:rPr spc="30" dirty="0"/>
              <a:t> </a:t>
            </a:r>
            <a:r>
              <a:rPr dirty="0"/>
              <a:t>graph,</a:t>
            </a:r>
            <a:r>
              <a:rPr spc="40" dirty="0"/>
              <a:t> </a:t>
            </a:r>
            <a:r>
              <a:rPr spc="-40" dirty="0"/>
              <a:t>bridged</a:t>
            </a:r>
            <a:r>
              <a:rPr spc="35" dirty="0"/>
              <a:t> </a:t>
            </a:r>
            <a:r>
              <a:rPr dirty="0"/>
              <a:t>to</a:t>
            </a:r>
            <a:r>
              <a:rPr spc="35" dirty="0"/>
              <a:t> </a:t>
            </a:r>
            <a:r>
              <a:rPr spc="40" dirty="0"/>
              <a:t>ATT&amp;CK</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1620520" cy="5080"/>
            </a:xfrm>
            <a:custGeom>
              <a:avLst/>
              <a:gdLst/>
              <a:ahLst/>
              <a:cxnLst/>
              <a:rect l="l" t="t" r="r" b="b"/>
              <a:pathLst>
                <a:path w="1620520" h="5079">
                  <a:moveTo>
                    <a:pt x="0" y="5060"/>
                  </a:moveTo>
                  <a:lnTo>
                    <a:pt x="0" y="0"/>
                  </a:lnTo>
                  <a:lnTo>
                    <a:pt x="1620020" y="0"/>
                  </a:lnTo>
                  <a:lnTo>
                    <a:pt x="1620020" y="5060"/>
                  </a:lnTo>
                  <a:lnTo>
                    <a:pt x="0" y="5060"/>
                  </a:lnTo>
                  <a:close/>
                </a:path>
              </a:pathLst>
            </a:custGeom>
            <a:solidFill>
              <a:srgbClr val="2D7DB8"/>
            </a:solidFill>
          </p:spPr>
          <p:txBody>
            <a:bodyPr wrap="square" lIns="0" tIns="0" rIns="0" bIns="0" rtlCol="0"/>
            <a:lstStyle/>
            <a:p>
              <a:endParaRPr/>
            </a:p>
          </p:txBody>
        </p:sp>
      </p:grpSp>
      <p:sp>
        <p:nvSpPr>
          <p:cNvPr id="7" name="object 7"/>
          <p:cNvSpPr txBox="1"/>
          <p:nvPr/>
        </p:nvSpPr>
        <p:spPr>
          <a:xfrm>
            <a:off x="347294" y="1519459"/>
            <a:ext cx="2354580" cy="374650"/>
          </a:xfrm>
          <a:prstGeom prst="rect">
            <a:avLst/>
          </a:prstGeom>
        </p:spPr>
        <p:txBody>
          <a:bodyPr vert="horz" wrap="square" lIns="0" tIns="12700" rIns="0" bIns="0" rtlCol="0">
            <a:spAutoFit/>
          </a:bodyPr>
          <a:lstStyle/>
          <a:p>
            <a:pPr marL="12700" marR="5080">
              <a:lnSpc>
                <a:spcPct val="114599"/>
              </a:lnSpc>
              <a:spcBef>
                <a:spcPts val="100"/>
              </a:spcBef>
            </a:pPr>
            <a:r>
              <a:rPr sz="1000" spc="-30" dirty="0">
                <a:solidFill>
                  <a:srgbClr val="22373A"/>
                </a:solidFill>
                <a:latin typeface="Arial MT"/>
                <a:cs typeface="Arial MT"/>
              </a:rPr>
              <a:t>691</a:t>
            </a:r>
            <a:r>
              <a:rPr sz="1000" spc="-20" dirty="0">
                <a:solidFill>
                  <a:srgbClr val="22373A"/>
                </a:solidFill>
                <a:latin typeface="Arial MT"/>
                <a:cs typeface="Arial MT"/>
              </a:rPr>
              <a:t> </a:t>
            </a:r>
            <a:r>
              <a:rPr sz="1000" spc="-35" dirty="0">
                <a:solidFill>
                  <a:srgbClr val="22373A"/>
                </a:solidFill>
                <a:latin typeface="Arial MT"/>
                <a:cs typeface="Arial MT"/>
              </a:rPr>
              <a:t>technique</a:t>
            </a:r>
            <a:r>
              <a:rPr sz="1000" spc="-10" dirty="0">
                <a:solidFill>
                  <a:srgbClr val="22373A"/>
                </a:solidFill>
                <a:latin typeface="Arial MT"/>
                <a:cs typeface="Arial MT"/>
              </a:rPr>
              <a:t> </a:t>
            </a:r>
            <a:r>
              <a:rPr sz="1000" spc="-65" dirty="0">
                <a:solidFill>
                  <a:srgbClr val="22373A"/>
                </a:solidFill>
                <a:latin typeface="Arial MT"/>
                <a:cs typeface="Arial MT"/>
              </a:rPr>
              <a:t>nodes</a:t>
            </a:r>
            <a:r>
              <a:rPr sz="1000" spc="-5" dirty="0">
                <a:solidFill>
                  <a:srgbClr val="22373A"/>
                </a:solidFill>
                <a:latin typeface="Arial MT"/>
                <a:cs typeface="Arial MT"/>
              </a:rPr>
              <a:t> </a:t>
            </a:r>
            <a:r>
              <a:rPr sz="1000" dirty="0">
                <a:solidFill>
                  <a:srgbClr val="22373A"/>
                </a:solidFill>
                <a:latin typeface="Arial MT"/>
                <a:cs typeface="Arial MT"/>
              </a:rPr>
              <a:t>from</a:t>
            </a:r>
            <a:r>
              <a:rPr sz="1000" spc="-10" dirty="0">
                <a:solidFill>
                  <a:srgbClr val="22373A"/>
                </a:solidFill>
                <a:latin typeface="Arial MT"/>
                <a:cs typeface="Arial MT"/>
              </a:rPr>
              <a:t> </a:t>
            </a:r>
            <a:r>
              <a:rPr sz="1000" dirty="0">
                <a:solidFill>
                  <a:srgbClr val="22373A"/>
                </a:solidFill>
                <a:latin typeface="Arial MT"/>
                <a:cs typeface="Arial MT"/>
              </a:rPr>
              <a:t>the</a:t>
            </a:r>
            <a:r>
              <a:rPr sz="1000" spc="-10" dirty="0">
                <a:solidFill>
                  <a:srgbClr val="22373A"/>
                </a:solidFill>
                <a:latin typeface="Arial MT"/>
                <a:cs typeface="Arial MT"/>
              </a:rPr>
              <a:t> </a:t>
            </a:r>
            <a:r>
              <a:rPr sz="1000" dirty="0">
                <a:solidFill>
                  <a:srgbClr val="22373A"/>
                </a:solidFill>
                <a:latin typeface="Arial MT"/>
                <a:cs typeface="Arial MT"/>
              </a:rPr>
              <a:t>MITRE</a:t>
            </a:r>
            <a:r>
              <a:rPr sz="1000" spc="-10" dirty="0">
                <a:solidFill>
                  <a:srgbClr val="22373A"/>
                </a:solidFill>
                <a:latin typeface="Arial MT"/>
                <a:cs typeface="Arial MT"/>
              </a:rPr>
              <a:t> </a:t>
            </a:r>
            <a:r>
              <a:rPr sz="1000" spc="-20" dirty="0">
                <a:solidFill>
                  <a:srgbClr val="22373A"/>
                </a:solidFill>
                <a:latin typeface="Arial MT"/>
                <a:cs typeface="Arial MT"/>
              </a:rPr>
              <a:t>STIX </a:t>
            </a:r>
            <a:r>
              <a:rPr sz="1000" spc="-10" dirty="0">
                <a:solidFill>
                  <a:srgbClr val="22373A"/>
                </a:solidFill>
                <a:latin typeface="Arial MT"/>
                <a:cs typeface="Arial MT"/>
              </a:rPr>
              <a:t>bundle</a:t>
            </a:r>
            <a:endParaRPr sz="1000">
              <a:latin typeface="Arial MT"/>
              <a:cs typeface="Arial MT"/>
            </a:endParaRPr>
          </a:p>
        </p:txBody>
      </p:sp>
      <p:sp>
        <p:nvSpPr>
          <p:cNvPr id="8" name="object 8"/>
          <p:cNvSpPr txBox="1"/>
          <p:nvPr/>
        </p:nvSpPr>
        <p:spPr>
          <a:xfrm>
            <a:off x="347294" y="857617"/>
            <a:ext cx="5014595" cy="687705"/>
          </a:xfrm>
          <a:prstGeom prst="rect">
            <a:avLst/>
          </a:prstGeom>
        </p:spPr>
        <p:txBody>
          <a:bodyPr vert="horz" wrap="square" lIns="0" tIns="33655" rIns="0" bIns="0" rtlCol="0">
            <a:spAutoFit/>
          </a:bodyPr>
          <a:lstStyle/>
          <a:p>
            <a:pPr marL="12700">
              <a:lnSpc>
                <a:spcPct val="100000"/>
              </a:lnSpc>
              <a:spcBef>
                <a:spcPts val="265"/>
              </a:spcBef>
              <a:tabLst>
                <a:tab pos="2532380" algn="l"/>
              </a:tabLst>
            </a:pPr>
            <a:r>
              <a:rPr sz="1100" b="1" spc="-40" dirty="0">
                <a:solidFill>
                  <a:srgbClr val="22373A"/>
                </a:solidFill>
                <a:latin typeface="Arial"/>
                <a:cs typeface="Arial"/>
              </a:rPr>
              <a:t>Behavioural</a:t>
            </a:r>
            <a:r>
              <a:rPr sz="1100" b="1" spc="25" dirty="0">
                <a:solidFill>
                  <a:srgbClr val="22373A"/>
                </a:solidFill>
                <a:latin typeface="Arial"/>
                <a:cs typeface="Arial"/>
              </a:rPr>
              <a:t> </a:t>
            </a:r>
            <a:r>
              <a:rPr sz="1100" b="1" spc="-20" dirty="0">
                <a:solidFill>
                  <a:srgbClr val="22373A"/>
                </a:solidFill>
                <a:latin typeface="Arial"/>
                <a:cs typeface="Arial"/>
              </a:rPr>
              <a:t>layer</a:t>
            </a:r>
            <a:r>
              <a:rPr sz="1100" b="1" dirty="0">
                <a:solidFill>
                  <a:srgbClr val="22373A"/>
                </a:solidFill>
                <a:latin typeface="Arial"/>
                <a:cs typeface="Arial"/>
              </a:rPr>
              <a:t>	</a:t>
            </a:r>
            <a:r>
              <a:rPr sz="1100" b="1" spc="-30" dirty="0">
                <a:solidFill>
                  <a:srgbClr val="22373A"/>
                </a:solidFill>
                <a:latin typeface="Arial"/>
                <a:cs typeface="Arial"/>
              </a:rPr>
              <a:t>Bridge</a:t>
            </a:r>
            <a:r>
              <a:rPr sz="1100" b="1" dirty="0">
                <a:solidFill>
                  <a:srgbClr val="22373A"/>
                </a:solidFill>
                <a:latin typeface="Arial"/>
                <a:cs typeface="Arial"/>
              </a:rPr>
              <a:t> </a:t>
            </a:r>
            <a:r>
              <a:rPr sz="1100" b="1" spc="-10" dirty="0">
                <a:solidFill>
                  <a:srgbClr val="22373A"/>
                </a:solidFill>
                <a:latin typeface="Arial"/>
                <a:cs typeface="Arial"/>
              </a:rPr>
              <a:t>edges</a:t>
            </a:r>
            <a:endParaRPr sz="1100">
              <a:latin typeface="Arial"/>
              <a:cs typeface="Arial"/>
            </a:endParaRPr>
          </a:p>
          <a:p>
            <a:pPr marL="12700">
              <a:lnSpc>
                <a:spcPct val="100000"/>
              </a:lnSpc>
              <a:spcBef>
                <a:spcPts val="155"/>
              </a:spcBef>
            </a:pPr>
            <a:r>
              <a:rPr sz="1000" spc="-40" dirty="0">
                <a:solidFill>
                  <a:srgbClr val="22373A"/>
                </a:solidFill>
                <a:latin typeface="Arial MT"/>
                <a:cs typeface="Arial MT"/>
              </a:rPr>
              <a:t>subjects</a:t>
            </a:r>
            <a:r>
              <a:rPr sz="1000" spc="-20" dirty="0">
                <a:solidFill>
                  <a:srgbClr val="22373A"/>
                </a:solidFill>
                <a:latin typeface="Arial MT"/>
                <a:cs typeface="Arial MT"/>
              </a:rPr>
              <a:t> and</a:t>
            </a:r>
            <a:r>
              <a:rPr sz="1000" spc="-15" dirty="0">
                <a:solidFill>
                  <a:srgbClr val="22373A"/>
                </a:solidFill>
                <a:latin typeface="Arial MT"/>
                <a:cs typeface="Arial MT"/>
              </a:rPr>
              <a:t> </a:t>
            </a:r>
            <a:r>
              <a:rPr sz="1000" spc="-25" dirty="0">
                <a:solidFill>
                  <a:srgbClr val="22373A"/>
                </a:solidFill>
                <a:latin typeface="Arial MT"/>
                <a:cs typeface="Arial MT"/>
              </a:rPr>
              <a:t>targets</a:t>
            </a:r>
            <a:r>
              <a:rPr sz="1000" spc="-15" dirty="0">
                <a:solidFill>
                  <a:srgbClr val="22373A"/>
                </a:solidFill>
                <a:latin typeface="Arial MT"/>
                <a:cs typeface="Arial MT"/>
              </a:rPr>
              <a:t> </a:t>
            </a:r>
            <a:r>
              <a:rPr sz="1000" dirty="0">
                <a:solidFill>
                  <a:srgbClr val="22373A"/>
                </a:solidFill>
                <a:latin typeface="Arial MT"/>
                <a:cs typeface="Arial MT"/>
              </a:rPr>
              <a:t>from</a:t>
            </a:r>
            <a:r>
              <a:rPr sz="1000" spc="-15" dirty="0">
                <a:solidFill>
                  <a:srgbClr val="22373A"/>
                </a:solidFill>
                <a:latin typeface="Arial MT"/>
                <a:cs typeface="Arial MT"/>
              </a:rPr>
              <a:t> </a:t>
            </a:r>
            <a:r>
              <a:rPr sz="1000" dirty="0">
                <a:solidFill>
                  <a:srgbClr val="22373A"/>
                </a:solidFill>
                <a:latin typeface="Arial MT"/>
                <a:cs typeface="Arial MT"/>
              </a:rPr>
              <a:t>the</a:t>
            </a:r>
            <a:r>
              <a:rPr sz="1000" spc="-20" dirty="0">
                <a:solidFill>
                  <a:srgbClr val="22373A"/>
                </a:solidFill>
                <a:latin typeface="Arial MT"/>
                <a:cs typeface="Arial MT"/>
              </a:rPr>
              <a:t> </a:t>
            </a:r>
            <a:r>
              <a:rPr sz="1000" spc="-30" dirty="0">
                <a:solidFill>
                  <a:srgbClr val="22373A"/>
                </a:solidFill>
                <a:latin typeface="Arial MT"/>
                <a:cs typeface="Arial MT"/>
              </a:rPr>
              <a:t>extracted</a:t>
            </a:r>
            <a:r>
              <a:rPr sz="1000" spc="-20" dirty="0">
                <a:solidFill>
                  <a:srgbClr val="22373A"/>
                </a:solidFill>
                <a:latin typeface="Arial MT"/>
                <a:cs typeface="Arial MT"/>
              </a:rPr>
              <a:t> </a:t>
            </a:r>
            <a:r>
              <a:rPr sz="1000" dirty="0">
                <a:solidFill>
                  <a:srgbClr val="22373A"/>
                </a:solidFill>
                <a:latin typeface="Arial MT"/>
                <a:cs typeface="Arial MT"/>
              </a:rPr>
              <a:t>triples</a:t>
            </a:r>
            <a:r>
              <a:rPr sz="1000" spc="190" dirty="0">
                <a:solidFill>
                  <a:srgbClr val="22373A"/>
                </a:solidFill>
                <a:latin typeface="Arial MT"/>
                <a:cs typeface="Arial MT"/>
              </a:rPr>
              <a:t> </a:t>
            </a:r>
            <a:r>
              <a:rPr sz="1000" dirty="0">
                <a:solidFill>
                  <a:srgbClr val="22373A"/>
                </a:solidFill>
                <a:latin typeface="Arial MT"/>
                <a:cs typeface="Arial MT"/>
              </a:rPr>
              <a:t>a</a:t>
            </a:r>
            <a:r>
              <a:rPr sz="1000" spc="-20" dirty="0">
                <a:solidFill>
                  <a:srgbClr val="22373A"/>
                </a:solidFill>
                <a:latin typeface="Arial MT"/>
                <a:cs typeface="Arial MT"/>
              </a:rPr>
              <a:t> fixed relation-</a:t>
            </a:r>
            <a:r>
              <a:rPr sz="1000" spc="-25" dirty="0">
                <a:solidFill>
                  <a:srgbClr val="22373A"/>
                </a:solidFill>
                <a:latin typeface="Arial MT"/>
                <a:cs typeface="Arial MT"/>
              </a:rPr>
              <a:t>to-</a:t>
            </a:r>
            <a:r>
              <a:rPr sz="1000" spc="-20" dirty="0">
                <a:solidFill>
                  <a:srgbClr val="22373A"/>
                </a:solidFill>
                <a:latin typeface="Arial MT"/>
                <a:cs typeface="Arial MT"/>
              </a:rPr>
              <a:t>technique</a:t>
            </a:r>
            <a:r>
              <a:rPr sz="1000" spc="-15" dirty="0">
                <a:solidFill>
                  <a:srgbClr val="22373A"/>
                </a:solidFill>
                <a:latin typeface="Arial MT"/>
                <a:cs typeface="Arial MT"/>
              </a:rPr>
              <a:t> </a:t>
            </a:r>
            <a:r>
              <a:rPr sz="1000" spc="-35" dirty="0">
                <a:solidFill>
                  <a:srgbClr val="22373A"/>
                </a:solidFill>
                <a:latin typeface="Arial MT"/>
                <a:cs typeface="Arial MT"/>
              </a:rPr>
              <a:t>mapping</a:t>
            </a:r>
            <a:r>
              <a:rPr sz="1000" spc="-20" dirty="0">
                <a:solidFill>
                  <a:srgbClr val="22373A"/>
                </a:solidFill>
                <a:latin typeface="Arial MT"/>
                <a:cs typeface="Arial MT"/>
              </a:rPr>
              <a:t> </a:t>
            </a:r>
            <a:r>
              <a:rPr sz="1000" spc="-10" dirty="0">
                <a:solidFill>
                  <a:srgbClr val="22373A"/>
                </a:solidFill>
                <a:latin typeface="Arial MT"/>
                <a:cs typeface="Arial MT"/>
              </a:rPr>
              <a:t>links</a:t>
            </a:r>
            <a:r>
              <a:rPr sz="1000" spc="-20" dirty="0">
                <a:solidFill>
                  <a:srgbClr val="22373A"/>
                </a:solidFill>
                <a:latin typeface="Arial MT"/>
                <a:cs typeface="Arial MT"/>
              </a:rPr>
              <a:t> </a:t>
            </a:r>
            <a:r>
              <a:rPr sz="1000" spc="-25" dirty="0">
                <a:solidFill>
                  <a:srgbClr val="22373A"/>
                </a:solidFill>
                <a:latin typeface="Arial MT"/>
                <a:cs typeface="Arial MT"/>
              </a:rPr>
              <a:t>the</a:t>
            </a:r>
            <a:endParaRPr sz="1000">
              <a:latin typeface="Arial MT"/>
              <a:cs typeface="Arial MT"/>
            </a:endParaRPr>
          </a:p>
          <a:p>
            <a:pPr marL="239395" algn="ctr">
              <a:lnSpc>
                <a:spcPts val="1100"/>
              </a:lnSpc>
              <a:spcBef>
                <a:spcPts val="175"/>
              </a:spcBef>
            </a:pPr>
            <a:r>
              <a:rPr sz="1000" spc="-25" dirty="0">
                <a:solidFill>
                  <a:srgbClr val="22373A"/>
                </a:solidFill>
                <a:latin typeface="Arial MT"/>
                <a:cs typeface="Arial MT"/>
              </a:rPr>
              <a:t>two</a:t>
            </a:r>
            <a:endParaRPr sz="1000">
              <a:latin typeface="Arial MT"/>
              <a:cs typeface="Arial MT"/>
            </a:endParaRPr>
          </a:p>
          <a:p>
            <a:pPr marL="12700">
              <a:lnSpc>
                <a:spcPts val="1100"/>
              </a:lnSpc>
            </a:pPr>
            <a:r>
              <a:rPr sz="1000" b="1" dirty="0">
                <a:solidFill>
                  <a:srgbClr val="22373A"/>
                </a:solidFill>
                <a:latin typeface="Arial"/>
                <a:cs typeface="Arial"/>
              </a:rPr>
              <a:t>ATT&amp;CK</a:t>
            </a:r>
            <a:r>
              <a:rPr sz="1000" b="1" spc="310" dirty="0">
                <a:solidFill>
                  <a:srgbClr val="22373A"/>
                </a:solidFill>
                <a:latin typeface="Arial"/>
                <a:cs typeface="Arial"/>
              </a:rPr>
              <a:t> </a:t>
            </a:r>
            <a:r>
              <a:rPr sz="1000" b="1" spc="-10" dirty="0">
                <a:solidFill>
                  <a:srgbClr val="22373A"/>
                </a:solidFill>
                <a:latin typeface="Arial"/>
                <a:cs typeface="Arial"/>
              </a:rPr>
              <a:t>layer</a:t>
            </a:r>
            <a:endParaRPr sz="1000">
              <a:latin typeface="Arial"/>
              <a:cs typeface="Arial"/>
            </a:endParaRPr>
          </a:p>
        </p:txBody>
      </p:sp>
      <p:sp>
        <p:nvSpPr>
          <p:cNvPr id="9" name="object 9"/>
          <p:cNvSpPr txBox="1"/>
          <p:nvPr/>
        </p:nvSpPr>
        <p:spPr>
          <a:xfrm>
            <a:off x="2867304" y="1519459"/>
            <a:ext cx="2138045" cy="549275"/>
          </a:xfrm>
          <a:prstGeom prst="rect">
            <a:avLst/>
          </a:prstGeom>
        </p:spPr>
        <p:txBody>
          <a:bodyPr vert="horz" wrap="square" lIns="0" tIns="12700" rIns="0" bIns="0" rtlCol="0">
            <a:spAutoFit/>
          </a:bodyPr>
          <a:lstStyle/>
          <a:p>
            <a:pPr marL="12700" marR="5080">
              <a:lnSpc>
                <a:spcPct val="114599"/>
              </a:lnSpc>
              <a:spcBef>
                <a:spcPts val="100"/>
              </a:spcBef>
            </a:pPr>
            <a:r>
              <a:rPr sz="1000" spc="-10" dirty="0">
                <a:solidFill>
                  <a:srgbClr val="22373A"/>
                </a:solidFill>
                <a:latin typeface="Arial MT"/>
                <a:cs typeface="Arial MT"/>
              </a:rPr>
              <a:t>e.g.</a:t>
            </a:r>
            <a:r>
              <a:rPr sz="1000" spc="114" dirty="0">
                <a:solidFill>
                  <a:srgbClr val="22373A"/>
                </a:solidFill>
                <a:latin typeface="Arial MT"/>
                <a:cs typeface="Arial MT"/>
              </a:rPr>
              <a:t> </a:t>
            </a:r>
            <a:r>
              <a:rPr sz="1000" spc="-65" dirty="0">
                <a:solidFill>
                  <a:srgbClr val="22373A"/>
                </a:solidFill>
                <a:latin typeface="Cambria"/>
                <a:cs typeface="Cambria"/>
              </a:rPr>
              <a:t>PERFORMS_PORT_SCAN</a:t>
            </a:r>
            <a:r>
              <a:rPr sz="1000" spc="80" dirty="0">
                <a:solidFill>
                  <a:srgbClr val="22373A"/>
                </a:solidFill>
                <a:latin typeface="Cambria"/>
                <a:cs typeface="Cambria"/>
              </a:rPr>
              <a:t> </a:t>
            </a:r>
            <a:r>
              <a:rPr sz="1000" i="1" dirty="0">
                <a:solidFill>
                  <a:srgbClr val="22373A"/>
                </a:solidFill>
                <a:latin typeface="Arial"/>
                <a:cs typeface="Arial"/>
              </a:rPr>
              <a:t>→</a:t>
            </a:r>
            <a:r>
              <a:rPr sz="1000" i="1" spc="25" dirty="0">
                <a:solidFill>
                  <a:srgbClr val="22373A"/>
                </a:solidFill>
                <a:latin typeface="Arial"/>
                <a:cs typeface="Arial"/>
              </a:rPr>
              <a:t> </a:t>
            </a:r>
            <a:r>
              <a:rPr sz="1000" spc="-10" dirty="0">
                <a:solidFill>
                  <a:srgbClr val="22373A"/>
                </a:solidFill>
                <a:latin typeface="Arial MT"/>
                <a:cs typeface="Arial MT"/>
              </a:rPr>
              <a:t>T1046 </a:t>
            </a:r>
            <a:r>
              <a:rPr sz="1000" spc="-55" dirty="0">
                <a:solidFill>
                  <a:srgbClr val="22373A"/>
                </a:solidFill>
                <a:latin typeface="Cambria"/>
                <a:cs typeface="Cambria"/>
              </a:rPr>
              <a:t>BRUTE_FORCES_CREDENTIAL</a:t>
            </a:r>
            <a:r>
              <a:rPr sz="1000" spc="155" dirty="0">
                <a:solidFill>
                  <a:srgbClr val="22373A"/>
                </a:solidFill>
                <a:latin typeface="Cambria"/>
                <a:cs typeface="Cambria"/>
              </a:rPr>
              <a:t> </a:t>
            </a:r>
            <a:r>
              <a:rPr sz="1000" i="1" dirty="0">
                <a:solidFill>
                  <a:srgbClr val="22373A"/>
                </a:solidFill>
                <a:latin typeface="Arial"/>
                <a:cs typeface="Arial"/>
              </a:rPr>
              <a:t>→</a:t>
            </a:r>
            <a:r>
              <a:rPr sz="1000" i="1" spc="100" dirty="0">
                <a:solidFill>
                  <a:srgbClr val="22373A"/>
                </a:solidFill>
                <a:latin typeface="Arial"/>
                <a:cs typeface="Arial"/>
              </a:rPr>
              <a:t> </a:t>
            </a:r>
            <a:r>
              <a:rPr sz="1000" spc="-10" dirty="0">
                <a:solidFill>
                  <a:srgbClr val="22373A"/>
                </a:solidFill>
                <a:latin typeface="Arial MT"/>
                <a:cs typeface="Arial MT"/>
              </a:rPr>
              <a:t>T1110, </a:t>
            </a:r>
            <a:r>
              <a:rPr sz="1000" spc="-30" dirty="0">
                <a:solidFill>
                  <a:srgbClr val="22373A"/>
                </a:solidFill>
                <a:latin typeface="Arial MT"/>
                <a:cs typeface="Arial MT"/>
              </a:rPr>
              <a:t>T1110.001,</a:t>
            </a:r>
            <a:r>
              <a:rPr sz="1000" dirty="0">
                <a:solidFill>
                  <a:srgbClr val="22373A"/>
                </a:solidFill>
                <a:latin typeface="Arial MT"/>
                <a:cs typeface="Arial MT"/>
              </a:rPr>
              <a:t> </a:t>
            </a:r>
            <a:r>
              <a:rPr sz="1000" spc="-10" dirty="0">
                <a:solidFill>
                  <a:srgbClr val="22373A"/>
                </a:solidFill>
                <a:latin typeface="Arial MT"/>
                <a:cs typeface="Arial MT"/>
              </a:rPr>
              <a:t>T1110.003</a:t>
            </a:r>
            <a:endParaRPr sz="1000">
              <a:latin typeface="Arial MT"/>
              <a:cs typeface="Arial MT"/>
            </a:endParaRPr>
          </a:p>
        </p:txBody>
      </p:sp>
      <p:sp>
        <p:nvSpPr>
          <p:cNvPr id="10" name="object 10"/>
          <p:cNvSpPr/>
          <p:nvPr/>
        </p:nvSpPr>
        <p:spPr>
          <a:xfrm>
            <a:off x="359994" y="2187270"/>
            <a:ext cx="5039995" cy="0"/>
          </a:xfrm>
          <a:custGeom>
            <a:avLst/>
            <a:gdLst/>
            <a:ahLst/>
            <a:cxnLst/>
            <a:rect l="l" t="t" r="r" b="b"/>
            <a:pathLst>
              <a:path w="5039995">
                <a:moveTo>
                  <a:pt x="0" y="0"/>
                </a:moveTo>
                <a:lnTo>
                  <a:pt x="5039995" y="0"/>
                </a:lnTo>
              </a:path>
            </a:pathLst>
          </a:custGeom>
          <a:ln w="7594">
            <a:solidFill>
              <a:srgbClr val="2D7DB8"/>
            </a:solidFill>
          </a:ln>
        </p:spPr>
        <p:txBody>
          <a:bodyPr wrap="square" lIns="0" tIns="0" rIns="0" bIns="0" rtlCol="0"/>
          <a:lstStyle/>
          <a:p>
            <a:endParaRPr/>
          </a:p>
        </p:txBody>
      </p:sp>
      <p:sp>
        <p:nvSpPr>
          <p:cNvPr id="11" name="object 11"/>
          <p:cNvSpPr txBox="1"/>
          <p:nvPr/>
        </p:nvSpPr>
        <p:spPr>
          <a:xfrm>
            <a:off x="347294" y="2337020"/>
            <a:ext cx="2586990" cy="177800"/>
          </a:xfrm>
          <a:prstGeom prst="rect">
            <a:avLst/>
          </a:prstGeom>
        </p:spPr>
        <p:txBody>
          <a:bodyPr vert="horz" wrap="square" lIns="0" tIns="12065" rIns="0" bIns="0" rtlCol="0">
            <a:spAutoFit/>
          </a:bodyPr>
          <a:lstStyle/>
          <a:p>
            <a:pPr marL="12700">
              <a:lnSpc>
                <a:spcPct val="100000"/>
              </a:lnSpc>
              <a:spcBef>
                <a:spcPts val="95"/>
              </a:spcBef>
            </a:pPr>
            <a:r>
              <a:rPr sz="1000" dirty="0">
                <a:solidFill>
                  <a:srgbClr val="22373A"/>
                </a:solidFill>
                <a:latin typeface="Arial MT"/>
                <a:cs typeface="Arial MT"/>
              </a:rPr>
              <a:t>The</a:t>
            </a:r>
            <a:r>
              <a:rPr sz="1000" spc="-45" dirty="0">
                <a:solidFill>
                  <a:srgbClr val="22373A"/>
                </a:solidFill>
                <a:latin typeface="Arial MT"/>
                <a:cs typeface="Arial MT"/>
              </a:rPr>
              <a:t> </a:t>
            </a:r>
            <a:r>
              <a:rPr sz="1000" spc="-35" dirty="0">
                <a:solidFill>
                  <a:srgbClr val="22373A"/>
                </a:solidFill>
                <a:latin typeface="Arial MT"/>
                <a:cs typeface="Arial MT"/>
              </a:rPr>
              <a:t>bridge</a:t>
            </a:r>
            <a:r>
              <a:rPr sz="1000" spc="-25" dirty="0">
                <a:solidFill>
                  <a:srgbClr val="22373A"/>
                </a:solidFill>
                <a:latin typeface="Arial MT"/>
                <a:cs typeface="Arial MT"/>
              </a:rPr>
              <a:t> </a:t>
            </a:r>
            <a:r>
              <a:rPr sz="1000" dirty="0">
                <a:solidFill>
                  <a:srgbClr val="22373A"/>
                </a:solidFill>
                <a:latin typeface="Arial MT"/>
                <a:cs typeface="Arial MT"/>
              </a:rPr>
              <a:t>is</a:t>
            </a:r>
            <a:r>
              <a:rPr sz="1000" spc="-20" dirty="0">
                <a:solidFill>
                  <a:srgbClr val="22373A"/>
                </a:solidFill>
                <a:latin typeface="Arial MT"/>
                <a:cs typeface="Arial MT"/>
              </a:rPr>
              <a:t> </a:t>
            </a:r>
            <a:r>
              <a:rPr sz="1000" dirty="0">
                <a:solidFill>
                  <a:srgbClr val="22373A"/>
                </a:solidFill>
                <a:latin typeface="Arial MT"/>
                <a:cs typeface="Arial MT"/>
              </a:rPr>
              <a:t>what</a:t>
            </a:r>
            <a:r>
              <a:rPr sz="1000" spc="-25" dirty="0">
                <a:solidFill>
                  <a:srgbClr val="22373A"/>
                </a:solidFill>
                <a:latin typeface="Arial MT"/>
                <a:cs typeface="Arial MT"/>
              </a:rPr>
              <a:t> </a:t>
            </a:r>
            <a:r>
              <a:rPr sz="1000" spc="-10" dirty="0">
                <a:solidFill>
                  <a:srgbClr val="22373A"/>
                </a:solidFill>
                <a:latin typeface="Arial MT"/>
                <a:cs typeface="Arial MT"/>
              </a:rPr>
              <a:t>lets</a:t>
            </a:r>
            <a:r>
              <a:rPr sz="1000" spc="-25" dirty="0">
                <a:solidFill>
                  <a:srgbClr val="22373A"/>
                </a:solidFill>
                <a:latin typeface="Arial MT"/>
                <a:cs typeface="Arial MT"/>
              </a:rPr>
              <a:t> retrieval</a:t>
            </a:r>
            <a:r>
              <a:rPr sz="1000" spc="-20" dirty="0">
                <a:solidFill>
                  <a:srgbClr val="22373A"/>
                </a:solidFill>
                <a:latin typeface="Arial MT"/>
                <a:cs typeface="Arial MT"/>
              </a:rPr>
              <a:t> </a:t>
            </a:r>
            <a:r>
              <a:rPr sz="1000" spc="-10" dirty="0">
                <a:solidFill>
                  <a:srgbClr val="22373A"/>
                </a:solidFill>
                <a:latin typeface="Arial MT"/>
                <a:cs typeface="Arial MT"/>
              </a:rPr>
              <a:t>be</a:t>
            </a:r>
            <a:r>
              <a:rPr sz="1000" spc="-20" dirty="0">
                <a:solidFill>
                  <a:srgbClr val="22373A"/>
                </a:solidFill>
                <a:latin typeface="Arial MT"/>
                <a:cs typeface="Arial MT"/>
              </a:rPr>
              <a:t> </a:t>
            </a:r>
            <a:r>
              <a:rPr sz="1000" spc="-65" dirty="0">
                <a:solidFill>
                  <a:srgbClr val="22373A"/>
                </a:solidFill>
                <a:latin typeface="Arial MT"/>
                <a:cs typeface="Arial MT"/>
              </a:rPr>
              <a:t>scoped</a:t>
            </a:r>
            <a:r>
              <a:rPr sz="1000" spc="-5" dirty="0">
                <a:solidFill>
                  <a:srgbClr val="22373A"/>
                </a:solidFill>
                <a:latin typeface="Arial MT"/>
                <a:cs typeface="Arial MT"/>
              </a:rPr>
              <a:t> </a:t>
            </a:r>
            <a:r>
              <a:rPr sz="1000" spc="-10" dirty="0">
                <a:solidFill>
                  <a:srgbClr val="22373A"/>
                </a:solidFill>
                <a:latin typeface="Arial MT"/>
                <a:cs typeface="Arial MT"/>
              </a:rPr>
              <a:t>later.</a:t>
            </a:r>
            <a:endParaRPr sz="1000">
              <a:latin typeface="Arial MT"/>
              <a:cs typeface="Arial MT"/>
            </a:endParaRPr>
          </a:p>
        </p:txBody>
      </p:sp>
      <p:pic>
        <p:nvPicPr>
          <p:cNvPr id="12" name="object 12"/>
          <p:cNvPicPr/>
          <p:nvPr/>
        </p:nvPicPr>
        <p:blipFill>
          <a:blip r:embed="rId3" cstate="print"/>
          <a:stretch>
            <a:fillRect/>
          </a:stretch>
        </p:blipFill>
        <p:spPr>
          <a:xfrm>
            <a:off x="101282" y="2998905"/>
            <a:ext cx="241983" cy="187117"/>
          </a:xfrm>
          <a:prstGeom prst="rect">
            <a:avLst/>
          </a:prstGeom>
        </p:spPr>
      </p:pic>
      <p:pic>
        <p:nvPicPr>
          <p:cNvPr id="13" name="object 13"/>
          <p:cNvPicPr/>
          <p:nvPr/>
        </p:nvPicPr>
        <p:blipFill>
          <a:blip r:embed="rId4" cstate="print"/>
          <a:stretch>
            <a:fillRect/>
          </a:stretch>
        </p:blipFill>
        <p:spPr>
          <a:xfrm>
            <a:off x="433285" y="2998965"/>
            <a:ext cx="187057" cy="187057"/>
          </a:xfrm>
          <a:prstGeom prst="rect">
            <a:avLst/>
          </a:prstGeom>
        </p:spPr>
      </p:pic>
      <p:pic>
        <p:nvPicPr>
          <p:cNvPr id="14" name="object 14"/>
          <p:cNvPicPr/>
          <p:nvPr/>
        </p:nvPicPr>
        <p:blipFill>
          <a:blip r:embed="rId5" cstate="print"/>
          <a:stretch>
            <a:fillRect/>
          </a:stretch>
        </p:blipFill>
        <p:spPr>
          <a:xfrm>
            <a:off x="710349" y="2998815"/>
            <a:ext cx="187208" cy="187208"/>
          </a:xfrm>
          <a:prstGeom prst="rect">
            <a:avLst/>
          </a:prstGeom>
        </p:spPr>
      </p:pic>
      <p:sp>
        <p:nvSpPr>
          <p:cNvPr id="15" name="object 15"/>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9</a:t>
            </a:r>
            <a:r>
              <a:rPr spc="-80" dirty="0"/>
              <a:t> </a:t>
            </a:r>
            <a:r>
              <a:rPr spc="195" dirty="0"/>
              <a:t>/</a:t>
            </a:r>
            <a:r>
              <a:rPr spc="-75" dirty="0"/>
              <a:t> </a:t>
            </a:r>
            <a:r>
              <a:rPr spc="-25" dirty="0"/>
              <a:t>32</a:t>
            </a: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25" dirty="0"/>
              <a:t>Stages</a:t>
            </a:r>
            <a:r>
              <a:rPr spc="35" dirty="0"/>
              <a:t> </a:t>
            </a:r>
            <a:r>
              <a:rPr dirty="0"/>
              <a:t>6–7:</a:t>
            </a:r>
            <a:r>
              <a:rPr spc="155" dirty="0"/>
              <a:t> </a:t>
            </a:r>
            <a:r>
              <a:rPr spc="-35" dirty="0"/>
              <a:t>Scoped</a:t>
            </a:r>
            <a:r>
              <a:rPr spc="35" dirty="0"/>
              <a:t> </a:t>
            </a:r>
            <a:r>
              <a:rPr dirty="0"/>
              <a:t>retrieval,</a:t>
            </a:r>
            <a:r>
              <a:rPr spc="35" dirty="0"/>
              <a:t> </a:t>
            </a:r>
            <a:r>
              <a:rPr spc="-25" dirty="0"/>
              <a:t>structured</a:t>
            </a:r>
            <a:r>
              <a:rPr spc="30" dirty="0"/>
              <a:t> </a:t>
            </a:r>
            <a:r>
              <a:rPr spc="-10" dirty="0"/>
              <a:t>report</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1800225" cy="5080"/>
            </a:xfrm>
            <a:custGeom>
              <a:avLst/>
              <a:gdLst/>
              <a:ahLst/>
              <a:cxnLst/>
              <a:rect l="l" t="t" r="r" b="b"/>
              <a:pathLst>
                <a:path w="1800225" h="5079">
                  <a:moveTo>
                    <a:pt x="0" y="5060"/>
                  </a:moveTo>
                  <a:lnTo>
                    <a:pt x="0" y="0"/>
                  </a:lnTo>
                  <a:lnTo>
                    <a:pt x="1800022" y="0"/>
                  </a:lnTo>
                  <a:lnTo>
                    <a:pt x="1800022" y="5060"/>
                  </a:lnTo>
                  <a:lnTo>
                    <a:pt x="0" y="5060"/>
                  </a:lnTo>
                  <a:close/>
                </a:path>
              </a:pathLst>
            </a:custGeom>
            <a:solidFill>
              <a:srgbClr val="2D7DB8"/>
            </a:solidFill>
          </p:spPr>
          <p:txBody>
            <a:bodyPr wrap="square" lIns="0" tIns="0" rIns="0" bIns="0" rtlCol="0"/>
            <a:lstStyle/>
            <a:p>
              <a:endParaRPr/>
            </a:p>
          </p:txBody>
        </p:sp>
      </p:grpSp>
      <p:sp>
        <p:nvSpPr>
          <p:cNvPr id="7" name="object 7"/>
          <p:cNvSpPr txBox="1"/>
          <p:nvPr/>
        </p:nvSpPr>
        <p:spPr>
          <a:xfrm>
            <a:off x="448055" y="692490"/>
            <a:ext cx="4559300" cy="1364615"/>
          </a:xfrm>
          <a:prstGeom prst="rect">
            <a:avLst/>
          </a:prstGeom>
        </p:spPr>
        <p:txBody>
          <a:bodyPr vert="horz" wrap="square" lIns="0" tIns="80645" rIns="0" bIns="0" rtlCol="0">
            <a:spAutoFit/>
          </a:bodyPr>
          <a:lstStyle/>
          <a:p>
            <a:pPr marL="186690" indent="-173990">
              <a:lnSpc>
                <a:spcPct val="100000"/>
              </a:lnSpc>
              <a:spcBef>
                <a:spcPts val="635"/>
              </a:spcBef>
              <a:buAutoNum type="arabicPeriod"/>
              <a:tabLst>
                <a:tab pos="186690" algn="l"/>
              </a:tabLst>
            </a:pPr>
            <a:r>
              <a:rPr sz="1100" spc="-10" dirty="0">
                <a:solidFill>
                  <a:srgbClr val="22373A"/>
                </a:solidFill>
                <a:latin typeface="Arial MT"/>
                <a:cs typeface="Arial MT"/>
              </a:rPr>
              <a:t>The</a:t>
            </a:r>
            <a:r>
              <a:rPr sz="1100" spc="-20" dirty="0">
                <a:solidFill>
                  <a:srgbClr val="22373A"/>
                </a:solidFill>
                <a:latin typeface="Arial MT"/>
                <a:cs typeface="Arial MT"/>
              </a:rPr>
              <a:t> </a:t>
            </a:r>
            <a:r>
              <a:rPr sz="1100" dirty="0">
                <a:solidFill>
                  <a:srgbClr val="22373A"/>
                </a:solidFill>
                <a:latin typeface="Arial MT"/>
                <a:cs typeface="Arial MT"/>
              </a:rPr>
              <a:t>LLM</a:t>
            </a:r>
            <a:r>
              <a:rPr sz="1100" spc="-20" dirty="0">
                <a:solidFill>
                  <a:srgbClr val="22373A"/>
                </a:solidFill>
                <a:latin typeface="Arial MT"/>
                <a:cs typeface="Arial MT"/>
              </a:rPr>
              <a:t> </a:t>
            </a:r>
            <a:r>
              <a:rPr sz="1100" spc="-30" dirty="0">
                <a:solidFill>
                  <a:srgbClr val="22373A"/>
                </a:solidFill>
                <a:latin typeface="Arial MT"/>
                <a:cs typeface="Arial MT"/>
              </a:rPr>
              <a:t>writes</a:t>
            </a:r>
            <a:r>
              <a:rPr sz="1100" spc="-20" dirty="0">
                <a:solidFill>
                  <a:srgbClr val="22373A"/>
                </a:solidFill>
                <a:latin typeface="Arial MT"/>
                <a:cs typeface="Arial MT"/>
              </a:rPr>
              <a:t> </a:t>
            </a:r>
            <a:r>
              <a:rPr sz="1100" dirty="0">
                <a:solidFill>
                  <a:srgbClr val="22373A"/>
                </a:solidFill>
                <a:latin typeface="Arial MT"/>
                <a:cs typeface="Arial MT"/>
              </a:rPr>
              <a:t>a</a:t>
            </a:r>
            <a:r>
              <a:rPr sz="1100" spc="-15" dirty="0">
                <a:solidFill>
                  <a:srgbClr val="22373A"/>
                </a:solidFill>
                <a:latin typeface="Arial MT"/>
                <a:cs typeface="Arial MT"/>
              </a:rPr>
              <a:t> </a:t>
            </a:r>
            <a:r>
              <a:rPr sz="1100" spc="-35" dirty="0">
                <a:solidFill>
                  <a:srgbClr val="22373A"/>
                </a:solidFill>
                <a:latin typeface="Arial MT"/>
                <a:cs typeface="Arial MT"/>
              </a:rPr>
              <a:t>hypothetical</a:t>
            </a:r>
            <a:r>
              <a:rPr sz="1100" spc="-20" dirty="0">
                <a:solidFill>
                  <a:srgbClr val="22373A"/>
                </a:solidFill>
                <a:latin typeface="Arial MT"/>
                <a:cs typeface="Arial MT"/>
              </a:rPr>
              <a:t> </a:t>
            </a:r>
            <a:r>
              <a:rPr sz="1100" dirty="0">
                <a:solidFill>
                  <a:srgbClr val="22373A"/>
                </a:solidFill>
                <a:latin typeface="Arial MT"/>
                <a:cs typeface="Arial MT"/>
              </a:rPr>
              <a:t>attack</a:t>
            </a:r>
            <a:r>
              <a:rPr sz="1100" spc="-15" dirty="0">
                <a:solidFill>
                  <a:srgbClr val="22373A"/>
                </a:solidFill>
                <a:latin typeface="Arial MT"/>
                <a:cs typeface="Arial MT"/>
              </a:rPr>
              <a:t> </a:t>
            </a:r>
            <a:r>
              <a:rPr sz="1100" spc="-45" dirty="0">
                <a:solidFill>
                  <a:srgbClr val="22373A"/>
                </a:solidFill>
                <a:latin typeface="Arial MT"/>
                <a:cs typeface="Arial MT"/>
              </a:rPr>
              <a:t>description</a:t>
            </a:r>
            <a:r>
              <a:rPr sz="1100" spc="-20" dirty="0">
                <a:solidFill>
                  <a:srgbClr val="22373A"/>
                </a:solidFill>
                <a:latin typeface="Arial MT"/>
                <a:cs typeface="Arial MT"/>
              </a:rPr>
              <a:t> (HyDE</a:t>
            </a:r>
            <a:r>
              <a:rPr sz="1100" spc="-15" dirty="0">
                <a:solidFill>
                  <a:srgbClr val="22373A"/>
                </a:solidFill>
                <a:latin typeface="Arial MT"/>
                <a:cs typeface="Arial MT"/>
              </a:rPr>
              <a:t> </a:t>
            </a:r>
            <a:r>
              <a:rPr sz="1100" spc="-10" dirty="0">
                <a:solidFill>
                  <a:srgbClr val="22373A"/>
                </a:solidFill>
                <a:latin typeface="Arial MT"/>
                <a:cs typeface="Arial MT"/>
              </a:rPr>
              <a:t>query)</a:t>
            </a:r>
            <a:endParaRPr sz="1100">
              <a:latin typeface="Arial MT"/>
              <a:cs typeface="Arial MT"/>
            </a:endParaRPr>
          </a:p>
          <a:p>
            <a:pPr marL="186690" indent="-173990">
              <a:lnSpc>
                <a:spcPct val="100000"/>
              </a:lnSpc>
              <a:spcBef>
                <a:spcPts val="540"/>
              </a:spcBef>
              <a:buAutoNum type="arabicPeriod"/>
              <a:tabLst>
                <a:tab pos="186690" algn="l"/>
              </a:tabLst>
            </a:pPr>
            <a:r>
              <a:rPr sz="1100" spc="-50" dirty="0">
                <a:solidFill>
                  <a:srgbClr val="22373A"/>
                </a:solidFill>
                <a:latin typeface="Arial MT"/>
                <a:cs typeface="Arial MT"/>
              </a:rPr>
              <a:t>ChromaDB</a:t>
            </a:r>
            <a:r>
              <a:rPr sz="1100" dirty="0">
                <a:solidFill>
                  <a:srgbClr val="22373A"/>
                </a:solidFill>
                <a:latin typeface="Arial MT"/>
                <a:cs typeface="Arial MT"/>
              </a:rPr>
              <a:t> </a:t>
            </a:r>
            <a:r>
              <a:rPr sz="1100" spc="-35" dirty="0">
                <a:solidFill>
                  <a:srgbClr val="22373A"/>
                </a:solidFill>
                <a:latin typeface="Arial MT"/>
                <a:cs typeface="Arial MT"/>
              </a:rPr>
              <a:t>returns</a:t>
            </a:r>
            <a:r>
              <a:rPr sz="1100" spc="5" dirty="0">
                <a:solidFill>
                  <a:srgbClr val="22373A"/>
                </a:solidFill>
                <a:latin typeface="Arial MT"/>
                <a:cs typeface="Arial MT"/>
              </a:rPr>
              <a:t> </a:t>
            </a:r>
            <a:r>
              <a:rPr sz="1100" spc="-50" dirty="0">
                <a:solidFill>
                  <a:srgbClr val="22373A"/>
                </a:solidFill>
                <a:latin typeface="Arial MT"/>
                <a:cs typeface="Arial MT"/>
              </a:rPr>
              <a:t>candidate</a:t>
            </a:r>
            <a:r>
              <a:rPr sz="1100" dirty="0">
                <a:solidFill>
                  <a:srgbClr val="22373A"/>
                </a:solidFill>
                <a:latin typeface="Arial MT"/>
                <a:cs typeface="Arial MT"/>
              </a:rPr>
              <a:t> ATT&amp;CK</a:t>
            </a:r>
            <a:r>
              <a:rPr sz="1100" spc="5" dirty="0">
                <a:solidFill>
                  <a:srgbClr val="22373A"/>
                </a:solidFill>
                <a:latin typeface="Arial MT"/>
                <a:cs typeface="Arial MT"/>
              </a:rPr>
              <a:t> </a:t>
            </a:r>
            <a:r>
              <a:rPr sz="1100" spc="-60" dirty="0">
                <a:solidFill>
                  <a:srgbClr val="22373A"/>
                </a:solidFill>
                <a:latin typeface="Arial MT"/>
                <a:cs typeface="Arial MT"/>
              </a:rPr>
              <a:t>procedure</a:t>
            </a:r>
            <a:r>
              <a:rPr sz="1100" dirty="0">
                <a:solidFill>
                  <a:srgbClr val="22373A"/>
                </a:solidFill>
                <a:latin typeface="Arial MT"/>
                <a:cs typeface="Arial MT"/>
              </a:rPr>
              <a:t> </a:t>
            </a:r>
            <a:r>
              <a:rPr sz="1100" spc="-10" dirty="0">
                <a:solidFill>
                  <a:srgbClr val="22373A"/>
                </a:solidFill>
                <a:latin typeface="Arial MT"/>
                <a:cs typeface="Arial MT"/>
              </a:rPr>
              <a:t>descriptions</a:t>
            </a:r>
            <a:endParaRPr sz="1100">
              <a:latin typeface="Arial MT"/>
              <a:cs typeface="Arial MT"/>
            </a:endParaRPr>
          </a:p>
          <a:p>
            <a:pPr marL="186055" marR="55244" indent="-173990">
              <a:lnSpc>
                <a:spcPct val="118000"/>
              </a:lnSpc>
              <a:spcBef>
                <a:spcPts val="300"/>
              </a:spcBef>
              <a:buClr>
                <a:srgbClr val="22373A"/>
              </a:buClr>
              <a:buAutoNum type="arabicPeriod"/>
              <a:tabLst>
                <a:tab pos="188595" algn="l"/>
              </a:tabLst>
            </a:pPr>
            <a:r>
              <a:rPr sz="1100" spc="-10" dirty="0">
                <a:solidFill>
                  <a:srgbClr val="2D7DB8"/>
                </a:solidFill>
                <a:latin typeface="Arial MT"/>
                <a:cs typeface="Arial MT"/>
              </a:rPr>
              <a:t>The</a:t>
            </a:r>
            <a:r>
              <a:rPr sz="1100" spc="-30" dirty="0">
                <a:solidFill>
                  <a:srgbClr val="2D7DB8"/>
                </a:solidFill>
                <a:latin typeface="Arial MT"/>
                <a:cs typeface="Arial MT"/>
              </a:rPr>
              <a:t> </a:t>
            </a:r>
            <a:r>
              <a:rPr sz="1100" spc="-45" dirty="0">
                <a:solidFill>
                  <a:srgbClr val="2D7DB8"/>
                </a:solidFill>
                <a:latin typeface="Arial MT"/>
                <a:cs typeface="Arial MT"/>
              </a:rPr>
              <a:t>graph</a:t>
            </a:r>
            <a:r>
              <a:rPr sz="1100" spc="-5" dirty="0">
                <a:solidFill>
                  <a:srgbClr val="2D7DB8"/>
                </a:solidFill>
                <a:latin typeface="Arial MT"/>
                <a:cs typeface="Arial MT"/>
              </a:rPr>
              <a:t> </a:t>
            </a:r>
            <a:r>
              <a:rPr sz="1100" spc="-30" dirty="0">
                <a:solidFill>
                  <a:srgbClr val="2D7DB8"/>
                </a:solidFill>
                <a:latin typeface="Arial MT"/>
                <a:cs typeface="Arial MT"/>
              </a:rPr>
              <a:t>restricts</a:t>
            </a:r>
            <a:r>
              <a:rPr sz="1100" spc="-10" dirty="0">
                <a:solidFill>
                  <a:srgbClr val="2D7DB8"/>
                </a:solidFill>
                <a:latin typeface="Arial MT"/>
                <a:cs typeface="Arial MT"/>
              </a:rPr>
              <a:t> </a:t>
            </a:r>
            <a:r>
              <a:rPr sz="1100" dirty="0">
                <a:solidFill>
                  <a:srgbClr val="2D7DB8"/>
                </a:solidFill>
                <a:latin typeface="Arial MT"/>
                <a:cs typeface="Arial MT"/>
              </a:rPr>
              <a:t>the</a:t>
            </a:r>
            <a:r>
              <a:rPr sz="1100" spc="-10" dirty="0">
                <a:solidFill>
                  <a:srgbClr val="2D7DB8"/>
                </a:solidFill>
                <a:latin typeface="Arial MT"/>
                <a:cs typeface="Arial MT"/>
              </a:rPr>
              <a:t> </a:t>
            </a:r>
            <a:r>
              <a:rPr sz="1100" spc="-50" dirty="0">
                <a:solidFill>
                  <a:srgbClr val="2D7DB8"/>
                </a:solidFill>
                <a:latin typeface="Arial MT"/>
                <a:cs typeface="Arial MT"/>
              </a:rPr>
              <a:t>candidate</a:t>
            </a:r>
            <a:r>
              <a:rPr sz="1100" spc="-5" dirty="0">
                <a:solidFill>
                  <a:srgbClr val="2D7DB8"/>
                </a:solidFill>
                <a:latin typeface="Arial MT"/>
                <a:cs typeface="Arial MT"/>
              </a:rPr>
              <a:t> </a:t>
            </a:r>
            <a:r>
              <a:rPr sz="1100" spc="-30" dirty="0">
                <a:solidFill>
                  <a:srgbClr val="2D7DB8"/>
                </a:solidFill>
                <a:latin typeface="Arial MT"/>
                <a:cs typeface="Arial MT"/>
              </a:rPr>
              <a:t>set</a:t>
            </a:r>
            <a:r>
              <a:rPr sz="1100" spc="-10" dirty="0">
                <a:solidFill>
                  <a:srgbClr val="2D7DB8"/>
                </a:solidFill>
                <a:latin typeface="Arial MT"/>
                <a:cs typeface="Arial MT"/>
              </a:rPr>
              <a:t> </a:t>
            </a:r>
            <a:r>
              <a:rPr sz="1100" dirty="0">
                <a:solidFill>
                  <a:srgbClr val="22373A"/>
                </a:solidFill>
                <a:latin typeface="Arial MT"/>
                <a:cs typeface="Arial MT"/>
              </a:rPr>
              <a:t>to</a:t>
            </a:r>
            <a:r>
              <a:rPr sz="1100" spc="-5" dirty="0">
                <a:solidFill>
                  <a:srgbClr val="22373A"/>
                </a:solidFill>
                <a:latin typeface="Arial MT"/>
                <a:cs typeface="Arial MT"/>
              </a:rPr>
              <a:t> </a:t>
            </a:r>
            <a:r>
              <a:rPr sz="1100" spc="-60" dirty="0">
                <a:solidFill>
                  <a:srgbClr val="22373A"/>
                </a:solidFill>
                <a:latin typeface="Arial MT"/>
                <a:cs typeface="Arial MT"/>
              </a:rPr>
              <a:t>techniques</a:t>
            </a:r>
            <a:r>
              <a:rPr sz="1100" spc="-10" dirty="0">
                <a:solidFill>
                  <a:srgbClr val="22373A"/>
                </a:solidFill>
                <a:latin typeface="Arial MT"/>
                <a:cs typeface="Arial MT"/>
              </a:rPr>
              <a:t> </a:t>
            </a:r>
            <a:r>
              <a:rPr sz="1100" dirty="0">
                <a:solidFill>
                  <a:srgbClr val="22373A"/>
                </a:solidFill>
                <a:latin typeface="Arial MT"/>
                <a:cs typeface="Arial MT"/>
              </a:rPr>
              <a:t>the</a:t>
            </a:r>
            <a:r>
              <a:rPr sz="1100" spc="-10" dirty="0">
                <a:solidFill>
                  <a:srgbClr val="22373A"/>
                </a:solidFill>
                <a:latin typeface="Arial MT"/>
                <a:cs typeface="Arial MT"/>
              </a:rPr>
              <a:t> </a:t>
            </a:r>
            <a:r>
              <a:rPr sz="1100" spc="-85" dirty="0">
                <a:solidFill>
                  <a:srgbClr val="22373A"/>
                </a:solidFill>
                <a:latin typeface="Arial MT"/>
                <a:cs typeface="Arial MT"/>
              </a:rPr>
              <a:t>observed</a:t>
            </a:r>
            <a:r>
              <a:rPr sz="1100" spc="10" dirty="0">
                <a:solidFill>
                  <a:srgbClr val="22373A"/>
                </a:solidFill>
                <a:latin typeface="Arial MT"/>
                <a:cs typeface="Arial MT"/>
              </a:rPr>
              <a:t> </a:t>
            </a:r>
            <a:r>
              <a:rPr sz="1100" spc="-20" dirty="0">
                <a:solidFill>
                  <a:srgbClr val="22373A"/>
                </a:solidFill>
                <a:latin typeface="Arial MT"/>
                <a:cs typeface="Arial MT"/>
              </a:rPr>
              <a:t>behaviour 	</a:t>
            </a:r>
            <a:r>
              <a:rPr sz="1100" spc="-25" dirty="0">
                <a:solidFill>
                  <a:srgbClr val="22373A"/>
                </a:solidFill>
                <a:latin typeface="Arial MT"/>
                <a:cs typeface="Arial MT"/>
              </a:rPr>
              <a:t>actually</a:t>
            </a:r>
            <a:r>
              <a:rPr sz="1100" spc="-10" dirty="0">
                <a:solidFill>
                  <a:srgbClr val="22373A"/>
                </a:solidFill>
                <a:latin typeface="Arial MT"/>
                <a:cs typeface="Arial MT"/>
              </a:rPr>
              <a:t> reaches</a:t>
            </a:r>
            <a:endParaRPr sz="1100">
              <a:latin typeface="Arial MT"/>
              <a:cs typeface="Arial MT"/>
            </a:endParaRPr>
          </a:p>
          <a:p>
            <a:pPr marL="186055" marR="5080" indent="-173990">
              <a:lnSpc>
                <a:spcPct val="118000"/>
              </a:lnSpc>
              <a:spcBef>
                <a:spcPts val="300"/>
              </a:spcBef>
              <a:buAutoNum type="arabicPeriod"/>
              <a:tabLst>
                <a:tab pos="188595" algn="l"/>
              </a:tabLst>
            </a:pPr>
            <a:r>
              <a:rPr sz="1100" spc="-10" dirty="0">
                <a:solidFill>
                  <a:srgbClr val="22373A"/>
                </a:solidFill>
                <a:latin typeface="Arial MT"/>
                <a:cs typeface="Arial MT"/>
              </a:rPr>
              <a:t>The</a:t>
            </a:r>
            <a:r>
              <a:rPr sz="1100" spc="-45" dirty="0">
                <a:solidFill>
                  <a:srgbClr val="22373A"/>
                </a:solidFill>
                <a:latin typeface="Arial MT"/>
                <a:cs typeface="Arial MT"/>
              </a:rPr>
              <a:t> </a:t>
            </a:r>
            <a:r>
              <a:rPr sz="1100" spc="-20" dirty="0">
                <a:solidFill>
                  <a:srgbClr val="22373A"/>
                </a:solidFill>
                <a:latin typeface="Arial MT"/>
                <a:cs typeface="Arial MT"/>
              </a:rPr>
              <a:t>report</a:t>
            </a:r>
            <a:r>
              <a:rPr sz="1100" spc="-25" dirty="0">
                <a:solidFill>
                  <a:srgbClr val="22373A"/>
                </a:solidFill>
                <a:latin typeface="Arial MT"/>
                <a:cs typeface="Arial MT"/>
              </a:rPr>
              <a:t> </a:t>
            </a:r>
            <a:r>
              <a:rPr sz="1100" spc="-10" dirty="0">
                <a:solidFill>
                  <a:srgbClr val="22373A"/>
                </a:solidFill>
                <a:latin typeface="Arial MT"/>
                <a:cs typeface="Arial MT"/>
              </a:rPr>
              <a:t>is</a:t>
            </a:r>
            <a:r>
              <a:rPr sz="1100" spc="-25" dirty="0">
                <a:solidFill>
                  <a:srgbClr val="22373A"/>
                </a:solidFill>
                <a:latin typeface="Arial MT"/>
                <a:cs typeface="Arial MT"/>
              </a:rPr>
              <a:t> </a:t>
            </a:r>
            <a:r>
              <a:rPr sz="1100" spc="-65" dirty="0">
                <a:solidFill>
                  <a:srgbClr val="22373A"/>
                </a:solidFill>
                <a:latin typeface="Arial MT"/>
                <a:cs typeface="Arial MT"/>
              </a:rPr>
              <a:t>generated</a:t>
            </a:r>
            <a:r>
              <a:rPr sz="1100" spc="-10" dirty="0">
                <a:solidFill>
                  <a:srgbClr val="22373A"/>
                </a:solidFill>
                <a:latin typeface="Arial MT"/>
                <a:cs typeface="Arial MT"/>
              </a:rPr>
              <a:t> </a:t>
            </a:r>
            <a:r>
              <a:rPr sz="1100" spc="-45" dirty="0">
                <a:solidFill>
                  <a:srgbClr val="22373A"/>
                </a:solidFill>
                <a:latin typeface="Arial MT"/>
                <a:cs typeface="Arial MT"/>
              </a:rPr>
              <a:t>under</a:t>
            </a:r>
            <a:r>
              <a:rPr sz="1100" spc="-25" dirty="0">
                <a:solidFill>
                  <a:srgbClr val="22373A"/>
                </a:solidFill>
                <a:latin typeface="Arial MT"/>
                <a:cs typeface="Arial MT"/>
              </a:rPr>
              <a:t> </a:t>
            </a:r>
            <a:r>
              <a:rPr sz="1100" dirty="0">
                <a:solidFill>
                  <a:srgbClr val="22373A"/>
                </a:solidFill>
                <a:latin typeface="Arial MT"/>
                <a:cs typeface="Arial MT"/>
              </a:rPr>
              <a:t>a</a:t>
            </a:r>
            <a:r>
              <a:rPr sz="1100" spc="-25" dirty="0">
                <a:solidFill>
                  <a:srgbClr val="22373A"/>
                </a:solidFill>
                <a:latin typeface="Arial MT"/>
                <a:cs typeface="Arial MT"/>
              </a:rPr>
              <a:t> </a:t>
            </a:r>
            <a:r>
              <a:rPr sz="1100" spc="-55" dirty="0">
                <a:solidFill>
                  <a:srgbClr val="22373A"/>
                </a:solidFill>
                <a:latin typeface="Arial MT"/>
                <a:cs typeface="Arial MT"/>
              </a:rPr>
              <a:t>JSON</a:t>
            </a:r>
            <a:r>
              <a:rPr sz="1100" spc="-20" dirty="0">
                <a:solidFill>
                  <a:srgbClr val="22373A"/>
                </a:solidFill>
                <a:latin typeface="Arial MT"/>
                <a:cs typeface="Arial MT"/>
              </a:rPr>
              <a:t> </a:t>
            </a:r>
            <a:r>
              <a:rPr sz="1100" spc="-60" dirty="0">
                <a:solidFill>
                  <a:srgbClr val="22373A"/>
                </a:solidFill>
                <a:latin typeface="Arial MT"/>
                <a:cs typeface="Arial MT"/>
              </a:rPr>
              <a:t>schema:</a:t>
            </a:r>
            <a:r>
              <a:rPr sz="1100" spc="65" dirty="0">
                <a:solidFill>
                  <a:srgbClr val="22373A"/>
                </a:solidFill>
                <a:latin typeface="Arial MT"/>
                <a:cs typeface="Arial MT"/>
              </a:rPr>
              <a:t> </a:t>
            </a:r>
            <a:r>
              <a:rPr sz="1100" spc="-40" dirty="0">
                <a:solidFill>
                  <a:srgbClr val="22373A"/>
                </a:solidFill>
                <a:latin typeface="Arial MT"/>
                <a:cs typeface="Arial MT"/>
              </a:rPr>
              <a:t>technique,</a:t>
            </a:r>
            <a:r>
              <a:rPr sz="1100" spc="-25" dirty="0">
                <a:solidFill>
                  <a:srgbClr val="22373A"/>
                </a:solidFill>
                <a:latin typeface="Arial MT"/>
                <a:cs typeface="Arial MT"/>
              </a:rPr>
              <a:t> </a:t>
            </a:r>
            <a:r>
              <a:rPr sz="1100" dirty="0">
                <a:solidFill>
                  <a:srgbClr val="22373A"/>
                </a:solidFill>
                <a:latin typeface="Arial MT"/>
                <a:cs typeface="Arial MT"/>
              </a:rPr>
              <a:t>tactic,</a:t>
            </a:r>
            <a:r>
              <a:rPr sz="1100" spc="-25" dirty="0">
                <a:solidFill>
                  <a:srgbClr val="22373A"/>
                </a:solidFill>
                <a:latin typeface="Arial MT"/>
                <a:cs typeface="Arial MT"/>
              </a:rPr>
              <a:t> </a:t>
            </a:r>
            <a:r>
              <a:rPr sz="1100" spc="-45" dirty="0">
                <a:solidFill>
                  <a:srgbClr val="22373A"/>
                </a:solidFill>
                <a:latin typeface="Arial MT"/>
                <a:cs typeface="Arial MT"/>
              </a:rPr>
              <a:t>summary, 	</a:t>
            </a:r>
            <a:r>
              <a:rPr sz="1100" spc="-75" dirty="0">
                <a:solidFill>
                  <a:srgbClr val="22373A"/>
                </a:solidFill>
                <a:latin typeface="Arial MT"/>
                <a:cs typeface="Arial MT"/>
              </a:rPr>
              <a:t>evidence,</a:t>
            </a:r>
            <a:r>
              <a:rPr sz="1100" spc="10" dirty="0">
                <a:solidFill>
                  <a:srgbClr val="22373A"/>
                </a:solidFill>
                <a:latin typeface="Arial MT"/>
                <a:cs typeface="Arial MT"/>
              </a:rPr>
              <a:t> </a:t>
            </a:r>
            <a:r>
              <a:rPr sz="1100" spc="-20" dirty="0">
                <a:solidFill>
                  <a:srgbClr val="22373A"/>
                </a:solidFill>
                <a:latin typeface="Arial MT"/>
                <a:cs typeface="Arial MT"/>
              </a:rPr>
              <a:t>next</a:t>
            </a:r>
            <a:r>
              <a:rPr sz="1100" spc="10" dirty="0">
                <a:solidFill>
                  <a:srgbClr val="22373A"/>
                </a:solidFill>
                <a:latin typeface="Arial MT"/>
                <a:cs typeface="Arial MT"/>
              </a:rPr>
              <a:t> </a:t>
            </a:r>
            <a:r>
              <a:rPr sz="1100" spc="-20" dirty="0">
                <a:solidFill>
                  <a:srgbClr val="22373A"/>
                </a:solidFill>
                <a:latin typeface="Arial MT"/>
                <a:cs typeface="Arial MT"/>
              </a:rPr>
              <a:t>step</a:t>
            </a:r>
            <a:endParaRPr sz="1100">
              <a:latin typeface="Arial MT"/>
              <a:cs typeface="Arial MT"/>
            </a:endParaRPr>
          </a:p>
        </p:txBody>
      </p:sp>
      <p:sp>
        <p:nvSpPr>
          <p:cNvPr id="8" name="object 8"/>
          <p:cNvSpPr/>
          <p:nvPr/>
        </p:nvSpPr>
        <p:spPr>
          <a:xfrm>
            <a:off x="359994" y="2372994"/>
            <a:ext cx="5039995" cy="0"/>
          </a:xfrm>
          <a:custGeom>
            <a:avLst/>
            <a:gdLst/>
            <a:ahLst/>
            <a:cxnLst/>
            <a:rect l="l" t="t" r="r" b="b"/>
            <a:pathLst>
              <a:path w="5039995">
                <a:moveTo>
                  <a:pt x="0" y="0"/>
                </a:moveTo>
                <a:lnTo>
                  <a:pt x="5039995" y="0"/>
                </a:lnTo>
              </a:path>
            </a:pathLst>
          </a:custGeom>
          <a:ln w="7594">
            <a:solidFill>
              <a:srgbClr val="2D7DB8"/>
            </a:solidFill>
          </a:ln>
        </p:spPr>
        <p:txBody>
          <a:bodyPr wrap="square" lIns="0" tIns="0" rIns="0" bIns="0" rtlCol="0"/>
          <a:lstStyle/>
          <a:p>
            <a:endParaRPr/>
          </a:p>
        </p:txBody>
      </p:sp>
      <p:sp>
        <p:nvSpPr>
          <p:cNvPr id="9" name="object 9"/>
          <p:cNvSpPr txBox="1"/>
          <p:nvPr/>
        </p:nvSpPr>
        <p:spPr>
          <a:xfrm>
            <a:off x="347294" y="2522745"/>
            <a:ext cx="3755390" cy="177800"/>
          </a:xfrm>
          <a:prstGeom prst="rect">
            <a:avLst/>
          </a:prstGeom>
        </p:spPr>
        <p:txBody>
          <a:bodyPr vert="horz" wrap="square" lIns="0" tIns="12065" rIns="0" bIns="0" rtlCol="0">
            <a:spAutoFit/>
          </a:bodyPr>
          <a:lstStyle/>
          <a:p>
            <a:pPr marL="12700">
              <a:lnSpc>
                <a:spcPct val="100000"/>
              </a:lnSpc>
              <a:spcBef>
                <a:spcPts val="95"/>
              </a:spcBef>
            </a:pPr>
            <a:r>
              <a:rPr sz="1000" spc="-30" dirty="0">
                <a:solidFill>
                  <a:srgbClr val="22373A"/>
                </a:solidFill>
                <a:latin typeface="Arial MT"/>
                <a:cs typeface="Arial MT"/>
              </a:rPr>
              <a:t>691</a:t>
            </a:r>
            <a:r>
              <a:rPr sz="1000" spc="5" dirty="0">
                <a:solidFill>
                  <a:srgbClr val="22373A"/>
                </a:solidFill>
                <a:latin typeface="Arial MT"/>
                <a:cs typeface="Arial MT"/>
              </a:rPr>
              <a:t> </a:t>
            </a:r>
            <a:r>
              <a:rPr sz="1000" spc="-45" dirty="0">
                <a:solidFill>
                  <a:srgbClr val="22373A"/>
                </a:solidFill>
                <a:latin typeface="Arial MT"/>
                <a:cs typeface="Arial MT"/>
              </a:rPr>
              <a:t>techniques</a:t>
            </a:r>
            <a:r>
              <a:rPr sz="1000" spc="5" dirty="0">
                <a:solidFill>
                  <a:srgbClr val="22373A"/>
                </a:solidFill>
                <a:latin typeface="Arial MT"/>
                <a:cs typeface="Arial MT"/>
              </a:rPr>
              <a:t> </a:t>
            </a:r>
            <a:r>
              <a:rPr sz="1000" spc="-65" dirty="0">
                <a:solidFill>
                  <a:srgbClr val="22373A"/>
                </a:solidFill>
                <a:latin typeface="Arial MT"/>
                <a:cs typeface="Arial MT"/>
              </a:rPr>
              <a:t>become</a:t>
            </a:r>
            <a:r>
              <a:rPr sz="1000" spc="5" dirty="0">
                <a:solidFill>
                  <a:srgbClr val="22373A"/>
                </a:solidFill>
                <a:latin typeface="Arial MT"/>
                <a:cs typeface="Arial MT"/>
              </a:rPr>
              <a:t> </a:t>
            </a:r>
            <a:r>
              <a:rPr sz="1000" dirty="0">
                <a:solidFill>
                  <a:srgbClr val="22373A"/>
                </a:solidFill>
                <a:latin typeface="Arial MT"/>
                <a:cs typeface="Arial MT"/>
              </a:rPr>
              <a:t>a</a:t>
            </a:r>
            <a:r>
              <a:rPr sz="1000" spc="5" dirty="0">
                <a:solidFill>
                  <a:srgbClr val="22373A"/>
                </a:solidFill>
                <a:latin typeface="Arial MT"/>
                <a:cs typeface="Arial MT"/>
              </a:rPr>
              <a:t> </a:t>
            </a:r>
            <a:r>
              <a:rPr sz="1000" spc="-25" dirty="0">
                <a:solidFill>
                  <a:srgbClr val="22373A"/>
                </a:solidFill>
                <a:latin typeface="Arial MT"/>
                <a:cs typeface="Arial MT"/>
              </a:rPr>
              <a:t>handful</a:t>
            </a:r>
            <a:r>
              <a:rPr sz="1000" spc="5" dirty="0">
                <a:solidFill>
                  <a:srgbClr val="22373A"/>
                </a:solidFill>
                <a:latin typeface="Arial MT"/>
                <a:cs typeface="Arial MT"/>
              </a:rPr>
              <a:t> </a:t>
            </a:r>
            <a:r>
              <a:rPr sz="1000" dirty="0">
                <a:solidFill>
                  <a:srgbClr val="22373A"/>
                </a:solidFill>
                <a:latin typeface="Arial MT"/>
                <a:cs typeface="Arial MT"/>
              </a:rPr>
              <a:t>of</a:t>
            </a:r>
            <a:r>
              <a:rPr sz="1000" spc="5" dirty="0">
                <a:solidFill>
                  <a:srgbClr val="22373A"/>
                </a:solidFill>
                <a:latin typeface="Arial MT"/>
                <a:cs typeface="Arial MT"/>
              </a:rPr>
              <a:t> </a:t>
            </a:r>
            <a:r>
              <a:rPr sz="1000" spc="-35" dirty="0">
                <a:solidFill>
                  <a:srgbClr val="22373A"/>
                </a:solidFill>
                <a:latin typeface="Arial MT"/>
                <a:cs typeface="Arial MT"/>
              </a:rPr>
              <a:t>behaviourally</a:t>
            </a:r>
            <a:r>
              <a:rPr sz="1000" spc="5" dirty="0">
                <a:solidFill>
                  <a:srgbClr val="22373A"/>
                </a:solidFill>
                <a:latin typeface="Arial MT"/>
                <a:cs typeface="Arial MT"/>
              </a:rPr>
              <a:t> </a:t>
            </a:r>
            <a:r>
              <a:rPr sz="1000" spc="-10" dirty="0">
                <a:solidFill>
                  <a:srgbClr val="22373A"/>
                </a:solidFill>
                <a:latin typeface="Arial MT"/>
                <a:cs typeface="Arial MT"/>
              </a:rPr>
              <a:t>justified</a:t>
            </a:r>
            <a:r>
              <a:rPr sz="1000" spc="5" dirty="0">
                <a:solidFill>
                  <a:srgbClr val="22373A"/>
                </a:solidFill>
                <a:latin typeface="Arial MT"/>
                <a:cs typeface="Arial MT"/>
              </a:rPr>
              <a:t> </a:t>
            </a:r>
            <a:r>
              <a:rPr sz="1000" spc="-10" dirty="0">
                <a:solidFill>
                  <a:srgbClr val="22373A"/>
                </a:solidFill>
                <a:latin typeface="Arial MT"/>
                <a:cs typeface="Arial MT"/>
              </a:rPr>
              <a:t>candidates.</a:t>
            </a:r>
            <a:endParaRPr sz="1000">
              <a:latin typeface="Arial MT"/>
              <a:cs typeface="Arial MT"/>
            </a:endParaRPr>
          </a:p>
        </p:txBody>
      </p:sp>
      <p:pic>
        <p:nvPicPr>
          <p:cNvPr id="10" name="object 10"/>
          <p:cNvPicPr/>
          <p:nvPr/>
        </p:nvPicPr>
        <p:blipFill>
          <a:blip r:embed="rId3" cstate="print"/>
          <a:stretch>
            <a:fillRect/>
          </a:stretch>
        </p:blipFill>
        <p:spPr>
          <a:xfrm>
            <a:off x="101282" y="2998905"/>
            <a:ext cx="241983" cy="187117"/>
          </a:xfrm>
          <a:prstGeom prst="rect">
            <a:avLst/>
          </a:prstGeom>
        </p:spPr>
      </p:pic>
      <p:pic>
        <p:nvPicPr>
          <p:cNvPr id="11" name="object 11"/>
          <p:cNvPicPr/>
          <p:nvPr/>
        </p:nvPicPr>
        <p:blipFill>
          <a:blip r:embed="rId4" cstate="print"/>
          <a:stretch>
            <a:fillRect/>
          </a:stretch>
        </p:blipFill>
        <p:spPr>
          <a:xfrm>
            <a:off x="433285" y="2998965"/>
            <a:ext cx="187057" cy="187057"/>
          </a:xfrm>
          <a:prstGeom prst="rect">
            <a:avLst/>
          </a:prstGeom>
        </p:spPr>
      </p:pic>
      <p:pic>
        <p:nvPicPr>
          <p:cNvPr id="12" name="object 12"/>
          <p:cNvPicPr/>
          <p:nvPr/>
        </p:nvPicPr>
        <p:blipFill>
          <a:blip r:embed="rId5" cstate="print"/>
          <a:stretch>
            <a:fillRect/>
          </a:stretch>
        </p:blipFill>
        <p:spPr>
          <a:xfrm>
            <a:off x="710349" y="2998815"/>
            <a:ext cx="187208" cy="187208"/>
          </a:xfrm>
          <a:prstGeom prst="rect">
            <a:avLst/>
          </a:prstGeom>
        </p:spPr>
      </p:pic>
      <p:sp>
        <p:nvSpPr>
          <p:cNvPr id="13" name="object 13"/>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10</a:t>
            </a:r>
            <a:r>
              <a:rPr spc="-80" dirty="0"/>
              <a:t> </a:t>
            </a:r>
            <a:r>
              <a:rPr spc="195" dirty="0"/>
              <a:t>/</a:t>
            </a:r>
            <a:r>
              <a:rPr spc="-75" dirty="0"/>
              <a:t> </a:t>
            </a:r>
            <a:r>
              <a:rPr spc="-25" dirty="0"/>
              <a:t>32</a:t>
            </a: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2770" y="76349"/>
            <a:ext cx="643890" cy="207645"/>
          </a:xfrm>
          <a:prstGeom prst="rect">
            <a:avLst/>
          </a:prstGeom>
        </p:spPr>
        <p:txBody>
          <a:bodyPr vert="horz" wrap="square" lIns="0" tIns="12065" rIns="0" bIns="0" rtlCol="0">
            <a:spAutoFit/>
          </a:bodyPr>
          <a:lstStyle/>
          <a:p>
            <a:pPr marL="12700">
              <a:lnSpc>
                <a:spcPct val="100000"/>
              </a:lnSpc>
              <a:spcBef>
                <a:spcPts val="95"/>
              </a:spcBef>
            </a:pPr>
            <a:r>
              <a:rPr spc="-10" dirty="0"/>
              <a:t>Datasets</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1980564" cy="5080"/>
            </a:xfrm>
            <a:custGeom>
              <a:avLst/>
              <a:gdLst/>
              <a:ahLst/>
              <a:cxnLst/>
              <a:rect l="l" t="t" r="r" b="b"/>
              <a:pathLst>
                <a:path w="1980564" h="5079">
                  <a:moveTo>
                    <a:pt x="0" y="5060"/>
                  </a:moveTo>
                  <a:lnTo>
                    <a:pt x="0" y="0"/>
                  </a:lnTo>
                  <a:lnTo>
                    <a:pt x="1980025" y="0"/>
                  </a:lnTo>
                  <a:lnTo>
                    <a:pt x="1980025" y="5060"/>
                  </a:lnTo>
                  <a:lnTo>
                    <a:pt x="0" y="5060"/>
                  </a:lnTo>
                  <a:close/>
                </a:path>
              </a:pathLst>
            </a:custGeom>
            <a:solidFill>
              <a:srgbClr val="2D7DB8"/>
            </a:solidFill>
          </p:spPr>
          <p:txBody>
            <a:bodyPr wrap="square" lIns="0" tIns="0" rIns="0" bIns="0" rtlCol="0"/>
            <a:lstStyle/>
            <a:p>
              <a:endParaRPr/>
            </a:p>
          </p:txBody>
        </p:sp>
      </p:grpSp>
      <p:graphicFrame>
        <p:nvGraphicFramePr>
          <p:cNvPr id="7" name="object 7"/>
          <p:cNvGraphicFramePr>
            <a:graphicFrameLocks noGrp="1"/>
          </p:cNvGraphicFramePr>
          <p:nvPr/>
        </p:nvGraphicFramePr>
        <p:xfrm>
          <a:off x="1256690" y="863701"/>
          <a:ext cx="3247389" cy="1191895"/>
        </p:xfrm>
        <a:graphic>
          <a:graphicData uri="http://schemas.openxmlformats.org/drawingml/2006/table">
            <a:tbl>
              <a:tblPr firstRow="1" bandRow="1">
                <a:tableStyleId>{2D5ABB26-0587-4C30-8999-92F81FD0307C}</a:tableStyleId>
              </a:tblPr>
              <a:tblGrid>
                <a:gridCol w="592455">
                  <a:extLst>
                    <a:ext uri="{9D8B030D-6E8A-4147-A177-3AD203B41FA5}">
                      <a16:colId xmlns:a16="http://schemas.microsoft.com/office/drawing/2014/main" val="20000"/>
                    </a:ext>
                  </a:extLst>
                </a:gridCol>
                <a:gridCol w="1276984">
                  <a:extLst>
                    <a:ext uri="{9D8B030D-6E8A-4147-A177-3AD203B41FA5}">
                      <a16:colId xmlns:a16="http://schemas.microsoft.com/office/drawing/2014/main" val="20001"/>
                    </a:ext>
                  </a:extLst>
                </a:gridCol>
                <a:gridCol w="1377950">
                  <a:extLst>
                    <a:ext uri="{9D8B030D-6E8A-4147-A177-3AD203B41FA5}">
                      <a16:colId xmlns:a16="http://schemas.microsoft.com/office/drawing/2014/main" val="20002"/>
                    </a:ext>
                  </a:extLst>
                </a:gridCol>
              </a:tblGrid>
              <a:tr h="247650">
                <a:tc>
                  <a:txBody>
                    <a:bodyPr/>
                    <a:lstStyle/>
                    <a:p>
                      <a:pPr>
                        <a:lnSpc>
                          <a:spcPct val="100000"/>
                        </a:lnSpc>
                      </a:pPr>
                      <a:endParaRPr sz="900">
                        <a:latin typeface="Times New Roman"/>
                        <a:cs typeface="Times New Roman"/>
                      </a:endParaRPr>
                    </a:p>
                  </a:txBody>
                  <a:tcPr marL="0" marR="0" marT="0" marB="0">
                    <a:lnT w="12700">
                      <a:solidFill>
                        <a:srgbClr val="22373A"/>
                      </a:solidFill>
                      <a:prstDash val="solid"/>
                    </a:lnT>
                    <a:lnB w="9525">
                      <a:solidFill>
                        <a:srgbClr val="22373A"/>
                      </a:solidFill>
                      <a:prstDash val="solid"/>
                    </a:lnB>
                  </a:tcPr>
                </a:tc>
                <a:tc>
                  <a:txBody>
                    <a:bodyPr/>
                    <a:lstStyle/>
                    <a:p>
                      <a:pPr marL="76200">
                        <a:lnSpc>
                          <a:spcPct val="100000"/>
                        </a:lnSpc>
                        <a:spcBef>
                          <a:spcPts val="320"/>
                        </a:spcBef>
                      </a:pPr>
                      <a:r>
                        <a:rPr sz="1000" b="1" dirty="0">
                          <a:solidFill>
                            <a:srgbClr val="22373A"/>
                          </a:solidFill>
                          <a:latin typeface="Arial"/>
                          <a:cs typeface="Arial"/>
                        </a:rPr>
                        <a:t>CIC-IDS-</a:t>
                      </a:r>
                      <a:r>
                        <a:rPr sz="1000" b="1" spc="-20" dirty="0">
                          <a:solidFill>
                            <a:srgbClr val="22373A"/>
                          </a:solidFill>
                          <a:latin typeface="Arial"/>
                          <a:cs typeface="Arial"/>
                        </a:rPr>
                        <a:t>2017</a:t>
                      </a:r>
                      <a:endParaRPr sz="1000">
                        <a:latin typeface="Arial"/>
                        <a:cs typeface="Arial"/>
                      </a:endParaRPr>
                    </a:p>
                  </a:txBody>
                  <a:tcPr marL="0" marR="0" marT="40640" marB="0">
                    <a:lnT w="12700">
                      <a:solidFill>
                        <a:srgbClr val="22373A"/>
                      </a:solidFill>
                      <a:prstDash val="solid"/>
                    </a:lnT>
                    <a:lnB w="9525">
                      <a:solidFill>
                        <a:srgbClr val="22373A"/>
                      </a:solidFill>
                      <a:prstDash val="solid"/>
                    </a:lnB>
                  </a:tcPr>
                </a:tc>
                <a:tc>
                  <a:txBody>
                    <a:bodyPr/>
                    <a:lstStyle/>
                    <a:p>
                      <a:pPr marL="76200">
                        <a:lnSpc>
                          <a:spcPct val="100000"/>
                        </a:lnSpc>
                        <a:spcBef>
                          <a:spcPts val="320"/>
                        </a:spcBef>
                      </a:pPr>
                      <a:r>
                        <a:rPr sz="1000" b="1" dirty="0">
                          <a:solidFill>
                            <a:srgbClr val="22373A"/>
                          </a:solidFill>
                          <a:latin typeface="Arial"/>
                          <a:cs typeface="Arial"/>
                        </a:rPr>
                        <a:t>DARPA</a:t>
                      </a:r>
                      <a:r>
                        <a:rPr sz="1000" b="1" spc="90" dirty="0">
                          <a:solidFill>
                            <a:srgbClr val="22373A"/>
                          </a:solidFill>
                          <a:latin typeface="Arial"/>
                          <a:cs typeface="Arial"/>
                        </a:rPr>
                        <a:t> </a:t>
                      </a:r>
                      <a:r>
                        <a:rPr sz="1000" b="1" dirty="0">
                          <a:solidFill>
                            <a:srgbClr val="22373A"/>
                          </a:solidFill>
                          <a:latin typeface="Arial"/>
                          <a:cs typeface="Arial"/>
                        </a:rPr>
                        <a:t>CADETS</a:t>
                      </a:r>
                      <a:r>
                        <a:rPr sz="1000" b="1" spc="90" dirty="0">
                          <a:solidFill>
                            <a:srgbClr val="22373A"/>
                          </a:solidFill>
                          <a:latin typeface="Arial"/>
                          <a:cs typeface="Arial"/>
                        </a:rPr>
                        <a:t> </a:t>
                      </a:r>
                      <a:r>
                        <a:rPr sz="1000" b="1" spc="-25" dirty="0">
                          <a:solidFill>
                            <a:srgbClr val="22373A"/>
                          </a:solidFill>
                          <a:latin typeface="Arial"/>
                          <a:cs typeface="Arial"/>
                        </a:rPr>
                        <a:t>E3</a:t>
                      </a:r>
                      <a:endParaRPr sz="1000">
                        <a:latin typeface="Arial"/>
                        <a:cs typeface="Arial"/>
                      </a:endParaRPr>
                    </a:p>
                  </a:txBody>
                  <a:tcPr marL="0" marR="0" marT="40640" marB="0">
                    <a:lnT w="12700">
                      <a:solidFill>
                        <a:srgbClr val="22373A"/>
                      </a:solidFill>
                      <a:prstDash val="solid"/>
                    </a:lnT>
                    <a:lnB w="9525">
                      <a:solidFill>
                        <a:srgbClr val="22373A"/>
                      </a:solidFill>
                      <a:prstDash val="solid"/>
                    </a:lnB>
                  </a:tcPr>
                </a:tc>
                <a:extLst>
                  <a:ext uri="{0D108BD9-81ED-4DB2-BD59-A6C34878D82A}">
                    <a16:rowId xmlns:a16="http://schemas.microsoft.com/office/drawing/2014/main" val="10000"/>
                  </a:ext>
                </a:extLst>
              </a:tr>
              <a:tr h="215900">
                <a:tc>
                  <a:txBody>
                    <a:bodyPr/>
                    <a:lstStyle/>
                    <a:p>
                      <a:pPr marL="75565">
                        <a:lnSpc>
                          <a:spcPct val="100000"/>
                        </a:lnSpc>
                        <a:spcBef>
                          <a:spcPts val="305"/>
                        </a:spcBef>
                      </a:pPr>
                      <a:r>
                        <a:rPr sz="1000" spc="-10" dirty="0">
                          <a:solidFill>
                            <a:srgbClr val="22373A"/>
                          </a:solidFill>
                          <a:latin typeface="Arial MT"/>
                          <a:cs typeface="Arial MT"/>
                        </a:rPr>
                        <a:t>Level</a:t>
                      </a:r>
                      <a:endParaRPr sz="1000">
                        <a:latin typeface="Arial MT"/>
                        <a:cs typeface="Arial MT"/>
                      </a:endParaRPr>
                    </a:p>
                  </a:txBody>
                  <a:tcPr marL="0" marR="0" marT="38735" marB="0">
                    <a:lnT w="9525">
                      <a:solidFill>
                        <a:srgbClr val="22373A"/>
                      </a:solidFill>
                      <a:prstDash val="solid"/>
                    </a:lnT>
                  </a:tcPr>
                </a:tc>
                <a:tc>
                  <a:txBody>
                    <a:bodyPr/>
                    <a:lstStyle/>
                    <a:p>
                      <a:pPr marL="75565">
                        <a:lnSpc>
                          <a:spcPct val="100000"/>
                        </a:lnSpc>
                        <a:spcBef>
                          <a:spcPts val="305"/>
                        </a:spcBef>
                      </a:pPr>
                      <a:r>
                        <a:rPr sz="1000" spc="-30" dirty="0">
                          <a:solidFill>
                            <a:srgbClr val="22373A"/>
                          </a:solidFill>
                          <a:latin typeface="Arial MT"/>
                          <a:cs typeface="Arial MT"/>
                        </a:rPr>
                        <a:t>network </a:t>
                      </a:r>
                      <a:r>
                        <a:rPr sz="1000" spc="-10" dirty="0">
                          <a:solidFill>
                            <a:srgbClr val="22373A"/>
                          </a:solidFill>
                          <a:latin typeface="Arial MT"/>
                          <a:cs typeface="Arial MT"/>
                        </a:rPr>
                        <a:t>flows</a:t>
                      </a:r>
                      <a:endParaRPr sz="1000">
                        <a:latin typeface="Arial MT"/>
                        <a:cs typeface="Arial MT"/>
                      </a:endParaRPr>
                    </a:p>
                  </a:txBody>
                  <a:tcPr marL="0" marR="0" marT="38735" marB="0">
                    <a:lnT w="9525">
                      <a:solidFill>
                        <a:srgbClr val="22373A"/>
                      </a:solidFill>
                      <a:prstDash val="solid"/>
                    </a:lnT>
                  </a:tcPr>
                </a:tc>
                <a:tc>
                  <a:txBody>
                    <a:bodyPr/>
                    <a:lstStyle/>
                    <a:p>
                      <a:pPr marL="76200">
                        <a:lnSpc>
                          <a:spcPct val="100000"/>
                        </a:lnSpc>
                        <a:spcBef>
                          <a:spcPts val="305"/>
                        </a:spcBef>
                      </a:pPr>
                      <a:r>
                        <a:rPr sz="1000" spc="-10" dirty="0">
                          <a:solidFill>
                            <a:srgbClr val="22373A"/>
                          </a:solidFill>
                          <a:latin typeface="Arial MT"/>
                          <a:cs typeface="Arial MT"/>
                        </a:rPr>
                        <a:t>host</a:t>
                      </a:r>
                      <a:r>
                        <a:rPr sz="1000" spc="-30" dirty="0">
                          <a:solidFill>
                            <a:srgbClr val="22373A"/>
                          </a:solidFill>
                          <a:latin typeface="Arial MT"/>
                          <a:cs typeface="Arial MT"/>
                        </a:rPr>
                        <a:t> </a:t>
                      </a:r>
                      <a:r>
                        <a:rPr sz="1000" dirty="0">
                          <a:solidFill>
                            <a:srgbClr val="22373A"/>
                          </a:solidFill>
                          <a:latin typeface="Arial MT"/>
                          <a:cs typeface="Arial MT"/>
                        </a:rPr>
                        <a:t>audit</a:t>
                      </a:r>
                      <a:r>
                        <a:rPr sz="1000" spc="-30" dirty="0">
                          <a:solidFill>
                            <a:srgbClr val="22373A"/>
                          </a:solidFill>
                          <a:latin typeface="Arial MT"/>
                          <a:cs typeface="Arial MT"/>
                        </a:rPr>
                        <a:t> </a:t>
                      </a:r>
                      <a:r>
                        <a:rPr sz="1000" spc="-20" dirty="0">
                          <a:solidFill>
                            <a:srgbClr val="22373A"/>
                          </a:solidFill>
                          <a:latin typeface="Arial MT"/>
                          <a:cs typeface="Arial MT"/>
                        </a:rPr>
                        <a:t>logs</a:t>
                      </a:r>
                      <a:endParaRPr sz="1000">
                        <a:latin typeface="Arial MT"/>
                        <a:cs typeface="Arial MT"/>
                      </a:endParaRPr>
                    </a:p>
                  </a:txBody>
                  <a:tcPr marL="0" marR="0" marT="38735" marB="0">
                    <a:lnT w="9525">
                      <a:solidFill>
                        <a:srgbClr val="22373A"/>
                      </a:solidFill>
                      <a:prstDash val="solid"/>
                    </a:lnT>
                  </a:tcPr>
                </a:tc>
                <a:extLst>
                  <a:ext uri="{0D108BD9-81ED-4DB2-BD59-A6C34878D82A}">
                    <a16:rowId xmlns:a16="http://schemas.microsoft.com/office/drawing/2014/main" val="10001"/>
                  </a:ext>
                </a:extLst>
              </a:tr>
              <a:tr h="173990">
                <a:tc>
                  <a:txBody>
                    <a:bodyPr/>
                    <a:lstStyle/>
                    <a:p>
                      <a:pPr marL="75565">
                        <a:lnSpc>
                          <a:spcPts val="1175"/>
                        </a:lnSpc>
                      </a:pPr>
                      <a:r>
                        <a:rPr sz="1000" spc="-10" dirty="0">
                          <a:solidFill>
                            <a:srgbClr val="22373A"/>
                          </a:solidFill>
                          <a:latin typeface="Arial MT"/>
                          <a:cs typeface="Arial MT"/>
                        </a:rPr>
                        <a:t>Source</a:t>
                      </a:r>
                      <a:endParaRPr sz="1000">
                        <a:latin typeface="Arial MT"/>
                        <a:cs typeface="Arial MT"/>
                      </a:endParaRPr>
                    </a:p>
                  </a:txBody>
                  <a:tcPr marL="0" marR="0" marT="0" marB="0"/>
                </a:tc>
                <a:tc>
                  <a:txBody>
                    <a:bodyPr/>
                    <a:lstStyle/>
                    <a:p>
                      <a:pPr marL="76200">
                        <a:lnSpc>
                          <a:spcPts val="1175"/>
                        </a:lnSpc>
                      </a:pPr>
                      <a:r>
                        <a:rPr sz="1000" spc="-25" dirty="0">
                          <a:solidFill>
                            <a:srgbClr val="22373A"/>
                          </a:solidFill>
                          <a:latin typeface="Arial MT"/>
                          <a:cs typeface="Arial MT"/>
                        </a:rPr>
                        <a:t>controlled</a:t>
                      </a:r>
                      <a:r>
                        <a:rPr sz="1000" spc="-5" dirty="0">
                          <a:solidFill>
                            <a:srgbClr val="22373A"/>
                          </a:solidFill>
                          <a:latin typeface="Arial MT"/>
                          <a:cs typeface="Arial MT"/>
                        </a:rPr>
                        <a:t> </a:t>
                      </a:r>
                      <a:r>
                        <a:rPr sz="1000" spc="-10" dirty="0">
                          <a:solidFill>
                            <a:srgbClr val="22373A"/>
                          </a:solidFill>
                          <a:latin typeface="Arial MT"/>
                          <a:cs typeface="Arial MT"/>
                        </a:rPr>
                        <a:t>testbed</a:t>
                      </a:r>
                      <a:endParaRPr sz="1000">
                        <a:latin typeface="Arial MT"/>
                        <a:cs typeface="Arial MT"/>
                      </a:endParaRPr>
                    </a:p>
                  </a:txBody>
                  <a:tcPr marL="0" marR="0" marT="0" marB="0"/>
                </a:tc>
                <a:tc>
                  <a:txBody>
                    <a:bodyPr/>
                    <a:lstStyle/>
                    <a:p>
                      <a:pPr marL="75565">
                        <a:lnSpc>
                          <a:spcPts val="1175"/>
                        </a:lnSpc>
                      </a:pPr>
                      <a:r>
                        <a:rPr sz="1000" spc="-45" dirty="0">
                          <a:solidFill>
                            <a:srgbClr val="22373A"/>
                          </a:solidFill>
                          <a:latin typeface="Arial MT"/>
                          <a:cs typeface="Arial MT"/>
                        </a:rPr>
                        <a:t>red-</a:t>
                      </a:r>
                      <a:r>
                        <a:rPr sz="1000" spc="-25" dirty="0">
                          <a:solidFill>
                            <a:srgbClr val="22373A"/>
                          </a:solidFill>
                          <a:latin typeface="Arial MT"/>
                          <a:cs typeface="Arial MT"/>
                        </a:rPr>
                        <a:t>team</a:t>
                      </a:r>
                      <a:r>
                        <a:rPr sz="1000" spc="10" dirty="0">
                          <a:solidFill>
                            <a:srgbClr val="22373A"/>
                          </a:solidFill>
                          <a:latin typeface="Arial MT"/>
                          <a:cs typeface="Arial MT"/>
                        </a:rPr>
                        <a:t> </a:t>
                      </a:r>
                      <a:r>
                        <a:rPr sz="1000" spc="-10" dirty="0">
                          <a:solidFill>
                            <a:srgbClr val="22373A"/>
                          </a:solidFill>
                          <a:latin typeface="Arial MT"/>
                          <a:cs typeface="Arial MT"/>
                        </a:rPr>
                        <a:t>engagement</a:t>
                      </a:r>
                      <a:endParaRPr sz="1000">
                        <a:latin typeface="Arial MT"/>
                        <a:cs typeface="Arial MT"/>
                      </a:endParaRPr>
                    </a:p>
                  </a:txBody>
                  <a:tcPr marL="0" marR="0" marT="0" marB="0"/>
                </a:tc>
                <a:extLst>
                  <a:ext uri="{0D108BD9-81ED-4DB2-BD59-A6C34878D82A}">
                    <a16:rowId xmlns:a16="http://schemas.microsoft.com/office/drawing/2014/main" val="10002"/>
                  </a:ext>
                </a:extLst>
              </a:tr>
              <a:tr h="173990">
                <a:tc>
                  <a:txBody>
                    <a:bodyPr/>
                    <a:lstStyle/>
                    <a:p>
                      <a:pPr marL="75565">
                        <a:lnSpc>
                          <a:spcPts val="1175"/>
                        </a:lnSpc>
                      </a:pPr>
                      <a:r>
                        <a:rPr sz="1000" spc="-10" dirty="0">
                          <a:solidFill>
                            <a:srgbClr val="22373A"/>
                          </a:solidFill>
                          <a:latin typeface="Arial MT"/>
                          <a:cs typeface="Arial MT"/>
                        </a:rPr>
                        <a:t>Scale</a:t>
                      </a:r>
                      <a:endParaRPr sz="1000">
                        <a:latin typeface="Arial MT"/>
                        <a:cs typeface="Arial MT"/>
                      </a:endParaRPr>
                    </a:p>
                  </a:txBody>
                  <a:tcPr marL="0" marR="0" marT="0" marB="0"/>
                </a:tc>
                <a:tc>
                  <a:txBody>
                    <a:bodyPr/>
                    <a:lstStyle/>
                    <a:p>
                      <a:pPr marL="76200">
                        <a:lnSpc>
                          <a:spcPts val="1175"/>
                        </a:lnSpc>
                      </a:pPr>
                      <a:r>
                        <a:rPr sz="1000" spc="-40" dirty="0">
                          <a:solidFill>
                            <a:srgbClr val="22373A"/>
                          </a:solidFill>
                          <a:latin typeface="Arial MT"/>
                          <a:cs typeface="Arial MT"/>
                        </a:rPr>
                        <a:t>14,182</a:t>
                      </a:r>
                      <a:r>
                        <a:rPr sz="1000" spc="-10" dirty="0">
                          <a:solidFill>
                            <a:srgbClr val="22373A"/>
                          </a:solidFill>
                          <a:latin typeface="Arial MT"/>
                          <a:cs typeface="Arial MT"/>
                        </a:rPr>
                        <a:t> </a:t>
                      </a:r>
                      <a:r>
                        <a:rPr sz="1000" spc="-55" dirty="0">
                          <a:solidFill>
                            <a:srgbClr val="22373A"/>
                          </a:solidFill>
                          <a:latin typeface="Arial MT"/>
                          <a:cs typeface="Arial MT"/>
                        </a:rPr>
                        <a:t>sampled</a:t>
                      </a:r>
                      <a:r>
                        <a:rPr sz="1000" spc="-10" dirty="0">
                          <a:solidFill>
                            <a:srgbClr val="22373A"/>
                          </a:solidFill>
                          <a:latin typeface="Arial MT"/>
                          <a:cs typeface="Arial MT"/>
                        </a:rPr>
                        <a:t> flows</a:t>
                      </a:r>
                      <a:endParaRPr sz="1000">
                        <a:latin typeface="Arial MT"/>
                        <a:cs typeface="Arial MT"/>
                      </a:endParaRPr>
                    </a:p>
                  </a:txBody>
                  <a:tcPr marL="0" marR="0" marT="0" marB="0"/>
                </a:tc>
                <a:tc>
                  <a:txBody>
                    <a:bodyPr/>
                    <a:lstStyle/>
                    <a:p>
                      <a:pPr marL="75565">
                        <a:lnSpc>
                          <a:spcPts val="1175"/>
                        </a:lnSpc>
                      </a:pPr>
                      <a:r>
                        <a:rPr sz="1000" dirty="0">
                          <a:solidFill>
                            <a:srgbClr val="22373A"/>
                          </a:solidFill>
                          <a:latin typeface="Arial MT"/>
                          <a:cs typeface="Arial MT"/>
                        </a:rPr>
                        <a:t>4</a:t>
                      </a:r>
                      <a:r>
                        <a:rPr sz="1000" spc="-20" dirty="0">
                          <a:solidFill>
                            <a:srgbClr val="22373A"/>
                          </a:solidFill>
                          <a:latin typeface="Arial MT"/>
                          <a:cs typeface="Arial MT"/>
                        </a:rPr>
                        <a:t> </a:t>
                      </a:r>
                      <a:r>
                        <a:rPr sz="1000" dirty="0">
                          <a:solidFill>
                            <a:srgbClr val="22373A"/>
                          </a:solidFill>
                          <a:latin typeface="Arial MT"/>
                          <a:cs typeface="Arial MT"/>
                        </a:rPr>
                        <a:t>attack</a:t>
                      </a:r>
                      <a:r>
                        <a:rPr sz="1000" spc="-15" dirty="0">
                          <a:solidFill>
                            <a:srgbClr val="22373A"/>
                          </a:solidFill>
                          <a:latin typeface="Arial MT"/>
                          <a:cs typeface="Arial MT"/>
                        </a:rPr>
                        <a:t> </a:t>
                      </a:r>
                      <a:r>
                        <a:rPr sz="1000" spc="-10" dirty="0">
                          <a:solidFill>
                            <a:srgbClr val="22373A"/>
                          </a:solidFill>
                          <a:latin typeface="Arial MT"/>
                          <a:cs typeface="Arial MT"/>
                        </a:rPr>
                        <a:t>windows</a:t>
                      </a:r>
                      <a:endParaRPr sz="1000">
                        <a:latin typeface="Arial MT"/>
                        <a:cs typeface="Arial MT"/>
                      </a:endParaRPr>
                    </a:p>
                  </a:txBody>
                  <a:tcPr marL="0" marR="0" marT="0" marB="0"/>
                </a:tc>
                <a:extLst>
                  <a:ext uri="{0D108BD9-81ED-4DB2-BD59-A6C34878D82A}">
                    <a16:rowId xmlns:a16="http://schemas.microsoft.com/office/drawing/2014/main" val="10003"/>
                  </a:ext>
                </a:extLst>
              </a:tr>
              <a:tr h="173990">
                <a:tc>
                  <a:txBody>
                    <a:bodyPr/>
                    <a:lstStyle/>
                    <a:p>
                      <a:pPr marL="75565">
                        <a:lnSpc>
                          <a:spcPts val="1175"/>
                        </a:lnSpc>
                      </a:pPr>
                      <a:r>
                        <a:rPr sz="1000" spc="-10" dirty="0">
                          <a:solidFill>
                            <a:srgbClr val="22373A"/>
                          </a:solidFill>
                          <a:latin typeface="Arial MT"/>
                          <a:cs typeface="Arial MT"/>
                        </a:rPr>
                        <a:t>Truth</a:t>
                      </a:r>
                      <a:endParaRPr sz="1000">
                        <a:latin typeface="Arial MT"/>
                        <a:cs typeface="Arial MT"/>
                      </a:endParaRPr>
                    </a:p>
                  </a:txBody>
                  <a:tcPr marL="0" marR="0" marT="0" marB="0"/>
                </a:tc>
                <a:tc>
                  <a:txBody>
                    <a:bodyPr/>
                    <a:lstStyle/>
                    <a:p>
                      <a:pPr marL="75565">
                        <a:lnSpc>
                          <a:spcPts val="1175"/>
                        </a:lnSpc>
                      </a:pPr>
                      <a:r>
                        <a:rPr sz="1000" spc="-25" dirty="0">
                          <a:solidFill>
                            <a:srgbClr val="22373A"/>
                          </a:solidFill>
                          <a:latin typeface="Arial MT"/>
                          <a:cs typeface="Arial MT"/>
                        </a:rPr>
                        <a:t>label</a:t>
                      </a:r>
                      <a:r>
                        <a:rPr sz="1000" spc="5" dirty="0">
                          <a:solidFill>
                            <a:srgbClr val="22373A"/>
                          </a:solidFill>
                          <a:latin typeface="Arial MT"/>
                          <a:cs typeface="Arial MT"/>
                        </a:rPr>
                        <a:t> </a:t>
                      </a:r>
                      <a:r>
                        <a:rPr sz="1000" i="1" dirty="0">
                          <a:solidFill>
                            <a:srgbClr val="22373A"/>
                          </a:solidFill>
                          <a:latin typeface="Arial"/>
                          <a:cs typeface="Arial"/>
                        </a:rPr>
                        <a:t>→</a:t>
                      </a:r>
                      <a:r>
                        <a:rPr sz="1000" i="1" spc="15" dirty="0">
                          <a:solidFill>
                            <a:srgbClr val="22373A"/>
                          </a:solidFill>
                          <a:latin typeface="Arial"/>
                          <a:cs typeface="Arial"/>
                        </a:rPr>
                        <a:t> </a:t>
                      </a:r>
                      <a:r>
                        <a:rPr sz="1000" spc="-10" dirty="0">
                          <a:solidFill>
                            <a:srgbClr val="22373A"/>
                          </a:solidFill>
                          <a:latin typeface="Arial MT"/>
                          <a:cs typeface="Arial MT"/>
                        </a:rPr>
                        <a:t>technique</a:t>
                      </a:r>
                      <a:endParaRPr sz="1000">
                        <a:latin typeface="Arial MT"/>
                        <a:cs typeface="Arial MT"/>
                      </a:endParaRPr>
                    </a:p>
                  </a:txBody>
                  <a:tcPr marL="0" marR="0" marT="0" marB="0"/>
                </a:tc>
                <a:tc>
                  <a:txBody>
                    <a:bodyPr/>
                    <a:lstStyle/>
                    <a:p>
                      <a:pPr marL="75565">
                        <a:lnSpc>
                          <a:spcPts val="1175"/>
                        </a:lnSpc>
                      </a:pPr>
                      <a:r>
                        <a:rPr sz="1000" spc="-50" dirty="0">
                          <a:solidFill>
                            <a:srgbClr val="22373A"/>
                          </a:solidFill>
                          <a:latin typeface="Arial MT"/>
                          <a:cs typeface="Arial MT"/>
                        </a:rPr>
                        <a:t>engagement</a:t>
                      </a:r>
                      <a:r>
                        <a:rPr sz="1000" spc="-5" dirty="0">
                          <a:solidFill>
                            <a:srgbClr val="22373A"/>
                          </a:solidFill>
                          <a:latin typeface="Arial MT"/>
                          <a:cs typeface="Arial MT"/>
                        </a:rPr>
                        <a:t> </a:t>
                      </a:r>
                      <a:r>
                        <a:rPr sz="1000" spc="-10" dirty="0">
                          <a:solidFill>
                            <a:srgbClr val="22373A"/>
                          </a:solidFill>
                          <a:latin typeface="Arial MT"/>
                          <a:cs typeface="Arial MT"/>
                        </a:rPr>
                        <a:t>report</a:t>
                      </a:r>
                      <a:endParaRPr sz="1000">
                        <a:latin typeface="Arial MT"/>
                        <a:cs typeface="Arial MT"/>
                      </a:endParaRPr>
                    </a:p>
                  </a:txBody>
                  <a:tcPr marL="0" marR="0" marT="0" marB="0"/>
                </a:tc>
                <a:extLst>
                  <a:ext uri="{0D108BD9-81ED-4DB2-BD59-A6C34878D82A}">
                    <a16:rowId xmlns:a16="http://schemas.microsoft.com/office/drawing/2014/main" val="10004"/>
                  </a:ext>
                </a:extLst>
              </a:tr>
              <a:tr h="206375">
                <a:tc>
                  <a:txBody>
                    <a:bodyPr/>
                    <a:lstStyle/>
                    <a:p>
                      <a:pPr marL="75565">
                        <a:lnSpc>
                          <a:spcPts val="1175"/>
                        </a:lnSpc>
                      </a:pPr>
                      <a:r>
                        <a:rPr sz="1000" spc="-70" dirty="0">
                          <a:solidFill>
                            <a:srgbClr val="22373A"/>
                          </a:solidFill>
                          <a:latin typeface="Arial MT"/>
                          <a:cs typeface="Arial MT"/>
                        </a:rPr>
                        <a:t>Used</a:t>
                      </a:r>
                      <a:r>
                        <a:rPr sz="1000" spc="10" dirty="0">
                          <a:solidFill>
                            <a:srgbClr val="22373A"/>
                          </a:solidFill>
                          <a:latin typeface="Arial MT"/>
                          <a:cs typeface="Arial MT"/>
                        </a:rPr>
                        <a:t> </a:t>
                      </a:r>
                      <a:r>
                        <a:rPr sz="1000" spc="-25" dirty="0">
                          <a:solidFill>
                            <a:srgbClr val="22373A"/>
                          </a:solidFill>
                          <a:latin typeface="Arial MT"/>
                          <a:cs typeface="Arial MT"/>
                        </a:rPr>
                        <a:t>for</a:t>
                      </a:r>
                      <a:endParaRPr sz="1000">
                        <a:latin typeface="Arial MT"/>
                        <a:cs typeface="Arial MT"/>
                      </a:endParaRPr>
                    </a:p>
                  </a:txBody>
                  <a:tcPr marL="0" marR="0" marT="0" marB="0">
                    <a:lnB w="12700">
                      <a:solidFill>
                        <a:srgbClr val="22373A"/>
                      </a:solidFill>
                      <a:prstDash val="solid"/>
                    </a:lnB>
                  </a:tcPr>
                </a:tc>
                <a:tc>
                  <a:txBody>
                    <a:bodyPr/>
                    <a:lstStyle/>
                    <a:p>
                      <a:pPr marL="75565">
                        <a:lnSpc>
                          <a:spcPts val="1175"/>
                        </a:lnSpc>
                      </a:pPr>
                      <a:r>
                        <a:rPr sz="1000" dirty="0">
                          <a:solidFill>
                            <a:srgbClr val="22373A"/>
                          </a:solidFill>
                          <a:latin typeface="Arial MT"/>
                          <a:cs typeface="Arial MT"/>
                        </a:rPr>
                        <a:t>full</a:t>
                      </a:r>
                      <a:r>
                        <a:rPr sz="1000" spc="45" dirty="0">
                          <a:solidFill>
                            <a:srgbClr val="22373A"/>
                          </a:solidFill>
                          <a:latin typeface="Arial MT"/>
                          <a:cs typeface="Arial MT"/>
                        </a:rPr>
                        <a:t> </a:t>
                      </a:r>
                      <a:r>
                        <a:rPr sz="1000" spc="-10" dirty="0">
                          <a:solidFill>
                            <a:srgbClr val="22373A"/>
                          </a:solidFill>
                          <a:latin typeface="Arial MT"/>
                          <a:cs typeface="Arial MT"/>
                        </a:rPr>
                        <a:t>pipeline</a:t>
                      </a:r>
                      <a:endParaRPr sz="1000">
                        <a:latin typeface="Arial MT"/>
                        <a:cs typeface="Arial MT"/>
                      </a:endParaRPr>
                    </a:p>
                  </a:txBody>
                  <a:tcPr marL="0" marR="0" marT="0" marB="0">
                    <a:lnB w="12700">
                      <a:solidFill>
                        <a:srgbClr val="22373A"/>
                      </a:solidFill>
                      <a:prstDash val="solid"/>
                    </a:lnB>
                  </a:tcPr>
                </a:tc>
                <a:tc>
                  <a:txBody>
                    <a:bodyPr/>
                    <a:lstStyle/>
                    <a:p>
                      <a:pPr marL="76200">
                        <a:lnSpc>
                          <a:spcPts val="1175"/>
                        </a:lnSpc>
                      </a:pPr>
                      <a:r>
                        <a:rPr sz="1000" spc="-25" dirty="0">
                          <a:solidFill>
                            <a:srgbClr val="22373A"/>
                          </a:solidFill>
                          <a:latin typeface="Arial MT"/>
                          <a:cs typeface="Arial MT"/>
                        </a:rPr>
                        <a:t>transfer</a:t>
                      </a:r>
                      <a:r>
                        <a:rPr sz="1000" spc="-5" dirty="0">
                          <a:solidFill>
                            <a:srgbClr val="22373A"/>
                          </a:solidFill>
                          <a:latin typeface="Arial MT"/>
                          <a:cs typeface="Arial MT"/>
                        </a:rPr>
                        <a:t> </a:t>
                      </a:r>
                      <a:r>
                        <a:rPr sz="1000" dirty="0">
                          <a:solidFill>
                            <a:srgbClr val="22373A"/>
                          </a:solidFill>
                          <a:latin typeface="Arial MT"/>
                          <a:cs typeface="Arial MT"/>
                        </a:rPr>
                        <a:t>of</a:t>
                      </a:r>
                      <a:r>
                        <a:rPr sz="1000" spc="-5" dirty="0">
                          <a:solidFill>
                            <a:srgbClr val="22373A"/>
                          </a:solidFill>
                          <a:latin typeface="Arial MT"/>
                          <a:cs typeface="Arial MT"/>
                        </a:rPr>
                        <a:t> </a:t>
                      </a:r>
                      <a:r>
                        <a:rPr sz="1000" dirty="0">
                          <a:solidFill>
                            <a:srgbClr val="22373A"/>
                          </a:solidFill>
                          <a:latin typeface="Arial MT"/>
                          <a:cs typeface="Arial MT"/>
                        </a:rPr>
                        <a:t>the </a:t>
                      </a:r>
                      <a:r>
                        <a:rPr sz="1000" spc="-20" dirty="0">
                          <a:solidFill>
                            <a:srgbClr val="22373A"/>
                          </a:solidFill>
                          <a:latin typeface="Arial MT"/>
                          <a:cs typeface="Arial MT"/>
                        </a:rPr>
                        <a:t>core</a:t>
                      </a:r>
                      <a:endParaRPr sz="1000">
                        <a:latin typeface="Arial MT"/>
                        <a:cs typeface="Arial MT"/>
                      </a:endParaRPr>
                    </a:p>
                  </a:txBody>
                  <a:tcPr marL="0" marR="0" marT="0" marB="0">
                    <a:lnB w="12700">
                      <a:solidFill>
                        <a:srgbClr val="22373A"/>
                      </a:solidFill>
                      <a:prstDash val="solid"/>
                    </a:lnB>
                  </a:tcPr>
                </a:tc>
                <a:extLst>
                  <a:ext uri="{0D108BD9-81ED-4DB2-BD59-A6C34878D82A}">
                    <a16:rowId xmlns:a16="http://schemas.microsoft.com/office/drawing/2014/main" val="10005"/>
                  </a:ext>
                </a:extLst>
              </a:tr>
            </a:tbl>
          </a:graphicData>
        </a:graphic>
      </p:graphicFrame>
      <p:sp>
        <p:nvSpPr>
          <p:cNvPr id="8" name="object 8"/>
          <p:cNvSpPr/>
          <p:nvPr/>
        </p:nvSpPr>
        <p:spPr>
          <a:xfrm>
            <a:off x="359994" y="2318842"/>
            <a:ext cx="5039995" cy="0"/>
          </a:xfrm>
          <a:custGeom>
            <a:avLst/>
            <a:gdLst/>
            <a:ahLst/>
            <a:cxnLst/>
            <a:rect l="l" t="t" r="r" b="b"/>
            <a:pathLst>
              <a:path w="5039995">
                <a:moveTo>
                  <a:pt x="0" y="0"/>
                </a:moveTo>
                <a:lnTo>
                  <a:pt x="5039995" y="0"/>
                </a:lnTo>
              </a:path>
            </a:pathLst>
          </a:custGeom>
          <a:ln w="7594">
            <a:solidFill>
              <a:srgbClr val="2D7DB8"/>
            </a:solidFill>
          </a:ln>
        </p:spPr>
        <p:txBody>
          <a:bodyPr wrap="square" lIns="0" tIns="0" rIns="0" bIns="0" rtlCol="0"/>
          <a:lstStyle/>
          <a:p>
            <a:endParaRPr/>
          </a:p>
        </p:txBody>
      </p:sp>
      <p:pic>
        <p:nvPicPr>
          <p:cNvPr id="10" name="object 10"/>
          <p:cNvPicPr/>
          <p:nvPr/>
        </p:nvPicPr>
        <p:blipFill>
          <a:blip r:embed="rId3" cstate="print"/>
          <a:stretch>
            <a:fillRect/>
          </a:stretch>
        </p:blipFill>
        <p:spPr>
          <a:xfrm>
            <a:off x="101282" y="2998905"/>
            <a:ext cx="241983" cy="187117"/>
          </a:xfrm>
          <a:prstGeom prst="rect">
            <a:avLst/>
          </a:prstGeom>
        </p:spPr>
      </p:pic>
      <p:pic>
        <p:nvPicPr>
          <p:cNvPr id="11" name="object 11"/>
          <p:cNvPicPr/>
          <p:nvPr/>
        </p:nvPicPr>
        <p:blipFill>
          <a:blip r:embed="rId4" cstate="print"/>
          <a:stretch>
            <a:fillRect/>
          </a:stretch>
        </p:blipFill>
        <p:spPr>
          <a:xfrm>
            <a:off x="433285" y="2998965"/>
            <a:ext cx="187057" cy="187057"/>
          </a:xfrm>
          <a:prstGeom prst="rect">
            <a:avLst/>
          </a:prstGeom>
        </p:spPr>
      </p:pic>
      <p:pic>
        <p:nvPicPr>
          <p:cNvPr id="12" name="object 12"/>
          <p:cNvPicPr/>
          <p:nvPr/>
        </p:nvPicPr>
        <p:blipFill>
          <a:blip r:embed="rId5" cstate="print"/>
          <a:stretch>
            <a:fillRect/>
          </a:stretch>
        </p:blipFill>
        <p:spPr>
          <a:xfrm>
            <a:off x="710349" y="2998815"/>
            <a:ext cx="187208" cy="187208"/>
          </a:xfrm>
          <a:prstGeom prst="rect">
            <a:avLst/>
          </a:prstGeom>
        </p:spPr>
      </p:pic>
      <p:sp>
        <p:nvSpPr>
          <p:cNvPr id="13" name="object 13"/>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11</a:t>
            </a:r>
            <a:r>
              <a:rPr spc="-80" dirty="0"/>
              <a:t> </a:t>
            </a:r>
            <a:r>
              <a:rPr spc="195" dirty="0"/>
              <a:t>/</a:t>
            </a:r>
            <a:r>
              <a:rPr spc="-75" dirty="0"/>
              <a:t> </a:t>
            </a:r>
            <a:r>
              <a:rPr spc="-25" dirty="0"/>
              <a:t>32</a:t>
            </a: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Models</a:t>
            </a:r>
            <a:r>
              <a:rPr spc="-30" dirty="0"/>
              <a:t> </a:t>
            </a:r>
            <a:r>
              <a:rPr dirty="0"/>
              <a:t>and</a:t>
            </a:r>
            <a:r>
              <a:rPr spc="-30" dirty="0"/>
              <a:t> </a:t>
            </a:r>
            <a:r>
              <a:rPr spc="-35" dirty="0"/>
              <a:t>hardware</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2160270" cy="5080"/>
            </a:xfrm>
            <a:custGeom>
              <a:avLst/>
              <a:gdLst/>
              <a:ahLst/>
              <a:cxnLst/>
              <a:rect l="l" t="t" r="r" b="b"/>
              <a:pathLst>
                <a:path w="2160270" h="5079">
                  <a:moveTo>
                    <a:pt x="0" y="5060"/>
                  </a:moveTo>
                  <a:lnTo>
                    <a:pt x="0" y="0"/>
                  </a:lnTo>
                  <a:lnTo>
                    <a:pt x="2160027" y="0"/>
                  </a:lnTo>
                  <a:lnTo>
                    <a:pt x="2160027" y="5060"/>
                  </a:lnTo>
                  <a:lnTo>
                    <a:pt x="0" y="5060"/>
                  </a:lnTo>
                  <a:close/>
                </a:path>
              </a:pathLst>
            </a:custGeom>
            <a:solidFill>
              <a:srgbClr val="2D7DB8"/>
            </a:solidFill>
          </p:spPr>
          <p:txBody>
            <a:bodyPr wrap="square" lIns="0" tIns="0" rIns="0" bIns="0" rtlCol="0"/>
            <a:lstStyle/>
            <a:p>
              <a:endParaRPr/>
            </a:p>
          </p:txBody>
        </p:sp>
      </p:grpSp>
      <p:sp>
        <p:nvSpPr>
          <p:cNvPr id="7" name="object 7"/>
          <p:cNvSpPr txBox="1"/>
          <p:nvPr/>
        </p:nvSpPr>
        <p:spPr>
          <a:xfrm>
            <a:off x="347294" y="840280"/>
            <a:ext cx="3726179" cy="1107440"/>
          </a:xfrm>
          <a:prstGeom prst="rect">
            <a:avLst/>
          </a:prstGeom>
        </p:spPr>
        <p:txBody>
          <a:bodyPr vert="horz" wrap="square" lIns="0" tIns="80645" rIns="0" bIns="0" rtlCol="0">
            <a:spAutoFit/>
          </a:bodyPr>
          <a:lstStyle/>
          <a:p>
            <a:pPr marL="287020" indent="-135890">
              <a:lnSpc>
                <a:spcPct val="100000"/>
              </a:lnSpc>
              <a:spcBef>
                <a:spcPts val="635"/>
              </a:spcBef>
              <a:buChar char="•"/>
              <a:tabLst>
                <a:tab pos="287020" algn="l"/>
              </a:tabLst>
            </a:pPr>
            <a:r>
              <a:rPr sz="1100" spc="-40" dirty="0">
                <a:solidFill>
                  <a:srgbClr val="22373A"/>
                </a:solidFill>
                <a:latin typeface="Arial MT"/>
                <a:cs typeface="Arial MT"/>
              </a:rPr>
              <a:t>Mistral-</a:t>
            </a:r>
            <a:r>
              <a:rPr sz="1100" spc="-55" dirty="0">
                <a:solidFill>
                  <a:srgbClr val="22373A"/>
                </a:solidFill>
                <a:latin typeface="Arial MT"/>
                <a:cs typeface="Arial MT"/>
              </a:rPr>
              <a:t>Nemo-</a:t>
            </a:r>
            <a:r>
              <a:rPr sz="1100" spc="-40" dirty="0">
                <a:solidFill>
                  <a:srgbClr val="22373A"/>
                </a:solidFill>
                <a:latin typeface="Arial MT"/>
                <a:cs typeface="Arial MT"/>
              </a:rPr>
              <a:t>Instruct-</a:t>
            </a:r>
            <a:r>
              <a:rPr sz="1100" spc="-45" dirty="0">
                <a:solidFill>
                  <a:srgbClr val="22373A"/>
                </a:solidFill>
                <a:latin typeface="Arial MT"/>
                <a:cs typeface="Arial MT"/>
              </a:rPr>
              <a:t>2407-</a:t>
            </a:r>
            <a:r>
              <a:rPr sz="1100" spc="-25" dirty="0">
                <a:solidFill>
                  <a:srgbClr val="22373A"/>
                </a:solidFill>
                <a:latin typeface="Arial MT"/>
                <a:cs typeface="Arial MT"/>
              </a:rPr>
              <a:t>12.2B,</a:t>
            </a:r>
            <a:r>
              <a:rPr sz="1100" spc="204" dirty="0">
                <a:solidFill>
                  <a:srgbClr val="22373A"/>
                </a:solidFill>
                <a:latin typeface="Arial MT"/>
                <a:cs typeface="Arial MT"/>
              </a:rPr>
              <a:t> </a:t>
            </a:r>
            <a:r>
              <a:rPr sz="1100" spc="40" dirty="0">
                <a:solidFill>
                  <a:srgbClr val="22373A"/>
                </a:solidFill>
                <a:latin typeface="Arial MT"/>
                <a:cs typeface="Arial MT"/>
              </a:rPr>
              <a:t>Q5_K_M</a:t>
            </a:r>
            <a:endParaRPr sz="1100">
              <a:latin typeface="Arial MT"/>
              <a:cs typeface="Arial MT"/>
            </a:endParaRPr>
          </a:p>
          <a:p>
            <a:pPr marL="287020" indent="-135890">
              <a:lnSpc>
                <a:spcPct val="100000"/>
              </a:lnSpc>
              <a:spcBef>
                <a:spcPts val="540"/>
              </a:spcBef>
              <a:buChar char="•"/>
              <a:tabLst>
                <a:tab pos="287020" algn="l"/>
              </a:tabLst>
            </a:pPr>
            <a:r>
              <a:rPr sz="1100" spc="-75" dirty="0">
                <a:solidFill>
                  <a:srgbClr val="22373A"/>
                </a:solidFill>
                <a:latin typeface="Arial MT"/>
                <a:cs typeface="Arial MT"/>
              </a:rPr>
              <a:t>Qwen2.5-</a:t>
            </a:r>
            <a:r>
              <a:rPr sz="1100" spc="-50" dirty="0">
                <a:solidFill>
                  <a:srgbClr val="22373A"/>
                </a:solidFill>
                <a:latin typeface="Arial MT"/>
                <a:cs typeface="Arial MT"/>
              </a:rPr>
              <a:t>Coder-</a:t>
            </a:r>
            <a:r>
              <a:rPr sz="1100" spc="-40" dirty="0">
                <a:solidFill>
                  <a:srgbClr val="22373A"/>
                </a:solidFill>
                <a:latin typeface="Arial MT"/>
                <a:cs typeface="Arial MT"/>
              </a:rPr>
              <a:t>7B-</a:t>
            </a:r>
            <a:r>
              <a:rPr sz="1100" spc="-35" dirty="0">
                <a:solidFill>
                  <a:srgbClr val="22373A"/>
                </a:solidFill>
                <a:latin typeface="Arial MT"/>
                <a:cs typeface="Arial MT"/>
              </a:rPr>
              <a:t>Instruct-</a:t>
            </a:r>
            <a:r>
              <a:rPr sz="1100" spc="-10" dirty="0">
                <a:solidFill>
                  <a:srgbClr val="22373A"/>
                </a:solidFill>
                <a:latin typeface="Arial MT"/>
                <a:cs typeface="Arial MT"/>
              </a:rPr>
              <a:t>7.6B,</a:t>
            </a:r>
            <a:r>
              <a:rPr sz="1100" spc="130" dirty="0">
                <a:solidFill>
                  <a:srgbClr val="22373A"/>
                </a:solidFill>
                <a:latin typeface="Arial MT"/>
                <a:cs typeface="Arial MT"/>
              </a:rPr>
              <a:t> </a:t>
            </a:r>
            <a:r>
              <a:rPr sz="1100" spc="40" dirty="0">
                <a:solidFill>
                  <a:srgbClr val="22373A"/>
                </a:solidFill>
                <a:latin typeface="Arial MT"/>
                <a:cs typeface="Arial MT"/>
              </a:rPr>
              <a:t>Q5_K_M</a:t>
            </a:r>
            <a:endParaRPr sz="1100">
              <a:latin typeface="Arial MT"/>
              <a:cs typeface="Arial MT"/>
            </a:endParaRPr>
          </a:p>
          <a:p>
            <a:pPr marL="287020" indent="-135890">
              <a:lnSpc>
                <a:spcPct val="100000"/>
              </a:lnSpc>
              <a:spcBef>
                <a:spcPts val="535"/>
              </a:spcBef>
              <a:buChar char="•"/>
              <a:tabLst>
                <a:tab pos="287020" algn="l"/>
              </a:tabLst>
            </a:pPr>
            <a:r>
              <a:rPr sz="1100" spc="-55" dirty="0">
                <a:solidFill>
                  <a:srgbClr val="22373A"/>
                </a:solidFill>
                <a:latin typeface="Arial MT"/>
                <a:cs typeface="Arial MT"/>
              </a:rPr>
              <a:t>Qwen2.5-</a:t>
            </a:r>
            <a:r>
              <a:rPr sz="1100" spc="-40" dirty="0">
                <a:solidFill>
                  <a:srgbClr val="22373A"/>
                </a:solidFill>
                <a:latin typeface="Arial MT"/>
                <a:cs typeface="Arial MT"/>
              </a:rPr>
              <a:t>3B-Instruct-</a:t>
            </a:r>
            <a:r>
              <a:rPr sz="1100" spc="-20" dirty="0">
                <a:solidFill>
                  <a:srgbClr val="22373A"/>
                </a:solidFill>
                <a:latin typeface="Arial MT"/>
                <a:cs typeface="Arial MT"/>
              </a:rPr>
              <a:t>3.1B,</a:t>
            </a:r>
            <a:r>
              <a:rPr sz="1100" spc="130" dirty="0">
                <a:solidFill>
                  <a:srgbClr val="22373A"/>
                </a:solidFill>
                <a:latin typeface="Arial MT"/>
                <a:cs typeface="Arial MT"/>
              </a:rPr>
              <a:t> </a:t>
            </a:r>
            <a:r>
              <a:rPr sz="1100" spc="40" dirty="0">
                <a:solidFill>
                  <a:srgbClr val="22373A"/>
                </a:solidFill>
                <a:latin typeface="Arial MT"/>
                <a:cs typeface="Arial MT"/>
              </a:rPr>
              <a:t>Q4_K_M</a:t>
            </a:r>
            <a:endParaRPr sz="1100">
              <a:latin typeface="Arial MT"/>
              <a:cs typeface="Arial MT"/>
            </a:endParaRPr>
          </a:p>
          <a:p>
            <a:pPr>
              <a:lnSpc>
                <a:spcPct val="100000"/>
              </a:lnSpc>
              <a:spcBef>
                <a:spcPts val="360"/>
              </a:spcBef>
            </a:pPr>
            <a:endParaRPr sz="1100">
              <a:latin typeface="Arial MT"/>
              <a:cs typeface="Arial MT"/>
            </a:endParaRPr>
          </a:p>
          <a:p>
            <a:pPr marL="12700">
              <a:lnSpc>
                <a:spcPct val="100000"/>
              </a:lnSpc>
            </a:pPr>
            <a:r>
              <a:rPr sz="1100" spc="-65" dirty="0">
                <a:solidFill>
                  <a:srgbClr val="22373A"/>
                </a:solidFill>
                <a:latin typeface="Arial MT"/>
                <a:cs typeface="Arial MT"/>
              </a:rPr>
              <a:t>One</a:t>
            </a:r>
            <a:r>
              <a:rPr sz="1100" spc="-10" dirty="0">
                <a:solidFill>
                  <a:srgbClr val="22373A"/>
                </a:solidFill>
                <a:latin typeface="Arial MT"/>
                <a:cs typeface="Arial MT"/>
              </a:rPr>
              <a:t> </a:t>
            </a:r>
            <a:r>
              <a:rPr sz="1100" spc="-65" dirty="0">
                <a:solidFill>
                  <a:srgbClr val="22373A"/>
                </a:solidFill>
                <a:latin typeface="Arial MT"/>
                <a:cs typeface="Arial MT"/>
              </a:rPr>
              <a:t>consumer</a:t>
            </a:r>
            <a:r>
              <a:rPr sz="1100" spc="-10" dirty="0">
                <a:solidFill>
                  <a:srgbClr val="22373A"/>
                </a:solidFill>
                <a:latin typeface="Arial MT"/>
                <a:cs typeface="Arial MT"/>
              </a:rPr>
              <a:t> laptop:</a:t>
            </a:r>
            <a:r>
              <a:rPr sz="1100" spc="60" dirty="0">
                <a:solidFill>
                  <a:srgbClr val="22373A"/>
                </a:solidFill>
                <a:latin typeface="Arial MT"/>
                <a:cs typeface="Arial MT"/>
              </a:rPr>
              <a:t> </a:t>
            </a:r>
            <a:r>
              <a:rPr sz="1100" dirty="0">
                <a:solidFill>
                  <a:srgbClr val="22373A"/>
                </a:solidFill>
                <a:latin typeface="Arial MT"/>
                <a:cs typeface="Arial MT"/>
              </a:rPr>
              <a:t>RTX</a:t>
            </a:r>
            <a:r>
              <a:rPr sz="1100" spc="-5" dirty="0">
                <a:solidFill>
                  <a:srgbClr val="22373A"/>
                </a:solidFill>
                <a:latin typeface="Arial MT"/>
                <a:cs typeface="Arial MT"/>
              </a:rPr>
              <a:t> </a:t>
            </a:r>
            <a:r>
              <a:rPr sz="1100" spc="-65" dirty="0">
                <a:solidFill>
                  <a:srgbClr val="22373A"/>
                </a:solidFill>
                <a:latin typeface="Arial MT"/>
                <a:cs typeface="Arial MT"/>
              </a:rPr>
              <a:t>3050</a:t>
            </a:r>
            <a:r>
              <a:rPr sz="1100" dirty="0">
                <a:solidFill>
                  <a:srgbClr val="22373A"/>
                </a:solidFill>
                <a:latin typeface="Arial MT"/>
                <a:cs typeface="Arial MT"/>
              </a:rPr>
              <a:t> Ti, </a:t>
            </a:r>
            <a:r>
              <a:rPr sz="1100" spc="-80" dirty="0">
                <a:solidFill>
                  <a:srgbClr val="2D7DB8"/>
                </a:solidFill>
                <a:latin typeface="Arial MT"/>
                <a:cs typeface="Arial MT"/>
              </a:rPr>
              <a:t>4</a:t>
            </a:r>
            <a:r>
              <a:rPr sz="1100" spc="-130" dirty="0">
                <a:solidFill>
                  <a:srgbClr val="2D7DB8"/>
                </a:solidFill>
                <a:latin typeface="Arial MT"/>
                <a:cs typeface="Arial MT"/>
              </a:rPr>
              <a:t> </a:t>
            </a:r>
            <a:r>
              <a:rPr sz="1100" spc="-35" dirty="0">
                <a:solidFill>
                  <a:srgbClr val="2D7DB8"/>
                </a:solidFill>
                <a:latin typeface="Arial MT"/>
                <a:cs typeface="Arial MT"/>
              </a:rPr>
              <a:t>GB</a:t>
            </a:r>
            <a:r>
              <a:rPr sz="1100" dirty="0">
                <a:solidFill>
                  <a:srgbClr val="2D7DB8"/>
                </a:solidFill>
                <a:latin typeface="Arial MT"/>
                <a:cs typeface="Arial MT"/>
              </a:rPr>
              <a:t> </a:t>
            </a:r>
            <a:r>
              <a:rPr sz="1100" spc="-10" dirty="0">
                <a:solidFill>
                  <a:srgbClr val="2D7DB8"/>
                </a:solidFill>
                <a:latin typeface="Arial MT"/>
                <a:cs typeface="Arial MT"/>
              </a:rPr>
              <a:t>VRAM</a:t>
            </a:r>
            <a:r>
              <a:rPr sz="1100" spc="-10" dirty="0">
                <a:solidFill>
                  <a:srgbClr val="22373A"/>
                </a:solidFill>
                <a:latin typeface="Arial MT"/>
                <a:cs typeface="Arial MT"/>
              </a:rPr>
              <a:t>,</a:t>
            </a:r>
            <a:r>
              <a:rPr sz="1100" dirty="0">
                <a:solidFill>
                  <a:srgbClr val="22373A"/>
                </a:solidFill>
                <a:latin typeface="Arial MT"/>
                <a:cs typeface="Arial MT"/>
              </a:rPr>
              <a:t> </a:t>
            </a:r>
            <a:r>
              <a:rPr sz="1100" spc="-85" dirty="0">
                <a:solidFill>
                  <a:srgbClr val="22373A"/>
                </a:solidFill>
                <a:latin typeface="Arial MT"/>
                <a:cs typeface="Arial MT"/>
              </a:rPr>
              <a:t>32</a:t>
            </a:r>
            <a:r>
              <a:rPr sz="1100" spc="-130" dirty="0">
                <a:solidFill>
                  <a:srgbClr val="22373A"/>
                </a:solidFill>
                <a:latin typeface="Arial MT"/>
                <a:cs typeface="Arial MT"/>
              </a:rPr>
              <a:t> </a:t>
            </a:r>
            <a:r>
              <a:rPr sz="1100" spc="-35" dirty="0">
                <a:solidFill>
                  <a:srgbClr val="22373A"/>
                </a:solidFill>
                <a:latin typeface="Arial MT"/>
                <a:cs typeface="Arial MT"/>
              </a:rPr>
              <a:t>GB</a:t>
            </a:r>
            <a:r>
              <a:rPr sz="1100" spc="-5" dirty="0">
                <a:solidFill>
                  <a:srgbClr val="22373A"/>
                </a:solidFill>
                <a:latin typeface="Arial MT"/>
                <a:cs typeface="Arial MT"/>
              </a:rPr>
              <a:t> </a:t>
            </a:r>
            <a:r>
              <a:rPr sz="1100" spc="-20" dirty="0">
                <a:solidFill>
                  <a:srgbClr val="22373A"/>
                </a:solidFill>
                <a:latin typeface="Arial MT"/>
                <a:cs typeface="Arial MT"/>
              </a:rPr>
              <a:t>RAM.</a:t>
            </a:r>
            <a:endParaRPr sz="1100">
              <a:latin typeface="Arial MT"/>
              <a:cs typeface="Arial MT"/>
            </a:endParaRPr>
          </a:p>
        </p:txBody>
      </p:sp>
      <p:sp>
        <p:nvSpPr>
          <p:cNvPr id="8" name="object 8"/>
          <p:cNvSpPr/>
          <p:nvPr/>
        </p:nvSpPr>
        <p:spPr>
          <a:xfrm>
            <a:off x="359994" y="2225179"/>
            <a:ext cx="5039995" cy="0"/>
          </a:xfrm>
          <a:custGeom>
            <a:avLst/>
            <a:gdLst/>
            <a:ahLst/>
            <a:cxnLst/>
            <a:rect l="l" t="t" r="r" b="b"/>
            <a:pathLst>
              <a:path w="5039995">
                <a:moveTo>
                  <a:pt x="0" y="0"/>
                </a:moveTo>
                <a:lnTo>
                  <a:pt x="5039995" y="0"/>
                </a:lnTo>
              </a:path>
            </a:pathLst>
          </a:custGeom>
          <a:ln w="7594">
            <a:solidFill>
              <a:srgbClr val="2D7DB8"/>
            </a:solidFill>
          </a:ln>
        </p:spPr>
        <p:txBody>
          <a:bodyPr wrap="square" lIns="0" tIns="0" rIns="0" bIns="0" rtlCol="0"/>
          <a:lstStyle/>
          <a:p>
            <a:endParaRPr/>
          </a:p>
        </p:txBody>
      </p:sp>
      <p:sp>
        <p:nvSpPr>
          <p:cNvPr id="9" name="object 9"/>
          <p:cNvSpPr txBox="1"/>
          <p:nvPr/>
        </p:nvSpPr>
        <p:spPr>
          <a:xfrm>
            <a:off x="347294" y="2374930"/>
            <a:ext cx="3008630" cy="177800"/>
          </a:xfrm>
          <a:prstGeom prst="rect">
            <a:avLst/>
          </a:prstGeom>
        </p:spPr>
        <p:txBody>
          <a:bodyPr vert="horz" wrap="square" lIns="0" tIns="12065" rIns="0" bIns="0" rtlCol="0">
            <a:spAutoFit/>
          </a:bodyPr>
          <a:lstStyle/>
          <a:p>
            <a:pPr marL="12700">
              <a:lnSpc>
                <a:spcPct val="100000"/>
              </a:lnSpc>
              <a:spcBef>
                <a:spcPts val="95"/>
              </a:spcBef>
            </a:pPr>
            <a:r>
              <a:rPr sz="1000" spc="-30" dirty="0">
                <a:solidFill>
                  <a:srgbClr val="22373A"/>
                </a:solidFill>
                <a:latin typeface="Arial MT"/>
                <a:cs typeface="Arial MT"/>
              </a:rPr>
              <a:t>Everything</a:t>
            </a:r>
            <a:r>
              <a:rPr sz="1000" spc="-40" dirty="0">
                <a:solidFill>
                  <a:srgbClr val="22373A"/>
                </a:solidFill>
                <a:latin typeface="Arial MT"/>
                <a:cs typeface="Arial MT"/>
              </a:rPr>
              <a:t> </a:t>
            </a:r>
            <a:r>
              <a:rPr sz="1000" spc="-25" dirty="0">
                <a:solidFill>
                  <a:srgbClr val="22373A"/>
                </a:solidFill>
                <a:latin typeface="Arial MT"/>
                <a:cs typeface="Arial MT"/>
              </a:rPr>
              <a:t>runs </a:t>
            </a:r>
            <a:r>
              <a:rPr sz="1000" spc="-20" dirty="0">
                <a:solidFill>
                  <a:srgbClr val="22373A"/>
                </a:solidFill>
                <a:latin typeface="Arial MT"/>
                <a:cs typeface="Arial MT"/>
              </a:rPr>
              <a:t>locally.</a:t>
            </a:r>
            <a:r>
              <a:rPr sz="1000" spc="65" dirty="0">
                <a:solidFill>
                  <a:srgbClr val="22373A"/>
                </a:solidFill>
                <a:latin typeface="Arial MT"/>
                <a:cs typeface="Arial MT"/>
              </a:rPr>
              <a:t> </a:t>
            </a:r>
            <a:r>
              <a:rPr sz="1000" dirty="0">
                <a:solidFill>
                  <a:srgbClr val="22373A"/>
                </a:solidFill>
                <a:latin typeface="Arial MT"/>
                <a:cs typeface="Arial MT"/>
              </a:rPr>
              <a:t>No</a:t>
            </a:r>
            <a:r>
              <a:rPr sz="1000" spc="-20" dirty="0">
                <a:solidFill>
                  <a:srgbClr val="22373A"/>
                </a:solidFill>
                <a:latin typeface="Arial MT"/>
                <a:cs typeface="Arial MT"/>
              </a:rPr>
              <a:t> </a:t>
            </a:r>
            <a:r>
              <a:rPr sz="1000" dirty="0">
                <a:solidFill>
                  <a:srgbClr val="22373A"/>
                </a:solidFill>
                <a:latin typeface="Arial MT"/>
                <a:cs typeface="Arial MT"/>
              </a:rPr>
              <a:t>log</a:t>
            </a:r>
            <a:r>
              <a:rPr sz="1000" spc="-25" dirty="0">
                <a:solidFill>
                  <a:srgbClr val="22373A"/>
                </a:solidFill>
                <a:latin typeface="Arial MT"/>
                <a:cs typeface="Arial MT"/>
              </a:rPr>
              <a:t> </a:t>
            </a:r>
            <a:r>
              <a:rPr sz="1000" dirty="0">
                <a:solidFill>
                  <a:srgbClr val="22373A"/>
                </a:solidFill>
                <a:latin typeface="Arial MT"/>
                <a:cs typeface="Arial MT"/>
              </a:rPr>
              <a:t>data</a:t>
            </a:r>
            <a:r>
              <a:rPr sz="1000" spc="-15" dirty="0">
                <a:solidFill>
                  <a:srgbClr val="22373A"/>
                </a:solidFill>
                <a:latin typeface="Arial MT"/>
                <a:cs typeface="Arial MT"/>
              </a:rPr>
              <a:t> </a:t>
            </a:r>
            <a:r>
              <a:rPr sz="1000" spc="-75" dirty="0">
                <a:solidFill>
                  <a:srgbClr val="22373A"/>
                </a:solidFill>
                <a:latin typeface="Arial MT"/>
                <a:cs typeface="Arial MT"/>
              </a:rPr>
              <a:t>leaves</a:t>
            </a:r>
            <a:r>
              <a:rPr sz="1000" spc="5" dirty="0">
                <a:solidFill>
                  <a:srgbClr val="22373A"/>
                </a:solidFill>
                <a:latin typeface="Arial MT"/>
                <a:cs typeface="Arial MT"/>
              </a:rPr>
              <a:t> </a:t>
            </a:r>
            <a:r>
              <a:rPr sz="1000" dirty="0">
                <a:solidFill>
                  <a:srgbClr val="22373A"/>
                </a:solidFill>
                <a:latin typeface="Arial MT"/>
                <a:cs typeface="Arial MT"/>
              </a:rPr>
              <a:t>the</a:t>
            </a:r>
            <a:r>
              <a:rPr sz="1000" spc="-20" dirty="0">
                <a:solidFill>
                  <a:srgbClr val="22373A"/>
                </a:solidFill>
                <a:latin typeface="Arial MT"/>
                <a:cs typeface="Arial MT"/>
              </a:rPr>
              <a:t> </a:t>
            </a:r>
            <a:r>
              <a:rPr sz="1000" spc="-10" dirty="0">
                <a:solidFill>
                  <a:srgbClr val="22373A"/>
                </a:solidFill>
                <a:latin typeface="Arial MT"/>
                <a:cs typeface="Arial MT"/>
              </a:rPr>
              <a:t>machine.</a:t>
            </a:r>
            <a:endParaRPr sz="1000">
              <a:latin typeface="Arial MT"/>
              <a:cs typeface="Arial MT"/>
            </a:endParaRPr>
          </a:p>
        </p:txBody>
      </p:sp>
      <p:pic>
        <p:nvPicPr>
          <p:cNvPr id="10" name="object 10"/>
          <p:cNvPicPr/>
          <p:nvPr/>
        </p:nvPicPr>
        <p:blipFill>
          <a:blip r:embed="rId3" cstate="print"/>
          <a:stretch>
            <a:fillRect/>
          </a:stretch>
        </p:blipFill>
        <p:spPr>
          <a:xfrm>
            <a:off x="101282" y="2998905"/>
            <a:ext cx="241983" cy="187117"/>
          </a:xfrm>
          <a:prstGeom prst="rect">
            <a:avLst/>
          </a:prstGeom>
        </p:spPr>
      </p:pic>
      <p:pic>
        <p:nvPicPr>
          <p:cNvPr id="11" name="object 11"/>
          <p:cNvPicPr/>
          <p:nvPr/>
        </p:nvPicPr>
        <p:blipFill>
          <a:blip r:embed="rId4" cstate="print"/>
          <a:stretch>
            <a:fillRect/>
          </a:stretch>
        </p:blipFill>
        <p:spPr>
          <a:xfrm>
            <a:off x="433285" y="2998965"/>
            <a:ext cx="187057" cy="187057"/>
          </a:xfrm>
          <a:prstGeom prst="rect">
            <a:avLst/>
          </a:prstGeom>
        </p:spPr>
      </p:pic>
      <p:pic>
        <p:nvPicPr>
          <p:cNvPr id="12" name="object 12"/>
          <p:cNvPicPr/>
          <p:nvPr/>
        </p:nvPicPr>
        <p:blipFill>
          <a:blip r:embed="rId5" cstate="print"/>
          <a:stretch>
            <a:fillRect/>
          </a:stretch>
        </p:blipFill>
        <p:spPr>
          <a:xfrm>
            <a:off x="710349" y="2998815"/>
            <a:ext cx="187208" cy="187208"/>
          </a:xfrm>
          <a:prstGeom prst="rect">
            <a:avLst/>
          </a:prstGeom>
        </p:spPr>
      </p:pic>
      <p:sp>
        <p:nvSpPr>
          <p:cNvPr id="13" name="object 13"/>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12</a:t>
            </a:r>
            <a:r>
              <a:rPr spc="-80" dirty="0"/>
              <a:t> </a:t>
            </a:r>
            <a:r>
              <a:rPr spc="195" dirty="0"/>
              <a:t>/</a:t>
            </a:r>
            <a:r>
              <a:rPr spc="-75" dirty="0"/>
              <a:t> </a:t>
            </a:r>
            <a:r>
              <a:rPr spc="-25" dirty="0"/>
              <a:t>32</a:t>
            </a:r>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20" dirty="0"/>
              <a:t>Evaluation</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2340610" cy="5080"/>
            </a:xfrm>
            <a:custGeom>
              <a:avLst/>
              <a:gdLst/>
              <a:ahLst/>
              <a:cxnLst/>
              <a:rect l="l" t="t" r="r" b="b"/>
              <a:pathLst>
                <a:path w="2340610" h="5079">
                  <a:moveTo>
                    <a:pt x="0" y="5060"/>
                  </a:moveTo>
                  <a:lnTo>
                    <a:pt x="0" y="0"/>
                  </a:lnTo>
                  <a:lnTo>
                    <a:pt x="2340029" y="0"/>
                  </a:lnTo>
                  <a:lnTo>
                    <a:pt x="2340029" y="5060"/>
                  </a:lnTo>
                  <a:lnTo>
                    <a:pt x="0" y="5060"/>
                  </a:lnTo>
                  <a:close/>
                </a:path>
              </a:pathLst>
            </a:custGeom>
            <a:solidFill>
              <a:srgbClr val="2D7DB8"/>
            </a:solidFill>
          </p:spPr>
          <p:txBody>
            <a:bodyPr wrap="square" lIns="0" tIns="0" rIns="0" bIns="0" rtlCol="0"/>
            <a:lstStyle/>
            <a:p>
              <a:endParaRPr/>
            </a:p>
          </p:txBody>
        </p:sp>
      </p:grpSp>
      <p:sp>
        <p:nvSpPr>
          <p:cNvPr id="7" name="object 7"/>
          <p:cNvSpPr txBox="1">
            <a:spLocks noGrp="1"/>
          </p:cNvSpPr>
          <p:nvPr>
            <p:ph type="body" idx="1"/>
          </p:nvPr>
        </p:nvSpPr>
        <p:spPr>
          <a:prstGeom prst="rect">
            <a:avLst/>
          </a:prstGeom>
        </p:spPr>
        <p:txBody>
          <a:bodyPr vert="horz" wrap="square" lIns="0" tIns="12700" rIns="0" bIns="0" rtlCol="0">
            <a:spAutoFit/>
          </a:bodyPr>
          <a:lstStyle/>
          <a:p>
            <a:pPr marL="12700" marR="5080">
              <a:lnSpc>
                <a:spcPct val="118000"/>
              </a:lnSpc>
              <a:spcBef>
                <a:spcPts val="100"/>
              </a:spcBef>
            </a:pPr>
            <a:r>
              <a:rPr spc="-75" dirty="0"/>
              <a:t>Each</a:t>
            </a:r>
            <a:r>
              <a:rPr dirty="0"/>
              <a:t> </a:t>
            </a:r>
            <a:r>
              <a:rPr spc="-60" dirty="0"/>
              <a:t>grounded</a:t>
            </a:r>
            <a:r>
              <a:rPr spc="-10" dirty="0"/>
              <a:t> </a:t>
            </a:r>
            <a:r>
              <a:rPr spc="-35" dirty="0"/>
              <a:t>condition</a:t>
            </a:r>
            <a:r>
              <a:rPr spc="5" dirty="0"/>
              <a:t> </a:t>
            </a:r>
            <a:r>
              <a:rPr spc="-10" dirty="0"/>
              <a:t>is</a:t>
            </a:r>
            <a:r>
              <a:rPr spc="5" dirty="0"/>
              <a:t> </a:t>
            </a:r>
            <a:r>
              <a:rPr spc="-75" dirty="0"/>
              <a:t>compared</a:t>
            </a:r>
            <a:r>
              <a:rPr spc="10" dirty="0"/>
              <a:t> </a:t>
            </a:r>
            <a:r>
              <a:rPr spc="-45" dirty="0"/>
              <a:t>against</a:t>
            </a:r>
            <a:r>
              <a:rPr spc="5" dirty="0"/>
              <a:t> </a:t>
            </a:r>
            <a:r>
              <a:rPr dirty="0"/>
              <a:t>a</a:t>
            </a:r>
            <a:r>
              <a:rPr spc="5" dirty="0"/>
              <a:t> </a:t>
            </a:r>
            <a:r>
              <a:rPr spc="-60" dirty="0">
                <a:solidFill>
                  <a:srgbClr val="2D7DB8"/>
                </a:solidFill>
              </a:rPr>
              <a:t>non-</a:t>
            </a:r>
            <a:r>
              <a:rPr spc="-55" dirty="0">
                <a:solidFill>
                  <a:srgbClr val="2D7DB8"/>
                </a:solidFill>
              </a:rPr>
              <a:t>grounded</a:t>
            </a:r>
            <a:r>
              <a:rPr spc="10" dirty="0">
                <a:solidFill>
                  <a:srgbClr val="2D7DB8"/>
                </a:solidFill>
              </a:rPr>
              <a:t> </a:t>
            </a:r>
            <a:r>
              <a:rPr spc="-75" dirty="0">
                <a:solidFill>
                  <a:srgbClr val="2D7DB8"/>
                </a:solidFill>
              </a:rPr>
              <a:t>baseline</a:t>
            </a:r>
            <a:r>
              <a:rPr spc="5" dirty="0">
                <a:solidFill>
                  <a:srgbClr val="2D7DB8"/>
                </a:solidFill>
              </a:rPr>
              <a:t> </a:t>
            </a:r>
            <a:r>
              <a:rPr dirty="0"/>
              <a:t>that</a:t>
            </a:r>
            <a:r>
              <a:rPr spc="5" dirty="0"/>
              <a:t> </a:t>
            </a:r>
            <a:r>
              <a:rPr spc="-105" dirty="0"/>
              <a:t>keeps</a:t>
            </a:r>
            <a:r>
              <a:rPr spc="30" dirty="0"/>
              <a:t> </a:t>
            </a:r>
            <a:r>
              <a:rPr spc="-25" dirty="0"/>
              <a:t>the </a:t>
            </a:r>
            <a:r>
              <a:rPr spc="-105" dirty="0"/>
              <a:t>same</a:t>
            </a:r>
            <a:r>
              <a:rPr spc="30" dirty="0"/>
              <a:t> </a:t>
            </a:r>
            <a:r>
              <a:rPr spc="-55" dirty="0"/>
              <a:t>model</a:t>
            </a:r>
            <a:r>
              <a:rPr spc="-20" dirty="0"/>
              <a:t> </a:t>
            </a:r>
            <a:r>
              <a:rPr spc="-55" dirty="0"/>
              <a:t>and</a:t>
            </a:r>
            <a:r>
              <a:rPr spc="-20" dirty="0"/>
              <a:t> </a:t>
            </a:r>
            <a:r>
              <a:rPr dirty="0"/>
              <a:t>the</a:t>
            </a:r>
            <a:r>
              <a:rPr spc="-40" dirty="0"/>
              <a:t> </a:t>
            </a:r>
            <a:r>
              <a:rPr spc="-105" dirty="0"/>
              <a:t>same</a:t>
            </a:r>
            <a:r>
              <a:rPr spc="30" dirty="0"/>
              <a:t> </a:t>
            </a:r>
            <a:r>
              <a:rPr spc="-75" dirty="0"/>
              <a:t>evidence,</a:t>
            </a:r>
            <a:r>
              <a:rPr dirty="0"/>
              <a:t> </a:t>
            </a:r>
            <a:r>
              <a:rPr spc="-55" dirty="0"/>
              <a:t>and</a:t>
            </a:r>
            <a:r>
              <a:rPr dirty="0"/>
              <a:t> </a:t>
            </a:r>
            <a:r>
              <a:rPr spc="-90" dirty="0"/>
              <a:t>removes</a:t>
            </a:r>
            <a:r>
              <a:rPr spc="15" dirty="0"/>
              <a:t> </a:t>
            </a:r>
            <a:r>
              <a:rPr spc="-20" dirty="0"/>
              <a:t>only</a:t>
            </a:r>
            <a:r>
              <a:rPr dirty="0"/>
              <a:t> the </a:t>
            </a:r>
            <a:r>
              <a:rPr spc="-45" dirty="0"/>
              <a:t>graph</a:t>
            </a:r>
            <a:r>
              <a:rPr dirty="0"/>
              <a:t> </a:t>
            </a:r>
            <a:r>
              <a:rPr spc="-10" dirty="0"/>
              <a:t>constraint.</a:t>
            </a:r>
          </a:p>
          <a:p>
            <a:pPr marL="287020" indent="-135890">
              <a:lnSpc>
                <a:spcPct val="100000"/>
              </a:lnSpc>
              <a:spcBef>
                <a:spcPts val="1085"/>
              </a:spcBef>
              <a:buChar char="•"/>
              <a:tabLst>
                <a:tab pos="287020" algn="l"/>
              </a:tabLst>
            </a:pPr>
            <a:r>
              <a:rPr spc="-60" dirty="0"/>
              <a:t>CIC-</a:t>
            </a:r>
            <a:r>
              <a:rPr spc="-25" dirty="0"/>
              <a:t>IDS:</a:t>
            </a:r>
            <a:r>
              <a:rPr dirty="0"/>
              <a:t> </a:t>
            </a:r>
            <a:r>
              <a:rPr spc="-20" dirty="0"/>
              <a:t>direct</a:t>
            </a:r>
            <a:r>
              <a:rPr spc="5" dirty="0"/>
              <a:t> </a:t>
            </a:r>
            <a:r>
              <a:rPr dirty="0"/>
              <a:t>LLM </a:t>
            </a:r>
            <a:r>
              <a:rPr spc="-40" dirty="0"/>
              <a:t>classification,</a:t>
            </a:r>
            <a:r>
              <a:rPr dirty="0"/>
              <a:t> </a:t>
            </a:r>
            <a:r>
              <a:rPr spc="-10" dirty="0"/>
              <a:t>no</a:t>
            </a:r>
            <a:r>
              <a:rPr spc="5" dirty="0"/>
              <a:t> </a:t>
            </a:r>
            <a:r>
              <a:rPr spc="-10" dirty="0"/>
              <a:t>retrieval</a:t>
            </a:r>
          </a:p>
          <a:p>
            <a:pPr marL="287020" indent="-135890">
              <a:lnSpc>
                <a:spcPct val="100000"/>
              </a:lnSpc>
              <a:spcBef>
                <a:spcPts val="535"/>
              </a:spcBef>
              <a:buChar char="•"/>
              <a:tabLst>
                <a:tab pos="287020" algn="l"/>
              </a:tabLst>
            </a:pPr>
            <a:r>
              <a:rPr spc="-45" dirty="0"/>
              <a:t>DARPA:</a:t>
            </a:r>
            <a:r>
              <a:rPr spc="-15" dirty="0"/>
              <a:t> </a:t>
            </a:r>
            <a:r>
              <a:rPr spc="-85" dirty="0"/>
              <a:t>unscoped</a:t>
            </a:r>
            <a:r>
              <a:rPr spc="10" dirty="0"/>
              <a:t> </a:t>
            </a:r>
            <a:r>
              <a:rPr spc="-25" dirty="0"/>
              <a:t>similarity</a:t>
            </a:r>
            <a:r>
              <a:rPr dirty="0"/>
              <a:t> </a:t>
            </a:r>
            <a:r>
              <a:rPr spc="-35" dirty="0"/>
              <a:t>retrieval</a:t>
            </a:r>
            <a:r>
              <a:rPr dirty="0"/>
              <a:t> </a:t>
            </a:r>
            <a:r>
              <a:rPr spc="-50" dirty="0"/>
              <a:t>over</a:t>
            </a:r>
            <a:r>
              <a:rPr dirty="0"/>
              <a:t> all </a:t>
            </a:r>
            <a:r>
              <a:rPr spc="-55" dirty="0"/>
              <a:t>691</a:t>
            </a:r>
            <a:r>
              <a:rPr spc="-5" dirty="0"/>
              <a:t> </a:t>
            </a:r>
            <a:r>
              <a:rPr spc="-10" dirty="0"/>
              <a:t>techniques</a:t>
            </a:r>
          </a:p>
          <a:p>
            <a:pPr>
              <a:lnSpc>
                <a:spcPct val="100000"/>
              </a:lnSpc>
              <a:spcBef>
                <a:spcPts val="120"/>
              </a:spcBef>
            </a:pPr>
            <a:endParaRPr spc="-10" dirty="0"/>
          </a:p>
          <a:p>
            <a:pPr marL="12700" marR="21590">
              <a:lnSpc>
                <a:spcPct val="118000"/>
              </a:lnSpc>
            </a:pPr>
            <a:r>
              <a:rPr spc="-80" dirty="0"/>
              <a:t>Measured</a:t>
            </a:r>
            <a:r>
              <a:rPr spc="5" dirty="0"/>
              <a:t> </a:t>
            </a:r>
            <a:r>
              <a:rPr dirty="0"/>
              <a:t>on:</a:t>
            </a:r>
            <a:r>
              <a:rPr spc="80" dirty="0"/>
              <a:t> </a:t>
            </a:r>
            <a:r>
              <a:rPr spc="-40" dirty="0"/>
              <a:t>exact</a:t>
            </a:r>
            <a:r>
              <a:rPr spc="-5" dirty="0"/>
              <a:t> </a:t>
            </a:r>
            <a:r>
              <a:rPr spc="-20" dirty="0"/>
              <a:t>match,</a:t>
            </a:r>
            <a:r>
              <a:rPr spc="-5" dirty="0"/>
              <a:t> </a:t>
            </a:r>
            <a:r>
              <a:rPr spc="-50" dirty="0">
                <a:solidFill>
                  <a:srgbClr val="2D7DB8"/>
                </a:solidFill>
              </a:rPr>
              <a:t>macro</a:t>
            </a:r>
            <a:r>
              <a:rPr spc="-5" dirty="0">
                <a:solidFill>
                  <a:srgbClr val="2D7DB8"/>
                </a:solidFill>
              </a:rPr>
              <a:t> </a:t>
            </a:r>
            <a:r>
              <a:rPr spc="-10" dirty="0">
                <a:solidFill>
                  <a:srgbClr val="2D7DB8"/>
                </a:solidFill>
              </a:rPr>
              <a:t>F1</a:t>
            </a:r>
            <a:r>
              <a:rPr spc="-10" dirty="0"/>
              <a:t>,</a:t>
            </a:r>
            <a:r>
              <a:rPr spc="-5" dirty="0"/>
              <a:t> </a:t>
            </a:r>
            <a:r>
              <a:rPr spc="-35" dirty="0"/>
              <a:t>retrieval</a:t>
            </a:r>
            <a:r>
              <a:rPr spc="-5" dirty="0"/>
              <a:t> </a:t>
            </a:r>
            <a:r>
              <a:rPr dirty="0"/>
              <a:t>hit</a:t>
            </a:r>
            <a:r>
              <a:rPr spc="-5" dirty="0"/>
              <a:t> </a:t>
            </a:r>
            <a:r>
              <a:rPr spc="-10" dirty="0"/>
              <a:t>rate,</a:t>
            </a:r>
            <a:r>
              <a:rPr spc="-5" dirty="0"/>
              <a:t> </a:t>
            </a:r>
            <a:r>
              <a:rPr spc="-20" dirty="0"/>
              <a:t>report</a:t>
            </a:r>
            <a:r>
              <a:rPr spc="-5" dirty="0"/>
              <a:t> </a:t>
            </a:r>
            <a:r>
              <a:rPr spc="-40" dirty="0"/>
              <a:t>grounding.</a:t>
            </a:r>
            <a:r>
              <a:rPr spc="85" dirty="0"/>
              <a:t> </a:t>
            </a:r>
            <a:r>
              <a:rPr spc="-10" dirty="0"/>
              <a:t>Bootstrap </a:t>
            </a:r>
            <a:r>
              <a:rPr spc="-65" dirty="0"/>
              <a:t>confidence</a:t>
            </a:r>
            <a:r>
              <a:rPr spc="10" dirty="0"/>
              <a:t> </a:t>
            </a:r>
            <a:r>
              <a:rPr spc="-40" dirty="0"/>
              <a:t>intervals</a:t>
            </a:r>
            <a:r>
              <a:rPr spc="15" dirty="0"/>
              <a:t> </a:t>
            </a:r>
            <a:r>
              <a:rPr spc="-10" dirty="0"/>
              <a:t>throughout.</a:t>
            </a:r>
          </a:p>
        </p:txBody>
      </p:sp>
      <p:pic>
        <p:nvPicPr>
          <p:cNvPr id="8" name="object 8"/>
          <p:cNvPicPr/>
          <p:nvPr/>
        </p:nvPicPr>
        <p:blipFill>
          <a:blip r:embed="rId3" cstate="print"/>
          <a:stretch>
            <a:fillRect/>
          </a:stretch>
        </p:blipFill>
        <p:spPr>
          <a:xfrm>
            <a:off x="101282" y="2998905"/>
            <a:ext cx="241983" cy="187117"/>
          </a:xfrm>
          <a:prstGeom prst="rect">
            <a:avLst/>
          </a:prstGeom>
        </p:spPr>
      </p:pic>
      <p:pic>
        <p:nvPicPr>
          <p:cNvPr id="9" name="object 9"/>
          <p:cNvPicPr/>
          <p:nvPr/>
        </p:nvPicPr>
        <p:blipFill>
          <a:blip r:embed="rId4" cstate="print"/>
          <a:stretch>
            <a:fillRect/>
          </a:stretch>
        </p:blipFill>
        <p:spPr>
          <a:xfrm>
            <a:off x="433285" y="2998965"/>
            <a:ext cx="187057" cy="187057"/>
          </a:xfrm>
          <a:prstGeom prst="rect">
            <a:avLst/>
          </a:prstGeom>
        </p:spPr>
      </p:pic>
      <p:pic>
        <p:nvPicPr>
          <p:cNvPr id="10" name="object 10"/>
          <p:cNvPicPr/>
          <p:nvPr/>
        </p:nvPicPr>
        <p:blipFill>
          <a:blip r:embed="rId5" cstate="print"/>
          <a:stretch>
            <a:fillRect/>
          </a:stretch>
        </p:blipFill>
        <p:spPr>
          <a:xfrm>
            <a:off x="710349" y="2998815"/>
            <a:ext cx="187208" cy="187208"/>
          </a:xfrm>
          <a:prstGeom prst="rect">
            <a:avLst/>
          </a:prstGeom>
        </p:spPr>
      </p:pic>
      <p:sp>
        <p:nvSpPr>
          <p:cNvPr id="11" name="object 11"/>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13</a:t>
            </a:r>
            <a:r>
              <a:rPr spc="-80" dirty="0"/>
              <a:t> </a:t>
            </a:r>
            <a:r>
              <a:rPr spc="195" dirty="0"/>
              <a:t>/</a:t>
            </a:r>
            <a:r>
              <a:rPr spc="-75" dirty="0"/>
              <a:t> </a:t>
            </a:r>
            <a:r>
              <a:rPr spc="-25" dirty="0"/>
              <a:t>32</a:t>
            </a:r>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35" dirty="0"/>
              <a:t>Reproducibility</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2520315" cy="5080"/>
            </a:xfrm>
            <a:custGeom>
              <a:avLst/>
              <a:gdLst/>
              <a:ahLst/>
              <a:cxnLst/>
              <a:rect l="l" t="t" r="r" b="b"/>
              <a:pathLst>
                <a:path w="2520315" h="5079">
                  <a:moveTo>
                    <a:pt x="0" y="5060"/>
                  </a:moveTo>
                  <a:lnTo>
                    <a:pt x="0" y="0"/>
                  </a:lnTo>
                  <a:lnTo>
                    <a:pt x="2520032" y="0"/>
                  </a:lnTo>
                  <a:lnTo>
                    <a:pt x="2520032" y="5060"/>
                  </a:lnTo>
                  <a:lnTo>
                    <a:pt x="0" y="5060"/>
                  </a:lnTo>
                  <a:close/>
                </a:path>
              </a:pathLst>
            </a:custGeom>
            <a:solidFill>
              <a:srgbClr val="2D7DB8"/>
            </a:solidFill>
          </p:spPr>
          <p:txBody>
            <a:bodyPr wrap="square" lIns="0" tIns="0" rIns="0" bIns="0" rtlCol="0"/>
            <a:lstStyle/>
            <a:p>
              <a:endParaRPr/>
            </a:p>
          </p:txBody>
        </p:sp>
      </p:grpSp>
      <p:sp>
        <p:nvSpPr>
          <p:cNvPr id="7" name="object 7"/>
          <p:cNvSpPr txBox="1"/>
          <p:nvPr/>
        </p:nvSpPr>
        <p:spPr>
          <a:xfrm>
            <a:off x="486283" y="1192883"/>
            <a:ext cx="4033520" cy="717504"/>
          </a:xfrm>
          <a:prstGeom prst="rect">
            <a:avLst/>
          </a:prstGeom>
        </p:spPr>
        <p:txBody>
          <a:bodyPr vert="horz" wrap="square" lIns="0" tIns="80645" rIns="0" bIns="0" rtlCol="0">
            <a:spAutoFit/>
          </a:bodyPr>
          <a:lstStyle/>
          <a:p>
            <a:pPr marL="148590" indent="-135890">
              <a:lnSpc>
                <a:spcPct val="100000"/>
              </a:lnSpc>
              <a:spcBef>
                <a:spcPts val="635"/>
              </a:spcBef>
              <a:buChar char="•"/>
              <a:tabLst>
                <a:tab pos="148590" algn="l"/>
              </a:tabLst>
            </a:pPr>
            <a:r>
              <a:rPr sz="1100" spc="-55" dirty="0">
                <a:solidFill>
                  <a:srgbClr val="22373A"/>
                </a:solidFill>
                <a:latin typeface="Arial MT"/>
                <a:cs typeface="Arial MT"/>
              </a:rPr>
              <a:t>Fixed</a:t>
            </a:r>
            <a:r>
              <a:rPr sz="1100" spc="-20" dirty="0">
                <a:solidFill>
                  <a:srgbClr val="22373A"/>
                </a:solidFill>
                <a:latin typeface="Arial MT"/>
                <a:cs typeface="Arial MT"/>
              </a:rPr>
              <a:t> </a:t>
            </a:r>
            <a:r>
              <a:rPr sz="1100" spc="-114" dirty="0">
                <a:solidFill>
                  <a:srgbClr val="22373A"/>
                </a:solidFill>
                <a:latin typeface="Arial MT"/>
                <a:cs typeface="Arial MT"/>
              </a:rPr>
              <a:t>seed</a:t>
            </a:r>
            <a:r>
              <a:rPr sz="1100" spc="40" dirty="0">
                <a:solidFill>
                  <a:srgbClr val="22373A"/>
                </a:solidFill>
                <a:latin typeface="Arial MT"/>
                <a:cs typeface="Arial MT"/>
              </a:rPr>
              <a:t> </a:t>
            </a:r>
            <a:r>
              <a:rPr sz="1100" spc="-30" dirty="0">
                <a:solidFill>
                  <a:srgbClr val="22373A"/>
                </a:solidFill>
                <a:latin typeface="Arial MT"/>
                <a:cs typeface="Arial MT"/>
              </a:rPr>
              <a:t>42 </a:t>
            </a:r>
            <a:r>
              <a:rPr sz="1100" spc="-20" dirty="0">
                <a:solidFill>
                  <a:srgbClr val="22373A"/>
                </a:solidFill>
                <a:latin typeface="Arial MT"/>
                <a:cs typeface="Arial MT"/>
              </a:rPr>
              <a:t>throughout;</a:t>
            </a:r>
            <a:r>
              <a:rPr sz="1100" dirty="0">
                <a:solidFill>
                  <a:srgbClr val="22373A"/>
                </a:solidFill>
                <a:latin typeface="Arial MT"/>
                <a:cs typeface="Arial MT"/>
              </a:rPr>
              <a:t> </a:t>
            </a:r>
            <a:r>
              <a:rPr sz="1100" spc="-40" dirty="0">
                <a:solidFill>
                  <a:srgbClr val="22373A"/>
                </a:solidFill>
                <a:latin typeface="Arial MT"/>
                <a:cs typeface="Arial MT"/>
              </a:rPr>
              <a:t>temperature</a:t>
            </a:r>
            <a:r>
              <a:rPr sz="1100" spc="-5" dirty="0">
                <a:solidFill>
                  <a:srgbClr val="22373A"/>
                </a:solidFill>
                <a:latin typeface="Arial MT"/>
                <a:cs typeface="Arial MT"/>
              </a:rPr>
              <a:t> </a:t>
            </a:r>
            <a:r>
              <a:rPr sz="1100" dirty="0">
                <a:solidFill>
                  <a:srgbClr val="22373A"/>
                </a:solidFill>
                <a:latin typeface="Arial MT"/>
                <a:cs typeface="Arial MT"/>
              </a:rPr>
              <a:t>0 for</a:t>
            </a:r>
            <a:r>
              <a:rPr sz="1100" spc="-5" dirty="0">
                <a:solidFill>
                  <a:srgbClr val="22373A"/>
                </a:solidFill>
                <a:latin typeface="Arial MT"/>
                <a:cs typeface="Arial MT"/>
              </a:rPr>
              <a:t> </a:t>
            </a:r>
            <a:r>
              <a:rPr sz="1100" spc="-30" dirty="0">
                <a:solidFill>
                  <a:srgbClr val="22373A"/>
                </a:solidFill>
                <a:latin typeface="Arial MT"/>
                <a:cs typeface="Arial MT"/>
              </a:rPr>
              <a:t>extraction</a:t>
            </a:r>
            <a:r>
              <a:rPr sz="1100" dirty="0">
                <a:solidFill>
                  <a:srgbClr val="22373A"/>
                </a:solidFill>
                <a:latin typeface="Arial MT"/>
                <a:cs typeface="Arial MT"/>
              </a:rPr>
              <a:t> </a:t>
            </a:r>
            <a:r>
              <a:rPr sz="1100" spc="-55" dirty="0">
                <a:solidFill>
                  <a:srgbClr val="22373A"/>
                </a:solidFill>
                <a:latin typeface="Arial MT"/>
                <a:cs typeface="Arial MT"/>
              </a:rPr>
              <a:t>and</a:t>
            </a:r>
            <a:r>
              <a:rPr sz="1100" spc="-5" dirty="0">
                <a:solidFill>
                  <a:srgbClr val="22373A"/>
                </a:solidFill>
                <a:latin typeface="Arial MT"/>
                <a:cs typeface="Arial MT"/>
              </a:rPr>
              <a:t> </a:t>
            </a:r>
            <a:r>
              <a:rPr sz="1100" spc="-10" dirty="0">
                <a:solidFill>
                  <a:srgbClr val="22373A"/>
                </a:solidFill>
                <a:latin typeface="Arial MT"/>
                <a:cs typeface="Arial MT"/>
              </a:rPr>
              <a:t>reports</a:t>
            </a:r>
            <a:endParaRPr sz="1100" dirty="0">
              <a:latin typeface="Arial MT"/>
              <a:cs typeface="Arial MT"/>
            </a:endParaRPr>
          </a:p>
          <a:p>
            <a:pPr marL="148590" indent="-135890">
              <a:lnSpc>
                <a:spcPct val="100000"/>
              </a:lnSpc>
              <a:spcBef>
                <a:spcPts val="540"/>
              </a:spcBef>
              <a:buChar char="•"/>
              <a:tabLst>
                <a:tab pos="148590" algn="l"/>
              </a:tabLst>
            </a:pPr>
            <a:r>
              <a:rPr sz="1100" spc="-10" dirty="0">
                <a:solidFill>
                  <a:srgbClr val="22373A"/>
                </a:solidFill>
                <a:latin typeface="Arial MT"/>
                <a:cs typeface="Arial MT"/>
              </a:rPr>
              <a:t>Full</a:t>
            </a:r>
            <a:r>
              <a:rPr sz="1100" spc="-30" dirty="0">
                <a:solidFill>
                  <a:srgbClr val="22373A"/>
                </a:solidFill>
                <a:latin typeface="Arial MT"/>
                <a:cs typeface="Arial MT"/>
              </a:rPr>
              <a:t> </a:t>
            </a:r>
            <a:r>
              <a:rPr lang="en-GB" sz="1100" spc="-40" dirty="0">
                <a:solidFill>
                  <a:srgbClr val="22373A"/>
                </a:solidFill>
                <a:latin typeface="Arial MT"/>
                <a:cs typeface="Arial MT"/>
              </a:rPr>
              <a:t>code published to GitHub</a:t>
            </a:r>
            <a:endParaRPr sz="1100" dirty="0">
              <a:latin typeface="Arial MT"/>
              <a:cs typeface="Arial MT"/>
            </a:endParaRPr>
          </a:p>
          <a:p>
            <a:pPr marL="148590" indent="-135890">
              <a:lnSpc>
                <a:spcPct val="100000"/>
              </a:lnSpc>
              <a:spcBef>
                <a:spcPts val="540"/>
              </a:spcBef>
              <a:buChar char="•"/>
              <a:tabLst>
                <a:tab pos="148590" algn="l"/>
              </a:tabLst>
            </a:pPr>
            <a:r>
              <a:rPr sz="1100" spc="-35" dirty="0">
                <a:solidFill>
                  <a:srgbClr val="22373A"/>
                </a:solidFill>
                <a:latin typeface="Arial MT"/>
                <a:cs typeface="Arial MT"/>
              </a:rPr>
              <a:t>Deterministic</a:t>
            </a:r>
            <a:r>
              <a:rPr lang="en-GB" sz="1100" spc="-35" dirty="0">
                <a:solidFill>
                  <a:srgbClr val="22373A"/>
                </a:solidFill>
                <a:latin typeface="Arial MT"/>
                <a:cs typeface="Arial MT"/>
              </a:rPr>
              <a:t>,</a:t>
            </a:r>
            <a:r>
              <a:rPr sz="1100" spc="-40" dirty="0">
                <a:solidFill>
                  <a:srgbClr val="22373A"/>
                </a:solidFill>
                <a:latin typeface="Arial MT"/>
                <a:cs typeface="Arial MT"/>
              </a:rPr>
              <a:t> </a:t>
            </a:r>
            <a:r>
              <a:rPr sz="1100" spc="-60" dirty="0">
                <a:solidFill>
                  <a:srgbClr val="22373A"/>
                </a:solidFill>
                <a:latin typeface="Arial MT"/>
                <a:cs typeface="Arial MT"/>
              </a:rPr>
              <a:t>given</a:t>
            </a:r>
            <a:r>
              <a:rPr sz="1100" spc="-15" dirty="0">
                <a:solidFill>
                  <a:srgbClr val="22373A"/>
                </a:solidFill>
                <a:latin typeface="Arial MT"/>
                <a:cs typeface="Arial MT"/>
              </a:rPr>
              <a:t> </a:t>
            </a:r>
            <a:r>
              <a:rPr sz="1100" dirty="0">
                <a:solidFill>
                  <a:srgbClr val="22373A"/>
                </a:solidFill>
                <a:latin typeface="Arial MT"/>
                <a:cs typeface="Arial MT"/>
              </a:rPr>
              <a:t>the</a:t>
            </a:r>
            <a:r>
              <a:rPr sz="1100" spc="-25" dirty="0">
                <a:solidFill>
                  <a:srgbClr val="22373A"/>
                </a:solidFill>
                <a:latin typeface="Arial MT"/>
                <a:cs typeface="Arial MT"/>
              </a:rPr>
              <a:t> </a:t>
            </a:r>
            <a:r>
              <a:rPr sz="1100" spc="-95" dirty="0">
                <a:solidFill>
                  <a:srgbClr val="22373A"/>
                </a:solidFill>
                <a:latin typeface="Arial MT"/>
                <a:cs typeface="Arial MT"/>
              </a:rPr>
              <a:t>saved</a:t>
            </a:r>
            <a:r>
              <a:rPr sz="1100" spc="20" dirty="0">
                <a:solidFill>
                  <a:srgbClr val="22373A"/>
                </a:solidFill>
                <a:latin typeface="Arial MT"/>
                <a:cs typeface="Arial MT"/>
              </a:rPr>
              <a:t> </a:t>
            </a:r>
            <a:r>
              <a:rPr sz="1100" spc="-10" dirty="0">
                <a:solidFill>
                  <a:srgbClr val="22373A"/>
                </a:solidFill>
                <a:latin typeface="Arial MT"/>
                <a:cs typeface="Arial MT"/>
              </a:rPr>
              <a:t>outputs:</a:t>
            </a:r>
            <a:r>
              <a:rPr sz="1100" spc="85" dirty="0">
                <a:solidFill>
                  <a:srgbClr val="22373A"/>
                </a:solidFill>
                <a:latin typeface="Arial MT"/>
                <a:cs typeface="Arial MT"/>
              </a:rPr>
              <a:t> </a:t>
            </a:r>
            <a:r>
              <a:rPr sz="1100" spc="-105" dirty="0">
                <a:solidFill>
                  <a:srgbClr val="22373A"/>
                </a:solidFill>
                <a:latin typeface="Arial MT"/>
                <a:cs typeface="Arial MT"/>
              </a:rPr>
              <a:t>same</a:t>
            </a:r>
            <a:r>
              <a:rPr sz="1100" spc="30" dirty="0">
                <a:solidFill>
                  <a:srgbClr val="22373A"/>
                </a:solidFill>
                <a:latin typeface="Arial MT"/>
                <a:cs typeface="Arial MT"/>
              </a:rPr>
              <a:t> </a:t>
            </a:r>
            <a:r>
              <a:rPr sz="1100" spc="-60" dirty="0">
                <a:solidFill>
                  <a:srgbClr val="22373A"/>
                </a:solidFill>
                <a:latin typeface="Arial MT"/>
                <a:cs typeface="Arial MT"/>
              </a:rPr>
              <a:t>numbers</a:t>
            </a:r>
            <a:r>
              <a:rPr sz="1100" spc="-5" dirty="0">
                <a:solidFill>
                  <a:srgbClr val="22373A"/>
                </a:solidFill>
                <a:latin typeface="Arial MT"/>
                <a:cs typeface="Arial MT"/>
              </a:rPr>
              <a:t> </a:t>
            </a:r>
            <a:r>
              <a:rPr sz="1100" spc="-10" dirty="0">
                <a:solidFill>
                  <a:srgbClr val="22373A"/>
                </a:solidFill>
                <a:latin typeface="Arial MT"/>
                <a:cs typeface="Arial MT"/>
              </a:rPr>
              <a:t>on</a:t>
            </a:r>
            <a:r>
              <a:rPr sz="1100" spc="-5" dirty="0">
                <a:solidFill>
                  <a:srgbClr val="22373A"/>
                </a:solidFill>
                <a:latin typeface="Arial MT"/>
                <a:cs typeface="Arial MT"/>
              </a:rPr>
              <a:t> </a:t>
            </a:r>
            <a:r>
              <a:rPr sz="1100" spc="-70" dirty="0">
                <a:solidFill>
                  <a:srgbClr val="22373A"/>
                </a:solidFill>
                <a:latin typeface="Arial MT"/>
                <a:cs typeface="Arial MT"/>
              </a:rPr>
              <a:t>every</a:t>
            </a:r>
            <a:r>
              <a:rPr sz="1100" spc="-5" dirty="0">
                <a:solidFill>
                  <a:srgbClr val="22373A"/>
                </a:solidFill>
                <a:latin typeface="Arial MT"/>
                <a:cs typeface="Arial MT"/>
              </a:rPr>
              <a:t> </a:t>
            </a:r>
            <a:r>
              <a:rPr sz="1100" spc="-25" dirty="0">
                <a:solidFill>
                  <a:srgbClr val="22373A"/>
                </a:solidFill>
                <a:latin typeface="Arial MT"/>
                <a:cs typeface="Arial MT"/>
              </a:rPr>
              <a:t>run</a:t>
            </a:r>
            <a:endParaRPr sz="1100" dirty="0">
              <a:latin typeface="Arial MT"/>
              <a:cs typeface="Arial MT"/>
            </a:endParaRPr>
          </a:p>
        </p:txBody>
      </p:sp>
      <p:pic>
        <p:nvPicPr>
          <p:cNvPr id="8" name="object 8"/>
          <p:cNvPicPr/>
          <p:nvPr/>
        </p:nvPicPr>
        <p:blipFill>
          <a:blip r:embed="rId3" cstate="print"/>
          <a:stretch>
            <a:fillRect/>
          </a:stretch>
        </p:blipFill>
        <p:spPr>
          <a:xfrm>
            <a:off x="101282" y="2998905"/>
            <a:ext cx="241983" cy="187117"/>
          </a:xfrm>
          <a:prstGeom prst="rect">
            <a:avLst/>
          </a:prstGeom>
        </p:spPr>
      </p:pic>
      <p:pic>
        <p:nvPicPr>
          <p:cNvPr id="9" name="object 9"/>
          <p:cNvPicPr/>
          <p:nvPr/>
        </p:nvPicPr>
        <p:blipFill>
          <a:blip r:embed="rId4" cstate="print"/>
          <a:stretch>
            <a:fillRect/>
          </a:stretch>
        </p:blipFill>
        <p:spPr>
          <a:xfrm>
            <a:off x="433285" y="2998965"/>
            <a:ext cx="187057" cy="187057"/>
          </a:xfrm>
          <a:prstGeom prst="rect">
            <a:avLst/>
          </a:prstGeom>
        </p:spPr>
      </p:pic>
      <p:pic>
        <p:nvPicPr>
          <p:cNvPr id="10" name="object 10"/>
          <p:cNvPicPr/>
          <p:nvPr/>
        </p:nvPicPr>
        <p:blipFill>
          <a:blip r:embed="rId5" cstate="print"/>
          <a:stretch>
            <a:fillRect/>
          </a:stretch>
        </p:blipFill>
        <p:spPr>
          <a:xfrm>
            <a:off x="710349" y="2998815"/>
            <a:ext cx="187208" cy="187208"/>
          </a:xfrm>
          <a:prstGeom prst="rect">
            <a:avLst/>
          </a:prstGeom>
        </p:spPr>
      </p:pic>
      <p:sp>
        <p:nvSpPr>
          <p:cNvPr id="11" name="object 11"/>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14</a:t>
            </a:r>
            <a:r>
              <a:rPr spc="-80" dirty="0"/>
              <a:t> </a:t>
            </a:r>
            <a:r>
              <a:rPr spc="195" dirty="0"/>
              <a:t>/</a:t>
            </a:r>
            <a:r>
              <a:rPr spc="-75" dirty="0"/>
              <a:t> </a:t>
            </a:r>
            <a:r>
              <a:rPr spc="-25" dirty="0"/>
              <a:t>32</a:t>
            </a:r>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2770" y="76349"/>
            <a:ext cx="1640839" cy="207645"/>
          </a:xfrm>
          <a:prstGeom prst="rect">
            <a:avLst/>
          </a:prstGeom>
        </p:spPr>
        <p:txBody>
          <a:bodyPr vert="horz" wrap="square" lIns="0" tIns="12065" rIns="0" bIns="0" rtlCol="0">
            <a:spAutoFit/>
          </a:bodyPr>
          <a:lstStyle/>
          <a:p>
            <a:pPr marL="12700">
              <a:lnSpc>
                <a:spcPct val="100000"/>
              </a:lnSpc>
              <a:spcBef>
                <a:spcPts val="95"/>
              </a:spcBef>
            </a:pPr>
            <a:r>
              <a:rPr dirty="0"/>
              <a:t>RQ1:</a:t>
            </a:r>
            <a:r>
              <a:rPr spc="220" dirty="0"/>
              <a:t> </a:t>
            </a:r>
            <a:r>
              <a:rPr spc="-25" dirty="0"/>
              <a:t>Clustering</a:t>
            </a:r>
            <a:r>
              <a:rPr spc="80" dirty="0"/>
              <a:t> </a:t>
            </a:r>
            <a:r>
              <a:rPr spc="-50" dirty="0"/>
              <a:t>works</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2700655" cy="5080"/>
            </a:xfrm>
            <a:custGeom>
              <a:avLst/>
              <a:gdLst/>
              <a:ahLst/>
              <a:cxnLst/>
              <a:rect l="l" t="t" r="r" b="b"/>
              <a:pathLst>
                <a:path w="2700655" h="5079">
                  <a:moveTo>
                    <a:pt x="0" y="5060"/>
                  </a:moveTo>
                  <a:lnTo>
                    <a:pt x="0" y="0"/>
                  </a:lnTo>
                  <a:lnTo>
                    <a:pt x="2700034" y="0"/>
                  </a:lnTo>
                  <a:lnTo>
                    <a:pt x="2700034" y="5060"/>
                  </a:lnTo>
                  <a:lnTo>
                    <a:pt x="0" y="5060"/>
                  </a:lnTo>
                  <a:close/>
                </a:path>
              </a:pathLst>
            </a:custGeom>
            <a:solidFill>
              <a:srgbClr val="2D7DB8"/>
            </a:solidFill>
          </p:spPr>
          <p:txBody>
            <a:bodyPr wrap="square" lIns="0" tIns="0" rIns="0" bIns="0" rtlCol="0"/>
            <a:lstStyle/>
            <a:p>
              <a:endParaRPr/>
            </a:p>
          </p:txBody>
        </p:sp>
      </p:grpSp>
      <p:sp>
        <p:nvSpPr>
          <p:cNvPr id="7" name="object 7"/>
          <p:cNvSpPr txBox="1"/>
          <p:nvPr/>
        </p:nvSpPr>
        <p:spPr>
          <a:xfrm>
            <a:off x="347294" y="752993"/>
            <a:ext cx="4023995" cy="938077"/>
          </a:xfrm>
          <a:prstGeom prst="rect">
            <a:avLst/>
          </a:prstGeom>
        </p:spPr>
        <p:txBody>
          <a:bodyPr vert="horz" wrap="square" lIns="0" tIns="80645" rIns="0" bIns="0" rtlCol="0">
            <a:spAutoFit/>
          </a:bodyPr>
          <a:lstStyle/>
          <a:p>
            <a:pPr marL="287020" indent="-135890">
              <a:lnSpc>
                <a:spcPct val="100000"/>
              </a:lnSpc>
              <a:spcBef>
                <a:spcPts val="635"/>
              </a:spcBef>
              <a:buChar char="•"/>
              <a:tabLst>
                <a:tab pos="287020" algn="l"/>
              </a:tabLst>
            </a:pPr>
            <a:r>
              <a:rPr sz="1100" spc="-60" dirty="0">
                <a:solidFill>
                  <a:srgbClr val="22373A"/>
                </a:solidFill>
                <a:latin typeface="Arial MT"/>
                <a:cs typeface="Arial MT"/>
              </a:rPr>
              <a:t>CIC-</a:t>
            </a:r>
            <a:r>
              <a:rPr sz="1100" spc="-25" dirty="0">
                <a:solidFill>
                  <a:srgbClr val="22373A"/>
                </a:solidFill>
                <a:latin typeface="Arial MT"/>
                <a:cs typeface="Arial MT"/>
              </a:rPr>
              <a:t>IDS:</a:t>
            </a:r>
            <a:r>
              <a:rPr sz="1100" spc="-5" dirty="0">
                <a:solidFill>
                  <a:srgbClr val="22373A"/>
                </a:solidFill>
                <a:latin typeface="Arial MT"/>
                <a:cs typeface="Arial MT"/>
              </a:rPr>
              <a:t> </a:t>
            </a:r>
            <a:r>
              <a:rPr sz="1100" spc="-55" dirty="0">
                <a:solidFill>
                  <a:srgbClr val="2D7DB8"/>
                </a:solidFill>
                <a:latin typeface="Arial MT"/>
                <a:cs typeface="Arial MT"/>
              </a:rPr>
              <a:t>0.837</a:t>
            </a:r>
            <a:r>
              <a:rPr sz="1100" spc="5" dirty="0">
                <a:solidFill>
                  <a:srgbClr val="2D7DB8"/>
                </a:solidFill>
                <a:latin typeface="Arial MT"/>
                <a:cs typeface="Arial MT"/>
              </a:rPr>
              <a:t> </a:t>
            </a:r>
            <a:r>
              <a:rPr sz="1100" spc="-35" dirty="0">
                <a:solidFill>
                  <a:srgbClr val="22373A"/>
                </a:solidFill>
                <a:latin typeface="Arial MT"/>
                <a:cs typeface="Arial MT"/>
              </a:rPr>
              <a:t>label</a:t>
            </a:r>
            <a:r>
              <a:rPr sz="1100" spc="5" dirty="0">
                <a:solidFill>
                  <a:srgbClr val="22373A"/>
                </a:solidFill>
                <a:latin typeface="Arial MT"/>
                <a:cs typeface="Arial MT"/>
              </a:rPr>
              <a:t> </a:t>
            </a:r>
            <a:r>
              <a:rPr sz="1100" spc="-10" dirty="0">
                <a:solidFill>
                  <a:srgbClr val="22373A"/>
                </a:solidFill>
                <a:latin typeface="Arial MT"/>
                <a:cs typeface="Arial MT"/>
              </a:rPr>
              <a:t>purity</a:t>
            </a:r>
            <a:r>
              <a:rPr sz="1100" spc="5" dirty="0">
                <a:solidFill>
                  <a:srgbClr val="22373A"/>
                </a:solidFill>
                <a:latin typeface="Arial MT"/>
                <a:cs typeface="Arial MT"/>
              </a:rPr>
              <a:t> </a:t>
            </a:r>
            <a:r>
              <a:rPr sz="1100" dirty="0">
                <a:solidFill>
                  <a:srgbClr val="22373A"/>
                </a:solidFill>
                <a:latin typeface="Arial MT"/>
                <a:cs typeface="Arial MT"/>
              </a:rPr>
              <a:t>at</a:t>
            </a:r>
            <a:r>
              <a:rPr sz="1100" spc="5" dirty="0">
                <a:solidFill>
                  <a:srgbClr val="22373A"/>
                </a:solidFill>
                <a:latin typeface="Arial MT"/>
                <a:cs typeface="Arial MT"/>
              </a:rPr>
              <a:t> </a:t>
            </a:r>
            <a:r>
              <a:rPr sz="1100" spc="-55" dirty="0">
                <a:solidFill>
                  <a:srgbClr val="22373A"/>
                </a:solidFill>
                <a:latin typeface="Arial MT"/>
                <a:cs typeface="Arial MT"/>
              </a:rPr>
              <a:t>0.938</a:t>
            </a:r>
            <a:r>
              <a:rPr sz="1100" spc="5" dirty="0">
                <a:solidFill>
                  <a:srgbClr val="22373A"/>
                </a:solidFill>
                <a:latin typeface="Arial MT"/>
                <a:cs typeface="Arial MT"/>
              </a:rPr>
              <a:t> </a:t>
            </a:r>
            <a:r>
              <a:rPr sz="1100" spc="-85" dirty="0">
                <a:solidFill>
                  <a:srgbClr val="22373A"/>
                </a:solidFill>
                <a:latin typeface="Arial MT"/>
                <a:cs typeface="Arial MT"/>
              </a:rPr>
              <a:t>mean</a:t>
            </a:r>
            <a:r>
              <a:rPr sz="1100" spc="10" dirty="0">
                <a:solidFill>
                  <a:srgbClr val="22373A"/>
                </a:solidFill>
                <a:latin typeface="Arial MT"/>
                <a:cs typeface="Arial MT"/>
              </a:rPr>
              <a:t> </a:t>
            </a:r>
            <a:r>
              <a:rPr sz="1100" spc="-25" dirty="0">
                <a:solidFill>
                  <a:srgbClr val="22373A"/>
                </a:solidFill>
                <a:latin typeface="Arial MT"/>
                <a:cs typeface="Arial MT"/>
              </a:rPr>
              <a:t>intra-</a:t>
            </a:r>
            <a:r>
              <a:rPr sz="1100" spc="-20" dirty="0">
                <a:solidFill>
                  <a:srgbClr val="22373A"/>
                </a:solidFill>
                <a:latin typeface="Arial MT"/>
                <a:cs typeface="Arial MT"/>
              </a:rPr>
              <a:t>cluster</a:t>
            </a:r>
            <a:r>
              <a:rPr sz="1100" dirty="0">
                <a:solidFill>
                  <a:srgbClr val="22373A"/>
                </a:solidFill>
                <a:latin typeface="Arial MT"/>
                <a:cs typeface="Arial MT"/>
              </a:rPr>
              <a:t> </a:t>
            </a:r>
            <a:r>
              <a:rPr sz="1100" spc="-10" dirty="0">
                <a:solidFill>
                  <a:srgbClr val="22373A"/>
                </a:solidFill>
                <a:latin typeface="Arial MT"/>
                <a:cs typeface="Arial MT"/>
              </a:rPr>
              <a:t>similarity</a:t>
            </a:r>
            <a:endParaRPr sz="1100" dirty="0">
              <a:latin typeface="Arial MT"/>
              <a:cs typeface="Arial MT"/>
            </a:endParaRPr>
          </a:p>
          <a:p>
            <a:pPr marL="287020" indent="-135890">
              <a:lnSpc>
                <a:spcPct val="100000"/>
              </a:lnSpc>
              <a:spcBef>
                <a:spcPts val="540"/>
              </a:spcBef>
              <a:buChar char="•"/>
              <a:tabLst>
                <a:tab pos="287020" algn="l"/>
              </a:tabLst>
            </a:pPr>
            <a:r>
              <a:rPr sz="1100" spc="-10" dirty="0">
                <a:solidFill>
                  <a:srgbClr val="22373A"/>
                </a:solidFill>
                <a:latin typeface="Arial MT"/>
                <a:cs typeface="Arial MT"/>
              </a:rPr>
              <a:t>Only</a:t>
            </a:r>
            <a:r>
              <a:rPr sz="1100" spc="-20" dirty="0">
                <a:solidFill>
                  <a:srgbClr val="22373A"/>
                </a:solidFill>
                <a:latin typeface="Arial MT"/>
                <a:cs typeface="Arial MT"/>
              </a:rPr>
              <a:t> </a:t>
            </a:r>
            <a:r>
              <a:rPr sz="1100" dirty="0">
                <a:solidFill>
                  <a:srgbClr val="22373A"/>
                </a:solidFill>
                <a:latin typeface="Arial MT"/>
                <a:cs typeface="Arial MT"/>
              </a:rPr>
              <a:t>5</a:t>
            </a:r>
            <a:r>
              <a:rPr sz="1100" spc="-15" dirty="0">
                <a:solidFill>
                  <a:srgbClr val="22373A"/>
                </a:solidFill>
                <a:latin typeface="Arial MT"/>
                <a:cs typeface="Arial MT"/>
              </a:rPr>
              <a:t> </a:t>
            </a:r>
            <a:r>
              <a:rPr sz="1100" dirty="0">
                <a:solidFill>
                  <a:srgbClr val="22373A"/>
                </a:solidFill>
                <a:latin typeface="Arial MT"/>
                <a:cs typeface="Arial MT"/>
              </a:rPr>
              <a:t>of</a:t>
            </a:r>
            <a:r>
              <a:rPr sz="1100" spc="-15" dirty="0">
                <a:solidFill>
                  <a:srgbClr val="22373A"/>
                </a:solidFill>
                <a:latin typeface="Arial MT"/>
                <a:cs typeface="Arial MT"/>
              </a:rPr>
              <a:t> </a:t>
            </a:r>
            <a:r>
              <a:rPr sz="1100" spc="-55" dirty="0">
                <a:solidFill>
                  <a:srgbClr val="22373A"/>
                </a:solidFill>
                <a:latin typeface="Arial MT"/>
                <a:cs typeface="Arial MT"/>
              </a:rPr>
              <a:t>14,182</a:t>
            </a:r>
            <a:r>
              <a:rPr sz="1100" spc="-15" dirty="0">
                <a:solidFill>
                  <a:srgbClr val="22373A"/>
                </a:solidFill>
                <a:latin typeface="Arial MT"/>
                <a:cs typeface="Arial MT"/>
              </a:rPr>
              <a:t> </a:t>
            </a:r>
            <a:r>
              <a:rPr sz="1100" spc="-35" dirty="0">
                <a:solidFill>
                  <a:srgbClr val="22373A"/>
                </a:solidFill>
                <a:latin typeface="Arial MT"/>
                <a:cs typeface="Arial MT"/>
              </a:rPr>
              <a:t>alerts</a:t>
            </a:r>
            <a:r>
              <a:rPr sz="1100" spc="-15" dirty="0">
                <a:solidFill>
                  <a:srgbClr val="22373A"/>
                </a:solidFill>
                <a:latin typeface="Arial MT"/>
                <a:cs typeface="Arial MT"/>
              </a:rPr>
              <a:t> </a:t>
            </a:r>
            <a:r>
              <a:rPr sz="1100" dirty="0">
                <a:solidFill>
                  <a:srgbClr val="22373A"/>
                </a:solidFill>
                <a:latin typeface="Arial MT"/>
                <a:cs typeface="Arial MT"/>
              </a:rPr>
              <a:t>left</a:t>
            </a:r>
            <a:r>
              <a:rPr sz="1100" spc="-15" dirty="0">
                <a:solidFill>
                  <a:srgbClr val="22373A"/>
                </a:solidFill>
                <a:latin typeface="Arial MT"/>
                <a:cs typeface="Arial MT"/>
              </a:rPr>
              <a:t> </a:t>
            </a:r>
            <a:r>
              <a:rPr sz="1100" spc="-10" dirty="0">
                <a:solidFill>
                  <a:srgbClr val="22373A"/>
                </a:solidFill>
                <a:latin typeface="Arial MT"/>
                <a:cs typeface="Arial MT"/>
              </a:rPr>
              <a:t>unclustered</a:t>
            </a:r>
            <a:endParaRPr sz="1100" dirty="0">
              <a:latin typeface="Arial MT"/>
              <a:cs typeface="Arial MT"/>
            </a:endParaRPr>
          </a:p>
          <a:p>
            <a:pPr marL="287020" indent="-135890">
              <a:lnSpc>
                <a:spcPct val="100000"/>
              </a:lnSpc>
              <a:spcBef>
                <a:spcPts val="535"/>
              </a:spcBef>
              <a:buChar char="•"/>
              <a:tabLst>
                <a:tab pos="287020" algn="l"/>
              </a:tabLst>
            </a:pPr>
            <a:r>
              <a:rPr sz="1100" spc="-45" dirty="0">
                <a:solidFill>
                  <a:srgbClr val="22373A"/>
                </a:solidFill>
                <a:latin typeface="Arial MT"/>
                <a:cs typeface="Arial MT"/>
              </a:rPr>
              <a:t>DARPA:</a:t>
            </a:r>
            <a:r>
              <a:rPr sz="1100" spc="-20" dirty="0">
                <a:solidFill>
                  <a:srgbClr val="22373A"/>
                </a:solidFill>
                <a:latin typeface="Arial MT"/>
                <a:cs typeface="Arial MT"/>
              </a:rPr>
              <a:t> </a:t>
            </a:r>
            <a:r>
              <a:rPr sz="1100" spc="-55" dirty="0">
                <a:solidFill>
                  <a:srgbClr val="22373A"/>
                </a:solidFill>
                <a:latin typeface="Arial MT"/>
                <a:cs typeface="Arial MT"/>
              </a:rPr>
              <a:t>0.987</a:t>
            </a:r>
            <a:r>
              <a:rPr sz="1100" spc="-20" dirty="0">
                <a:solidFill>
                  <a:srgbClr val="22373A"/>
                </a:solidFill>
                <a:latin typeface="Arial MT"/>
                <a:cs typeface="Arial MT"/>
              </a:rPr>
              <a:t> </a:t>
            </a:r>
            <a:r>
              <a:rPr sz="1100" spc="-10" dirty="0">
                <a:solidFill>
                  <a:srgbClr val="22373A"/>
                </a:solidFill>
                <a:latin typeface="Arial MT"/>
                <a:cs typeface="Arial MT"/>
              </a:rPr>
              <a:t>purity</a:t>
            </a:r>
            <a:r>
              <a:rPr sz="1100" spc="-20" dirty="0">
                <a:solidFill>
                  <a:srgbClr val="22373A"/>
                </a:solidFill>
                <a:latin typeface="Arial MT"/>
                <a:cs typeface="Arial MT"/>
              </a:rPr>
              <a:t> per </a:t>
            </a:r>
            <a:r>
              <a:rPr sz="1100" spc="-10" dirty="0">
                <a:solidFill>
                  <a:srgbClr val="22373A"/>
                </a:solidFill>
                <a:latin typeface="Arial MT"/>
                <a:cs typeface="Arial MT"/>
              </a:rPr>
              <a:t>window</a:t>
            </a:r>
            <a:endParaRPr sz="1100" dirty="0">
              <a:latin typeface="Arial MT"/>
              <a:cs typeface="Arial MT"/>
            </a:endParaRPr>
          </a:p>
          <a:p>
            <a:pPr>
              <a:lnSpc>
                <a:spcPct val="100000"/>
              </a:lnSpc>
              <a:spcBef>
                <a:spcPts val="360"/>
              </a:spcBef>
            </a:pPr>
            <a:endParaRPr sz="1100" dirty="0">
              <a:latin typeface="Arial MT"/>
              <a:cs typeface="Arial MT"/>
            </a:endParaRPr>
          </a:p>
        </p:txBody>
      </p:sp>
      <p:sp>
        <p:nvSpPr>
          <p:cNvPr id="8" name="object 8"/>
          <p:cNvSpPr/>
          <p:nvPr/>
        </p:nvSpPr>
        <p:spPr>
          <a:xfrm>
            <a:off x="359994" y="2137879"/>
            <a:ext cx="5039995" cy="0"/>
          </a:xfrm>
          <a:custGeom>
            <a:avLst/>
            <a:gdLst/>
            <a:ahLst/>
            <a:cxnLst/>
            <a:rect l="l" t="t" r="r" b="b"/>
            <a:pathLst>
              <a:path w="5039995">
                <a:moveTo>
                  <a:pt x="0" y="0"/>
                </a:moveTo>
                <a:lnTo>
                  <a:pt x="5039995" y="0"/>
                </a:lnTo>
              </a:path>
            </a:pathLst>
          </a:custGeom>
          <a:ln w="7594">
            <a:solidFill>
              <a:srgbClr val="2D7DB8"/>
            </a:solidFill>
          </a:ln>
        </p:spPr>
        <p:txBody>
          <a:bodyPr wrap="square" lIns="0" tIns="0" rIns="0" bIns="0" rtlCol="0"/>
          <a:lstStyle/>
          <a:p>
            <a:endParaRPr/>
          </a:p>
        </p:txBody>
      </p:sp>
      <p:sp>
        <p:nvSpPr>
          <p:cNvPr id="9" name="object 9"/>
          <p:cNvSpPr txBox="1"/>
          <p:nvPr/>
        </p:nvSpPr>
        <p:spPr>
          <a:xfrm>
            <a:off x="347294" y="2264860"/>
            <a:ext cx="5059045" cy="174728"/>
          </a:xfrm>
          <a:prstGeom prst="rect">
            <a:avLst/>
          </a:prstGeom>
        </p:spPr>
        <p:txBody>
          <a:bodyPr vert="horz" wrap="square" lIns="0" tIns="12700" rIns="0" bIns="0" rtlCol="0">
            <a:spAutoFit/>
          </a:bodyPr>
          <a:lstStyle/>
          <a:p>
            <a:pPr marL="12700" marR="5080">
              <a:lnSpc>
                <a:spcPct val="114599"/>
              </a:lnSpc>
              <a:spcBef>
                <a:spcPts val="100"/>
              </a:spcBef>
            </a:pPr>
            <a:r>
              <a:rPr sz="1000" spc="-45" dirty="0">
                <a:solidFill>
                  <a:srgbClr val="22373A"/>
                </a:solidFill>
                <a:latin typeface="Arial MT"/>
                <a:cs typeface="Arial MT"/>
              </a:rPr>
              <a:t>Separating</a:t>
            </a:r>
            <a:r>
              <a:rPr sz="1000" spc="-15" dirty="0">
                <a:solidFill>
                  <a:srgbClr val="22373A"/>
                </a:solidFill>
                <a:latin typeface="Arial MT"/>
                <a:cs typeface="Arial MT"/>
              </a:rPr>
              <a:t> </a:t>
            </a:r>
            <a:r>
              <a:rPr sz="1000" spc="-45" dirty="0">
                <a:solidFill>
                  <a:srgbClr val="22373A"/>
                </a:solidFill>
                <a:latin typeface="Arial MT"/>
                <a:cs typeface="Arial MT"/>
              </a:rPr>
              <a:t>one</a:t>
            </a:r>
            <a:r>
              <a:rPr sz="1000" spc="-20" dirty="0">
                <a:solidFill>
                  <a:srgbClr val="22373A"/>
                </a:solidFill>
                <a:latin typeface="Arial MT"/>
                <a:cs typeface="Arial MT"/>
              </a:rPr>
              <a:t> </a:t>
            </a:r>
            <a:r>
              <a:rPr sz="1000" spc="-35" dirty="0">
                <a:solidFill>
                  <a:srgbClr val="22373A"/>
                </a:solidFill>
                <a:latin typeface="Arial MT"/>
                <a:cs typeface="Arial MT"/>
              </a:rPr>
              <a:t>technique</a:t>
            </a:r>
            <a:r>
              <a:rPr sz="1000" spc="-15" dirty="0">
                <a:solidFill>
                  <a:srgbClr val="22373A"/>
                </a:solidFill>
                <a:latin typeface="Arial MT"/>
                <a:cs typeface="Arial MT"/>
              </a:rPr>
              <a:t> </a:t>
            </a:r>
            <a:r>
              <a:rPr sz="1000" dirty="0">
                <a:solidFill>
                  <a:srgbClr val="22373A"/>
                </a:solidFill>
                <a:latin typeface="Arial MT"/>
                <a:cs typeface="Arial MT"/>
              </a:rPr>
              <a:t>from</a:t>
            </a:r>
            <a:r>
              <a:rPr sz="1000" spc="-20" dirty="0">
                <a:solidFill>
                  <a:srgbClr val="22373A"/>
                </a:solidFill>
                <a:latin typeface="Arial MT"/>
                <a:cs typeface="Arial MT"/>
              </a:rPr>
              <a:t> </a:t>
            </a:r>
            <a:r>
              <a:rPr sz="1000" spc="-30" dirty="0">
                <a:solidFill>
                  <a:srgbClr val="22373A"/>
                </a:solidFill>
                <a:latin typeface="Arial MT"/>
                <a:cs typeface="Arial MT"/>
              </a:rPr>
              <a:t>another</a:t>
            </a:r>
            <a:r>
              <a:rPr sz="1000" spc="-15" dirty="0">
                <a:solidFill>
                  <a:srgbClr val="22373A"/>
                </a:solidFill>
                <a:latin typeface="Arial MT"/>
                <a:cs typeface="Arial MT"/>
              </a:rPr>
              <a:t> </a:t>
            </a:r>
            <a:r>
              <a:rPr sz="1000" dirty="0">
                <a:solidFill>
                  <a:srgbClr val="22373A"/>
                </a:solidFill>
                <a:latin typeface="Arial MT"/>
                <a:cs typeface="Arial MT"/>
              </a:rPr>
              <a:t>is</a:t>
            </a:r>
            <a:r>
              <a:rPr sz="1000" spc="-20" dirty="0">
                <a:solidFill>
                  <a:srgbClr val="22373A"/>
                </a:solidFill>
                <a:latin typeface="Arial MT"/>
                <a:cs typeface="Arial MT"/>
              </a:rPr>
              <a:t> </a:t>
            </a:r>
            <a:r>
              <a:rPr sz="1000" dirty="0">
                <a:solidFill>
                  <a:srgbClr val="22373A"/>
                </a:solidFill>
                <a:latin typeface="Arial MT"/>
                <a:cs typeface="Arial MT"/>
              </a:rPr>
              <a:t>the</a:t>
            </a:r>
            <a:r>
              <a:rPr sz="1000" spc="-20" dirty="0">
                <a:solidFill>
                  <a:srgbClr val="22373A"/>
                </a:solidFill>
                <a:latin typeface="Arial MT"/>
                <a:cs typeface="Arial MT"/>
              </a:rPr>
              <a:t> </a:t>
            </a:r>
            <a:r>
              <a:rPr lang="en-GB" sz="1000" spc="-25" dirty="0">
                <a:solidFill>
                  <a:srgbClr val="22373A"/>
                </a:solidFill>
                <a:latin typeface="Arial MT"/>
                <a:cs typeface="Arial MT"/>
              </a:rPr>
              <a:t>challenge</a:t>
            </a:r>
            <a:endParaRPr sz="1000" dirty="0">
              <a:latin typeface="Arial MT"/>
              <a:cs typeface="Arial MT"/>
            </a:endParaRPr>
          </a:p>
        </p:txBody>
      </p:sp>
      <p:pic>
        <p:nvPicPr>
          <p:cNvPr id="10" name="object 10"/>
          <p:cNvPicPr/>
          <p:nvPr/>
        </p:nvPicPr>
        <p:blipFill>
          <a:blip r:embed="rId3" cstate="print"/>
          <a:stretch>
            <a:fillRect/>
          </a:stretch>
        </p:blipFill>
        <p:spPr>
          <a:xfrm>
            <a:off x="101282" y="2998905"/>
            <a:ext cx="241983" cy="187117"/>
          </a:xfrm>
          <a:prstGeom prst="rect">
            <a:avLst/>
          </a:prstGeom>
        </p:spPr>
      </p:pic>
      <p:pic>
        <p:nvPicPr>
          <p:cNvPr id="11" name="object 11"/>
          <p:cNvPicPr/>
          <p:nvPr/>
        </p:nvPicPr>
        <p:blipFill>
          <a:blip r:embed="rId4" cstate="print"/>
          <a:stretch>
            <a:fillRect/>
          </a:stretch>
        </p:blipFill>
        <p:spPr>
          <a:xfrm>
            <a:off x="433285" y="2998965"/>
            <a:ext cx="187057" cy="187057"/>
          </a:xfrm>
          <a:prstGeom prst="rect">
            <a:avLst/>
          </a:prstGeom>
        </p:spPr>
      </p:pic>
      <p:pic>
        <p:nvPicPr>
          <p:cNvPr id="12" name="object 12"/>
          <p:cNvPicPr/>
          <p:nvPr/>
        </p:nvPicPr>
        <p:blipFill>
          <a:blip r:embed="rId5" cstate="print"/>
          <a:stretch>
            <a:fillRect/>
          </a:stretch>
        </p:blipFill>
        <p:spPr>
          <a:xfrm>
            <a:off x="710349" y="2998815"/>
            <a:ext cx="187208" cy="187208"/>
          </a:xfrm>
          <a:prstGeom prst="rect">
            <a:avLst/>
          </a:prstGeom>
        </p:spPr>
      </p:pic>
      <p:sp>
        <p:nvSpPr>
          <p:cNvPr id="13" name="object 13"/>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15</a:t>
            </a:r>
            <a:r>
              <a:rPr spc="-80" dirty="0"/>
              <a:t> </a:t>
            </a:r>
            <a:r>
              <a:rPr spc="195" dirty="0"/>
              <a:t>/</a:t>
            </a:r>
            <a:r>
              <a:rPr spc="-75" dirty="0"/>
              <a:t> </a:t>
            </a:r>
            <a:r>
              <a:rPr spc="-25" dirty="0"/>
              <a:t>32</a:t>
            </a: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40" dirty="0"/>
              <a:t>Choosing</a:t>
            </a:r>
            <a:r>
              <a:rPr spc="30" dirty="0"/>
              <a:t> </a:t>
            </a:r>
            <a:r>
              <a:rPr dirty="0"/>
              <a:t>the</a:t>
            </a:r>
            <a:r>
              <a:rPr spc="30" dirty="0"/>
              <a:t> </a:t>
            </a:r>
            <a:r>
              <a:rPr spc="-30" dirty="0"/>
              <a:t>clustering</a:t>
            </a:r>
            <a:r>
              <a:rPr spc="35" dirty="0"/>
              <a:t> </a:t>
            </a:r>
            <a:r>
              <a:rPr spc="-35" dirty="0"/>
              <a:t>threshold</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2880360" cy="5080"/>
            </a:xfrm>
            <a:custGeom>
              <a:avLst/>
              <a:gdLst/>
              <a:ahLst/>
              <a:cxnLst/>
              <a:rect l="l" t="t" r="r" b="b"/>
              <a:pathLst>
                <a:path w="2880360" h="5079">
                  <a:moveTo>
                    <a:pt x="0" y="5060"/>
                  </a:moveTo>
                  <a:lnTo>
                    <a:pt x="0" y="0"/>
                  </a:lnTo>
                  <a:lnTo>
                    <a:pt x="2880037" y="0"/>
                  </a:lnTo>
                  <a:lnTo>
                    <a:pt x="2880037" y="5060"/>
                  </a:lnTo>
                  <a:lnTo>
                    <a:pt x="0" y="5060"/>
                  </a:lnTo>
                  <a:close/>
                </a:path>
              </a:pathLst>
            </a:custGeom>
            <a:solidFill>
              <a:srgbClr val="2D7DB8"/>
            </a:solidFill>
          </p:spPr>
          <p:txBody>
            <a:bodyPr wrap="square" lIns="0" tIns="0" rIns="0" bIns="0" rtlCol="0"/>
            <a:lstStyle/>
            <a:p>
              <a:endParaRPr/>
            </a:p>
          </p:txBody>
        </p:sp>
      </p:grpSp>
      <p:pic>
        <p:nvPicPr>
          <p:cNvPr id="7" name="object 7"/>
          <p:cNvPicPr/>
          <p:nvPr/>
        </p:nvPicPr>
        <p:blipFill>
          <a:blip r:embed="rId3" cstate="print"/>
          <a:stretch>
            <a:fillRect/>
          </a:stretch>
        </p:blipFill>
        <p:spPr>
          <a:xfrm>
            <a:off x="359994" y="631687"/>
            <a:ext cx="5039950" cy="1413025"/>
          </a:xfrm>
          <a:prstGeom prst="rect">
            <a:avLst/>
          </a:prstGeom>
        </p:spPr>
      </p:pic>
      <p:sp>
        <p:nvSpPr>
          <p:cNvPr id="8" name="object 8"/>
          <p:cNvSpPr txBox="1"/>
          <p:nvPr/>
        </p:nvSpPr>
        <p:spPr>
          <a:xfrm>
            <a:off x="347294" y="2209196"/>
            <a:ext cx="5066030" cy="549275"/>
          </a:xfrm>
          <a:prstGeom prst="rect">
            <a:avLst/>
          </a:prstGeom>
        </p:spPr>
        <p:txBody>
          <a:bodyPr vert="horz" wrap="square" lIns="0" tIns="12700" rIns="0" bIns="0" rtlCol="0">
            <a:spAutoFit/>
          </a:bodyPr>
          <a:lstStyle/>
          <a:p>
            <a:pPr marL="12700" marR="5080">
              <a:lnSpc>
                <a:spcPct val="114599"/>
              </a:lnSpc>
              <a:spcBef>
                <a:spcPts val="100"/>
              </a:spcBef>
            </a:pPr>
            <a:r>
              <a:rPr sz="1000" dirty="0">
                <a:solidFill>
                  <a:srgbClr val="22373A"/>
                </a:solidFill>
                <a:latin typeface="Arial MT"/>
                <a:cs typeface="Arial MT"/>
              </a:rPr>
              <a:t>Purity</a:t>
            </a:r>
            <a:r>
              <a:rPr sz="1000" spc="-60" dirty="0">
                <a:solidFill>
                  <a:srgbClr val="22373A"/>
                </a:solidFill>
                <a:latin typeface="Arial MT"/>
                <a:cs typeface="Arial MT"/>
              </a:rPr>
              <a:t> </a:t>
            </a:r>
            <a:r>
              <a:rPr sz="1000" spc="-35" dirty="0">
                <a:solidFill>
                  <a:srgbClr val="22373A"/>
                </a:solidFill>
                <a:latin typeface="Arial MT"/>
                <a:cs typeface="Arial MT"/>
              </a:rPr>
              <a:t>and</a:t>
            </a:r>
            <a:r>
              <a:rPr sz="1000" spc="-15" dirty="0">
                <a:solidFill>
                  <a:srgbClr val="22373A"/>
                </a:solidFill>
                <a:latin typeface="Arial MT"/>
                <a:cs typeface="Arial MT"/>
              </a:rPr>
              <a:t> </a:t>
            </a:r>
            <a:r>
              <a:rPr sz="1000" spc="-30" dirty="0">
                <a:solidFill>
                  <a:srgbClr val="22373A"/>
                </a:solidFill>
                <a:latin typeface="Arial MT"/>
                <a:cs typeface="Arial MT"/>
              </a:rPr>
              <a:t>tightness</a:t>
            </a:r>
            <a:r>
              <a:rPr sz="1000" spc="-10" dirty="0">
                <a:solidFill>
                  <a:srgbClr val="22373A"/>
                </a:solidFill>
                <a:latin typeface="Arial MT"/>
                <a:cs typeface="Arial MT"/>
              </a:rPr>
              <a:t> </a:t>
            </a:r>
            <a:r>
              <a:rPr sz="1000" spc="-75" dirty="0">
                <a:solidFill>
                  <a:srgbClr val="22373A"/>
                </a:solidFill>
                <a:latin typeface="Arial MT"/>
                <a:cs typeface="Arial MT"/>
              </a:rPr>
              <a:t>keep</a:t>
            </a:r>
            <a:r>
              <a:rPr sz="1000" spc="10" dirty="0">
                <a:solidFill>
                  <a:srgbClr val="22373A"/>
                </a:solidFill>
                <a:latin typeface="Arial MT"/>
                <a:cs typeface="Arial MT"/>
              </a:rPr>
              <a:t> </a:t>
            </a:r>
            <a:r>
              <a:rPr sz="1000" spc="-25" dirty="0">
                <a:solidFill>
                  <a:srgbClr val="22373A"/>
                </a:solidFill>
                <a:latin typeface="Arial MT"/>
                <a:cs typeface="Arial MT"/>
              </a:rPr>
              <a:t>rising</a:t>
            </a:r>
            <a:r>
              <a:rPr sz="1000" spc="-10" dirty="0">
                <a:solidFill>
                  <a:srgbClr val="22373A"/>
                </a:solidFill>
                <a:latin typeface="Arial MT"/>
                <a:cs typeface="Arial MT"/>
              </a:rPr>
              <a:t> </a:t>
            </a:r>
            <a:r>
              <a:rPr sz="1000" dirty="0">
                <a:solidFill>
                  <a:srgbClr val="22373A"/>
                </a:solidFill>
                <a:latin typeface="Arial MT"/>
                <a:cs typeface="Arial MT"/>
              </a:rPr>
              <a:t>with</a:t>
            </a:r>
            <a:r>
              <a:rPr sz="1000" spc="-10" dirty="0">
                <a:solidFill>
                  <a:srgbClr val="22373A"/>
                </a:solidFill>
                <a:latin typeface="Arial MT"/>
                <a:cs typeface="Arial MT"/>
              </a:rPr>
              <a:t> </a:t>
            </a:r>
            <a:r>
              <a:rPr sz="1000" dirty="0">
                <a:solidFill>
                  <a:srgbClr val="22373A"/>
                </a:solidFill>
                <a:latin typeface="Arial MT"/>
                <a:cs typeface="Arial MT"/>
              </a:rPr>
              <a:t>the</a:t>
            </a:r>
            <a:r>
              <a:rPr sz="1000" spc="-10" dirty="0">
                <a:solidFill>
                  <a:srgbClr val="22373A"/>
                </a:solidFill>
                <a:latin typeface="Arial MT"/>
                <a:cs typeface="Arial MT"/>
              </a:rPr>
              <a:t> </a:t>
            </a:r>
            <a:r>
              <a:rPr sz="1000" spc="-30" dirty="0">
                <a:solidFill>
                  <a:srgbClr val="22373A"/>
                </a:solidFill>
                <a:latin typeface="Arial MT"/>
                <a:cs typeface="Arial MT"/>
              </a:rPr>
              <a:t>threshold,</a:t>
            </a:r>
            <a:r>
              <a:rPr sz="1000" spc="-5" dirty="0">
                <a:solidFill>
                  <a:srgbClr val="22373A"/>
                </a:solidFill>
                <a:latin typeface="Arial MT"/>
                <a:cs typeface="Arial MT"/>
              </a:rPr>
              <a:t> </a:t>
            </a:r>
            <a:r>
              <a:rPr sz="1000" spc="-90" dirty="0">
                <a:solidFill>
                  <a:srgbClr val="22373A"/>
                </a:solidFill>
                <a:latin typeface="Arial MT"/>
                <a:cs typeface="Arial MT"/>
              </a:rPr>
              <a:t>so</a:t>
            </a:r>
            <a:r>
              <a:rPr sz="1000" spc="20" dirty="0">
                <a:solidFill>
                  <a:srgbClr val="22373A"/>
                </a:solidFill>
                <a:latin typeface="Arial MT"/>
                <a:cs typeface="Arial MT"/>
              </a:rPr>
              <a:t> </a:t>
            </a:r>
            <a:r>
              <a:rPr sz="1000" dirty="0">
                <a:solidFill>
                  <a:srgbClr val="22373A"/>
                </a:solidFill>
                <a:latin typeface="Arial MT"/>
                <a:cs typeface="Arial MT"/>
              </a:rPr>
              <a:t>the</a:t>
            </a:r>
            <a:r>
              <a:rPr sz="1000" spc="-10" dirty="0">
                <a:solidFill>
                  <a:srgbClr val="22373A"/>
                </a:solidFill>
                <a:latin typeface="Arial MT"/>
                <a:cs typeface="Arial MT"/>
              </a:rPr>
              <a:t> </a:t>
            </a:r>
            <a:r>
              <a:rPr sz="1000" spc="-50" dirty="0">
                <a:solidFill>
                  <a:srgbClr val="22373A"/>
                </a:solidFill>
                <a:latin typeface="Arial MT"/>
                <a:cs typeface="Arial MT"/>
              </a:rPr>
              <a:t>peak</a:t>
            </a:r>
            <a:r>
              <a:rPr sz="1000" spc="-5" dirty="0">
                <a:solidFill>
                  <a:srgbClr val="22373A"/>
                </a:solidFill>
                <a:latin typeface="Arial MT"/>
                <a:cs typeface="Arial MT"/>
              </a:rPr>
              <a:t> </a:t>
            </a:r>
            <a:r>
              <a:rPr sz="1000" spc="-10" dirty="0">
                <a:solidFill>
                  <a:srgbClr val="22373A"/>
                </a:solidFill>
                <a:latin typeface="Arial MT"/>
                <a:cs typeface="Arial MT"/>
              </a:rPr>
              <a:t>is </a:t>
            </a:r>
            <a:r>
              <a:rPr sz="1000" dirty="0">
                <a:solidFill>
                  <a:srgbClr val="22373A"/>
                </a:solidFill>
                <a:latin typeface="Arial MT"/>
                <a:cs typeface="Arial MT"/>
              </a:rPr>
              <a:t>not</a:t>
            </a:r>
            <a:r>
              <a:rPr sz="1000" spc="-10" dirty="0">
                <a:solidFill>
                  <a:srgbClr val="22373A"/>
                </a:solidFill>
                <a:latin typeface="Arial MT"/>
                <a:cs typeface="Arial MT"/>
              </a:rPr>
              <a:t> </a:t>
            </a:r>
            <a:r>
              <a:rPr sz="1000" dirty="0">
                <a:solidFill>
                  <a:srgbClr val="22373A"/>
                </a:solidFill>
                <a:latin typeface="Arial MT"/>
                <a:cs typeface="Arial MT"/>
              </a:rPr>
              <a:t>the</a:t>
            </a:r>
            <a:r>
              <a:rPr sz="1000" spc="-5" dirty="0">
                <a:solidFill>
                  <a:srgbClr val="22373A"/>
                </a:solidFill>
                <a:latin typeface="Arial MT"/>
                <a:cs typeface="Arial MT"/>
              </a:rPr>
              <a:t> </a:t>
            </a:r>
            <a:r>
              <a:rPr sz="1000" spc="-25" dirty="0">
                <a:solidFill>
                  <a:srgbClr val="22373A"/>
                </a:solidFill>
                <a:latin typeface="Arial MT"/>
                <a:cs typeface="Arial MT"/>
              </a:rPr>
              <a:t>operating</a:t>
            </a:r>
            <a:r>
              <a:rPr sz="1000" spc="-15" dirty="0">
                <a:solidFill>
                  <a:srgbClr val="22373A"/>
                </a:solidFill>
                <a:latin typeface="Arial MT"/>
                <a:cs typeface="Arial MT"/>
              </a:rPr>
              <a:t> </a:t>
            </a:r>
            <a:r>
              <a:rPr sz="1000" dirty="0">
                <a:solidFill>
                  <a:srgbClr val="22373A"/>
                </a:solidFill>
                <a:latin typeface="Arial MT"/>
                <a:cs typeface="Arial MT"/>
              </a:rPr>
              <a:t>point.</a:t>
            </a:r>
            <a:r>
              <a:rPr sz="1000" spc="95" dirty="0">
                <a:solidFill>
                  <a:srgbClr val="22373A"/>
                </a:solidFill>
                <a:latin typeface="Arial MT"/>
                <a:cs typeface="Arial MT"/>
              </a:rPr>
              <a:t> </a:t>
            </a:r>
            <a:r>
              <a:rPr sz="1000" spc="-20" dirty="0">
                <a:solidFill>
                  <a:srgbClr val="2D7DB8"/>
                </a:solidFill>
                <a:latin typeface="Arial MT"/>
                <a:cs typeface="Arial MT"/>
              </a:rPr>
              <a:t>0.80 </a:t>
            </a:r>
            <a:r>
              <a:rPr sz="1000" dirty="0">
                <a:solidFill>
                  <a:srgbClr val="22373A"/>
                </a:solidFill>
                <a:latin typeface="Arial MT"/>
                <a:cs typeface="Arial MT"/>
              </a:rPr>
              <a:t>is</a:t>
            </a:r>
            <a:r>
              <a:rPr sz="1000" spc="-5" dirty="0">
                <a:solidFill>
                  <a:srgbClr val="22373A"/>
                </a:solidFill>
                <a:latin typeface="Arial MT"/>
                <a:cs typeface="Arial MT"/>
              </a:rPr>
              <a:t> </a:t>
            </a:r>
            <a:r>
              <a:rPr sz="1000" spc="-45" dirty="0">
                <a:solidFill>
                  <a:srgbClr val="22373A"/>
                </a:solidFill>
                <a:latin typeface="Arial MT"/>
                <a:cs typeface="Arial MT"/>
              </a:rPr>
              <a:t>where</a:t>
            </a:r>
            <a:r>
              <a:rPr sz="1000" spc="5" dirty="0">
                <a:solidFill>
                  <a:srgbClr val="22373A"/>
                </a:solidFill>
                <a:latin typeface="Arial MT"/>
                <a:cs typeface="Arial MT"/>
              </a:rPr>
              <a:t> </a:t>
            </a:r>
            <a:r>
              <a:rPr sz="1000" dirty="0">
                <a:solidFill>
                  <a:srgbClr val="22373A"/>
                </a:solidFill>
                <a:latin typeface="Arial MT"/>
                <a:cs typeface="Arial MT"/>
              </a:rPr>
              <a:t>they </a:t>
            </a:r>
            <a:r>
              <a:rPr sz="1000" spc="-30" dirty="0">
                <a:solidFill>
                  <a:srgbClr val="22373A"/>
                </a:solidFill>
                <a:latin typeface="Arial MT"/>
                <a:cs typeface="Arial MT"/>
              </a:rPr>
              <a:t>plateau</a:t>
            </a:r>
            <a:r>
              <a:rPr sz="1000" dirty="0">
                <a:solidFill>
                  <a:srgbClr val="22373A"/>
                </a:solidFill>
                <a:latin typeface="Arial MT"/>
                <a:cs typeface="Arial MT"/>
              </a:rPr>
              <a:t> </a:t>
            </a:r>
            <a:r>
              <a:rPr sz="1000" spc="-20" dirty="0">
                <a:solidFill>
                  <a:srgbClr val="22373A"/>
                </a:solidFill>
                <a:latin typeface="Arial MT"/>
                <a:cs typeface="Arial MT"/>
              </a:rPr>
              <a:t>while</a:t>
            </a:r>
            <a:r>
              <a:rPr sz="1000" dirty="0">
                <a:solidFill>
                  <a:srgbClr val="22373A"/>
                </a:solidFill>
                <a:latin typeface="Arial MT"/>
                <a:cs typeface="Arial MT"/>
              </a:rPr>
              <a:t> </a:t>
            </a:r>
            <a:r>
              <a:rPr sz="1000" spc="-35" dirty="0">
                <a:solidFill>
                  <a:srgbClr val="22373A"/>
                </a:solidFill>
                <a:latin typeface="Arial MT"/>
                <a:cs typeface="Arial MT"/>
              </a:rPr>
              <a:t>communities</a:t>
            </a:r>
            <a:r>
              <a:rPr sz="1000" dirty="0">
                <a:solidFill>
                  <a:srgbClr val="22373A"/>
                </a:solidFill>
                <a:latin typeface="Arial MT"/>
                <a:cs typeface="Arial MT"/>
              </a:rPr>
              <a:t> </a:t>
            </a:r>
            <a:r>
              <a:rPr sz="1000" spc="-40" dirty="0">
                <a:solidFill>
                  <a:srgbClr val="22373A"/>
                </a:solidFill>
                <a:latin typeface="Arial MT"/>
                <a:cs typeface="Arial MT"/>
              </a:rPr>
              <a:t>remain</a:t>
            </a:r>
            <a:r>
              <a:rPr sz="1000" dirty="0">
                <a:solidFill>
                  <a:srgbClr val="22373A"/>
                </a:solidFill>
                <a:latin typeface="Arial MT"/>
                <a:cs typeface="Arial MT"/>
              </a:rPr>
              <a:t> </a:t>
            </a:r>
            <a:r>
              <a:rPr sz="1000" spc="-35" dirty="0">
                <a:solidFill>
                  <a:srgbClr val="22373A"/>
                </a:solidFill>
                <a:latin typeface="Arial MT"/>
                <a:cs typeface="Arial MT"/>
              </a:rPr>
              <a:t>large</a:t>
            </a:r>
            <a:r>
              <a:rPr sz="1000" dirty="0">
                <a:solidFill>
                  <a:srgbClr val="22373A"/>
                </a:solidFill>
                <a:latin typeface="Arial MT"/>
                <a:cs typeface="Arial MT"/>
              </a:rPr>
              <a:t> </a:t>
            </a:r>
            <a:r>
              <a:rPr sz="1000" spc="-50" dirty="0">
                <a:solidFill>
                  <a:srgbClr val="22373A"/>
                </a:solidFill>
                <a:latin typeface="Arial MT"/>
                <a:cs typeface="Arial MT"/>
              </a:rPr>
              <a:t>enough</a:t>
            </a:r>
            <a:r>
              <a:rPr sz="1000" dirty="0">
                <a:solidFill>
                  <a:srgbClr val="22373A"/>
                </a:solidFill>
                <a:latin typeface="Arial MT"/>
                <a:cs typeface="Arial MT"/>
              </a:rPr>
              <a:t> to </a:t>
            </a:r>
            <a:r>
              <a:rPr sz="1000" spc="-55" dirty="0">
                <a:solidFill>
                  <a:srgbClr val="22373A"/>
                </a:solidFill>
                <a:latin typeface="Arial MT"/>
                <a:cs typeface="Arial MT"/>
              </a:rPr>
              <a:t>score;</a:t>
            </a:r>
            <a:r>
              <a:rPr sz="1000" spc="-5" dirty="0">
                <a:solidFill>
                  <a:srgbClr val="22373A"/>
                </a:solidFill>
                <a:latin typeface="Arial MT"/>
                <a:cs typeface="Arial MT"/>
              </a:rPr>
              <a:t> </a:t>
            </a:r>
            <a:r>
              <a:rPr sz="1000" spc="-45" dirty="0">
                <a:solidFill>
                  <a:srgbClr val="22373A"/>
                </a:solidFill>
                <a:latin typeface="Arial MT"/>
                <a:cs typeface="Arial MT"/>
              </a:rPr>
              <a:t>beyond</a:t>
            </a:r>
            <a:r>
              <a:rPr sz="1000" dirty="0">
                <a:solidFill>
                  <a:srgbClr val="22373A"/>
                </a:solidFill>
                <a:latin typeface="Arial MT"/>
                <a:cs typeface="Arial MT"/>
              </a:rPr>
              <a:t> it, the </a:t>
            </a:r>
            <a:r>
              <a:rPr sz="1000" spc="-20" dirty="0">
                <a:solidFill>
                  <a:srgbClr val="22373A"/>
                </a:solidFill>
                <a:latin typeface="Arial MT"/>
                <a:cs typeface="Arial MT"/>
              </a:rPr>
              <a:t>data </a:t>
            </a:r>
            <a:r>
              <a:rPr sz="1000" spc="-35" dirty="0">
                <a:solidFill>
                  <a:srgbClr val="22373A"/>
                </a:solidFill>
                <a:latin typeface="Arial MT"/>
                <a:cs typeface="Arial MT"/>
              </a:rPr>
              <a:t>fragments</a:t>
            </a:r>
            <a:r>
              <a:rPr sz="1000" spc="15" dirty="0">
                <a:solidFill>
                  <a:srgbClr val="22373A"/>
                </a:solidFill>
                <a:latin typeface="Arial MT"/>
                <a:cs typeface="Arial MT"/>
              </a:rPr>
              <a:t> </a:t>
            </a:r>
            <a:r>
              <a:rPr sz="1000" dirty="0">
                <a:solidFill>
                  <a:srgbClr val="22373A"/>
                </a:solidFill>
                <a:latin typeface="Arial MT"/>
                <a:cs typeface="Arial MT"/>
              </a:rPr>
              <a:t>into</a:t>
            </a:r>
            <a:r>
              <a:rPr sz="1000" spc="20" dirty="0">
                <a:solidFill>
                  <a:srgbClr val="22373A"/>
                </a:solidFill>
                <a:latin typeface="Arial MT"/>
                <a:cs typeface="Arial MT"/>
              </a:rPr>
              <a:t> </a:t>
            </a:r>
            <a:r>
              <a:rPr sz="1000" spc="-35" dirty="0">
                <a:solidFill>
                  <a:srgbClr val="22373A"/>
                </a:solidFill>
                <a:latin typeface="Arial MT"/>
                <a:cs typeface="Arial MT"/>
              </a:rPr>
              <a:t>clusters</a:t>
            </a:r>
            <a:r>
              <a:rPr sz="1000" spc="20" dirty="0">
                <a:solidFill>
                  <a:srgbClr val="22373A"/>
                </a:solidFill>
                <a:latin typeface="Arial MT"/>
                <a:cs typeface="Arial MT"/>
              </a:rPr>
              <a:t> </a:t>
            </a:r>
            <a:r>
              <a:rPr sz="1000" dirty="0">
                <a:solidFill>
                  <a:srgbClr val="22373A"/>
                </a:solidFill>
                <a:latin typeface="Arial MT"/>
                <a:cs typeface="Arial MT"/>
              </a:rPr>
              <a:t>too</a:t>
            </a:r>
            <a:r>
              <a:rPr sz="1000" spc="20" dirty="0">
                <a:solidFill>
                  <a:srgbClr val="22373A"/>
                </a:solidFill>
                <a:latin typeface="Arial MT"/>
                <a:cs typeface="Arial MT"/>
              </a:rPr>
              <a:t> </a:t>
            </a:r>
            <a:r>
              <a:rPr sz="1000" spc="-35" dirty="0">
                <a:solidFill>
                  <a:srgbClr val="22373A"/>
                </a:solidFill>
                <a:latin typeface="Arial MT"/>
                <a:cs typeface="Arial MT"/>
              </a:rPr>
              <a:t>small</a:t>
            </a:r>
            <a:r>
              <a:rPr sz="1000" spc="15" dirty="0">
                <a:solidFill>
                  <a:srgbClr val="22373A"/>
                </a:solidFill>
                <a:latin typeface="Arial MT"/>
                <a:cs typeface="Arial MT"/>
              </a:rPr>
              <a:t> </a:t>
            </a:r>
            <a:r>
              <a:rPr sz="1000" dirty="0">
                <a:solidFill>
                  <a:srgbClr val="22373A"/>
                </a:solidFill>
                <a:latin typeface="Arial MT"/>
                <a:cs typeface="Arial MT"/>
              </a:rPr>
              <a:t>to</a:t>
            </a:r>
            <a:r>
              <a:rPr sz="1000" spc="20" dirty="0">
                <a:solidFill>
                  <a:srgbClr val="22373A"/>
                </a:solidFill>
                <a:latin typeface="Arial MT"/>
                <a:cs typeface="Arial MT"/>
              </a:rPr>
              <a:t> </a:t>
            </a:r>
            <a:r>
              <a:rPr sz="1000" spc="-20" dirty="0">
                <a:solidFill>
                  <a:srgbClr val="22373A"/>
                </a:solidFill>
                <a:latin typeface="Arial MT"/>
                <a:cs typeface="Arial MT"/>
              </a:rPr>
              <a:t>use.</a:t>
            </a:r>
            <a:endParaRPr sz="1000">
              <a:latin typeface="Arial MT"/>
              <a:cs typeface="Arial MT"/>
            </a:endParaRPr>
          </a:p>
        </p:txBody>
      </p:sp>
      <p:pic>
        <p:nvPicPr>
          <p:cNvPr id="9" name="object 9"/>
          <p:cNvPicPr/>
          <p:nvPr/>
        </p:nvPicPr>
        <p:blipFill>
          <a:blip r:embed="rId4" cstate="print"/>
          <a:stretch>
            <a:fillRect/>
          </a:stretch>
        </p:blipFill>
        <p:spPr>
          <a:xfrm>
            <a:off x="101282" y="2998905"/>
            <a:ext cx="241983" cy="187117"/>
          </a:xfrm>
          <a:prstGeom prst="rect">
            <a:avLst/>
          </a:prstGeom>
        </p:spPr>
      </p:pic>
      <p:pic>
        <p:nvPicPr>
          <p:cNvPr id="10" name="object 10"/>
          <p:cNvPicPr/>
          <p:nvPr/>
        </p:nvPicPr>
        <p:blipFill>
          <a:blip r:embed="rId5" cstate="print"/>
          <a:stretch>
            <a:fillRect/>
          </a:stretch>
        </p:blipFill>
        <p:spPr>
          <a:xfrm>
            <a:off x="433285" y="2998965"/>
            <a:ext cx="187057" cy="187057"/>
          </a:xfrm>
          <a:prstGeom prst="rect">
            <a:avLst/>
          </a:prstGeom>
        </p:spPr>
      </p:pic>
      <p:pic>
        <p:nvPicPr>
          <p:cNvPr id="11" name="object 11"/>
          <p:cNvPicPr/>
          <p:nvPr/>
        </p:nvPicPr>
        <p:blipFill>
          <a:blip r:embed="rId6" cstate="print"/>
          <a:stretch>
            <a:fillRect/>
          </a:stretch>
        </p:blipFill>
        <p:spPr>
          <a:xfrm>
            <a:off x="710349" y="2998815"/>
            <a:ext cx="187208" cy="187208"/>
          </a:xfrm>
          <a:prstGeom prst="rect">
            <a:avLst/>
          </a:prstGeom>
        </p:spPr>
      </p:pic>
      <p:sp>
        <p:nvSpPr>
          <p:cNvPr id="12" name="object 12"/>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16</a:t>
            </a:r>
            <a:r>
              <a:rPr spc="-80" dirty="0"/>
              <a:t> </a:t>
            </a:r>
            <a:r>
              <a:rPr spc="195" dirty="0"/>
              <a:t>/</a:t>
            </a:r>
            <a:r>
              <a:rPr spc="-75" dirty="0"/>
              <a:t> </a:t>
            </a:r>
            <a:r>
              <a:rPr spc="-25" dirty="0"/>
              <a:t>32</a:t>
            </a: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2770" y="76349"/>
            <a:ext cx="3495675" cy="196849"/>
          </a:xfrm>
          <a:prstGeom prst="rect">
            <a:avLst/>
          </a:prstGeom>
        </p:spPr>
        <p:txBody>
          <a:bodyPr vert="horz" wrap="square" lIns="0" tIns="12065" rIns="0" bIns="0" rtlCol="0">
            <a:spAutoFit/>
          </a:bodyPr>
          <a:lstStyle/>
          <a:p>
            <a:pPr marL="12700">
              <a:lnSpc>
                <a:spcPct val="100000"/>
              </a:lnSpc>
              <a:spcBef>
                <a:spcPts val="95"/>
              </a:spcBef>
            </a:pPr>
            <a:r>
              <a:rPr dirty="0"/>
              <a:t>RQ2:</a:t>
            </a:r>
            <a:r>
              <a:rPr spc="195" dirty="0"/>
              <a:t> </a:t>
            </a:r>
            <a:r>
              <a:rPr lang="en-GB" spc="195" dirty="0"/>
              <a:t>The</a:t>
            </a:r>
            <a:r>
              <a:rPr spc="60" dirty="0"/>
              <a:t> </a:t>
            </a:r>
            <a:r>
              <a:rPr spc="-20" dirty="0"/>
              <a:t>graph</a:t>
            </a:r>
            <a:r>
              <a:rPr spc="60" dirty="0"/>
              <a:t> </a:t>
            </a:r>
            <a:r>
              <a:rPr spc="-25" dirty="0"/>
              <a:t>inherits</a:t>
            </a:r>
            <a:r>
              <a:rPr spc="60" dirty="0"/>
              <a:t> </a:t>
            </a:r>
            <a:r>
              <a:rPr dirty="0"/>
              <a:t>the</a:t>
            </a:r>
            <a:r>
              <a:rPr spc="60" dirty="0"/>
              <a:t> </a:t>
            </a:r>
            <a:r>
              <a:rPr spc="-25" dirty="0"/>
              <a:t>model’s</a:t>
            </a:r>
            <a:r>
              <a:rPr spc="60" dirty="0"/>
              <a:t> </a:t>
            </a:r>
            <a:r>
              <a:rPr spc="-45" dirty="0"/>
              <a:t>biases</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3060065" cy="5080"/>
            </a:xfrm>
            <a:custGeom>
              <a:avLst/>
              <a:gdLst/>
              <a:ahLst/>
              <a:cxnLst/>
              <a:rect l="l" t="t" r="r" b="b"/>
              <a:pathLst>
                <a:path w="3060065" h="5079">
                  <a:moveTo>
                    <a:pt x="0" y="5060"/>
                  </a:moveTo>
                  <a:lnTo>
                    <a:pt x="0" y="0"/>
                  </a:lnTo>
                  <a:lnTo>
                    <a:pt x="3060038" y="0"/>
                  </a:lnTo>
                  <a:lnTo>
                    <a:pt x="3060038" y="5060"/>
                  </a:lnTo>
                  <a:lnTo>
                    <a:pt x="0" y="5060"/>
                  </a:lnTo>
                  <a:close/>
                </a:path>
              </a:pathLst>
            </a:custGeom>
            <a:solidFill>
              <a:srgbClr val="2D7DB8"/>
            </a:solidFill>
          </p:spPr>
          <p:txBody>
            <a:bodyPr wrap="square" lIns="0" tIns="0" rIns="0" bIns="0" rtlCol="0"/>
            <a:lstStyle/>
            <a:p>
              <a:endParaRPr/>
            </a:p>
          </p:txBody>
        </p:sp>
      </p:grpSp>
      <p:graphicFrame>
        <p:nvGraphicFramePr>
          <p:cNvPr id="7" name="object 7"/>
          <p:cNvGraphicFramePr>
            <a:graphicFrameLocks noGrp="1"/>
          </p:cNvGraphicFramePr>
          <p:nvPr/>
        </p:nvGraphicFramePr>
        <p:xfrm>
          <a:off x="965022" y="684021"/>
          <a:ext cx="3829050" cy="843915"/>
        </p:xfrm>
        <a:graphic>
          <a:graphicData uri="http://schemas.openxmlformats.org/drawingml/2006/table">
            <a:tbl>
              <a:tblPr firstRow="1" bandRow="1">
                <a:tableStyleId>{2D5ABB26-0587-4C30-8999-92F81FD0307C}</a:tableStyleId>
              </a:tblPr>
              <a:tblGrid>
                <a:gridCol w="1155065">
                  <a:extLst>
                    <a:ext uri="{9D8B030D-6E8A-4147-A177-3AD203B41FA5}">
                      <a16:colId xmlns:a16="http://schemas.microsoft.com/office/drawing/2014/main" val="20000"/>
                    </a:ext>
                  </a:extLst>
                </a:gridCol>
                <a:gridCol w="501015">
                  <a:extLst>
                    <a:ext uri="{9D8B030D-6E8A-4147-A177-3AD203B41FA5}">
                      <a16:colId xmlns:a16="http://schemas.microsoft.com/office/drawing/2014/main" val="20001"/>
                    </a:ext>
                  </a:extLst>
                </a:gridCol>
                <a:gridCol w="911225">
                  <a:extLst>
                    <a:ext uri="{9D8B030D-6E8A-4147-A177-3AD203B41FA5}">
                      <a16:colId xmlns:a16="http://schemas.microsoft.com/office/drawing/2014/main" val="20002"/>
                    </a:ext>
                  </a:extLst>
                </a:gridCol>
                <a:gridCol w="1261745">
                  <a:extLst>
                    <a:ext uri="{9D8B030D-6E8A-4147-A177-3AD203B41FA5}">
                      <a16:colId xmlns:a16="http://schemas.microsoft.com/office/drawing/2014/main" val="20003"/>
                    </a:ext>
                  </a:extLst>
                </a:gridCol>
              </a:tblGrid>
              <a:tr h="247650">
                <a:tc>
                  <a:txBody>
                    <a:bodyPr/>
                    <a:lstStyle/>
                    <a:p>
                      <a:pPr marL="75565">
                        <a:lnSpc>
                          <a:spcPct val="100000"/>
                        </a:lnSpc>
                        <a:spcBef>
                          <a:spcPts val="320"/>
                        </a:spcBef>
                      </a:pPr>
                      <a:r>
                        <a:rPr sz="1000" spc="-10" dirty="0">
                          <a:solidFill>
                            <a:srgbClr val="22373A"/>
                          </a:solidFill>
                          <a:latin typeface="Arial MT"/>
                          <a:cs typeface="Arial MT"/>
                        </a:rPr>
                        <a:t>Model</a:t>
                      </a:r>
                      <a:endParaRPr sz="1000">
                        <a:latin typeface="Arial MT"/>
                        <a:cs typeface="Arial MT"/>
                      </a:endParaRPr>
                    </a:p>
                  </a:txBody>
                  <a:tcPr marL="0" marR="0" marT="40640" marB="0">
                    <a:lnT w="12700">
                      <a:solidFill>
                        <a:srgbClr val="22373A"/>
                      </a:solidFill>
                      <a:prstDash val="solid"/>
                    </a:lnT>
                    <a:lnB w="9525">
                      <a:solidFill>
                        <a:srgbClr val="22373A"/>
                      </a:solidFill>
                      <a:prstDash val="solid"/>
                    </a:lnB>
                  </a:tcPr>
                </a:tc>
                <a:tc>
                  <a:txBody>
                    <a:bodyPr/>
                    <a:lstStyle/>
                    <a:p>
                      <a:pPr algn="ctr">
                        <a:lnSpc>
                          <a:spcPct val="100000"/>
                        </a:lnSpc>
                        <a:spcBef>
                          <a:spcPts val="320"/>
                        </a:spcBef>
                      </a:pPr>
                      <a:r>
                        <a:rPr sz="1000" spc="-10" dirty="0">
                          <a:solidFill>
                            <a:srgbClr val="22373A"/>
                          </a:solidFill>
                          <a:latin typeface="Arial MT"/>
                          <a:cs typeface="Arial MT"/>
                        </a:rPr>
                        <a:t>Triples</a:t>
                      </a:r>
                      <a:endParaRPr sz="1000">
                        <a:latin typeface="Arial MT"/>
                        <a:cs typeface="Arial MT"/>
                      </a:endParaRPr>
                    </a:p>
                  </a:txBody>
                  <a:tcPr marL="0" marR="0" marT="40640" marB="0">
                    <a:lnT w="12700">
                      <a:solidFill>
                        <a:srgbClr val="22373A"/>
                      </a:solidFill>
                      <a:prstDash val="solid"/>
                    </a:lnT>
                    <a:lnB w="9525">
                      <a:solidFill>
                        <a:srgbClr val="22373A"/>
                      </a:solidFill>
                      <a:prstDash val="solid"/>
                    </a:lnB>
                  </a:tcPr>
                </a:tc>
                <a:tc>
                  <a:txBody>
                    <a:bodyPr/>
                    <a:lstStyle/>
                    <a:p>
                      <a:pPr algn="ctr">
                        <a:lnSpc>
                          <a:spcPct val="100000"/>
                        </a:lnSpc>
                        <a:spcBef>
                          <a:spcPts val="320"/>
                        </a:spcBef>
                      </a:pPr>
                      <a:r>
                        <a:rPr sz="1000" spc="-35" dirty="0">
                          <a:solidFill>
                            <a:srgbClr val="22373A"/>
                          </a:solidFill>
                          <a:latin typeface="Arial MT"/>
                          <a:cs typeface="Arial MT"/>
                        </a:rPr>
                        <a:t>Relations</a:t>
                      </a:r>
                      <a:r>
                        <a:rPr sz="1000" spc="-10" dirty="0">
                          <a:solidFill>
                            <a:srgbClr val="22373A"/>
                          </a:solidFill>
                          <a:latin typeface="Arial MT"/>
                          <a:cs typeface="Arial MT"/>
                        </a:rPr>
                        <a:t> </a:t>
                      </a:r>
                      <a:r>
                        <a:rPr sz="1000" spc="-20" dirty="0">
                          <a:solidFill>
                            <a:srgbClr val="22373A"/>
                          </a:solidFill>
                          <a:latin typeface="Arial MT"/>
                          <a:cs typeface="Arial MT"/>
                        </a:rPr>
                        <a:t>used</a:t>
                      </a:r>
                      <a:endParaRPr sz="1000">
                        <a:latin typeface="Arial MT"/>
                        <a:cs typeface="Arial MT"/>
                      </a:endParaRPr>
                    </a:p>
                  </a:txBody>
                  <a:tcPr marL="0" marR="0" marT="40640" marB="0">
                    <a:lnT w="12700">
                      <a:solidFill>
                        <a:srgbClr val="22373A"/>
                      </a:solidFill>
                      <a:prstDash val="solid"/>
                    </a:lnT>
                    <a:lnB w="9525">
                      <a:solidFill>
                        <a:srgbClr val="22373A"/>
                      </a:solidFill>
                      <a:prstDash val="solid"/>
                    </a:lnB>
                  </a:tcPr>
                </a:tc>
                <a:tc>
                  <a:txBody>
                    <a:bodyPr/>
                    <a:lstStyle/>
                    <a:p>
                      <a:pPr algn="ctr">
                        <a:lnSpc>
                          <a:spcPct val="100000"/>
                        </a:lnSpc>
                        <a:spcBef>
                          <a:spcPts val="320"/>
                        </a:spcBef>
                      </a:pPr>
                      <a:r>
                        <a:rPr sz="1000" spc="-10" dirty="0">
                          <a:solidFill>
                            <a:srgbClr val="22373A"/>
                          </a:solidFill>
                          <a:latin typeface="Arial MT"/>
                          <a:cs typeface="Arial MT"/>
                        </a:rPr>
                        <a:t>Dominant</a:t>
                      </a:r>
                      <a:r>
                        <a:rPr sz="1000" spc="-45" dirty="0">
                          <a:solidFill>
                            <a:srgbClr val="22373A"/>
                          </a:solidFill>
                          <a:latin typeface="Arial MT"/>
                          <a:cs typeface="Arial MT"/>
                        </a:rPr>
                        <a:t> </a:t>
                      </a:r>
                      <a:r>
                        <a:rPr sz="1000" spc="-10" dirty="0">
                          <a:solidFill>
                            <a:srgbClr val="22373A"/>
                          </a:solidFill>
                          <a:latin typeface="Arial MT"/>
                          <a:cs typeface="Arial MT"/>
                        </a:rPr>
                        <a:t>relation</a:t>
                      </a:r>
                      <a:endParaRPr sz="1000">
                        <a:latin typeface="Arial MT"/>
                        <a:cs typeface="Arial MT"/>
                      </a:endParaRPr>
                    </a:p>
                  </a:txBody>
                  <a:tcPr marL="0" marR="0" marT="40640" marB="0">
                    <a:lnT w="12700">
                      <a:solidFill>
                        <a:srgbClr val="22373A"/>
                      </a:solidFill>
                      <a:prstDash val="solid"/>
                    </a:lnT>
                    <a:lnB w="9525">
                      <a:solidFill>
                        <a:srgbClr val="22373A"/>
                      </a:solidFill>
                      <a:prstDash val="solid"/>
                    </a:lnB>
                  </a:tcPr>
                </a:tc>
                <a:extLst>
                  <a:ext uri="{0D108BD9-81ED-4DB2-BD59-A6C34878D82A}">
                    <a16:rowId xmlns:a16="http://schemas.microsoft.com/office/drawing/2014/main" val="10000"/>
                  </a:ext>
                </a:extLst>
              </a:tr>
              <a:tr h="215900">
                <a:tc>
                  <a:txBody>
                    <a:bodyPr/>
                    <a:lstStyle/>
                    <a:p>
                      <a:pPr marL="75565">
                        <a:lnSpc>
                          <a:spcPct val="100000"/>
                        </a:lnSpc>
                        <a:spcBef>
                          <a:spcPts val="305"/>
                        </a:spcBef>
                      </a:pPr>
                      <a:r>
                        <a:rPr sz="1000" spc="-35" dirty="0">
                          <a:solidFill>
                            <a:srgbClr val="22373A"/>
                          </a:solidFill>
                          <a:latin typeface="Arial MT"/>
                          <a:cs typeface="Arial MT"/>
                        </a:rPr>
                        <a:t>Mistral-Nemo-</a:t>
                      </a:r>
                      <a:r>
                        <a:rPr sz="1000" spc="-25" dirty="0">
                          <a:solidFill>
                            <a:srgbClr val="22373A"/>
                          </a:solidFill>
                          <a:latin typeface="Arial MT"/>
                          <a:cs typeface="Arial MT"/>
                        </a:rPr>
                        <a:t>12B</a:t>
                      </a:r>
                      <a:endParaRPr sz="1000">
                        <a:latin typeface="Arial MT"/>
                        <a:cs typeface="Arial MT"/>
                      </a:endParaRPr>
                    </a:p>
                  </a:txBody>
                  <a:tcPr marL="0" marR="0" marT="38735" marB="0">
                    <a:lnT w="9525">
                      <a:solidFill>
                        <a:srgbClr val="22373A"/>
                      </a:solidFill>
                      <a:prstDash val="solid"/>
                    </a:lnT>
                  </a:tcPr>
                </a:tc>
                <a:tc>
                  <a:txBody>
                    <a:bodyPr/>
                    <a:lstStyle/>
                    <a:p>
                      <a:pPr algn="ctr">
                        <a:lnSpc>
                          <a:spcPct val="100000"/>
                        </a:lnSpc>
                        <a:spcBef>
                          <a:spcPts val="305"/>
                        </a:spcBef>
                      </a:pPr>
                      <a:r>
                        <a:rPr sz="1000" spc="-25" dirty="0">
                          <a:solidFill>
                            <a:srgbClr val="22373A"/>
                          </a:solidFill>
                          <a:latin typeface="Arial MT"/>
                          <a:cs typeface="Arial MT"/>
                        </a:rPr>
                        <a:t>45</a:t>
                      </a:r>
                      <a:endParaRPr sz="1000">
                        <a:latin typeface="Arial MT"/>
                        <a:cs typeface="Arial MT"/>
                      </a:endParaRPr>
                    </a:p>
                  </a:txBody>
                  <a:tcPr marL="0" marR="0" marT="38735" marB="0">
                    <a:lnT w="9525">
                      <a:solidFill>
                        <a:srgbClr val="22373A"/>
                      </a:solidFill>
                      <a:prstDash val="solid"/>
                    </a:lnT>
                  </a:tcPr>
                </a:tc>
                <a:tc>
                  <a:txBody>
                    <a:bodyPr/>
                    <a:lstStyle/>
                    <a:p>
                      <a:pPr algn="ctr">
                        <a:lnSpc>
                          <a:spcPct val="100000"/>
                        </a:lnSpc>
                        <a:spcBef>
                          <a:spcPts val="305"/>
                        </a:spcBef>
                      </a:pPr>
                      <a:r>
                        <a:rPr sz="1000" dirty="0">
                          <a:solidFill>
                            <a:srgbClr val="22373A"/>
                          </a:solidFill>
                          <a:latin typeface="Arial MT"/>
                          <a:cs typeface="Arial MT"/>
                        </a:rPr>
                        <a:t>3</a:t>
                      </a:r>
                      <a:r>
                        <a:rPr sz="1000" spc="10" dirty="0">
                          <a:solidFill>
                            <a:srgbClr val="22373A"/>
                          </a:solidFill>
                          <a:latin typeface="Arial MT"/>
                          <a:cs typeface="Arial MT"/>
                        </a:rPr>
                        <a:t> </a:t>
                      </a:r>
                      <a:r>
                        <a:rPr sz="1000" dirty="0">
                          <a:solidFill>
                            <a:srgbClr val="22373A"/>
                          </a:solidFill>
                          <a:latin typeface="Arial MT"/>
                          <a:cs typeface="Arial MT"/>
                        </a:rPr>
                        <a:t>of</a:t>
                      </a:r>
                      <a:r>
                        <a:rPr sz="1000" spc="10" dirty="0">
                          <a:solidFill>
                            <a:srgbClr val="22373A"/>
                          </a:solidFill>
                          <a:latin typeface="Arial MT"/>
                          <a:cs typeface="Arial MT"/>
                        </a:rPr>
                        <a:t> </a:t>
                      </a:r>
                      <a:r>
                        <a:rPr sz="1000" spc="-50" dirty="0">
                          <a:solidFill>
                            <a:srgbClr val="22373A"/>
                          </a:solidFill>
                          <a:latin typeface="Arial MT"/>
                          <a:cs typeface="Arial MT"/>
                        </a:rPr>
                        <a:t>7</a:t>
                      </a:r>
                      <a:endParaRPr sz="1000">
                        <a:latin typeface="Arial MT"/>
                        <a:cs typeface="Arial MT"/>
                      </a:endParaRPr>
                    </a:p>
                  </a:txBody>
                  <a:tcPr marL="0" marR="0" marT="38735" marB="0">
                    <a:lnT w="9525">
                      <a:solidFill>
                        <a:srgbClr val="22373A"/>
                      </a:solidFill>
                      <a:prstDash val="solid"/>
                    </a:lnT>
                  </a:tcPr>
                </a:tc>
                <a:tc>
                  <a:txBody>
                    <a:bodyPr/>
                    <a:lstStyle/>
                    <a:p>
                      <a:pPr algn="ctr">
                        <a:lnSpc>
                          <a:spcPct val="100000"/>
                        </a:lnSpc>
                        <a:spcBef>
                          <a:spcPts val="305"/>
                        </a:spcBef>
                      </a:pPr>
                      <a:r>
                        <a:rPr sz="1000" dirty="0">
                          <a:solidFill>
                            <a:srgbClr val="22373A"/>
                          </a:solidFill>
                          <a:latin typeface="Arial MT"/>
                          <a:cs typeface="Arial MT"/>
                        </a:rPr>
                        <a:t>port</a:t>
                      </a:r>
                      <a:r>
                        <a:rPr sz="1000" spc="15" dirty="0">
                          <a:solidFill>
                            <a:srgbClr val="22373A"/>
                          </a:solidFill>
                          <a:latin typeface="Arial MT"/>
                          <a:cs typeface="Arial MT"/>
                        </a:rPr>
                        <a:t> </a:t>
                      </a:r>
                      <a:r>
                        <a:rPr sz="1000" spc="-65" dirty="0">
                          <a:solidFill>
                            <a:srgbClr val="22373A"/>
                          </a:solidFill>
                          <a:latin typeface="Arial MT"/>
                          <a:cs typeface="Arial MT"/>
                        </a:rPr>
                        <a:t>scan</a:t>
                      </a:r>
                      <a:r>
                        <a:rPr sz="1000" spc="20" dirty="0">
                          <a:solidFill>
                            <a:srgbClr val="22373A"/>
                          </a:solidFill>
                          <a:latin typeface="Arial MT"/>
                          <a:cs typeface="Arial MT"/>
                        </a:rPr>
                        <a:t> </a:t>
                      </a:r>
                      <a:r>
                        <a:rPr sz="1000" spc="-20" dirty="0">
                          <a:solidFill>
                            <a:srgbClr val="22373A"/>
                          </a:solidFill>
                          <a:latin typeface="Arial MT"/>
                          <a:cs typeface="Arial MT"/>
                        </a:rPr>
                        <a:t>(41)</a:t>
                      </a:r>
                      <a:endParaRPr sz="1000">
                        <a:latin typeface="Arial MT"/>
                        <a:cs typeface="Arial MT"/>
                      </a:endParaRPr>
                    </a:p>
                  </a:txBody>
                  <a:tcPr marL="0" marR="0" marT="38735" marB="0">
                    <a:lnT w="9525">
                      <a:solidFill>
                        <a:srgbClr val="22373A"/>
                      </a:solidFill>
                      <a:prstDash val="solid"/>
                    </a:lnT>
                  </a:tcPr>
                </a:tc>
                <a:extLst>
                  <a:ext uri="{0D108BD9-81ED-4DB2-BD59-A6C34878D82A}">
                    <a16:rowId xmlns:a16="http://schemas.microsoft.com/office/drawing/2014/main" val="10001"/>
                  </a:ext>
                </a:extLst>
              </a:tr>
              <a:tr h="173990">
                <a:tc>
                  <a:txBody>
                    <a:bodyPr/>
                    <a:lstStyle/>
                    <a:p>
                      <a:pPr marL="75565">
                        <a:lnSpc>
                          <a:spcPts val="1175"/>
                        </a:lnSpc>
                      </a:pPr>
                      <a:r>
                        <a:rPr sz="1000" spc="-60" dirty="0">
                          <a:solidFill>
                            <a:srgbClr val="22373A"/>
                          </a:solidFill>
                          <a:latin typeface="Arial MT"/>
                          <a:cs typeface="Arial MT"/>
                        </a:rPr>
                        <a:t>Qwen2.5-</a:t>
                      </a:r>
                      <a:r>
                        <a:rPr sz="1000" spc="-50" dirty="0">
                          <a:solidFill>
                            <a:srgbClr val="22373A"/>
                          </a:solidFill>
                          <a:latin typeface="Arial MT"/>
                          <a:cs typeface="Arial MT"/>
                        </a:rPr>
                        <a:t>Coder-</a:t>
                      </a:r>
                      <a:r>
                        <a:rPr sz="1000" spc="-25" dirty="0">
                          <a:solidFill>
                            <a:srgbClr val="22373A"/>
                          </a:solidFill>
                          <a:latin typeface="Arial MT"/>
                          <a:cs typeface="Arial MT"/>
                        </a:rPr>
                        <a:t>7B</a:t>
                      </a:r>
                      <a:endParaRPr sz="1000">
                        <a:latin typeface="Arial MT"/>
                        <a:cs typeface="Arial MT"/>
                      </a:endParaRPr>
                    </a:p>
                  </a:txBody>
                  <a:tcPr marL="0" marR="0" marT="0" marB="0"/>
                </a:tc>
                <a:tc>
                  <a:txBody>
                    <a:bodyPr/>
                    <a:lstStyle/>
                    <a:p>
                      <a:pPr algn="ctr">
                        <a:lnSpc>
                          <a:spcPts val="1175"/>
                        </a:lnSpc>
                      </a:pPr>
                      <a:r>
                        <a:rPr sz="1000" spc="-25" dirty="0">
                          <a:solidFill>
                            <a:srgbClr val="22373A"/>
                          </a:solidFill>
                          <a:latin typeface="Arial MT"/>
                          <a:cs typeface="Arial MT"/>
                        </a:rPr>
                        <a:t>46</a:t>
                      </a:r>
                      <a:endParaRPr sz="1000">
                        <a:latin typeface="Arial MT"/>
                        <a:cs typeface="Arial MT"/>
                      </a:endParaRPr>
                    </a:p>
                  </a:txBody>
                  <a:tcPr marL="0" marR="0" marT="0" marB="0"/>
                </a:tc>
                <a:tc>
                  <a:txBody>
                    <a:bodyPr/>
                    <a:lstStyle/>
                    <a:p>
                      <a:pPr algn="ctr">
                        <a:lnSpc>
                          <a:spcPts val="1175"/>
                        </a:lnSpc>
                      </a:pPr>
                      <a:r>
                        <a:rPr sz="1000" dirty="0">
                          <a:solidFill>
                            <a:srgbClr val="22373A"/>
                          </a:solidFill>
                          <a:latin typeface="Arial MT"/>
                          <a:cs typeface="Arial MT"/>
                        </a:rPr>
                        <a:t>6</a:t>
                      </a:r>
                      <a:r>
                        <a:rPr sz="1000" spc="10" dirty="0">
                          <a:solidFill>
                            <a:srgbClr val="22373A"/>
                          </a:solidFill>
                          <a:latin typeface="Arial MT"/>
                          <a:cs typeface="Arial MT"/>
                        </a:rPr>
                        <a:t> </a:t>
                      </a:r>
                      <a:r>
                        <a:rPr sz="1000" dirty="0">
                          <a:solidFill>
                            <a:srgbClr val="22373A"/>
                          </a:solidFill>
                          <a:latin typeface="Arial MT"/>
                          <a:cs typeface="Arial MT"/>
                        </a:rPr>
                        <a:t>of</a:t>
                      </a:r>
                      <a:r>
                        <a:rPr sz="1000" spc="15" dirty="0">
                          <a:solidFill>
                            <a:srgbClr val="22373A"/>
                          </a:solidFill>
                          <a:latin typeface="Arial MT"/>
                          <a:cs typeface="Arial MT"/>
                        </a:rPr>
                        <a:t> </a:t>
                      </a:r>
                      <a:r>
                        <a:rPr sz="1000" spc="-50" dirty="0">
                          <a:solidFill>
                            <a:srgbClr val="22373A"/>
                          </a:solidFill>
                          <a:latin typeface="Arial MT"/>
                          <a:cs typeface="Arial MT"/>
                        </a:rPr>
                        <a:t>7</a:t>
                      </a:r>
                      <a:endParaRPr sz="1000">
                        <a:latin typeface="Arial MT"/>
                        <a:cs typeface="Arial MT"/>
                      </a:endParaRPr>
                    </a:p>
                  </a:txBody>
                  <a:tcPr marL="0" marR="0" marT="0" marB="0"/>
                </a:tc>
                <a:tc>
                  <a:txBody>
                    <a:bodyPr/>
                    <a:lstStyle/>
                    <a:p>
                      <a:pPr algn="ctr">
                        <a:lnSpc>
                          <a:spcPts val="1175"/>
                        </a:lnSpc>
                      </a:pPr>
                      <a:r>
                        <a:rPr sz="1000" spc="-35" dirty="0">
                          <a:solidFill>
                            <a:srgbClr val="22373A"/>
                          </a:solidFill>
                          <a:latin typeface="Arial MT"/>
                          <a:cs typeface="Arial MT"/>
                        </a:rPr>
                        <a:t>denial</a:t>
                      </a:r>
                      <a:r>
                        <a:rPr sz="1000" dirty="0">
                          <a:solidFill>
                            <a:srgbClr val="22373A"/>
                          </a:solidFill>
                          <a:latin typeface="Arial MT"/>
                          <a:cs typeface="Arial MT"/>
                        </a:rPr>
                        <a:t> of</a:t>
                      </a:r>
                      <a:r>
                        <a:rPr sz="1000" spc="5" dirty="0">
                          <a:solidFill>
                            <a:srgbClr val="22373A"/>
                          </a:solidFill>
                          <a:latin typeface="Arial MT"/>
                          <a:cs typeface="Arial MT"/>
                        </a:rPr>
                        <a:t> </a:t>
                      </a:r>
                      <a:r>
                        <a:rPr sz="1000" spc="-55" dirty="0">
                          <a:solidFill>
                            <a:srgbClr val="22373A"/>
                          </a:solidFill>
                          <a:latin typeface="Arial MT"/>
                          <a:cs typeface="Arial MT"/>
                        </a:rPr>
                        <a:t>service</a:t>
                      </a:r>
                      <a:r>
                        <a:rPr sz="1000" spc="5" dirty="0">
                          <a:solidFill>
                            <a:srgbClr val="22373A"/>
                          </a:solidFill>
                          <a:latin typeface="Arial MT"/>
                          <a:cs typeface="Arial MT"/>
                        </a:rPr>
                        <a:t> </a:t>
                      </a:r>
                      <a:r>
                        <a:rPr sz="1000" spc="-20" dirty="0">
                          <a:solidFill>
                            <a:srgbClr val="22373A"/>
                          </a:solidFill>
                          <a:latin typeface="Arial MT"/>
                          <a:cs typeface="Arial MT"/>
                        </a:rPr>
                        <a:t>(34)</a:t>
                      </a:r>
                      <a:endParaRPr sz="1000">
                        <a:latin typeface="Arial MT"/>
                        <a:cs typeface="Arial MT"/>
                      </a:endParaRPr>
                    </a:p>
                  </a:txBody>
                  <a:tcPr marL="0" marR="0" marT="0" marB="0"/>
                </a:tc>
                <a:extLst>
                  <a:ext uri="{0D108BD9-81ED-4DB2-BD59-A6C34878D82A}">
                    <a16:rowId xmlns:a16="http://schemas.microsoft.com/office/drawing/2014/main" val="10002"/>
                  </a:ext>
                </a:extLst>
              </a:tr>
              <a:tr h="206375">
                <a:tc>
                  <a:txBody>
                    <a:bodyPr/>
                    <a:lstStyle/>
                    <a:p>
                      <a:pPr marL="75565">
                        <a:lnSpc>
                          <a:spcPts val="1175"/>
                        </a:lnSpc>
                      </a:pPr>
                      <a:r>
                        <a:rPr sz="1000" spc="-55" dirty="0">
                          <a:solidFill>
                            <a:srgbClr val="22373A"/>
                          </a:solidFill>
                          <a:latin typeface="Arial MT"/>
                          <a:cs typeface="Arial MT"/>
                        </a:rPr>
                        <a:t>Qwen2.5-</a:t>
                      </a:r>
                      <a:r>
                        <a:rPr sz="1000" spc="-25" dirty="0">
                          <a:solidFill>
                            <a:srgbClr val="22373A"/>
                          </a:solidFill>
                          <a:latin typeface="Arial MT"/>
                          <a:cs typeface="Arial MT"/>
                        </a:rPr>
                        <a:t>3B</a:t>
                      </a:r>
                      <a:endParaRPr sz="1000">
                        <a:latin typeface="Arial MT"/>
                        <a:cs typeface="Arial MT"/>
                      </a:endParaRPr>
                    </a:p>
                  </a:txBody>
                  <a:tcPr marL="0" marR="0" marT="0" marB="0">
                    <a:lnB w="12700">
                      <a:solidFill>
                        <a:srgbClr val="22373A"/>
                      </a:solidFill>
                      <a:prstDash val="solid"/>
                    </a:lnB>
                  </a:tcPr>
                </a:tc>
                <a:tc>
                  <a:txBody>
                    <a:bodyPr/>
                    <a:lstStyle/>
                    <a:p>
                      <a:pPr algn="ctr">
                        <a:lnSpc>
                          <a:spcPts val="1175"/>
                        </a:lnSpc>
                      </a:pPr>
                      <a:r>
                        <a:rPr sz="1000" spc="-25" dirty="0">
                          <a:solidFill>
                            <a:srgbClr val="22373A"/>
                          </a:solidFill>
                          <a:latin typeface="Arial MT"/>
                          <a:cs typeface="Arial MT"/>
                        </a:rPr>
                        <a:t>43</a:t>
                      </a:r>
                      <a:endParaRPr sz="1000">
                        <a:latin typeface="Arial MT"/>
                        <a:cs typeface="Arial MT"/>
                      </a:endParaRPr>
                    </a:p>
                  </a:txBody>
                  <a:tcPr marL="0" marR="0" marT="0" marB="0">
                    <a:lnB w="12700">
                      <a:solidFill>
                        <a:srgbClr val="22373A"/>
                      </a:solidFill>
                      <a:prstDash val="solid"/>
                    </a:lnB>
                  </a:tcPr>
                </a:tc>
                <a:tc>
                  <a:txBody>
                    <a:bodyPr/>
                    <a:lstStyle/>
                    <a:p>
                      <a:pPr algn="ctr">
                        <a:lnSpc>
                          <a:spcPts val="1175"/>
                        </a:lnSpc>
                      </a:pPr>
                      <a:r>
                        <a:rPr sz="1000" dirty="0">
                          <a:solidFill>
                            <a:srgbClr val="22373A"/>
                          </a:solidFill>
                          <a:latin typeface="Arial MT"/>
                          <a:cs typeface="Arial MT"/>
                        </a:rPr>
                        <a:t>3</a:t>
                      </a:r>
                      <a:r>
                        <a:rPr sz="1000" spc="10" dirty="0">
                          <a:solidFill>
                            <a:srgbClr val="22373A"/>
                          </a:solidFill>
                          <a:latin typeface="Arial MT"/>
                          <a:cs typeface="Arial MT"/>
                        </a:rPr>
                        <a:t> </a:t>
                      </a:r>
                      <a:r>
                        <a:rPr sz="1000" dirty="0">
                          <a:solidFill>
                            <a:srgbClr val="22373A"/>
                          </a:solidFill>
                          <a:latin typeface="Arial MT"/>
                          <a:cs typeface="Arial MT"/>
                        </a:rPr>
                        <a:t>of</a:t>
                      </a:r>
                      <a:r>
                        <a:rPr sz="1000" spc="10" dirty="0">
                          <a:solidFill>
                            <a:srgbClr val="22373A"/>
                          </a:solidFill>
                          <a:latin typeface="Arial MT"/>
                          <a:cs typeface="Arial MT"/>
                        </a:rPr>
                        <a:t> </a:t>
                      </a:r>
                      <a:r>
                        <a:rPr sz="1000" spc="-50" dirty="0">
                          <a:solidFill>
                            <a:srgbClr val="22373A"/>
                          </a:solidFill>
                          <a:latin typeface="Arial MT"/>
                          <a:cs typeface="Arial MT"/>
                        </a:rPr>
                        <a:t>7</a:t>
                      </a:r>
                      <a:endParaRPr sz="1000">
                        <a:latin typeface="Arial MT"/>
                        <a:cs typeface="Arial MT"/>
                      </a:endParaRPr>
                    </a:p>
                  </a:txBody>
                  <a:tcPr marL="0" marR="0" marT="0" marB="0">
                    <a:lnB w="12700">
                      <a:solidFill>
                        <a:srgbClr val="22373A"/>
                      </a:solidFill>
                      <a:prstDash val="solid"/>
                    </a:lnB>
                  </a:tcPr>
                </a:tc>
                <a:tc>
                  <a:txBody>
                    <a:bodyPr/>
                    <a:lstStyle/>
                    <a:p>
                      <a:pPr algn="ctr">
                        <a:lnSpc>
                          <a:spcPts val="1175"/>
                        </a:lnSpc>
                      </a:pPr>
                      <a:r>
                        <a:rPr sz="1000" dirty="0">
                          <a:solidFill>
                            <a:srgbClr val="22373A"/>
                          </a:solidFill>
                          <a:latin typeface="Arial MT"/>
                          <a:cs typeface="Arial MT"/>
                        </a:rPr>
                        <a:t>port</a:t>
                      </a:r>
                      <a:r>
                        <a:rPr sz="1000" spc="15" dirty="0">
                          <a:solidFill>
                            <a:srgbClr val="22373A"/>
                          </a:solidFill>
                          <a:latin typeface="Arial MT"/>
                          <a:cs typeface="Arial MT"/>
                        </a:rPr>
                        <a:t> </a:t>
                      </a:r>
                      <a:r>
                        <a:rPr sz="1000" spc="-65" dirty="0">
                          <a:solidFill>
                            <a:srgbClr val="22373A"/>
                          </a:solidFill>
                          <a:latin typeface="Arial MT"/>
                          <a:cs typeface="Arial MT"/>
                        </a:rPr>
                        <a:t>scan</a:t>
                      </a:r>
                      <a:r>
                        <a:rPr sz="1000" spc="20" dirty="0">
                          <a:solidFill>
                            <a:srgbClr val="22373A"/>
                          </a:solidFill>
                          <a:latin typeface="Arial MT"/>
                          <a:cs typeface="Arial MT"/>
                        </a:rPr>
                        <a:t> </a:t>
                      </a:r>
                      <a:r>
                        <a:rPr sz="1000" spc="-20" dirty="0">
                          <a:solidFill>
                            <a:srgbClr val="22373A"/>
                          </a:solidFill>
                          <a:latin typeface="Arial MT"/>
                          <a:cs typeface="Arial MT"/>
                        </a:rPr>
                        <a:t>(23)</a:t>
                      </a:r>
                      <a:endParaRPr sz="1000">
                        <a:latin typeface="Arial MT"/>
                        <a:cs typeface="Arial MT"/>
                      </a:endParaRPr>
                    </a:p>
                  </a:txBody>
                  <a:tcPr marL="0" marR="0" marT="0" marB="0">
                    <a:lnB w="12700">
                      <a:solidFill>
                        <a:srgbClr val="22373A"/>
                      </a:solidFill>
                      <a:prstDash val="solid"/>
                    </a:lnB>
                  </a:tcPr>
                </a:tc>
                <a:extLst>
                  <a:ext uri="{0D108BD9-81ED-4DB2-BD59-A6C34878D82A}">
                    <a16:rowId xmlns:a16="http://schemas.microsoft.com/office/drawing/2014/main" val="10003"/>
                  </a:ext>
                </a:extLst>
              </a:tr>
            </a:tbl>
          </a:graphicData>
        </a:graphic>
      </p:graphicFrame>
      <p:sp>
        <p:nvSpPr>
          <p:cNvPr id="8" name="object 8"/>
          <p:cNvSpPr txBox="1"/>
          <p:nvPr/>
        </p:nvSpPr>
        <p:spPr>
          <a:xfrm>
            <a:off x="347294" y="1649334"/>
            <a:ext cx="4603115" cy="421640"/>
          </a:xfrm>
          <a:prstGeom prst="rect">
            <a:avLst/>
          </a:prstGeom>
        </p:spPr>
        <p:txBody>
          <a:bodyPr vert="horz" wrap="square" lIns="0" tIns="12700" rIns="0" bIns="0" rtlCol="0">
            <a:spAutoFit/>
          </a:bodyPr>
          <a:lstStyle/>
          <a:p>
            <a:pPr marL="12700" marR="5080">
              <a:lnSpc>
                <a:spcPct val="118000"/>
              </a:lnSpc>
              <a:spcBef>
                <a:spcPts val="100"/>
              </a:spcBef>
            </a:pPr>
            <a:r>
              <a:rPr sz="1100" spc="-114" dirty="0">
                <a:solidFill>
                  <a:srgbClr val="22373A"/>
                </a:solidFill>
                <a:latin typeface="Arial MT"/>
                <a:cs typeface="Arial MT"/>
              </a:rPr>
              <a:t>Same</a:t>
            </a:r>
            <a:r>
              <a:rPr sz="1100" spc="40" dirty="0">
                <a:solidFill>
                  <a:srgbClr val="22373A"/>
                </a:solidFill>
                <a:latin typeface="Arial MT"/>
                <a:cs typeface="Arial MT"/>
              </a:rPr>
              <a:t> </a:t>
            </a:r>
            <a:r>
              <a:rPr sz="1100" spc="-40" dirty="0">
                <a:solidFill>
                  <a:srgbClr val="22373A"/>
                </a:solidFill>
                <a:latin typeface="Arial MT"/>
                <a:cs typeface="Arial MT"/>
              </a:rPr>
              <a:t>communities,</a:t>
            </a:r>
            <a:r>
              <a:rPr sz="1100" spc="-35" dirty="0">
                <a:solidFill>
                  <a:srgbClr val="22373A"/>
                </a:solidFill>
                <a:latin typeface="Arial MT"/>
                <a:cs typeface="Arial MT"/>
              </a:rPr>
              <a:t> </a:t>
            </a:r>
            <a:r>
              <a:rPr sz="1100" spc="-30" dirty="0">
                <a:solidFill>
                  <a:srgbClr val="22373A"/>
                </a:solidFill>
                <a:latin typeface="Arial MT"/>
                <a:cs typeface="Arial MT"/>
              </a:rPr>
              <a:t>three</a:t>
            </a:r>
            <a:r>
              <a:rPr sz="1100" spc="-40" dirty="0">
                <a:solidFill>
                  <a:srgbClr val="22373A"/>
                </a:solidFill>
                <a:latin typeface="Arial MT"/>
                <a:cs typeface="Arial MT"/>
              </a:rPr>
              <a:t> </a:t>
            </a:r>
            <a:r>
              <a:rPr sz="1100" spc="-25" dirty="0">
                <a:solidFill>
                  <a:srgbClr val="22373A"/>
                </a:solidFill>
                <a:latin typeface="Arial MT"/>
                <a:cs typeface="Arial MT"/>
              </a:rPr>
              <a:t>different</a:t>
            </a:r>
            <a:r>
              <a:rPr sz="1100" spc="-5" dirty="0">
                <a:solidFill>
                  <a:srgbClr val="22373A"/>
                </a:solidFill>
                <a:latin typeface="Arial MT"/>
                <a:cs typeface="Arial MT"/>
              </a:rPr>
              <a:t> </a:t>
            </a:r>
            <a:r>
              <a:rPr sz="1100" spc="-40" dirty="0">
                <a:solidFill>
                  <a:srgbClr val="22373A"/>
                </a:solidFill>
                <a:latin typeface="Arial MT"/>
                <a:cs typeface="Arial MT"/>
              </a:rPr>
              <a:t>graphs.</a:t>
            </a:r>
            <a:r>
              <a:rPr sz="1100" spc="80" dirty="0">
                <a:solidFill>
                  <a:srgbClr val="22373A"/>
                </a:solidFill>
                <a:latin typeface="Arial MT"/>
                <a:cs typeface="Arial MT"/>
              </a:rPr>
              <a:t> </a:t>
            </a:r>
            <a:r>
              <a:rPr sz="1100" spc="-10" dirty="0">
                <a:solidFill>
                  <a:srgbClr val="22373A"/>
                </a:solidFill>
                <a:latin typeface="Arial MT"/>
                <a:cs typeface="Arial MT"/>
              </a:rPr>
              <a:t>The</a:t>
            </a:r>
            <a:r>
              <a:rPr sz="1100" spc="-5" dirty="0">
                <a:solidFill>
                  <a:srgbClr val="22373A"/>
                </a:solidFill>
                <a:latin typeface="Arial MT"/>
                <a:cs typeface="Arial MT"/>
              </a:rPr>
              <a:t> </a:t>
            </a:r>
            <a:r>
              <a:rPr sz="1100" spc="-45" dirty="0">
                <a:solidFill>
                  <a:srgbClr val="22373A"/>
                </a:solidFill>
                <a:latin typeface="Arial MT"/>
                <a:cs typeface="Arial MT"/>
              </a:rPr>
              <a:t>coder</a:t>
            </a:r>
            <a:r>
              <a:rPr sz="1100" spc="-5" dirty="0">
                <a:solidFill>
                  <a:srgbClr val="22373A"/>
                </a:solidFill>
                <a:latin typeface="Arial MT"/>
                <a:cs typeface="Arial MT"/>
              </a:rPr>
              <a:t> </a:t>
            </a:r>
            <a:r>
              <a:rPr sz="1100" spc="-55" dirty="0">
                <a:solidFill>
                  <a:srgbClr val="22373A"/>
                </a:solidFill>
                <a:latin typeface="Arial MT"/>
                <a:cs typeface="Arial MT"/>
              </a:rPr>
              <a:t>model</a:t>
            </a:r>
            <a:r>
              <a:rPr sz="1100" spc="-10" dirty="0">
                <a:solidFill>
                  <a:srgbClr val="22373A"/>
                </a:solidFill>
                <a:latin typeface="Arial MT"/>
                <a:cs typeface="Arial MT"/>
              </a:rPr>
              <a:t> </a:t>
            </a:r>
            <a:r>
              <a:rPr sz="1100" spc="-80" dirty="0">
                <a:solidFill>
                  <a:srgbClr val="22373A"/>
                </a:solidFill>
                <a:latin typeface="Arial MT"/>
                <a:cs typeface="Arial MT"/>
              </a:rPr>
              <a:t>reads</a:t>
            </a:r>
            <a:r>
              <a:rPr sz="1100" spc="5" dirty="0">
                <a:solidFill>
                  <a:srgbClr val="22373A"/>
                </a:solidFill>
                <a:latin typeface="Arial MT"/>
                <a:cs typeface="Arial MT"/>
              </a:rPr>
              <a:t> </a:t>
            </a:r>
            <a:r>
              <a:rPr sz="1100" spc="-35" dirty="0">
                <a:solidFill>
                  <a:srgbClr val="22373A"/>
                </a:solidFill>
                <a:latin typeface="Arial MT"/>
                <a:cs typeface="Arial MT"/>
              </a:rPr>
              <a:t>almost</a:t>
            </a:r>
            <a:r>
              <a:rPr sz="1100" spc="-5" dirty="0">
                <a:solidFill>
                  <a:srgbClr val="22373A"/>
                </a:solidFill>
                <a:latin typeface="Arial MT"/>
                <a:cs typeface="Arial MT"/>
              </a:rPr>
              <a:t> </a:t>
            </a:r>
            <a:r>
              <a:rPr sz="1100" spc="-25" dirty="0">
                <a:solidFill>
                  <a:srgbClr val="22373A"/>
                </a:solidFill>
                <a:latin typeface="Arial MT"/>
                <a:cs typeface="Arial MT"/>
              </a:rPr>
              <a:t>every </a:t>
            </a:r>
            <a:r>
              <a:rPr sz="1100" spc="-40" dirty="0">
                <a:solidFill>
                  <a:srgbClr val="22373A"/>
                </a:solidFill>
                <a:latin typeface="Arial MT"/>
                <a:cs typeface="Arial MT"/>
              </a:rPr>
              <a:t>community</a:t>
            </a:r>
            <a:r>
              <a:rPr sz="1100" spc="-35" dirty="0">
                <a:solidFill>
                  <a:srgbClr val="22373A"/>
                </a:solidFill>
                <a:latin typeface="Arial MT"/>
                <a:cs typeface="Arial MT"/>
              </a:rPr>
              <a:t> </a:t>
            </a:r>
            <a:r>
              <a:rPr sz="1100" spc="-110" dirty="0">
                <a:solidFill>
                  <a:srgbClr val="22373A"/>
                </a:solidFill>
                <a:latin typeface="Arial MT"/>
                <a:cs typeface="Arial MT"/>
              </a:rPr>
              <a:t>as</a:t>
            </a:r>
            <a:r>
              <a:rPr sz="1100" spc="35" dirty="0">
                <a:solidFill>
                  <a:srgbClr val="22373A"/>
                </a:solidFill>
                <a:latin typeface="Arial MT"/>
                <a:cs typeface="Arial MT"/>
              </a:rPr>
              <a:t> </a:t>
            </a:r>
            <a:r>
              <a:rPr sz="1100" dirty="0">
                <a:solidFill>
                  <a:srgbClr val="22373A"/>
                </a:solidFill>
                <a:latin typeface="Arial MT"/>
                <a:cs typeface="Arial MT"/>
              </a:rPr>
              <a:t>a</a:t>
            </a:r>
            <a:r>
              <a:rPr sz="1100" spc="-5" dirty="0">
                <a:solidFill>
                  <a:srgbClr val="22373A"/>
                </a:solidFill>
                <a:latin typeface="Arial MT"/>
                <a:cs typeface="Arial MT"/>
              </a:rPr>
              <a:t> </a:t>
            </a:r>
            <a:r>
              <a:rPr sz="1100" spc="-10" dirty="0">
                <a:solidFill>
                  <a:srgbClr val="22373A"/>
                </a:solidFill>
                <a:latin typeface="Arial MT"/>
                <a:cs typeface="Arial MT"/>
              </a:rPr>
              <a:t>flood.</a:t>
            </a:r>
            <a:endParaRPr sz="1100">
              <a:latin typeface="Arial MT"/>
              <a:cs typeface="Arial MT"/>
            </a:endParaRPr>
          </a:p>
        </p:txBody>
      </p:sp>
      <p:sp>
        <p:nvSpPr>
          <p:cNvPr id="9" name="object 9"/>
          <p:cNvSpPr/>
          <p:nvPr/>
        </p:nvSpPr>
        <p:spPr>
          <a:xfrm>
            <a:off x="359994" y="2348509"/>
            <a:ext cx="5039995" cy="0"/>
          </a:xfrm>
          <a:custGeom>
            <a:avLst/>
            <a:gdLst/>
            <a:ahLst/>
            <a:cxnLst/>
            <a:rect l="l" t="t" r="r" b="b"/>
            <a:pathLst>
              <a:path w="5039995">
                <a:moveTo>
                  <a:pt x="0" y="0"/>
                </a:moveTo>
                <a:lnTo>
                  <a:pt x="5039995" y="0"/>
                </a:lnTo>
              </a:path>
            </a:pathLst>
          </a:custGeom>
          <a:ln w="7594">
            <a:solidFill>
              <a:srgbClr val="2D7DB8"/>
            </a:solidFill>
          </a:ln>
        </p:spPr>
        <p:txBody>
          <a:bodyPr wrap="square" lIns="0" tIns="0" rIns="0" bIns="0" rtlCol="0"/>
          <a:lstStyle/>
          <a:p>
            <a:endParaRPr/>
          </a:p>
        </p:txBody>
      </p:sp>
      <p:sp>
        <p:nvSpPr>
          <p:cNvPr id="10" name="object 10"/>
          <p:cNvSpPr txBox="1"/>
          <p:nvPr/>
        </p:nvSpPr>
        <p:spPr>
          <a:xfrm>
            <a:off x="347294" y="2475490"/>
            <a:ext cx="4922520" cy="374650"/>
          </a:xfrm>
          <a:prstGeom prst="rect">
            <a:avLst/>
          </a:prstGeom>
        </p:spPr>
        <p:txBody>
          <a:bodyPr vert="horz" wrap="square" lIns="0" tIns="12700" rIns="0" bIns="0" rtlCol="0">
            <a:spAutoFit/>
          </a:bodyPr>
          <a:lstStyle/>
          <a:p>
            <a:pPr marL="12700" marR="5080">
              <a:lnSpc>
                <a:spcPct val="114599"/>
              </a:lnSpc>
              <a:spcBef>
                <a:spcPts val="100"/>
              </a:spcBef>
            </a:pPr>
            <a:r>
              <a:rPr sz="1000" dirty="0">
                <a:solidFill>
                  <a:srgbClr val="22373A"/>
                </a:solidFill>
                <a:latin typeface="Arial MT"/>
                <a:cs typeface="Arial MT"/>
              </a:rPr>
              <a:t>The</a:t>
            </a:r>
            <a:r>
              <a:rPr sz="1000" spc="-20" dirty="0">
                <a:solidFill>
                  <a:srgbClr val="22373A"/>
                </a:solidFill>
                <a:latin typeface="Arial MT"/>
                <a:cs typeface="Arial MT"/>
              </a:rPr>
              <a:t> </a:t>
            </a:r>
            <a:r>
              <a:rPr sz="1000" spc="-30" dirty="0">
                <a:solidFill>
                  <a:srgbClr val="22373A"/>
                </a:solidFill>
                <a:latin typeface="Arial MT"/>
                <a:cs typeface="Arial MT"/>
              </a:rPr>
              <a:t>graph</a:t>
            </a:r>
            <a:r>
              <a:rPr sz="1000" spc="-15" dirty="0">
                <a:solidFill>
                  <a:srgbClr val="22373A"/>
                </a:solidFill>
                <a:latin typeface="Arial MT"/>
                <a:cs typeface="Arial MT"/>
              </a:rPr>
              <a:t> </a:t>
            </a:r>
            <a:r>
              <a:rPr sz="1000" dirty="0">
                <a:solidFill>
                  <a:srgbClr val="22373A"/>
                </a:solidFill>
                <a:latin typeface="Arial MT"/>
                <a:cs typeface="Arial MT"/>
              </a:rPr>
              <a:t>is</a:t>
            </a:r>
            <a:r>
              <a:rPr sz="1000" spc="-10" dirty="0">
                <a:solidFill>
                  <a:srgbClr val="22373A"/>
                </a:solidFill>
                <a:latin typeface="Arial MT"/>
                <a:cs typeface="Arial MT"/>
              </a:rPr>
              <a:t> </a:t>
            </a:r>
            <a:r>
              <a:rPr sz="1000" dirty="0">
                <a:solidFill>
                  <a:srgbClr val="22373A"/>
                </a:solidFill>
                <a:latin typeface="Arial MT"/>
                <a:cs typeface="Arial MT"/>
              </a:rPr>
              <a:t>a</a:t>
            </a:r>
            <a:r>
              <a:rPr sz="1000" spc="-15" dirty="0">
                <a:solidFill>
                  <a:srgbClr val="22373A"/>
                </a:solidFill>
                <a:latin typeface="Arial MT"/>
                <a:cs typeface="Arial MT"/>
              </a:rPr>
              <a:t> </a:t>
            </a:r>
            <a:r>
              <a:rPr sz="1000" dirty="0">
                <a:solidFill>
                  <a:srgbClr val="22373A"/>
                </a:solidFill>
                <a:latin typeface="Arial MT"/>
                <a:cs typeface="Arial MT"/>
              </a:rPr>
              <a:t>faithful</a:t>
            </a:r>
            <a:r>
              <a:rPr sz="1000" spc="-10" dirty="0">
                <a:solidFill>
                  <a:srgbClr val="22373A"/>
                </a:solidFill>
                <a:latin typeface="Arial MT"/>
                <a:cs typeface="Arial MT"/>
              </a:rPr>
              <a:t> </a:t>
            </a:r>
            <a:r>
              <a:rPr sz="1000" spc="-40" dirty="0">
                <a:solidFill>
                  <a:srgbClr val="22373A"/>
                </a:solidFill>
                <a:latin typeface="Arial MT"/>
                <a:cs typeface="Arial MT"/>
              </a:rPr>
              <a:t>record</a:t>
            </a:r>
            <a:r>
              <a:rPr sz="1000" spc="-15" dirty="0">
                <a:solidFill>
                  <a:srgbClr val="22373A"/>
                </a:solidFill>
                <a:latin typeface="Arial MT"/>
                <a:cs typeface="Arial MT"/>
              </a:rPr>
              <a:t> </a:t>
            </a:r>
            <a:r>
              <a:rPr sz="1000" dirty="0">
                <a:solidFill>
                  <a:srgbClr val="22373A"/>
                </a:solidFill>
                <a:latin typeface="Arial MT"/>
                <a:cs typeface="Arial MT"/>
              </a:rPr>
              <a:t>of</a:t>
            </a:r>
            <a:r>
              <a:rPr sz="1000" spc="-10" dirty="0">
                <a:solidFill>
                  <a:srgbClr val="22373A"/>
                </a:solidFill>
                <a:latin typeface="Arial MT"/>
                <a:cs typeface="Arial MT"/>
              </a:rPr>
              <a:t> </a:t>
            </a:r>
            <a:r>
              <a:rPr sz="1000" dirty="0">
                <a:solidFill>
                  <a:srgbClr val="22373A"/>
                </a:solidFill>
                <a:latin typeface="Arial MT"/>
                <a:cs typeface="Arial MT"/>
              </a:rPr>
              <a:t>what</a:t>
            </a:r>
            <a:r>
              <a:rPr sz="1000" spc="-10" dirty="0">
                <a:solidFill>
                  <a:srgbClr val="22373A"/>
                </a:solidFill>
                <a:latin typeface="Arial MT"/>
                <a:cs typeface="Arial MT"/>
              </a:rPr>
              <a:t> </a:t>
            </a:r>
            <a:r>
              <a:rPr sz="1000" dirty="0">
                <a:solidFill>
                  <a:srgbClr val="22373A"/>
                </a:solidFill>
                <a:latin typeface="Arial MT"/>
                <a:cs typeface="Arial MT"/>
              </a:rPr>
              <a:t>the</a:t>
            </a:r>
            <a:r>
              <a:rPr sz="1000" spc="-15" dirty="0">
                <a:solidFill>
                  <a:srgbClr val="22373A"/>
                </a:solidFill>
                <a:latin typeface="Arial MT"/>
                <a:cs typeface="Arial MT"/>
              </a:rPr>
              <a:t> </a:t>
            </a:r>
            <a:r>
              <a:rPr sz="1000" dirty="0">
                <a:solidFill>
                  <a:srgbClr val="22373A"/>
                </a:solidFill>
                <a:latin typeface="Arial MT"/>
                <a:cs typeface="Arial MT"/>
              </a:rPr>
              <a:t>LLM</a:t>
            </a:r>
            <a:r>
              <a:rPr sz="1000" spc="-10" dirty="0">
                <a:solidFill>
                  <a:srgbClr val="22373A"/>
                </a:solidFill>
                <a:latin typeface="Arial MT"/>
                <a:cs typeface="Arial MT"/>
              </a:rPr>
              <a:t> </a:t>
            </a:r>
            <a:r>
              <a:rPr sz="1000" spc="-40" dirty="0">
                <a:solidFill>
                  <a:srgbClr val="22373A"/>
                </a:solidFill>
                <a:latin typeface="Arial MT"/>
                <a:cs typeface="Arial MT"/>
              </a:rPr>
              <a:t>believed,</a:t>
            </a:r>
            <a:r>
              <a:rPr sz="1000" spc="-15" dirty="0">
                <a:solidFill>
                  <a:srgbClr val="22373A"/>
                </a:solidFill>
                <a:latin typeface="Arial MT"/>
                <a:cs typeface="Arial MT"/>
              </a:rPr>
              <a:t> </a:t>
            </a:r>
            <a:r>
              <a:rPr sz="1000" spc="-25" dirty="0">
                <a:solidFill>
                  <a:srgbClr val="22373A"/>
                </a:solidFill>
                <a:latin typeface="Arial MT"/>
                <a:cs typeface="Arial MT"/>
              </a:rPr>
              <a:t>which</a:t>
            </a:r>
            <a:r>
              <a:rPr sz="1000" spc="-10" dirty="0">
                <a:solidFill>
                  <a:srgbClr val="22373A"/>
                </a:solidFill>
                <a:latin typeface="Arial MT"/>
                <a:cs typeface="Arial MT"/>
              </a:rPr>
              <a:t> </a:t>
            </a:r>
            <a:r>
              <a:rPr sz="1000" dirty="0">
                <a:solidFill>
                  <a:srgbClr val="22373A"/>
                </a:solidFill>
                <a:latin typeface="Arial MT"/>
                <a:cs typeface="Arial MT"/>
              </a:rPr>
              <a:t>is</a:t>
            </a:r>
            <a:r>
              <a:rPr sz="1000" spc="-15" dirty="0">
                <a:solidFill>
                  <a:srgbClr val="22373A"/>
                </a:solidFill>
                <a:latin typeface="Arial MT"/>
                <a:cs typeface="Arial MT"/>
              </a:rPr>
              <a:t> </a:t>
            </a:r>
            <a:r>
              <a:rPr sz="1000" dirty="0">
                <a:solidFill>
                  <a:srgbClr val="22373A"/>
                </a:solidFill>
                <a:latin typeface="Arial MT"/>
                <a:cs typeface="Arial MT"/>
              </a:rPr>
              <a:t>not</a:t>
            </a:r>
            <a:r>
              <a:rPr sz="1000" spc="-10" dirty="0">
                <a:solidFill>
                  <a:srgbClr val="22373A"/>
                </a:solidFill>
                <a:latin typeface="Arial MT"/>
                <a:cs typeface="Arial MT"/>
              </a:rPr>
              <a:t> </a:t>
            </a:r>
            <a:r>
              <a:rPr sz="1000" spc="-65" dirty="0">
                <a:solidFill>
                  <a:srgbClr val="22373A"/>
                </a:solidFill>
                <a:latin typeface="Arial MT"/>
                <a:cs typeface="Arial MT"/>
              </a:rPr>
              <a:t>always</a:t>
            </a:r>
            <a:r>
              <a:rPr sz="1000" spc="-5" dirty="0">
                <a:solidFill>
                  <a:srgbClr val="22373A"/>
                </a:solidFill>
                <a:latin typeface="Arial MT"/>
                <a:cs typeface="Arial MT"/>
              </a:rPr>
              <a:t> </a:t>
            </a:r>
            <a:r>
              <a:rPr sz="1000" dirty="0">
                <a:solidFill>
                  <a:srgbClr val="22373A"/>
                </a:solidFill>
                <a:latin typeface="Arial MT"/>
                <a:cs typeface="Arial MT"/>
              </a:rPr>
              <a:t>what</a:t>
            </a:r>
            <a:r>
              <a:rPr sz="1000" spc="-15" dirty="0">
                <a:solidFill>
                  <a:srgbClr val="22373A"/>
                </a:solidFill>
                <a:latin typeface="Arial MT"/>
                <a:cs typeface="Arial MT"/>
              </a:rPr>
              <a:t> </a:t>
            </a:r>
            <a:r>
              <a:rPr sz="1000" dirty="0">
                <a:solidFill>
                  <a:srgbClr val="22373A"/>
                </a:solidFill>
                <a:latin typeface="Arial MT"/>
                <a:cs typeface="Arial MT"/>
              </a:rPr>
              <a:t>the</a:t>
            </a:r>
            <a:r>
              <a:rPr sz="1000" spc="-10" dirty="0">
                <a:solidFill>
                  <a:srgbClr val="22373A"/>
                </a:solidFill>
                <a:latin typeface="Arial MT"/>
                <a:cs typeface="Arial MT"/>
              </a:rPr>
              <a:t> alerts showed.</a:t>
            </a:r>
            <a:endParaRPr sz="1000">
              <a:latin typeface="Arial MT"/>
              <a:cs typeface="Arial MT"/>
            </a:endParaRPr>
          </a:p>
        </p:txBody>
      </p:sp>
      <p:pic>
        <p:nvPicPr>
          <p:cNvPr id="11" name="object 11"/>
          <p:cNvPicPr/>
          <p:nvPr/>
        </p:nvPicPr>
        <p:blipFill>
          <a:blip r:embed="rId3" cstate="print"/>
          <a:stretch>
            <a:fillRect/>
          </a:stretch>
        </p:blipFill>
        <p:spPr>
          <a:xfrm>
            <a:off x="101282" y="2998905"/>
            <a:ext cx="241983" cy="187117"/>
          </a:xfrm>
          <a:prstGeom prst="rect">
            <a:avLst/>
          </a:prstGeom>
        </p:spPr>
      </p:pic>
      <p:pic>
        <p:nvPicPr>
          <p:cNvPr id="12" name="object 12"/>
          <p:cNvPicPr/>
          <p:nvPr/>
        </p:nvPicPr>
        <p:blipFill>
          <a:blip r:embed="rId4" cstate="print"/>
          <a:stretch>
            <a:fillRect/>
          </a:stretch>
        </p:blipFill>
        <p:spPr>
          <a:xfrm>
            <a:off x="433285" y="2998965"/>
            <a:ext cx="187057" cy="187057"/>
          </a:xfrm>
          <a:prstGeom prst="rect">
            <a:avLst/>
          </a:prstGeom>
        </p:spPr>
      </p:pic>
      <p:pic>
        <p:nvPicPr>
          <p:cNvPr id="13" name="object 13"/>
          <p:cNvPicPr/>
          <p:nvPr/>
        </p:nvPicPr>
        <p:blipFill>
          <a:blip r:embed="rId5" cstate="print"/>
          <a:stretch>
            <a:fillRect/>
          </a:stretch>
        </p:blipFill>
        <p:spPr>
          <a:xfrm>
            <a:off x="710349" y="2998815"/>
            <a:ext cx="187208" cy="187208"/>
          </a:xfrm>
          <a:prstGeom prst="rect">
            <a:avLst/>
          </a:prstGeom>
        </p:spPr>
      </p:pic>
      <p:sp>
        <p:nvSpPr>
          <p:cNvPr id="14" name="object 14"/>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17</a:t>
            </a:r>
            <a:r>
              <a:rPr spc="-80" dirty="0"/>
              <a:t> </a:t>
            </a:r>
            <a:r>
              <a:rPr spc="195" dirty="0"/>
              <a:t>/</a:t>
            </a:r>
            <a:r>
              <a:rPr spc="-75" dirty="0"/>
              <a:t> </a:t>
            </a:r>
            <a:r>
              <a:rPr spc="-25" dirty="0"/>
              <a:t>32</a:t>
            </a: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Why</a:t>
            </a:r>
            <a:r>
              <a:rPr spc="40" dirty="0"/>
              <a:t> </a:t>
            </a:r>
            <a:r>
              <a:rPr dirty="0"/>
              <a:t>the</a:t>
            </a:r>
            <a:r>
              <a:rPr spc="35" dirty="0"/>
              <a:t> </a:t>
            </a:r>
            <a:r>
              <a:rPr spc="-20" dirty="0"/>
              <a:t>coder</a:t>
            </a:r>
            <a:r>
              <a:rPr spc="40" dirty="0"/>
              <a:t> </a:t>
            </a:r>
            <a:r>
              <a:rPr spc="-10" dirty="0"/>
              <a:t>model</a:t>
            </a:r>
            <a:r>
              <a:rPr spc="40" dirty="0"/>
              <a:t> </a:t>
            </a:r>
            <a:r>
              <a:rPr spc="-35" dirty="0"/>
              <a:t>reads</a:t>
            </a:r>
            <a:r>
              <a:rPr spc="40" dirty="0"/>
              <a:t> </a:t>
            </a:r>
            <a:r>
              <a:rPr spc="-30" dirty="0"/>
              <a:t>floods</a:t>
            </a:r>
            <a:r>
              <a:rPr spc="40" dirty="0"/>
              <a:t> </a:t>
            </a:r>
            <a:r>
              <a:rPr spc="-30" dirty="0"/>
              <a:t>everywhere</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3240405" cy="5080"/>
            </a:xfrm>
            <a:custGeom>
              <a:avLst/>
              <a:gdLst/>
              <a:ahLst/>
              <a:cxnLst/>
              <a:rect l="l" t="t" r="r" b="b"/>
              <a:pathLst>
                <a:path w="3240405" h="5079">
                  <a:moveTo>
                    <a:pt x="0" y="5060"/>
                  </a:moveTo>
                  <a:lnTo>
                    <a:pt x="0" y="0"/>
                  </a:lnTo>
                  <a:lnTo>
                    <a:pt x="3240041" y="0"/>
                  </a:lnTo>
                  <a:lnTo>
                    <a:pt x="3240041" y="5060"/>
                  </a:lnTo>
                  <a:lnTo>
                    <a:pt x="0" y="5060"/>
                  </a:lnTo>
                  <a:close/>
                </a:path>
              </a:pathLst>
            </a:custGeom>
            <a:solidFill>
              <a:srgbClr val="2D7DB8"/>
            </a:solidFill>
          </p:spPr>
          <p:txBody>
            <a:bodyPr wrap="square" lIns="0" tIns="0" rIns="0" bIns="0" rtlCol="0"/>
            <a:lstStyle/>
            <a:p>
              <a:endParaRPr/>
            </a:p>
          </p:txBody>
        </p:sp>
      </p:grpSp>
      <p:sp>
        <p:nvSpPr>
          <p:cNvPr id="7" name="object 7"/>
          <p:cNvSpPr txBox="1">
            <a:spLocks noGrp="1"/>
          </p:cNvSpPr>
          <p:nvPr>
            <p:ph type="body" idx="1"/>
          </p:nvPr>
        </p:nvSpPr>
        <p:spPr>
          <a:xfrm>
            <a:off x="347294" y="929269"/>
            <a:ext cx="4932045" cy="1275862"/>
          </a:xfrm>
          <a:prstGeom prst="rect">
            <a:avLst/>
          </a:prstGeom>
        </p:spPr>
        <p:txBody>
          <a:bodyPr vert="horz" wrap="square" lIns="0" tIns="12700" rIns="0" bIns="0" rtlCol="0">
            <a:spAutoFit/>
          </a:bodyPr>
          <a:lstStyle/>
          <a:p>
            <a:pPr marL="12700" marR="5080">
              <a:lnSpc>
                <a:spcPct val="118000"/>
              </a:lnSpc>
              <a:spcBef>
                <a:spcPts val="100"/>
              </a:spcBef>
            </a:pPr>
            <a:r>
              <a:rPr dirty="0"/>
              <a:t>Port</a:t>
            </a:r>
            <a:r>
              <a:rPr spc="10" dirty="0"/>
              <a:t> </a:t>
            </a:r>
            <a:r>
              <a:rPr spc="-90" dirty="0"/>
              <a:t>scan</a:t>
            </a:r>
            <a:r>
              <a:rPr spc="15" dirty="0"/>
              <a:t> </a:t>
            </a:r>
            <a:r>
              <a:rPr spc="-55" dirty="0"/>
              <a:t>and</a:t>
            </a:r>
            <a:r>
              <a:rPr spc="15" dirty="0"/>
              <a:t> </a:t>
            </a:r>
            <a:r>
              <a:rPr spc="-65" dirty="0"/>
              <a:t>single-</a:t>
            </a:r>
            <a:r>
              <a:rPr spc="-55" dirty="0"/>
              <a:t>packet</a:t>
            </a:r>
            <a:r>
              <a:rPr spc="15" dirty="0"/>
              <a:t> </a:t>
            </a:r>
            <a:r>
              <a:rPr spc="-10" dirty="0"/>
              <a:t>flood</a:t>
            </a:r>
            <a:r>
              <a:rPr spc="15" dirty="0"/>
              <a:t> </a:t>
            </a:r>
            <a:r>
              <a:rPr spc="-85" dirty="0"/>
              <a:t>share</a:t>
            </a:r>
            <a:r>
              <a:rPr spc="15" dirty="0"/>
              <a:t> </a:t>
            </a:r>
            <a:r>
              <a:rPr spc="-50" dirty="0"/>
              <a:t>nearly</a:t>
            </a:r>
            <a:r>
              <a:rPr spc="15" dirty="0"/>
              <a:t> </a:t>
            </a:r>
            <a:r>
              <a:rPr spc="-70" dirty="0"/>
              <a:t>every</a:t>
            </a:r>
            <a:r>
              <a:rPr spc="15" dirty="0"/>
              <a:t> </a:t>
            </a:r>
            <a:r>
              <a:rPr spc="-70" dirty="0"/>
              <a:t>surface</a:t>
            </a:r>
            <a:r>
              <a:rPr spc="15" dirty="0"/>
              <a:t> </a:t>
            </a:r>
            <a:r>
              <a:rPr spc="-25" dirty="0"/>
              <a:t>feature</a:t>
            </a:r>
            <a:endParaRPr spc="-10" dirty="0"/>
          </a:p>
          <a:p>
            <a:pPr marL="12700" marR="306705">
              <a:lnSpc>
                <a:spcPct val="118000"/>
              </a:lnSpc>
              <a:spcBef>
                <a:spcPts val="1090"/>
              </a:spcBef>
            </a:pPr>
            <a:r>
              <a:rPr spc="-10" dirty="0"/>
              <a:t>The</a:t>
            </a:r>
            <a:r>
              <a:rPr spc="-25" dirty="0"/>
              <a:t> </a:t>
            </a:r>
            <a:r>
              <a:rPr spc="-45" dirty="0"/>
              <a:t>distinguishing</a:t>
            </a:r>
            <a:r>
              <a:rPr spc="-20" dirty="0"/>
              <a:t> </a:t>
            </a:r>
            <a:r>
              <a:rPr spc="-50" dirty="0"/>
              <a:t>signal</a:t>
            </a:r>
            <a:r>
              <a:rPr spc="-20" dirty="0"/>
              <a:t> </a:t>
            </a:r>
            <a:r>
              <a:rPr spc="-10" dirty="0"/>
              <a:t>is</a:t>
            </a:r>
            <a:r>
              <a:rPr spc="-20" dirty="0"/>
              <a:t> </a:t>
            </a:r>
            <a:r>
              <a:rPr i="1" dirty="0">
                <a:latin typeface="Arial"/>
                <a:cs typeface="Arial"/>
              </a:rPr>
              <a:t>port</a:t>
            </a:r>
            <a:r>
              <a:rPr i="1" spc="-20" dirty="0">
                <a:latin typeface="Arial"/>
                <a:cs typeface="Arial"/>
              </a:rPr>
              <a:t> </a:t>
            </a:r>
            <a:r>
              <a:rPr i="1" spc="-35" dirty="0">
                <a:latin typeface="Arial"/>
                <a:cs typeface="Arial"/>
              </a:rPr>
              <a:t>diversity</a:t>
            </a:r>
            <a:r>
              <a:rPr spc="-35" dirty="0"/>
              <a:t>,</a:t>
            </a:r>
            <a:r>
              <a:rPr spc="-20" dirty="0"/>
              <a:t> </a:t>
            </a:r>
            <a:r>
              <a:rPr spc="-45" dirty="0"/>
              <a:t>visible</a:t>
            </a:r>
            <a:r>
              <a:rPr spc="-20" dirty="0"/>
              <a:t> only </a:t>
            </a:r>
            <a:r>
              <a:rPr dirty="0"/>
              <a:t>at</a:t>
            </a:r>
            <a:r>
              <a:rPr spc="-20" dirty="0"/>
              <a:t> </a:t>
            </a:r>
            <a:r>
              <a:rPr dirty="0"/>
              <a:t>the</a:t>
            </a:r>
            <a:r>
              <a:rPr spc="-20" dirty="0"/>
              <a:t> </a:t>
            </a:r>
            <a:r>
              <a:rPr spc="-40" dirty="0"/>
              <a:t>community</a:t>
            </a:r>
            <a:r>
              <a:rPr spc="-20" dirty="0"/>
              <a:t> </a:t>
            </a:r>
            <a:r>
              <a:rPr spc="-30" dirty="0"/>
              <a:t>level.</a:t>
            </a:r>
            <a:r>
              <a:rPr spc="65" dirty="0"/>
              <a:t> </a:t>
            </a:r>
            <a:r>
              <a:rPr spc="-50" dirty="0"/>
              <a:t>A </a:t>
            </a:r>
            <a:r>
              <a:rPr spc="-60" dirty="0"/>
              <a:t>summary</a:t>
            </a:r>
            <a:r>
              <a:rPr spc="20" dirty="0"/>
              <a:t> </a:t>
            </a:r>
            <a:r>
              <a:rPr spc="-30" dirty="0"/>
              <a:t>reporting</a:t>
            </a:r>
            <a:r>
              <a:rPr spc="30" dirty="0"/>
              <a:t> </a:t>
            </a:r>
            <a:r>
              <a:rPr dirty="0"/>
              <a:t>it</a:t>
            </a:r>
            <a:r>
              <a:rPr spc="30" dirty="0"/>
              <a:t> </a:t>
            </a:r>
            <a:r>
              <a:rPr spc="-110" dirty="0"/>
              <a:t>was</a:t>
            </a:r>
            <a:r>
              <a:rPr spc="35" dirty="0"/>
              <a:t> </a:t>
            </a:r>
            <a:r>
              <a:rPr spc="-75" dirty="0"/>
              <a:t>added</a:t>
            </a:r>
            <a:r>
              <a:rPr spc="30" dirty="0"/>
              <a:t> </a:t>
            </a:r>
            <a:r>
              <a:rPr dirty="0"/>
              <a:t>to</a:t>
            </a:r>
            <a:r>
              <a:rPr spc="30" dirty="0"/>
              <a:t> </a:t>
            </a:r>
            <a:r>
              <a:rPr dirty="0"/>
              <a:t>the</a:t>
            </a:r>
            <a:r>
              <a:rPr spc="25" dirty="0"/>
              <a:t> </a:t>
            </a:r>
            <a:r>
              <a:rPr spc="-10" dirty="0"/>
              <a:t>prompt.</a:t>
            </a:r>
          </a:p>
          <a:p>
            <a:pPr marL="12700" marR="213995">
              <a:lnSpc>
                <a:spcPct val="118000"/>
              </a:lnSpc>
              <a:spcBef>
                <a:spcPts val="1085"/>
              </a:spcBef>
            </a:pPr>
            <a:r>
              <a:rPr spc="-40" dirty="0"/>
              <a:t>Mistral-</a:t>
            </a:r>
            <a:r>
              <a:rPr spc="-25" dirty="0"/>
              <a:t>Nemo</a:t>
            </a:r>
            <a:r>
              <a:rPr spc="-20" dirty="0"/>
              <a:t> </a:t>
            </a:r>
            <a:r>
              <a:rPr spc="-90" dirty="0"/>
              <a:t>used</a:t>
            </a:r>
            <a:r>
              <a:rPr spc="15" dirty="0"/>
              <a:t> </a:t>
            </a:r>
            <a:r>
              <a:rPr dirty="0"/>
              <a:t>that </a:t>
            </a:r>
            <a:r>
              <a:rPr spc="-35" dirty="0"/>
              <a:t>signal.</a:t>
            </a:r>
            <a:r>
              <a:rPr spc="95" dirty="0"/>
              <a:t> </a:t>
            </a:r>
            <a:r>
              <a:rPr spc="-75" dirty="0"/>
              <a:t>Qwen2.5-</a:t>
            </a:r>
            <a:r>
              <a:rPr spc="-60" dirty="0"/>
              <a:t>Coder</a:t>
            </a:r>
            <a:r>
              <a:rPr dirty="0"/>
              <a:t> </a:t>
            </a:r>
            <a:r>
              <a:rPr spc="-10" dirty="0"/>
              <a:t>did</a:t>
            </a:r>
            <a:r>
              <a:rPr dirty="0"/>
              <a:t> not,</a:t>
            </a:r>
            <a:r>
              <a:rPr spc="-5" dirty="0"/>
              <a:t> </a:t>
            </a:r>
            <a:r>
              <a:rPr spc="-40" dirty="0"/>
              <a:t>which</a:t>
            </a:r>
            <a:r>
              <a:rPr dirty="0"/>
              <a:t> </a:t>
            </a:r>
            <a:r>
              <a:rPr spc="-10" dirty="0"/>
              <a:t>is</a:t>
            </a:r>
            <a:r>
              <a:rPr dirty="0"/>
              <a:t> the </a:t>
            </a:r>
            <a:r>
              <a:rPr spc="-60" dirty="0"/>
              <a:t>whole</a:t>
            </a:r>
            <a:r>
              <a:rPr dirty="0"/>
              <a:t> of </a:t>
            </a:r>
            <a:r>
              <a:rPr spc="-25" dirty="0"/>
              <a:t>the </a:t>
            </a:r>
            <a:r>
              <a:rPr spc="-55" dirty="0"/>
              <a:t>difference</a:t>
            </a:r>
            <a:r>
              <a:rPr spc="10" dirty="0"/>
              <a:t> </a:t>
            </a:r>
            <a:r>
              <a:rPr spc="-70" dirty="0"/>
              <a:t>between</a:t>
            </a:r>
            <a:r>
              <a:rPr spc="15" dirty="0"/>
              <a:t> </a:t>
            </a:r>
            <a:r>
              <a:rPr spc="-10" dirty="0"/>
              <a:t>them.</a:t>
            </a:r>
          </a:p>
        </p:txBody>
      </p:sp>
      <p:pic>
        <p:nvPicPr>
          <p:cNvPr id="8" name="object 8"/>
          <p:cNvPicPr/>
          <p:nvPr/>
        </p:nvPicPr>
        <p:blipFill>
          <a:blip r:embed="rId3" cstate="print"/>
          <a:stretch>
            <a:fillRect/>
          </a:stretch>
        </p:blipFill>
        <p:spPr>
          <a:xfrm>
            <a:off x="101282" y="2998905"/>
            <a:ext cx="241983" cy="187117"/>
          </a:xfrm>
          <a:prstGeom prst="rect">
            <a:avLst/>
          </a:prstGeom>
        </p:spPr>
      </p:pic>
      <p:pic>
        <p:nvPicPr>
          <p:cNvPr id="9" name="object 9"/>
          <p:cNvPicPr/>
          <p:nvPr/>
        </p:nvPicPr>
        <p:blipFill>
          <a:blip r:embed="rId4" cstate="print"/>
          <a:stretch>
            <a:fillRect/>
          </a:stretch>
        </p:blipFill>
        <p:spPr>
          <a:xfrm>
            <a:off x="433285" y="2998965"/>
            <a:ext cx="187057" cy="187057"/>
          </a:xfrm>
          <a:prstGeom prst="rect">
            <a:avLst/>
          </a:prstGeom>
        </p:spPr>
      </p:pic>
      <p:pic>
        <p:nvPicPr>
          <p:cNvPr id="10" name="object 10"/>
          <p:cNvPicPr/>
          <p:nvPr/>
        </p:nvPicPr>
        <p:blipFill>
          <a:blip r:embed="rId5" cstate="print"/>
          <a:stretch>
            <a:fillRect/>
          </a:stretch>
        </p:blipFill>
        <p:spPr>
          <a:xfrm>
            <a:off x="710349" y="2998815"/>
            <a:ext cx="187208" cy="187208"/>
          </a:xfrm>
          <a:prstGeom prst="rect">
            <a:avLst/>
          </a:prstGeom>
        </p:spPr>
      </p:pic>
      <p:sp>
        <p:nvSpPr>
          <p:cNvPr id="11" name="object 11"/>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18</a:t>
            </a:r>
            <a:r>
              <a:rPr spc="-80" dirty="0"/>
              <a:t> </a:t>
            </a:r>
            <a:r>
              <a:rPr spc="195" dirty="0"/>
              <a:t>/</a:t>
            </a:r>
            <a:r>
              <a:rPr spc="-75" dirty="0"/>
              <a:t> </a:t>
            </a:r>
            <a:r>
              <a:rPr spc="-25" dirty="0"/>
              <a:t>32</a:t>
            </a:r>
          </a:p>
        </p:txBody>
      </p:sp>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RQ3:</a:t>
            </a:r>
            <a:r>
              <a:rPr spc="290" dirty="0"/>
              <a:t> </a:t>
            </a:r>
            <a:r>
              <a:rPr spc="-40" dirty="0"/>
              <a:t>Classification</a:t>
            </a:r>
            <a:r>
              <a:rPr spc="130" dirty="0"/>
              <a:t> </a:t>
            </a:r>
            <a:r>
              <a:rPr spc="-35" dirty="0"/>
              <a:t>results</a:t>
            </a:r>
            <a:r>
              <a:rPr spc="135" dirty="0"/>
              <a:t> </a:t>
            </a:r>
            <a:r>
              <a:rPr dirty="0"/>
              <a:t>(CIC-</a:t>
            </a:r>
            <a:r>
              <a:rPr spc="-20" dirty="0"/>
              <a:t>IDS)</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3420110" cy="5080"/>
            </a:xfrm>
            <a:custGeom>
              <a:avLst/>
              <a:gdLst/>
              <a:ahLst/>
              <a:cxnLst/>
              <a:rect l="l" t="t" r="r" b="b"/>
              <a:pathLst>
                <a:path w="3420110" h="5079">
                  <a:moveTo>
                    <a:pt x="0" y="5060"/>
                  </a:moveTo>
                  <a:lnTo>
                    <a:pt x="0" y="0"/>
                  </a:lnTo>
                  <a:lnTo>
                    <a:pt x="3420043" y="0"/>
                  </a:lnTo>
                  <a:lnTo>
                    <a:pt x="3420043" y="5060"/>
                  </a:lnTo>
                  <a:lnTo>
                    <a:pt x="0" y="5060"/>
                  </a:lnTo>
                  <a:close/>
                </a:path>
              </a:pathLst>
            </a:custGeom>
            <a:solidFill>
              <a:srgbClr val="2D7DB8"/>
            </a:solidFill>
          </p:spPr>
          <p:txBody>
            <a:bodyPr wrap="square" lIns="0" tIns="0" rIns="0" bIns="0" rtlCol="0"/>
            <a:lstStyle/>
            <a:p>
              <a:endParaRPr/>
            </a:p>
          </p:txBody>
        </p:sp>
      </p:grpSp>
      <p:sp>
        <p:nvSpPr>
          <p:cNvPr id="7" name="object 7"/>
          <p:cNvSpPr/>
          <p:nvPr/>
        </p:nvSpPr>
        <p:spPr>
          <a:xfrm>
            <a:off x="1058379" y="829297"/>
            <a:ext cx="3643629" cy="0"/>
          </a:xfrm>
          <a:custGeom>
            <a:avLst/>
            <a:gdLst/>
            <a:ahLst/>
            <a:cxnLst/>
            <a:rect l="l" t="t" r="r" b="b"/>
            <a:pathLst>
              <a:path w="3643629">
                <a:moveTo>
                  <a:pt x="0" y="0"/>
                </a:moveTo>
                <a:lnTo>
                  <a:pt x="3643236" y="0"/>
                </a:lnTo>
              </a:path>
            </a:pathLst>
          </a:custGeom>
          <a:ln w="11087">
            <a:solidFill>
              <a:srgbClr val="22373A"/>
            </a:solidFill>
          </a:ln>
        </p:spPr>
        <p:txBody>
          <a:bodyPr wrap="square" lIns="0" tIns="0" rIns="0" bIns="0" rtlCol="0"/>
          <a:lstStyle/>
          <a:p>
            <a:endParaRPr/>
          </a:p>
        </p:txBody>
      </p:sp>
      <p:sp>
        <p:nvSpPr>
          <p:cNvPr id="8" name="object 8"/>
          <p:cNvSpPr txBox="1"/>
          <p:nvPr/>
        </p:nvSpPr>
        <p:spPr>
          <a:xfrm>
            <a:off x="2489377" y="857851"/>
            <a:ext cx="692150" cy="177800"/>
          </a:xfrm>
          <a:prstGeom prst="rect">
            <a:avLst/>
          </a:prstGeom>
        </p:spPr>
        <p:txBody>
          <a:bodyPr vert="horz" wrap="square" lIns="0" tIns="12065" rIns="0" bIns="0" rtlCol="0">
            <a:spAutoFit/>
          </a:bodyPr>
          <a:lstStyle/>
          <a:p>
            <a:pPr marL="12700">
              <a:lnSpc>
                <a:spcPct val="100000"/>
              </a:lnSpc>
              <a:spcBef>
                <a:spcPts val="95"/>
              </a:spcBef>
            </a:pPr>
            <a:r>
              <a:rPr sz="1000" spc="-20" dirty="0">
                <a:solidFill>
                  <a:srgbClr val="22373A"/>
                </a:solidFill>
                <a:latin typeface="Arial MT"/>
                <a:cs typeface="Arial MT"/>
              </a:rPr>
              <a:t>Exact</a:t>
            </a:r>
            <a:r>
              <a:rPr sz="1000" spc="-25" dirty="0">
                <a:solidFill>
                  <a:srgbClr val="22373A"/>
                </a:solidFill>
                <a:latin typeface="Arial MT"/>
                <a:cs typeface="Arial MT"/>
              </a:rPr>
              <a:t> </a:t>
            </a:r>
            <a:r>
              <a:rPr sz="1000" spc="-20" dirty="0">
                <a:solidFill>
                  <a:srgbClr val="22373A"/>
                </a:solidFill>
                <a:latin typeface="Arial MT"/>
                <a:cs typeface="Arial MT"/>
              </a:rPr>
              <a:t>match</a:t>
            </a:r>
            <a:endParaRPr sz="1000">
              <a:latin typeface="Arial MT"/>
              <a:cs typeface="Arial MT"/>
            </a:endParaRPr>
          </a:p>
        </p:txBody>
      </p:sp>
      <p:sp>
        <p:nvSpPr>
          <p:cNvPr id="9" name="object 9"/>
          <p:cNvSpPr txBox="1"/>
          <p:nvPr/>
        </p:nvSpPr>
        <p:spPr>
          <a:xfrm>
            <a:off x="3810615" y="857851"/>
            <a:ext cx="537210" cy="177800"/>
          </a:xfrm>
          <a:prstGeom prst="rect">
            <a:avLst/>
          </a:prstGeom>
        </p:spPr>
        <p:txBody>
          <a:bodyPr vert="horz" wrap="square" lIns="0" tIns="12065" rIns="0" bIns="0" rtlCol="0">
            <a:spAutoFit/>
          </a:bodyPr>
          <a:lstStyle/>
          <a:p>
            <a:pPr marL="12700">
              <a:lnSpc>
                <a:spcPct val="100000"/>
              </a:lnSpc>
              <a:spcBef>
                <a:spcPts val="95"/>
              </a:spcBef>
            </a:pPr>
            <a:r>
              <a:rPr sz="1000" spc="-20" dirty="0">
                <a:solidFill>
                  <a:srgbClr val="22373A"/>
                </a:solidFill>
                <a:latin typeface="Arial MT"/>
                <a:cs typeface="Arial MT"/>
              </a:rPr>
              <a:t>Macro</a:t>
            </a:r>
            <a:r>
              <a:rPr sz="1000" spc="-40" dirty="0">
                <a:solidFill>
                  <a:srgbClr val="22373A"/>
                </a:solidFill>
                <a:latin typeface="Arial MT"/>
                <a:cs typeface="Arial MT"/>
              </a:rPr>
              <a:t> </a:t>
            </a:r>
            <a:r>
              <a:rPr sz="1000" spc="-25" dirty="0">
                <a:solidFill>
                  <a:srgbClr val="22373A"/>
                </a:solidFill>
                <a:latin typeface="Arial MT"/>
                <a:cs typeface="Arial MT"/>
              </a:rPr>
              <a:t>F1</a:t>
            </a:r>
            <a:endParaRPr sz="1000">
              <a:latin typeface="Arial MT"/>
              <a:cs typeface="Arial MT"/>
            </a:endParaRPr>
          </a:p>
        </p:txBody>
      </p:sp>
      <p:graphicFrame>
        <p:nvGraphicFramePr>
          <p:cNvPr id="10" name="object 10"/>
          <p:cNvGraphicFramePr>
            <a:graphicFrameLocks noGrp="1"/>
          </p:cNvGraphicFramePr>
          <p:nvPr/>
        </p:nvGraphicFramePr>
        <p:xfrm>
          <a:off x="1058379" y="1076172"/>
          <a:ext cx="3646169" cy="840740"/>
        </p:xfrm>
        <a:graphic>
          <a:graphicData uri="http://schemas.openxmlformats.org/drawingml/2006/table">
            <a:tbl>
              <a:tblPr firstRow="1" bandRow="1">
                <a:tableStyleId>{2D5ABB26-0587-4C30-8999-92F81FD0307C}</a:tableStyleId>
              </a:tblPr>
              <a:tblGrid>
                <a:gridCol w="1224915">
                  <a:extLst>
                    <a:ext uri="{9D8B030D-6E8A-4147-A177-3AD203B41FA5}">
                      <a16:colId xmlns:a16="http://schemas.microsoft.com/office/drawing/2014/main" val="20000"/>
                    </a:ext>
                  </a:extLst>
                </a:gridCol>
                <a:gridCol w="591185">
                  <a:extLst>
                    <a:ext uri="{9D8B030D-6E8A-4147-A177-3AD203B41FA5}">
                      <a16:colId xmlns:a16="http://schemas.microsoft.com/office/drawing/2014/main" val="20001"/>
                    </a:ext>
                  </a:extLst>
                </a:gridCol>
                <a:gridCol w="514985">
                  <a:extLst>
                    <a:ext uri="{9D8B030D-6E8A-4147-A177-3AD203B41FA5}">
                      <a16:colId xmlns:a16="http://schemas.microsoft.com/office/drawing/2014/main" val="20002"/>
                    </a:ext>
                  </a:extLst>
                </a:gridCol>
                <a:gridCol w="139064">
                  <a:extLst>
                    <a:ext uri="{9D8B030D-6E8A-4147-A177-3AD203B41FA5}">
                      <a16:colId xmlns:a16="http://schemas.microsoft.com/office/drawing/2014/main" val="20003"/>
                    </a:ext>
                  </a:extLst>
                </a:gridCol>
                <a:gridCol w="590550">
                  <a:extLst>
                    <a:ext uri="{9D8B030D-6E8A-4147-A177-3AD203B41FA5}">
                      <a16:colId xmlns:a16="http://schemas.microsoft.com/office/drawing/2014/main" val="20004"/>
                    </a:ext>
                  </a:extLst>
                </a:gridCol>
                <a:gridCol w="515620">
                  <a:extLst>
                    <a:ext uri="{9D8B030D-6E8A-4147-A177-3AD203B41FA5}">
                      <a16:colId xmlns:a16="http://schemas.microsoft.com/office/drawing/2014/main" val="20005"/>
                    </a:ext>
                  </a:extLst>
                </a:gridCol>
                <a:gridCol w="69850">
                  <a:extLst>
                    <a:ext uri="{9D8B030D-6E8A-4147-A177-3AD203B41FA5}">
                      <a16:colId xmlns:a16="http://schemas.microsoft.com/office/drawing/2014/main" val="20006"/>
                    </a:ext>
                  </a:extLst>
                </a:gridCol>
              </a:tblGrid>
              <a:tr h="244475">
                <a:tc>
                  <a:txBody>
                    <a:bodyPr/>
                    <a:lstStyle/>
                    <a:p>
                      <a:pPr marL="75565">
                        <a:lnSpc>
                          <a:spcPct val="100000"/>
                        </a:lnSpc>
                        <a:spcBef>
                          <a:spcPts val="290"/>
                        </a:spcBef>
                      </a:pPr>
                      <a:r>
                        <a:rPr sz="1000" spc="-10" dirty="0">
                          <a:solidFill>
                            <a:srgbClr val="22373A"/>
                          </a:solidFill>
                          <a:latin typeface="Arial MT"/>
                          <a:cs typeface="Arial MT"/>
                        </a:rPr>
                        <a:t>Model</a:t>
                      </a:r>
                      <a:endParaRPr sz="1000">
                        <a:latin typeface="Arial MT"/>
                        <a:cs typeface="Arial MT"/>
                      </a:endParaRPr>
                    </a:p>
                  </a:txBody>
                  <a:tcPr marL="0" marR="0" marT="36830" marB="0">
                    <a:lnB w="9525">
                      <a:solidFill>
                        <a:srgbClr val="22373A"/>
                      </a:solidFill>
                      <a:prstDash val="solid"/>
                    </a:lnB>
                  </a:tcPr>
                </a:tc>
                <a:tc>
                  <a:txBody>
                    <a:bodyPr/>
                    <a:lstStyle/>
                    <a:p>
                      <a:pPr marR="61594" algn="ctr">
                        <a:lnSpc>
                          <a:spcPct val="100000"/>
                        </a:lnSpc>
                        <a:spcBef>
                          <a:spcPts val="290"/>
                        </a:spcBef>
                      </a:pPr>
                      <a:r>
                        <a:rPr sz="1000" spc="-50" dirty="0">
                          <a:solidFill>
                            <a:srgbClr val="22373A"/>
                          </a:solidFill>
                          <a:latin typeface="Arial MT"/>
                          <a:cs typeface="Arial MT"/>
                        </a:rPr>
                        <a:t>Grounded</a:t>
                      </a:r>
                      <a:endParaRPr sz="1000">
                        <a:latin typeface="Arial MT"/>
                        <a:cs typeface="Arial MT"/>
                      </a:endParaRPr>
                    </a:p>
                  </a:txBody>
                  <a:tcPr marL="0" marR="0" marT="36830" marB="0">
                    <a:lnT w="6350">
                      <a:solidFill>
                        <a:srgbClr val="22373A"/>
                      </a:solidFill>
                      <a:prstDash val="solid"/>
                    </a:lnT>
                    <a:lnB w="9525">
                      <a:solidFill>
                        <a:srgbClr val="22373A"/>
                      </a:solidFill>
                      <a:prstDash val="solid"/>
                    </a:lnB>
                  </a:tcPr>
                </a:tc>
                <a:tc>
                  <a:txBody>
                    <a:bodyPr/>
                    <a:lstStyle/>
                    <a:p>
                      <a:pPr marL="68580" algn="ctr">
                        <a:lnSpc>
                          <a:spcPct val="100000"/>
                        </a:lnSpc>
                        <a:spcBef>
                          <a:spcPts val="290"/>
                        </a:spcBef>
                      </a:pPr>
                      <a:r>
                        <a:rPr sz="1000" spc="-50" dirty="0">
                          <a:solidFill>
                            <a:srgbClr val="22373A"/>
                          </a:solidFill>
                          <a:latin typeface="Arial MT"/>
                          <a:cs typeface="Arial MT"/>
                        </a:rPr>
                        <a:t>Baseline</a:t>
                      </a:r>
                      <a:endParaRPr sz="1000">
                        <a:latin typeface="Arial MT"/>
                        <a:cs typeface="Arial MT"/>
                      </a:endParaRPr>
                    </a:p>
                  </a:txBody>
                  <a:tcPr marL="0" marR="0" marT="36830" marB="0">
                    <a:lnT w="6350">
                      <a:solidFill>
                        <a:srgbClr val="22373A"/>
                      </a:solidFill>
                      <a:prstDash val="solid"/>
                    </a:lnT>
                    <a:lnB w="9525">
                      <a:solidFill>
                        <a:srgbClr val="22373A"/>
                      </a:solidFill>
                      <a:prstDash val="solid"/>
                    </a:lnB>
                  </a:tcPr>
                </a:tc>
                <a:tc>
                  <a:txBody>
                    <a:bodyPr/>
                    <a:lstStyle/>
                    <a:p>
                      <a:pPr>
                        <a:lnSpc>
                          <a:spcPct val="100000"/>
                        </a:lnSpc>
                      </a:pPr>
                      <a:endParaRPr sz="1000">
                        <a:latin typeface="Times New Roman"/>
                        <a:cs typeface="Times New Roman"/>
                      </a:endParaRPr>
                    </a:p>
                  </a:txBody>
                  <a:tcPr marL="0" marR="0" marT="0" marB="0">
                    <a:lnB w="9525">
                      <a:solidFill>
                        <a:srgbClr val="22373A"/>
                      </a:solidFill>
                      <a:prstDash val="solid"/>
                    </a:lnB>
                  </a:tcPr>
                </a:tc>
                <a:tc>
                  <a:txBody>
                    <a:bodyPr/>
                    <a:lstStyle/>
                    <a:p>
                      <a:pPr marR="61594" algn="ctr">
                        <a:lnSpc>
                          <a:spcPct val="100000"/>
                        </a:lnSpc>
                        <a:spcBef>
                          <a:spcPts val="290"/>
                        </a:spcBef>
                      </a:pPr>
                      <a:r>
                        <a:rPr sz="1000" spc="-50" dirty="0">
                          <a:solidFill>
                            <a:srgbClr val="22373A"/>
                          </a:solidFill>
                          <a:latin typeface="Arial MT"/>
                          <a:cs typeface="Arial MT"/>
                        </a:rPr>
                        <a:t>Grounded</a:t>
                      </a:r>
                      <a:endParaRPr sz="1000">
                        <a:latin typeface="Arial MT"/>
                        <a:cs typeface="Arial MT"/>
                      </a:endParaRPr>
                    </a:p>
                  </a:txBody>
                  <a:tcPr marL="0" marR="0" marT="36830" marB="0">
                    <a:lnT w="6350">
                      <a:solidFill>
                        <a:srgbClr val="22373A"/>
                      </a:solidFill>
                      <a:prstDash val="solid"/>
                    </a:lnT>
                    <a:lnB w="9525">
                      <a:solidFill>
                        <a:srgbClr val="22373A"/>
                      </a:solidFill>
                      <a:prstDash val="solid"/>
                    </a:lnB>
                  </a:tcPr>
                </a:tc>
                <a:tc>
                  <a:txBody>
                    <a:bodyPr/>
                    <a:lstStyle/>
                    <a:p>
                      <a:pPr marL="68580" algn="ctr">
                        <a:lnSpc>
                          <a:spcPct val="100000"/>
                        </a:lnSpc>
                        <a:spcBef>
                          <a:spcPts val="290"/>
                        </a:spcBef>
                      </a:pPr>
                      <a:r>
                        <a:rPr sz="1000" spc="-50" dirty="0">
                          <a:solidFill>
                            <a:srgbClr val="22373A"/>
                          </a:solidFill>
                          <a:latin typeface="Arial MT"/>
                          <a:cs typeface="Arial MT"/>
                        </a:rPr>
                        <a:t>Baseline</a:t>
                      </a:r>
                      <a:endParaRPr sz="1000">
                        <a:latin typeface="Arial MT"/>
                        <a:cs typeface="Arial MT"/>
                      </a:endParaRPr>
                    </a:p>
                  </a:txBody>
                  <a:tcPr marL="0" marR="0" marT="36830" marB="0">
                    <a:lnT w="6350">
                      <a:solidFill>
                        <a:srgbClr val="22373A"/>
                      </a:solidFill>
                      <a:prstDash val="solid"/>
                    </a:lnT>
                    <a:lnB w="9525">
                      <a:solidFill>
                        <a:srgbClr val="22373A"/>
                      </a:solidFill>
                      <a:prstDash val="solid"/>
                    </a:lnB>
                  </a:tcPr>
                </a:tc>
                <a:tc>
                  <a:txBody>
                    <a:bodyPr/>
                    <a:lstStyle/>
                    <a:p>
                      <a:pPr>
                        <a:lnSpc>
                          <a:spcPct val="100000"/>
                        </a:lnSpc>
                      </a:pPr>
                      <a:endParaRPr sz="1000">
                        <a:latin typeface="Times New Roman"/>
                        <a:cs typeface="Times New Roman"/>
                      </a:endParaRPr>
                    </a:p>
                  </a:txBody>
                  <a:tcPr marL="0" marR="0" marT="0" marB="0">
                    <a:lnB w="9525">
                      <a:solidFill>
                        <a:srgbClr val="22373A"/>
                      </a:solidFill>
                      <a:prstDash val="solid"/>
                    </a:lnB>
                  </a:tcPr>
                </a:tc>
                <a:extLst>
                  <a:ext uri="{0D108BD9-81ED-4DB2-BD59-A6C34878D82A}">
                    <a16:rowId xmlns:a16="http://schemas.microsoft.com/office/drawing/2014/main" val="10000"/>
                  </a:ext>
                </a:extLst>
              </a:tr>
              <a:tr h="215900">
                <a:tc>
                  <a:txBody>
                    <a:bodyPr/>
                    <a:lstStyle/>
                    <a:p>
                      <a:pPr marL="75565">
                        <a:lnSpc>
                          <a:spcPct val="100000"/>
                        </a:lnSpc>
                        <a:spcBef>
                          <a:spcPts val="305"/>
                        </a:spcBef>
                      </a:pPr>
                      <a:r>
                        <a:rPr sz="1000" spc="-35" dirty="0">
                          <a:solidFill>
                            <a:srgbClr val="22373A"/>
                          </a:solidFill>
                          <a:latin typeface="Arial MT"/>
                          <a:cs typeface="Arial MT"/>
                        </a:rPr>
                        <a:t>Mistral-Nemo-</a:t>
                      </a:r>
                      <a:r>
                        <a:rPr sz="1000" spc="-25" dirty="0">
                          <a:solidFill>
                            <a:srgbClr val="22373A"/>
                          </a:solidFill>
                          <a:latin typeface="Arial MT"/>
                          <a:cs typeface="Arial MT"/>
                        </a:rPr>
                        <a:t>12B</a:t>
                      </a:r>
                      <a:endParaRPr sz="1000">
                        <a:latin typeface="Arial MT"/>
                        <a:cs typeface="Arial MT"/>
                      </a:endParaRPr>
                    </a:p>
                  </a:txBody>
                  <a:tcPr marL="0" marR="0" marT="38735" marB="0">
                    <a:lnT w="9525">
                      <a:solidFill>
                        <a:srgbClr val="22373A"/>
                      </a:solidFill>
                      <a:prstDash val="solid"/>
                    </a:lnT>
                  </a:tcPr>
                </a:tc>
                <a:tc>
                  <a:txBody>
                    <a:bodyPr/>
                    <a:lstStyle/>
                    <a:p>
                      <a:pPr marR="62865" algn="ctr">
                        <a:lnSpc>
                          <a:spcPct val="100000"/>
                        </a:lnSpc>
                        <a:spcBef>
                          <a:spcPts val="305"/>
                        </a:spcBef>
                      </a:pPr>
                      <a:r>
                        <a:rPr sz="1000" spc="-10" dirty="0">
                          <a:solidFill>
                            <a:srgbClr val="2D7DB8"/>
                          </a:solidFill>
                          <a:latin typeface="Arial MT"/>
                          <a:cs typeface="Arial MT"/>
                        </a:rPr>
                        <a:t>0.833</a:t>
                      </a:r>
                      <a:endParaRPr sz="1000">
                        <a:latin typeface="Arial MT"/>
                        <a:cs typeface="Arial MT"/>
                      </a:endParaRPr>
                    </a:p>
                  </a:txBody>
                  <a:tcPr marL="0" marR="0" marT="38735" marB="0">
                    <a:lnT w="9525">
                      <a:solidFill>
                        <a:srgbClr val="22373A"/>
                      </a:solidFill>
                      <a:prstDash val="solid"/>
                    </a:lnT>
                  </a:tcPr>
                </a:tc>
                <a:tc>
                  <a:txBody>
                    <a:bodyPr/>
                    <a:lstStyle/>
                    <a:p>
                      <a:pPr marL="67310" algn="ctr">
                        <a:lnSpc>
                          <a:spcPct val="100000"/>
                        </a:lnSpc>
                        <a:spcBef>
                          <a:spcPts val="305"/>
                        </a:spcBef>
                      </a:pPr>
                      <a:r>
                        <a:rPr sz="1000" spc="-10" dirty="0">
                          <a:solidFill>
                            <a:srgbClr val="22373A"/>
                          </a:solidFill>
                          <a:latin typeface="Arial MT"/>
                          <a:cs typeface="Arial MT"/>
                        </a:rPr>
                        <a:t>0.556</a:t>
                      </a:r>
                      <a:endParaRPr sz="1000">
                        <a:latin typeface="Arial MT"/>
                        <a:cs typeface="Arial MT"/>
                      </a:endParaRPr>
                    </a:p>
                  </a:txBody>
                  <a:tcPr marL="0" marR="0" marT="38735" marB="0">
                    <a:lnT w="9525">
                      <a:solidFill>
                        <a:srgbClr val="22373A"/>
                      </a:solidFill>
                      <a:prstDash val="solid"/>
                    </a:lnT>
                  </a:tcPr>
                </a:tc>
                <a:tc>
                  <a:txBody>
                    <a:bodyPr/>
                    <a:lstStyle/>
                    <a:p>
                      <a:pPr>
                        <a:lnSpc>
                          <a:spcPct val="100000"/>
                        </a:lnSpc>
                      </a:pPr>
                      <a:endParaRPr sz="1000">
                        <a:latin typeface="Times New Roman"/>
                        <a:cs typeface="Times New Roman"/>
                      </a:endParaRPr>
                    </a:p>
                  </a:txBody>
                  <a:tcPr marL="0" marR="0" marT="0" marB="0">
                    <a:lnT w="9525">
                      <a:solidFill>
                        <a:srgbClr val="22373A"/>
                      </a:solidFill>
                      <a:prstDash val="solid"/>
                    </a:lnT>
                  </a:tcPr>
                </a:tc>
                <a:tc>
                  <a:txBody>
                    <a:bodyPr/>
                    <a:lstStyle/>
                    <a:p>
                      <a:pPr marR="62230" algn="ctr">
                        <a:lnSpc>
                          <a:spcPct val="100000"/>
                        </a:lnSpc>
                        <a:spcBef>
                          <a:spcPts val="305"/>
                        </a:spcBef>
                      </a:pPr>
                      <a:r>
                        <a:rPr sz="1000" spc="-10" dirty="0">
                          <a:solidFill>
                            <a:srgbClr val="2D7DB8"/>
                          </a:solidFill>
                          <a:latin typeface="Arial MT"/>
                          <a:cs typeface="Arial MT"/>
                        </a:rPr>
                        <a:t>0.400</a:t>
                      </a:r>
                      <a:endParaRPr sz="1000">
                        <a:latin typeface="Arial MT"/>
                        <a:cs typeface="Arial MT"/>
                      </a:endParaRPr>
                    </a:p>
                  </a:txBody>
                  <a:tcPr marL="0" marR="0" marT="38735" marB="0">
                    <a:lnT w="9525">
                      <a:solidFill>
                        <a:srgbClr val="22373A"/>
                      </a:solidFill>
                      <a:prstDash val="solid"/>
                    </a:lnT>
                  </a:tcPr>
                </a:tc>
                <a:tc>
                  <a:txBody>
                    <a:bodyPr/>
                    <a:lstStyle/>
                    <a:p>
                      <a:pPr marL="67945" algn="ctr">
                        <a:lnSpc>
                          <a:spcPct val="100000"/>
                        </a:lnSpc>
                        <a:spcBef>
                          <a:spcPts val="305"/>
                        </a:spcBef>
                      </a:pPr>
                      <a:r>
                        <a:rPr sz="1000" spc="-10" dirty="0">
                          <a:solidFill>
                            <a:srgbClr val="22373A"/>
                          </a:solidFill>
                          <a:latin typeface="Arial MT"/>
                          <a:cs typeface="Arial MT"/>
                        </a:rPr>
                        <a:t>0.200</a:t>
                      </a:r>
                      <a:endParaRPr sz="1000">
                        <a:latin typeface="Arial MT"/>
                        <a:cs typeface="Arial MT"/>
                      </a:endParaRPr>
                    </a:p>
                  </a:txBody>
                  <a:tcPr marL="0" marR="0" marT="38735" marB="0">
                    <a:lnT w="9525">
                      <a:solidFill>
                        <a:srgbClr val="22373A"/>
                      </a:solidFill>
                      <a:prstDash val="solid"/>
                    </a:lnT>
                  </a:tcPr>
                </a:tc>
                <a:tc>
                  <a:txBody>
                    <a:bodyPr/>
                    <a:lstStyle/>
                    <a:p>
                      <a:pPr>
                        <a:lnSpc>
                          <a:spcPct val="100000"/>
                        </a:lnSpc>
                      </a:pPr>
                      <a:endParaRPr sz="1000">
                        <a:latin typeface="Times New Roman"/>
                        <a:cs typeface="Times New Roman"/>
                      </a:endParaRPr>
                    </a:p>
                  </a:txBody>
                  <a:tcPr marL="0" marR="0" marT="0" marB="0">
                    <a:lnT w="9525">
                      <a:solidFill>
                        <a:srgbClr val="22373A"/>
                      </a:solidFill>
                      <a:prstDash val="solid"/>
                    </a:lnT>
                  </a:tcPr>
                </a:tc>
                <a:extLst>
                  <a:ext uri="{0D108BD9-81ED-4DB2-BD59-A6C34878D82A}">
                    <a16:rowId xmlns:a16="http://schemas.microsoft.com/office/drawing/2014/main" val="10001"/>
                  </a:ext>
                </a:extLst>
              </a:tr>
              <a:tr h="173990">
                <a:tc>
                  <a:txBody>
                    <a:bodyPr/>
                    <a:lstStyle/>
                    <a:p>
                      <a:pPr marL="75565">
                        <a:lnSpc>
                          <a:spcPts val="1175"/>
                        </a:lnSpc>
                      </a:pPr>
                      <a:r>
                        <a:rPr sz="1000" spc="-60" dirty="0">
                          <a:solidFill>
                            <a:srgbClr val="22373A"/>
                          </a:solidFill>
                          <a:latin typeface="Arial MT"/>
                          <a:cs typeface="Arial MT"/>
                        </a:rPr>
                        <a:t>Qwen2.5-</a:t>
                      </a:r>
                      <a:r>
                        <a:rPr sz="1000" spc="-50" dirty="0">
                          <a:solidFill>
                            <a:srgbClr val="22373A"/>
                          </a:solidFill>
                          <a:latin typeface="Arial MT"/>
                          <a:cs typeface="Arial MT"/>
                        </a:rPr>
                        <a:t>Coder-</a:t>
                      </a:r>
                      <a:r>
                        <a:rPr sz="1000" spc="-25" dirty="0">
                          <a:solidFill>
                            <a:srgbClr val="22373A"/>
                          </a:solidFill>
                          <a:latin typeface="Arial MT"/>
                          <a:cs typeface="Arial MT"/>
                        </a:rPr>
                        <a:t>7B</a:t>
                      </a:r>
                      <a:endParaRPr sz="1000">
                        <a:latin typeface="Arial MT"/>
                        <a:cs typeface="Arial MT"/>
                      </a:endParaRPr>
                    </a:p>
                  </a:txBody>
                  <a:tcPr marL="0" marR="0" marT="0" marB="0"/>
                </a:tc>
                <a:tc>
                  <a:txBody>
                    <a:bodyPr/>
                    <a:lstStyle/>
                    <a:p>
                      <a:pPr marR="61594" algn="ctr">
                        <a:lnSpc>
                          <a:spcPts val="1175"/>
                        </a:lnSpc>
                      </a:pPr>
                      <a:r>
                        <a:rPr sz="1000" spc="-10" dirty="0">
                          <a:solidFill>
                            <a:srgbClr val="22373A"/>
                          </a:solidFill>
                          <a:latin typeface="Arial MT"/>
                          <a:cs typeface="Arial MT"/>
                        </a:rPr>
                        <a:t>0.111</a:t>
                      </a:r>
                      <a:endParaRPr sz="1000">
                        <a:latin typeface="Arial MT"/>
                        <a:cs typeface="Arial MT"/>
                      </a:endParaRPr>
                    </a:p>
                  </a:txBody>
                  <a:tcPr marL="0" marR="0" marT="0" marB="0"/>
                </a:tc>
                <a:tc>
                  <a:txBody>
                    <a:bodyPr/>
                    <a:lstStyle/>
                    <a:p>
                      <a:pPr marL="68580" algn="ctr">
                        <a:lnSpc>
                          <a:spcPts val="1175"/>
                        </a:lnSpc>
                      </a:pPr>
                      <a:r>
                        <a:rPr sz="1000" spc="-10" dirty="0">
                          <a:solidFill>
                            <a:srgbClr val="22373A"/>
                          </a:solidFill>
                          <a:latin typeface="Arial MT"/>
                          <a:cs typeface="Arial MT"/>
                        </a:rPr>
                        <a:t>0.000</a:t>
                      </a:r>
                      <a:endParaRPr sz="1000">
                        <a:latin typeface="Arial MT"/>
                        <a:cs typeface="Arial MT"/>
                      </a:endParaRPr>
                    </a:p>
                  </a:txBody>
                  <a:tcPr marL="0" marR="0" marT="0" marB="0"/>
                </a:tc>
                <a:tc>
                  <a:txBody>
                    <a:bodyPr/>
                    <a:lstStyle/>
                    <a:p>
                      <a:pPr>
                        <a:lnSpc>
                          <a:spcPct val="100000"/>
                        </a:lnSpc>
                      </a:pPr>
                      <a:endParaRPr sz="1000">
                        <a:latin typeface="Times New Roman"/>
                        <a:cs typeface="Times New Roman"/>
                      </a:endParaRPr>
                    </a:p>
                  </a:txBody>
                  <a:tcPr marL="0" marR="0" marT="0" marB="0"/>
                </a:tc>
                <a:tc>
                  <a:txBody>
                    <a:bodyPr/>
                    <a:lstStyle/>
                    <a:p>
                      <a:pPr marR="60960" algn="ctr">
                        <a:lnSpc>
                          <a:spcPts val="1175"/>
                        </a:lnSpc>
                      </a:pPr>
                      <a:r>
                        <a:rPr sz="1000" spc="-10" dirty="0">
                          <a:solidFill>
                            <a:srgbClr val="22373A"/>
                          </a:solidFill>
                          <a:latin typeface="Arial MT"/>
                          <a:cs typeface="Arial MT"/>
                        </a:rPr>
                        <a:t>0.200</a:t>
                      </a:r>
                      <a:endParaRPr sz="1000">
                        <a:latin typeface="Arial MT"/>
                        <a:cs typeface="Arial MT"/>
                      </a:endParaRPr>
                    </a:p>
                  </a:txBody>
                  <a:tcPr marL="0" marR="0" marT="0" marB="0"/>
                </a:tc>
                <a:tc>
                  <a:txBody>
                    <a:bodyPr/>
                    <a:lstStyle/>
                    <a:p>
                      <a:pPr marL="69215" algn="ctr">
                        <a:lnSpc>
                          <a:spcPts val="1175"/>
                        </a:lnSpc>
                      </a:pPr>
                      <a:r>
                        <a:rPr sz="1000" spc="-10" dirty="0">
                          <a:solidFill>
                            <a:srgbClr val="22373A"/>
                          </a:solidFill>
                          <a:latin typeface="Arial MT"/>
                          <a:cs typeface="Arial MT"/>
                        </a:rPr>
                        <a:t>0.000</a:t>
                      </a:r>
                      <a:endParaRPr sz="1000">
                        <a:latin typeface="Arial MT"/>
                        <a:cs typeface="Arial MT"/>
                      </a:endParaRPr>
                    </a:p>
                  </a:txBody>
                  <a:tcPr marL="0" marR="0" marT="0" marB="0"/>
                </a:tc>
                <a:tc>
                  <a:txBody>
                    <a:bodyPr/>
                    <a:lstStyle/>
                    <a:p>
                      <a:pPr>
                        <a:lnSpc>
                          <a:spcPct val="100000"/>
                        </a:lnSpc>
                      </a:pPr>
                      <a:endParaRPr sz="1000">
                        <a:latin typeface="Times New Roman"/>
                        <a:cs typeface="Times New Roman"/>
                      </a:endParaRPr>
                    </a:p>
                  </a:txBody>
                  <a:tcPr marL="0" marR="0" marT="0" marB="0"/>
                </a:tc>
                <a:extLst>
                  <a:ext uri="{0D108BD9-81ED-4DB2-BD59-A6C34878D82A}">
                    <a16:rowId xmlns:a16="http://schemas.microsoft.com/office/drawing/2014/main" val="10002"/>
                  </a:ext>
                </a:extLst>
              </a:tr>
              <a:tr h="206375">
                <a:tc>
                  <a:txBody>
                    <a:bodyPr/>
                    <a:lstStyle/>
                    <a:p>
                      <a:pPr marL="75565">
                        <a:lnSpc>
                          <a:spcPts val="1175"/>
                        </a:lnSpc>
                      </a:pPr>
                      <a:r>
                        <a:rPr sz="1000" spc="-55" dirty="0">
                          <a:solidFill>
                            <a:srgbClr val="22373A"/>
                          </a:solidFill>
                          <a:latin typeface="Arial MT"/>
                          <a:cs typeface="Arial MT"/>
                        </a:rPr>
                        <a:t>Qwen2.5-</a:t>
                      </a:r>
                      <a:r>
                        <a:rPr sz="1000" spc="-25" dirty="0">
                          <a:solidFill>
                            <a:srgbClr val="22373A"/>
                          </a:solidFill>
                          <a:latin typeface="Arial MT"/>
                          <a:cs typeface="Arial MT"/>
                        </a:rPr>
                        <a:t>3B</a:t>
                      </a:r>
                      <a:endParaRPr sz="1000">
                        <a:latin typeface="Arial MT"/>
                        <a:cs typeface="Arial MT"/>
                      </a:endParaRPr>
                    </a:p>
                  </a:txBody>
                  <a:tcPr marL="0" marR="0" marT="0" marB="0">
                    <a:lnB w="12700">
                      <a:solidFill>
                        <a:srgbClr val="22373A"/>
                      </a:solidFill>
                      <a:prstDash val="solid"/>
                    </a:lnB>
                  </a:tcPr>
                </a:tc>
                <a:tc>
                  <a:txBody>
                    <a:bodyPr/>
                    <a:lstStyle/>
                    <a:p>
                      <a:pPr marR="61594" algn="ctr">
                        <a:lnSpc>
                          <a:spcPts val="1175"/>
                        </a:lnSpc>
                      </a:pPr>
                      <a:r>
                        <a:rPr sz="1000" spc="-10" dirty="0">
                          <a:solidFill>
                            <a:srgbClr val="22373A"/>
                          </a:solidFill>
                          <a:latin typeface="Arial MT"/>
                          <a:cs typeface="Arial MT"/>
                        </a:rPr>
                        <a:t>0.278</a:t>
                      </a:r>
                      <a:endParaRPr sz="1000">
                        <a:latin typeface="Arial MT"/>
                        <a:cs typeface="Arial MT"/>
                      </a:endParaRPr>
                    </a:p>
                  </a:txBody>
                  <a:tcPr marL="0" marR="0" marT="0" marB="0">
                    <a:lnB w="12700">
                      <a:solidFill>
                        <a:srgbClr val="22373A"/>
                      </a:solidFill>
                      <a:prstDash val="solid"/>
                    </a:lnB>
                  </a:tcPr>
                </a:tc>
                <a:tc>
                  <a:txBody>
                    <a:bodyPr/>
                    <a:lstStyle/>
                    <a:p>
                      <a:pPr marL="68580" algn="ctr">
                        <a:lnSpc>
                          <a:spcPts val="1175"/>
                        </a:lnSpc>
                      </a:pPr>
                      <a:r>
                        <a:rPr sz="1000" spc="-10" dirty="0">
                          <a:solidFill>
                            <a:srgbClr val="22373A"/>
                          </a:solidFill>
                          <a:latin typeface="Arial MT"/>
                          <a:cs typeface="Arial MT"/>
                        </a:rPr>
                        <a:t>0.000</a:t>
                      </a:r>
                      <a:endParaRPr sz="1000">
                        <a:latin typeface="Arial MT"/>
                        <a:cs typeface="Arial MT"/>
                      </a:endParaRPr>
                    </a:p>
                  </a:txBody>
                  <a:tcPr marL="0" marR="0" marT="0" marB="0">
                    <a:lnB w="12700">
                      <a:solidFill>
                        <a:srgbClr val="22373A"/>
                      </a:solidFill>
                      <a:prstDash val="solid"/>
                    </a:lnB>
                  </a:tcPr>
                </a:tc>
                <a:tc>
                  <a:txBody>
                    <a:bodyPr/>
                    <a:lstStyle/>
                    <a:p>
                      <a:pPr>
                        <a:lnSpc>
                          <a:spcPct val="100000"/>
                        </a:lnSpc>
                      </a:pPr>
                      <a:endParaRPr sz="1000">
                        <a:latin typeface="Times New Roman"/>
                        <a:cs typeface="Times New Roman"/>
                      </a:endParaRPr>
                    </a:p>
                  </a:txBody>
                  <a:tcPr marL="0" marR="0" marT="0" marB="0">
                    <a:lnB w="12700">
                      <a:solidFill>
                        <a:srgbClr val="22373A"/>
                      </a:solidFill>
                      <a:prstDash val="solid"/>
                    </a:lnB>
                  </a:tcPr>
                </a:tc>
                <a:tc>
                  <a:txBody>
                    <a:bodyPr/>
                    <a:lstStyle/>
                    <a:p>
                      <a:pPr marR="60960" algn="ctr">
                        <a:lnSpc>
                          <a:spcPts val="1175"/>
                        </a:lnSpc>
                      </a:pPr>
                      <a:r>
                        <a:rPr sz="1000" spc="-10" dirty="0">
                          <a:solidFill>
                            <a:srgbClr val="22373A"/>
                          </a:solidFill>
                          <a:latin typeface="Arial MT"/>
                          <a:cs typeface="Arial MT"/>
                        </a:rPr>
                        <a:t>0.114</a:t>
                      </a:r>
                      <a:endParaRPr sz="1000">
                        <a:latin typeface="Arial MT"/>
                        <a:cs typeface="Arial MT"/>
                      </a:endParaRPr>
                    </a:p>
                  </a:txBody>
                  <a:tcPr marL="0" marR="0" marT="0" marB="0">
                    <a:lnB w="12700">
                      <a:solidFill>
                        <a:srgbClr val="22373A"/>
                      </a:solidFill>
                      <a:prstDash val="solid"/>
                    </a:lnB>
                  </a:tcPr>
                </a:tc>
                <a:tc>
                  <a:txBody>
                    <a:bodyPr/>
                    <a:lstStyle/>
                    <a:p>
                      <a:pPr marL="69215" algn="ctr">
                        <a:lnSpc>
                          <a:spcPts val="1175"/>
                        </a:lnSpc>
                      </a:pPr>
                      <a:r>
                        <a:rPr sz="1000" spc="-10" dirty="0">
                          <a:solidFill>
                            <a:srgbClr val="22373A"/>
                          </a:solidFill>
                          <a:latin typeface="Arial MT"/>
                          <a:cs typeface="Arial MT"/>
                        </a:rPr>
                        <a:t>0.000</a:t>
                      </a:r>
                      <a:endParaRPr sz="1000">
                        <a:latin typeface="Arial MT"/>
                        <a:cs typeface="Arial MT"/>
                      </a:endParaRPr>
                    </a:p>
                  </a:txBody>
                  <a:tcPr marL="0" marR="0" marT="0" marB="0">
                    <a:lnB w="12700">
                      <a:solidFill>
                        <a:srgbClr val="22373A"/>
                      </a:solidFill>
                      <a:prstDash val="solid"/>
                    </a:lnB>
                  </a:tcPr>
                </a:tc>
                <a:tc>
                  <a:txBody>
                    <a:bodyPr/>
                    <a:lstStyle/>
                    <a:p>
                      <a:pPr>
                        <a:lnSpc>
                          <a:spcPct val="100000"/>
                        </a:lnSpc>
                      </a:pPr>
                      <a:endParaRPr sz="1000">
                        <a:latin typeface="Times New Roman"/>
                        <a:cs typeface="Times New Roman"/>
                      </a:endParaRPr>
                    </a:p>
                  </a:txBody>
                  <a:tcPr marL="0" marR="0" marT="0" marB="0">
                    <a:lnB w="12700">
                      <a:solidFill>
                        <a:srgbClr val="22373A"/>
                      </a:solidFill>
                      <a:prstDash val="solid"/>
                    </a:lnB>
                  </a:tcPr>
                </a:tc>
                <a:extLst>
                  <a:ext uri="{0D108BD9-81ED-4DB2-BD59-A6C34878D82A}">
                    <a16:rowId xmlns:a16="http://schemas.microsoft.com/office/drawing/2014/main" val="10003"/>
                  </a:ext>
                </a:extLst>
              </a:tr>
            </a:tbl>
          </a:graphicData>
        </a:graphic>
      </p:graphicFrame>
      <p:sp>
        <p:nvSpPr>
          <p:cNvPr id="11" name="object 11"/>
          <p:cNvSpPr/>
          <p:nvPr/>
        </p:nvSpPr>
        <p:spPr>
          <a:xfrm>
            <a:off x="359994" y="2178634"/>
            <a:ext cx="5039995" cy="0"/>
          </a:xfrm>
          <a:custGeom>
            <a:avLst/>
            <a:gdLst/>
            <a:ahLst/>
            <a:cxnLst/>
            <a:rect l="l" t="t" r="r" b="b"/>
            <a:pathLst>
              <a:path w="5039995">
                <a:moveTo>
                  <a:pt x="0" y="0"/>
                </a:moveTo>
                <a:lnTo>
                  <a:pt x="5039995" y="0"/>
                </a:lnTo>
              </a:path>
            </a:pathLst>
          </a:custGeom>
          <a:ln w="7594">
            <a:solidFill>
              <a:srgbClr val="2D7DB8"/>
            </a:solidFill>
          </a:ln>
        </p:spPr>
        <p:txBody>
          <a:bodyPr wrap="square" lIns="0" tIns="0" rIns="0" bIns="0" rtlCol="0"/>
          <a:lstStyle/>
          <a:p>
            <a:endParaRPr/>
          </a:p>
        </p:txBody>
      </p:sp>
      <p:pic>
        <p:nvPicPr>
          <p:cNvPr id="13" name="object 13"/>
          <p:cNvPicPr/>
          <p:nvPr/>
        </p:nvPicPr>
        <p:blipFill>
          <a:blip r:embed="rId3" cstate="print"/>
          <a:stretch>
            <a:fillRect/>
          </a:stretch>
        </p:blipFill>
        <p:spPr>
          <a:xfrm>
            <a:off x="101282" y="2998905"/>
            <a:ext cx="241983" cy="187117"/>
          </a:xfrm>
          <a:prstGeom prst="rect">
            <a:avLst/>
          </a:prstGeom>
        </p:spPr>
      </p:pic>
      <p:pic>
        <p:nvPicPr>
          <p:cNvPr id="14" name="object 14"/>
          <p:cNvPicPr/>
          <p:nvPr/>
        </p:nvPicPr>
        <p:blipFill>
          <a:blip r:embed="rId4" cstate="print"/>
          <a:stretch>
            <a:fillRect/>
          </a:stretch>
        </p:blipFill>
        <p:spPr>
          <a:xfrm>
            <a:off x="433285" y="2998965"/>
            <a:ext cx="187057" cy="187057"/>
          </a:xfrm>
          <a:prstGeom prst="rect">
            <a:avLst/>
          </a:prstGeom>
        </p:spPr>
      </p:pic>
      <p:pic>
        <p:nvPicPr>
          <p:cNvPr id="15" name="object 15"/>
          <p:cNvPicPr/>
          <p:nvPr/>
        </p:nvPicPr>
        <p:blipFill>
          <a:blip r:embed="rId5" cstate="print"/>
          <a:stretch>
            <a:fillRect/>
          </a:stretch>
        </p:blipFill>
        <p:spPr>
          <a:xfrm>
            <a:off x="710349" y="2998815"/>
            <a:ext cx="187208" cy="187208"/>
          </a:xfrm>
          <a:prstGeom prst="rect">
            <a:avLst/>
          </a:prstGeom>
        </p:spPr>
      </p:pic>
      <p:sp>
        <p:nvSpPr>
          <p:cNvPr id="16" name="object 16"/>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19</a:t>
            </a:r>
            <a:r>
              <a:rPr spc="-80" dirty="0"/>
              <a:t> </a:t>
            </a:r>
            <a:r>
              <a:rPr spc="195" dirty="0"/>
              <a:t>/</a:t>
            </a:r>
            <a:r>
              <a:rPr spc="-75" dirty="0"/>
              <a:t> </a:t>
            </a:r>
            <a:r>
              <a:rPr spc="-25" dirty="0"/>
              <a:t>32</a:t>
            </a:r>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2770" y="76349"/>
            <a:ext cx="1247775" cy="207645"/>
          </a:xfrm>
          <a:prstGeom prst="rect">
            <a:avLst/>
          </a:prstGeom>
        </p:spPr>
        <p:txBody>
          <a:bodyPr vert="horz" wrap="square" lIns="0" tIns="12065" rIns="0" bIns="0" rtlCol="0">
            <a:spAutoFit/>
          </a:bodyPr>
          <a:lstStyle/>
          <a:p>
            <a:pPr marL="12700">
              <a:lnSpc>
                <a:spcPct val="100000"/>
              </a:lnSpc>
              <a:spcBef>
                <a:spcPts val="95"/>
              </a:spcBef>
            </a:pPr>
            <a:r>
              <a:rPr dirty="0"/>
              <a:t>The</a:t>
            </a:r>
            <a:r>
              <a:rPr spc="55" dirty="0"/>
              <a:t> </a:t>
            </a:r>
            <a:r>
              <a:rPr dirty="0"/>
              <a:t>main</a:t>
            </a:r>
            <a:r>
              <a:rPr spc="55" dirty="0"/>
              <a:t> </a:t>
            </a:r>
            <a:r>
              <a:rPr spc="-25" dirty="0"/>
              <a:t>finding</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3780154" cy="5080"/>
            </a:xfrm>
            <a:custGeom>
              <a:avLst/>
              <a:gdLst/>
              <a:ahLst/>
              <a:cxnLst/>
              <a:rect l="l" t="t" r="r" b="b"/>
              <a:pathLst>
                <a:path w="3780154" h="5079">
                  <a:moveTo>
                    <a:pt x="0" y="5060"/>
                  </a:moveTo>
                  <a:lnTo>
                    <a:pt x="0" y="0"/>
                  </a:lnTo>
                  <a:lnTo>
                    <a:pt x="3780048" y="0"/>
                  </a:lnTo>
                  <a:lnTo>
                    <a:pt x="3780048" y="5060"/>
                  </a:lnTo>
                  <a:lnTo>
                    <a:pt x="0" y="5060"/>
                  </a:lnTo>
                  <a:close/>
                </a:path>
              </a:pathLst>
            </a:custGeom>
            <a:solidFill>
              <a:srgbClr val="2D7DB8"/>
            </a:solidFill>
          </p:spPr>
          <p:txBody>
            <a:bodyPr wrap="square" lIns="0" tIns="0" rIns="0" bIns="0" rtlCol="0"/>
            <a:lstStyle/>
            <a:p>
              <a:endParaRPr/>
            </a:p>
          </p:txBody>
        </p:sp>
      </p:grpSp>
      <p:graphicFrame>
        <p:nvGraphicFramePr>
          <p:cNvPr id="7" name="object 7"/>
          <p:cNvGraphicFramePr>
            <a:graphicFrameLocks noGrp="1"/>
          </p:cNvGraphicFramePr>
          <p:nvPr/>
        </p:nvGraphicFramePr>
        <p:xfrm>
          <a:off x="1088618" y="676109"/>
          <a:ext cx="3583304" cy="843915"/>
        </p:xfrm>
        <a:graphic>
          <a:graphicData uri="http://schemas.openxmlformats.org/drawingml/2006/table">
            <a:tbl>
              <a:tblPr firstRow="1" bandRow="1">
                <a:tableStyleId>{2D5ABB26-0587-4C30-8999-92F81FD0307C}</a:tableStyleId>
              </a:tblPr>
              <a:tblGrid>
                <a:gridCol w="1155065">
                  <a:extLst>
                    <a:ext uri="{9D8B030D-6E8A-4147-A177-3AD203B41FA5}">
                      <a16:colId xmlns:a16="http://schemas.microsoft.com/office/drawing/2014/main" val="20000"/>
                    </a:ext>
                  </a:extLst>
                </a:gridCol>
                <a:gridCol w="685165">
                  <a:extLst>
                    <a:ext uri="{9D8B030D-6E8A-4147-A177-3AD203B41FA5}">
                      <a16:colId xmlns:a16="http://schemas.microsoft.com/office/drawing/2014/main" val="20001"/>
                    </a:ext>
                  </a:extLst>
                </a:gridCol>
                <a:gridCol w="923925">
                  <a:extLst>
                    <a:ext uri="{9D8B030D-6E8A-4147-A177-3AD203B41FA5}">
                      <a16:colId xmlns:a16="http://schemas.microsoft.com/office/drawing/2014/main" val="20002"/>
                    </a:ext>
                  </a:extLst>
                </a:gridCol>
                <a:gridCol w="819149">
                  <a:extLst>
                    <a:ext uri="{9D8B030D-6E8A-4147-A177-3AD203B41FA5}">
                      <a16:colId xmlns:a16="http://schemas.microsoft.com/office/drawing/2014/main" val="20003"/>
                    </a:ext>
                  </a:extLst>
                </a:gridCol>
              </a:tblGrid>
              <a:tr h="247650">
                <a:tc>
                  <a:txBody>
                    <a:bodyPr/>
                    <a:lstStyle/>
                    <a:p>
                      <a:pPr marL="75565">
                        <a:lnSpc>
                          <a:spcPct val="100000"/>
                        </a:lnSpc>
                        <a:spcBef>
                          <a:spcPts val="320"/>
                        </a:spcBef>
                      </a:pPr>
                      <a:r>
                        <a:rPr sz="1000" spc="-10" dirty="0">
                          <a:solidFill>
                            <a:srgbClr val="22373A"/>
                          </a:solidFill>
                          <a:latin typeface="Arial MT"/>
                          <a:cs typeface="Arial MT"/>
                        </a:rPr>
                        <a:t>Model</a:t>
                      </a:r>
                      <a:endParaRPr sz="1000">
                        <a:latin typeface="Arial MT"/>
                        <a:cs typeface="Arial MT"/>
                      </a:endParaRPr>
                    </a:p>
                  </a:txBody>
                  <a:tcPr marL="0" marR="0" marT="40640" marB="0">
                    <a:lnT w="12700">
                      <a:solidFill>
                        <a:srgbClr val="22373A"/>
                      </a:solidFill>
                      <a:prstDash val="solid"/>
                    </a:lnT>
                    <a:lnB w="9525">
                      <a:solidFill>
                        <a:srgbClr val="22373A"/>
                      </a:solidFill>
                      <a:prstDash val="solid"/>
                    </a:lnB>
                  </a:tcPr>
                </a:tc>
                <a:tc>
                  <a:txBody>
                    <a:bodyPr/>
                    <a:lstStyle/>
                    <a:p>
                      <a:pPr algn="ctr">
                        <a:lnSpc>
                          <a:spcPct val="100000"/>
                        </a:lnSpc>
                        <a:spcBef>
                          <a:spcPts val="320"/>
                        </a:spcBef>
                      </a:pPr>
                      <a:r>
                        <a:rPr sz="1000" spc="-10" dirty="0">
                          <a:solidFill>
                            <a:srgbClr val="22373A"/>
                          </a:solidFill>
                          <a:latin typeface="Arial MT"/>
                          <a:cs typeface="Arial MT"/>
                        </a:rPr>
                        <a:t>Reachable</a:t>
                      </a:r>
                      <a:endParaRPr sz="1000">
                        <a:latin typeface="Arial MT"/>
                        <a:cs typeface="Arial MT"/>
                      </a:endParaRPr>
                    </a:p>
                  </a:txBody>
                  <a:tcPr marL="0" marR="0" marT="40640" marB="0">
                    <a:lnT w="12700">
                      <a:solidFill>
                        <a:srgbClr val="22373A"/>
                      </a:solidFill>
                      <a:prstDash val="solid"/>
                    </a:lnT>
                    <a:lnB w="9525">
                      <a:solidFill>
                        <a:srgbClr val="22373A"/>
                      </a:solidFill>
                      <a:prstDash val="solid"/>
                    </a:lnB>
                  </a:tcPr>
                </a:tc>
                <a:tc>
                  <a:txBody>
                    <a:bodyPr/>
                    <a:lstStyle/>
                    <a:p>
                      <a:pPr algn="ctr">
                        <a:lnSpc>
                          <a:spcPct val="100000"/>
                        </a:lnSpc>
                        <a:spcBef>
                          <a:spcPts val="320"/>
                        </a:spcBef>
                      </a:pPr>
                      <a:r>
                        <a:rPr sz="1000" spc="-55" dirty="0">
                          <a:solidFill>
                            <a:srgbClr val="22373A"/>
                          </a:solidFill>
                          <a:latin typeface="Arial MT"/>
                          <a:cs typeface="Arial MT"/>
                        </a:rPr>
                        <a:t>Rerank</a:t>
                      </a:r>
                      <a:r>
                        <a:rPr sz="1000" spc="30" dirty="0">
                          <a:solidFill>
                            <a:srgbClr val="22373A"/>
                          </a:solidFill>
                          <a:latin typeface="Arial MT"/>
                          <a:cs typeface="Arial MT"/>
                        </a:rPr>
                        <a:t> </a:t>
                      </a:r>
                      <a:r>
                        <a:rPr sz="1000" spc="-10" dirty="0">
                          <a:solidFill>
                            <a:srgbClr val="22373A"/>
                          </a:solidFill>
                          <a:latin typeface="Arial MT"/>
                          <a:cs typeface="Arial MT"/>
                        </a:rPr>
                        <a:t>correct</a:t>
                      </a:r>
                      <a:endParaRPr sz="1000">
                        <a:latin typeface="Arial MT"/>
                        <a:cs typeface="Arial MT"/>
                      </a:endParaRPr>
                    </a:p>
                  </a:txBody>
                  <a:tcPr marL="0" marR="0" marT="40640" marB="0">
                    <a:lnT w="12700">
                      <a:solidFill>
                        <a:srgbClr val="22373A"/>
                      </a:solidFill>
                      <a:prstDash val="solid"/>
                    </a:lnT>
                    <a:lnB w="9525">
                      <a:solidFill>
                        <a:srgbClr val="22373A"/>
                      </a:solidFill>
                      <a:prstDash val="solid"/>
                    </a:lnB>
                  </a:tcPr>
                </a:tc>
                <a:tc>
                  <a:txBody>
                    <a:bodyPr/>
                    <a:lstStyle/>
                    <a:p>
                      <a:pPr algn="ctr">
                        <a:lnSpc>
                          <a:spcPct val="100000"/>
                        </a:lnSpc>
                        <a:spcBef>
                          <a:spcPts val="320"/>
                        </a:spcBef>
                      </a:pPr>
                      <a:r>
                        <a:rPr sz="1000" spc="-20" dirty="0">
                          <a:solidFill>
                            <a:srgbClr val="22373A"/>
                          </a:solidFill>
                          <a:latin typeface="Arial MT"/>
                          <a:cs typeface="Arial MT"/>
                        </a:rPr>
                        <a:t>Exact</a:t>
                      </a:r>
                      <a:r>
                        <a:rPr sz="1000" spc="-25" dirty="0">
                          <a:solidFill>
                            <a:srgbClr val="22373A"/>
                          </a:solidFill>
                          <a:latin typeface="Arial MT"/>
                          <a:cs typeface="Arial MT"/>
                        </a:rPr>
                        <a:t> </a:t>
                      </a:r>
                      <a:r>
                        <a:rPr sz="1000" spc="-10" dirty="0">
                          <a:solidFill>
                            <a:srgbClr val="22373A"/>
                          </a:solidFill>
                          <a:latin typeface="Arial MT"/>
                          <a:cs typeface="Arial MT"/>
                        </a:rPr>
                        <a:t>match</a:t>
                      </a:r>
                      <a:endParaRPr sz="1000">
                        <a:latin typeface="Arial MT"/>
                        <a:cs typeface="Arial MT"/>
                      </a:endParaRPr>
                    </a:p>
                  </a:txBody>
                  <a:tcPr marL="0" marR="0" marT="40640" marB="0">
                    <a:lnT w="12700">
                      <a:solidFill>
                        <a:srgbClr val="22373A"/>
                      </a:solidFill>
                      <a:prstDash val="solid"/>
                    </a:lnT>
                    <a:lnB w="9525">
                      <a:solidFill>
                        <a:srgbClr val="22373A"/>
                      </a:solidFill>
                      <a:prstDash val="solid"/>
                    </a:lnB>
                  </a:tcPr>
                </a:tc>
                <a:extLst>
                  <a:ext uri="{0D108BD9-81ED-4DB2-BD59-A6C34878D82A}">
                    <a16:rowId xmlns:a16="http://schemas.microsoft.com/office/drawing/2014/main" val="10000"/>
                  </a:ext>
                </a:extLst>
              </a:tr>
              <a:tr h="215900">
                <a:tc>
                  <a:txBody>
                    <a:bodyPr/>
                    <a:lstStyle/>
                    <a:p>
                      <a:pPr marL="75565">
                        <a:lnSpc>
                          <a:spcPct val="100000"/>
                        </a:lnSpc>
                        <a:spcBef>
                          <a:spcPts val="305"/>
                        </a:spcBef>
                      </a:pPr>
                      <a:r>
                        <a:rPr sz="1000" spc="-35" dirty="0">
                          <a:solidFill>
                            <a:srgbClr val="22373A"/>
                          </a:solidFill>
                          <a:latin typeface="Arial MT"/>
                          <a:cs typeface="Arial MT"/>
                        </a:rPr>
                        <a:t>Mistral-Nemo-</a:t>
                      </a:r>
                      <a:r>
                        <a:rPr sz="1000" spc="-25" dirty="0">
                          <a:solidFill>
                            <a:srgbClr val="22373A"/>
                          </a:solidFill>
                          <a:latin typeface="Arial MT"/>
                          <a:cs typeface="Arial MT"/>
                        </a:rPr>
                        <a:t>12B</a:t>
                      </a:r>
                      <a:endParaRPr sz="1000">
                        <a:latin typeface="Arial MT"/>
                        <a:cs typeface="Arial MT"/>
                      </a:endParaRPr>
                    </a:p>
                  </a:txBody>
                  <a:tcPr marL="0" marR="0" marT="38735" marB="0">
                    <a:lnT w="9525">
                      <a:solidFill>
                        <a:srgbClr val="22373A"/>
                      </a:solidFill>
                      <a:prstDash val="solid"/>
                    </a:lnT>
                  </a:tcPr>
                </a:tc>
                <a:tc>
                  <a:txBody>
                    <a:bodyPr/>
                    <a:lstStyle/>
                    <a:p>
                      <a:pPr algn="ctr">
                        <a:lnSpc>
                          <a:spcPct val="100000"/>
                        </a:lnSpc>
                        <a:spcBef>
                          <a:spcPts val="305"/>
                        </a:spcBef>
                      </a:pPr>
                      <a:r>
                        <a:rPr sz="1000" spc="-10" dirty="0">
                          <a:solidFill>
                            <a:srgbClr val="22373A"/>
                          </a:solidFill>
                          <a:latin typeface="Arial MT"/>
                          <a:cs typeface="Arial MT"/>
                        </a:rPr>
                        <a:t>15/18</a:t>
                      </a:r>
                      <a:endParaRPr sz="1000">
                        <a:latin typeface="Arial MT"/>
                        <a:cs typeface="Arial MT"/>
                      </a:endParaRPr>
                    </a:p>
                  </a:txBody>
                  <a:tcPr marL="0" marR="0" marT="38735" marB="0">
                    <a:lnT w="9525">
                      <a:solidFill>
                        <a:srgbClr val="22373A"/>
                      </a:solidFill>
                      <a:prstDash val="solid"/>
                    </a:lnT>
                  </a:tcPr>
                </a:tc>
                <a:tc>
                  <a:txBody>
                    <a:bodyPr/>
                    <a:lstStyle/>
                    <a:p>
                      <a:pPr algn="ctr">
                        <a:lnSpc>
                          <a:spcPct val="100000"/>
                        </a:lnSpc>
                        <a:spcBef>
                          <a:spcPts val="305"/>
                        </a:spcBef>
                      </a:pPr>
                      <a:r>
                        <a:rPr sz="1000" spc="-10" dirty="0">
                          <a:solidFill>
                            <a:srgbClr val="2D7DB8"/>
                          </a:solidFill>
                          <a:latin typeface="Arial MT"/>
                          <a:cs typeface="Arial MT"/>
                        </a:rPr>
                        <a:t>15/15</a:t>
                      </a:r>
                      <a:endParaRPr sz="1000">
                        <a:latin typeface="Arial MT"/>
                        <a:cs typeface="Arial MT"/>
                      </a:endParaRPr>
                    </a:p>
                  </a:txBody>
                  <a:tcPr marL="0" marR="0" marT="38735" marB="0">
                    <a:lnT w="9525">
                      <a:solidFill>
                        <a:srgbClr val="22373A"/>
                      </a:solidFill>
                      <a:prstDash val="solid"/>
                    </a:lnT>
                  </a:tcPr>
                </a:tc>
                <a:tc>
                  <a:txBody>
                    <a:bodyPr/>
                    <a:lstStyle/>
                    <a:p>
                      <a:pPr algn="ctr">
                        <a:lnSpc>
                          <a:spcPct val="100000"/>
                        </a:lnSpc>
                        <a:spcBef>
                          <a:spcPts val="305"/>
                        </a:spcBef>
                      </a:pPr>
                      <a:r>
                        <a:rPr sz="1000" spc="-10" dirty="0">
                          <a:solidFill>
                            <a:srgbClr val="22373A"/>
                          </a:solidFill>
                          <a:latin typeface="Arial MT"/>
                          <a:cs typeface="Arial MT"/>
                        </a:rPr>
                        <a:t>0.833</a:t>
                      </a:r>
                      <a:endParaRPr sz="1000">
                        <a:latin typeface="Arial MT"/>
                        <a:cs typeface="Arial MT"/>
                      </a:endParaRPr>
                    </a:p>
                  </a:txBody>
                  <a:tcPr marL="0" marR="0" marT="38735" marB="0">
                    <a:lnT w="9525">
                      <a:solidFill>
                        <a:srgbClr val="22373A"/>
                      </a:solidFill>
                      <a:prstDash val="solid"/>
                    </a:lnT>
                  </a:tcPr>
                </a:tc>
                <a:extLst>
                  <a:ext uri="{0D108BD9-81ED-4DB2-BD59-A6C34878D82A}">
                    <a16:rowId xmlns:a16="http://schemas.microsoft.com/office/drawing/2014/main" val="10001"/>
                  </a:ext>
                </a:extLst>
              </a:tr>
              <a:tr h="173990">
                <a:tc>
                  <a:txBody>
                    <a:bodyPr/>
                    <a:lstStyle/>
                    <a:p>
                      <a:pPr marL="75565">
                        <a:lnSpc>
                          <a:spcPts val="1175"/>
                        </a:lnSpc>
                      </a:pPr>
                      <a:r>
                        <a:rPr sz="1000" spc="-60" dirty="0">
                          <a:solidFill>
                            <a:srgbClr val="22373A"/>
                          </a:solidFill>
                          <a:latin typeface="Arial MT"/>
                          <a:cs typeface="Arial MT"/>
                        </a:rPr>
                        <a:t>Qwen2.5-</a:t>
                      </a:r>
                      <a:r>
                        <a:rPr sz="1000" spc="-50" dirty="0">
                          <a:solidFill>
                            <a:srgbClr val="22373A"/>
                          </a:solidFill>
                          <a:latin typeface="Arial MT"/>
                          <a:cs typeface="Arial MT"/>
                        </a:rPr>
                        <a:t>Coder-</a:t>
                      </a:r>
                      <a:r>
                        <a:rPr sz="1000" spc="-25" dirty="0">
                          <a:solidFill>
                            <a:srgbClr val="22373A"/>
                          </a:solidFill>
                          <a:latin typeface="Arial MT"/>
                          <a:cs typeface="Arial MT"/>
                        </a:rPr>
                        <a:t>7B</a:t>
                      </a:r>
                      <a:endParaRPr sz="1000">
                        <a:latin typeface="Arial MT"/>
                        <a:cs typeface="Arial MT"/>
                      </a:endParaRPr>
                    </a:p>
                  </a:txBody>
                  <a:tcPr marL="0" marR="0" marT="0" marB="0"/>
                </a:tc>
                <a:tc>
                  <a:txBody>
                    <a:bodyPr/>
                    <a:lstStyle/>
                    <a:p>
                      <a:pPr algn="ctr">
                        <a:lnSpc>
                          <a:spcPts val="1175"/>
                        </a:lnSpc>
                      </a:pPr>
                      <a:r>
                        <a:rPr sz="1000" spc="-20" dirty="0">
                          <a:solidFill>
                            <a:srgbClr val="22373A"/>
                          </a:solidFill>
                          <a:latin typeface="Arial MT"/>
                          <a:cs typeface="Arial MT"/>
                        </a:rPr>
                        <a:t>2/18</a:t>
                      </a:r>
                      <a:endParaRPr sz="1000">
                        <a:latin typeface="Arial MT"/>
                        <a:cs typeface="Arial MT"/>
                      </a:endParaRPr>
                    </a:p>
                  </a:txBody>
                  <a:tcPr marL="0" marR="0" marT="0" marB="0"/>
                </a:tc>
                <a:tc>
                  <a:txBody>
                    <a:bodyPr/>
                    <a:lstStyle/>
                    <a:p>
                      <a:pPr algn="ctr">
                        <a:lnSpc>
                          <a:spcPts val="1175"/>
                        </a:lnSpc>
                      </a:pPr>
                      <a:r>
                        <a:rPr sz="1000" spc="-25" dirty="0">
                          <a:solidFill>
                            <a:srgbClr val="2D7DB8"/>
                          </a:solidFill>
                          <a:latin typeface="Arial MT"/>
                          <a:cs typeface="Arial MT"/>
                        </a:rPr>
                        <a:t>2/2</a:t>
                      </a:r>
                      <a:endParaRPr sz="1000">
                        <a:latin typeface="Arial MT"/>
                        <a:cs typeface="Arial MT"/>
                      </a:endParaRPr>
                    </a:p>
                  </a:txBody>
                  <a:tcPr marL="0" marR="0" marT="0" marB="0"/>
                </a:tc>
                <a:tc>
                  <a:txBody>
                    <a:bodyPr/>
                    <a:lstStyle/>
                    <a:p>
                      <a:pPr algn="ctr">
                        <a:lnSpc>
                          <a:spcPts val="1175"/>
                        </a:lnSpc>
                      </a:pPr>
                      <a:r>
                        <a:rPr sz="1000" spc="-10" dirty="0">
                          <a:solidFill>
                            <a:srgbClr val="22373A"/>
                          </a:solidFill>
                          <a:latin typeface="Arial MT"/>
                          <a:cs typeface="Arial MT"/>
                        </a:rPr>
                        <a:t>0.111</a:t>
                      </a:r>
                      <a:endParaRPr sz="1000">
                        <a:latin typeface="Arial MT"/>
                        <a:cs typeface="Arial MT"/>
                      </a:endParaRPr>
                    </a:p>
                  </a:txBody>
                  <a:tcPr marL="0" marR="0" marT="0" marB="0"/>
                </a:tc>
                <a:extLst>
                  <a:ext uri="{0D108BD9-81ED-4DB2-BD59-A6C34878D82A}">
                    <a16:rowId xmlns:a16="http://schemas.microsoft.com/office/drawing/2014/main" val="10002"/>
                  </a:ext>
                </a:extLst>
              </a:tr>
              <a:tr h="206375">
                <a:tc>
                  <a:txBody>
                    <a:bodyPr/>
                    <a:lstStyle/>
                    <a:p>
                      <a:pPr marL="75565">
                        <a:lnSpc>
                          <a:spcPts val="1175"/>
                        </a:lnSpc>
                      </a:pPr>
                      <a:r>
                        <a:rPr sz="1000" spc="-55" dirty="0">
                          <a:solidFill>
                            <a:srgbClr val="22373A"/>
                          </a:solidFill>
                          <a:latin typeface="Arial MT"/>
                          <a:cs typeface="Arial MT"/>
                        </a:rPr>
                        <a:t>Qwen2.5-</a:t>
                      </a:r>
                      <a:r>
                        <a:rPr sz="1000" spc="-25" dirty="0">
                          <a:solidFill>
                            <a:srgbClr val="22373A"/>
                          </a:solidFill>
                          <a:latin typeface="Arial MT"/>
                          <a:cs typeface="Arial MT"/>
                        </a:rPr>
                        <a:t>3B</a:t>
                      </a:r>
                      <a:endParaRPr sz="1000">
                        <a:latin typeface="Arial MT"/>
                        <a:cs typeface="Arial MT"/>
                      </a:endParaRPr>
                    </a:p>
                  </a:txBody>
                  <a:tcPr marL="0" marR="0" marT="0" marB="0">
                    <a:lnB w="12700">
                      <a:solidFill>
                        <a:srgbClr val="22373A"/>
                      </a:solidFill>
                      <a:prstDash val="solid"/>
                    </a:lnB>
                  </a:tcPr>
                </a:tc>
                <a:tc>
                  <a:txBody>
                    <a:bodyPr/>
                    <a:lstStyle/>
                    <a:p>
                      <a:pPr algn="ctr">
                        <a:lnSpc>
                          <a:spcPts val="1175"/>
                        </a:lnSpc>
                      </a:pPr>
                      <a:r>
                        <a:rPr sz="1000" spc="-20" dirty="0">
                          <a:solidFill>
                            <a:srgbClr val="22373A"/>
                          </a:solidFill>
                          <a:latin typeface="Arial MT"/>
                          <a:cs typeface="Arial MT"/>
                        </a:rPr>
                        <a:t>5/18</a:t>
                      </a:r>
                      <a:endParaRPr sz="1000">
                        <a:latin typeface="Arial MT"/>
                        <a:cs typeface="Arial MT"/>
                      </a:endParaRPr>
                    </a:p>
                  </a:txBody>
                  <a:tcPr marL="0" marR="0" marT="0" marB="0">
                    <a:lnB w="12700">
                      <a:solidFill>
                        <a:srgbClr val="22373A"/>
                      </a:solidFill>
                      <a:prstDash val="solid"/>
                    </a:lnB>
                  </a:tcPr>
                </a:tc>
                <a:tc>
                  <a:txBody>
                    <a:bodyPr/>
                    <a:lstStyle/>
                    <a:p>
                      <a:pPr algn="ctr">
                        <a:lnSpc>
                          <a:spcPts val="1175"/>
                        </a:lnSpc>
                      </a:pPr>
                      <a:r>
                        <a:rPr sz="1000" spc="-25" dirty="0">
                          <a:solidFill>
                            <a:srgbClr val="2D7DB8"/>
                          </a:solidFill>
                          <a:latin typeface="Arial MT"/>
                          <a:cs typeface="Arial MT"/>
                        </a:rPr>
                        <a:t>5/5</a:t>
                      </a:r>
                      <a:endParaRPr sz="1000">
                        <a:latin typeface="Arial MT"/>
                        <a:cs typeface="Arial MT"/>
                      </a:endParaRPr>
                    </a:p>
                  </a:txBody>
                  <a:tcPr marL="0" marR="0" marT="0" marB="0">
                    <a:lnB w="12700">
                      <a:solidFill>
                        <a:srgbClr val="22373A"/>
                      </a:solidFill>
                      <a:prstDash val="solid"/>
                    </a:lnB>
                  </a:tcPr>
                </a:tc>
                <a:tc>
                  <a:txBody>
                    <a:bodyPr/>
                    <a:lstStyle/>
                    <a:p>
                      <a:pPr algn="ctr">
                        <a:lnSpc>
                          <a:spcPts val="1175"/>
                        </a:lnSpc>
                      </a:pPr>
                      <a:r>
                        <a:rPr sz="1000" spc="-10" dirty="0">
                          <a:solidFill>
                            <a:srgbClr val="22373A"/>
                          </a:solidFill>
                          <a:latin typeface="Arial MT"/>
                          <a:cs typeface="Arial MT"/>
                        </a:rPr>
                        <a:t>0.278</a:t>
                      </a:r>
                      <a:endParaRPr sz="1000">
                        <a:latin typeface="Arial MT"/>
                        <a:cs typeface="Arial MT"/>
                      </a:endParaRPr>
                    </a:p>
                  </a:txBody>
                  <a:tcPr marL="0" marR="0" marT="0" marB="0">
                    <a:lnB w="12700">
                      <a:solidFill>
                        <a:srgbClr val="22373A"/>
                      </a:solidFill>
                      <a:prstDash val="solid"/>
                    </a:lnB>
                  </a:tcPr>
                </a:tc>
                <a:extLst>
                  <a:ext uri="{0D108BD9-81ED-4DB2-BD59-A6C34878D82A}">
                    <a16:rowId xmlns:a16="http://schemas.microsoft.com/office/drawing/2014/main" val="10003"/>
                  </a:ext>
                </a:extLst>
              </a:tr>
            </a:tbl>
          </a:graphicData>
        </a:graphic>
      </p:graphicFrame>
      <p:sp>
        <p:nvSpPr>
          <p:cNvPr id="8" name="object 8"/>
          <p:cNvSpPr txBox="1"/>
          <p:nvPr/>
        </p:nvSpPr>
        <p:spPr>
          <a:xfrm>
            <a:off x="347294" y="1641409"/>
            <a:ext cx="5066665" cy="194797"/>
          </a:xfrm>
          <a:prstGeom prst="rect">
            <a:avLst/>
          </a:prstGeom>
        </p:spPr>
        <p:txBody>
          <a:bodyPr vert="horz" wrap="square" lIns="0" tIns="12700" rIns="0" bIns="0" rtlCol="0">
            <a:spAutoFit/>
          </a:bodyPr>
          <a:lstStyle/>
          <a:p>
            <a:pPr marL="12700" marR="5080">
              <a:lnSpc>
                <a:spcPct val="118000"/>
              </a:lnSpc>
              <a:spcBef>
                <a:spcPts val="100"/>
              </a:spcBef>
            </a:pPr>
            <a:r>
              <a:rPr sz="1100" spc="-60" dirty="0">
                <a:solidFill>
                  <a:srgbClr val="22373A"/>
                </a:solidFill>
                <a:latin typeface="Arial MT"/>
                <a:cs typeface="Arial MT"/>
              </a:rPr>
              <a:t>Every</a:t>
            </a:r>
            <a:r>
              <a:rPr sz="1100" spc="-15" dirty="0">
                <a:solidFill>
                  <a:srgbClr val="22373A"/>
                </a:solidFill>
                <a:latin typeface="Arial MT"/>
                <a:cs typeface="Arial MT"/>
              </a:rPr>
              <a:t> </a:t>
            </a:r>
            <a:r>
              <a:rPr sz="1100" spc="-50" dirty="0">
                <a:solidFill>
                  <a:srgbClr val="22373A"/>
                </a:solidFill>
                <a:latin typeface="Arial MT"/>
                <a:cs typeface="Arial MT"/>
              </a:rPr>
              <a:t>model’s</a:t>
            </a:r>
            <a:r>
              <a:rPr sz="1100" spc="-25" dirty="0">
                <a:solidFill>
                  <a:srgbClr val="22373A"/>
                </a:solidFill>
                <a:latin typeface="Arial MT"/>
                <a:cs typeface="Arial MT"/>
              </a:rPr>
              <a:t> </a:t>
            </a:r>
            <a:r>
              <a:rPr sz="1100" spc="-60" dirty="0">
                <a:solidFill>
                  <a:srgbClr val="22373A"/>
                </a:solidFill>
                <a:latin typeface="Arial MT"/>
                <a:cs typeface="Arial MT"/>
              </a:rPr>
              <a:t>accuracy</a:t>
            </a:r>
            <a:r>
              <a:rPr sz="1100" dirty="0">
                <a:solidFill>
                  <a:srgbClr val="22373A"/>
                </a:solidFill>
                <a:latin typeface="Arial MT"/>
                <a:cs typeface="Arial MT"/>
              </a:rPr>
              <a:t> </a:t>
            </a:r>
            <a:r>
              <a:rPr sz="1100" i="1" spc="-85" dirty="0">
                <a:solidFill>
                  <a:srgbClr val="22373A"/>
                </a:solidFill>
                <a:latin typeface="Arial"/>
                <a:cs typeface="Arial"/>
              </a:rPr>
              <a:t>equals</a:t>
            </a:r>
            <a:r>
              <a:rPr sz="1100" i="1" spc="10" dirty="0">
                <a:solidFill>
                  <a:srgbClr val="22373A"/>
                </a:solidFill>
                <a:latin typeface="Arial"/>
                <a:cs typeface="Arial"/>
              </a:rPr>
              <a:t> </a:t>
            </a:r>
            <a:r>
              <a:rPr sz="1100" dirty="0">
                <a:solidFill>
                  <a:srgbClr val="22373A"/>
                </a:solidFill>
                <a:latin typeface="Arial MT"/>
                <a:cs typeface="Arial MT"/>
              </a:rPr>
              <a:t>its </a:t>
            </a:r>
            <a:r>
              <a:rPr sz="1100" spc="-45" dirty="0">
                <a:solidFill>
                  <a:srgbClr val="22373A"/>
                </a:solidFill>
                <a:latin typeface="Arial MT"/>
                <a:cs typeface="Arial MT"/>
              </a:rPr>
              <a:t>reachability.</a:t>
            </a:r>
            <a:r>
              <a:rPr sz="1100" spc="100" dirty="0">
                <a:solidFill>
                  <a:srgbClr val="22373A"/>
                </a:solidFill>
                <a:latin typeface="Arial MT"/>
                <a:cs typeface="Arial MT"/>
              </a:rPr>
              <a:t> </a:t>
            </a:r>
            <a:endParaRPr sz="1100" dirty="0">
              <a:latin typeface="Arial MT"/>
              <a:cs typeface="Arial MT"/>
            </a:endParaRPr>
          </a:p>
        </p:txBody>
      </p:sp>
      <p:sp>
        <p:nvSpPr>
          <p:cNvPr id="9" name="object 9"/>
          <p:cNvSpPr/>
          <p:nvPr/>
        </p:nvSpPr>
        <p:spPr>
          <a:xfrm>
            <a:off x="359994" y="2340610"/>
            <a:ext cx="5039995" cy="0"/>
          </a:xfrm>
          <a:custGeom>
            <a:avLst/>
            <a:gdLst/>
            <a:ahLst/>
            <a:cxnLst/>
            <a:rect l="l" t="t" r="r" b="b"/>
            <a:pathLst>
              <a:path w="5039995">
                <a:moveTo>
                  <a:pt x="0" y="0"/>
                </a:moveTo>
                <a:lnTo>
                  <a:pt x="5039995" y="0"/>
                </a:lnTo>
              </a:path>
            </a:pathLst>
          </a:custGeom>
          <a:ln w="7594">
            <a:solidFill>
              <a:srgbClr val="2D7DB8"/>
            </a:solidFill>
          </a:ln>
        </p:spPr>
        <p:txBody>
          <a:bodyPr wrap="square" lIns="0" tIns="0" rIns="0" bIns="0" rtlCol="0"/>
          <a:lstStyle/>
          <a:p>
            <a:endParaRPr/>
          </a:p>
        </p:txBody>
      </p:sp>
      <p:sp>
        <p:nvSpPr>
          <p:cNvPr id="10" name="object 10"/>
          <p:cNvSpPr txBox="1"/>
          <p:nvPr/>
        </p:nvSpPr>
        <p:spPr>
          <a:xfrm>
            <a:off x="347294" y="2467565"/>
            <a:ext cx="4782820" cy="374650"/>
          </a:xfrm>
          <a:prstGeom prst="rect">
            <a:avLst/>
          </a:prstGeom>
        </p:spPr>
        <p:txBody>
          <a:bodyPr vert="horz" wrap="square" lIns="0" tIns="12700" rIns="0" bIns="0" rtlCol="0">
            <a:spAutoFit/>
          </a:bodyPr>
          <a:lstStyle/>
          <a:p>
            <a:pPr marL="12700" marR="5080">
              <a:lnSpc>
                <a:spcPct val="114599"/>
              </a:lnSpc>
              <a:spcBef>
                <a:spcPts val="100"/>
              </a:spcBef>
            </a:pPr>
            <a:r>
              <a:rPr sz="1000" dirty="0">
                <a:solidFill>
                  <a:srgbClr val="22373A"/>
                </a:solidFill>
                <a:latin typeface="Arial MT"/>
                <a:cs typeface="Arial MT"/>
              </a:rPr>
              <a:t>No </a:t>
            </a:r>
            <a:r>
              <a:rPr sz="1000" spc="-30" dirty="0">
                <a:solidFill>
                  <a:srgbClr val="22373A"/>
                </a:solidFill>
                <a:latin typeface="Arial MT"/>
                <a:cs typeface="Arial MT"/>
              </a:rPr>
              <a:t>model</a:t>
            </a:r>
            <a:r>
              <a:rPr sz="1000" spc="5" dirty="0">
                <a:solidFill>
                  <a:srgbClr val="22373A"/>
                </a:solidFill>
                <a:latin typeface="Arial MT"/>
                <a:cs typeface="Arial MT"/>
              </a:rPr>
              <a:t> </a:t>
            </a:r>
            <a:r>
              <a:rPr sz="1000" spc="-60" dirty="0">
                <a:solidFill>
                  <a:srgbClr val="22373A"/>
                </a:solidFill>
                <a:latin typeface="Arial MT"/>
                <a:cs typeface="Arial MT"/>
              </a:rPr>
              <a:t>ever</a:t>
            </a:r>
            <a:r>
              <a:rPr sz="1000" spc="5" dirty="0">
                <a:solidFill>
                  <a:srgbClr val="22373A"/>
                </a:solidFill>
                <a:latin typeface="Arial MT"/>
                <a:cs typeface="Arial MT"/>
              </a:rPr>
              <a:t> </a:t>
            </a:r>
            <a:r>
              <a:rPr sz="1000" spc="-50" dirty="0">
                <a:solidFill>
                  <a:srgbClr val="22373A"/>
                </a:solidFill>
                <a:latin typeface="Arial MT"/>
                <a:cs typeface="Arial MT"/>
              </a:rPr>
              <a:t>misclassified</a:t>
            </a:r>
            <a:r>
              <a:rPr sz="1000" spc="5" dirty="0">
                <a:solidFill>
                  <a:srgbClr val="22373A"/>
                </a:solidFill>
                <a:latin typeface="Arial MT"/>
                <a:cs typeface="Arial MT"/>
              </a:rPr>
              <a:t> </a:t>
            </a:r>
            <a:r>
              <a:rPr sz="1000" dirty="0">
                <a:solidFill>
                  <a:srgbClr val="22373A"/>
                </a:solidFill>
                <a:latin typeface="Arial MT"/>
                <a:cs typeface="Arial MT"/>
              </a:rPr>
              <a:t>a</a:t>
            </a:r>
            <a:r>
              <a:rPr sz="1000" spc="5" dirty="0">
                <a:solidFill>
                  <a:srgbClr val="22373A"/>
                </a:solidFill>
                <a:latin typeface="Arial MT"/>
                <a:cs typeface="Arial MT"/>
              </a:rPr>
              <a:t> </a:t>
            </a:r>
            <a:r>
              <a:rPr sz="1000" spc="-30" dirty="0">
                <a:solidFill>
                  <a:srgbClr val="22373A"/>
                </a:solidFill>
                <a:latin typeface="Arial MT"/>
                <a:cs typeface="Arial MT"/>
              </a:rPr>
              <a:t>community</a:t>
            </a:r>
            <a:r>
              <a:rPr sz="1000" dirty="0">
                <a:solidFill>
                  <a:srgbClr val="22373A"/>
                </a:solidFill>
                <a:latin typeface="Arial MT"/>
                <a:cs typeface="Arial MT"/>
              </a:rPr>
              <a:t> </a:t>
            </a:r>
            <a:r>
              <a:rPr sz="1000" spc="-70" dirty="0">
                <a:solidFill>
                  <a:srgbClr val="22373A"/>
                </a:solidFill>
                <a:latin typeface="Arial MT"/>
                <a:cs typeface="Arial MT"/>
              </a:rPr>
              <a:t>whose</a:t>
            </a:r>
            <a:r>
              <a:rPr sz="1000" spc="5" dirty="0">
                <a:solidFill>
                  <a:srgbClr val="22373A"/>
                </a:solidFill>
                <a:latin typeface="Arial MT"/>
                <a:cs typeface="Arial MT"/>
              </a:rPr>
              <a:t> </a:t>
            </a:r>
            <a:r>
              <a:rPr sz="1000" spc="-40" dirty="0">
                <a:solidFill>
                  <a:srgbClr val="22373A"/>
                </a:solidFill>
                <a:latin typeface="Arial MT"/>
                <a:cs typeface="Arial MT"/>
              </a:rPr>
              <a:t>behaviour</a:t>
            </a:r>
            <a:r>
              <a:rPr sz="1000" spc="5" dirty="0">
                <a:solidFill>
                  <a:srgbClr val="22373A"/>
                </a:solidFill>
                <a:latin typeface="Arial MT"/>
                <a:cs typeface="Arial MT"/>
              </a:rPr>
              <a:t> </a:t>
            </a:r>
            <a:r>
              <a:rPr sz="1000" dirty="0">
                <a:solidFill>
                  <a:srgbClr val="22373A"/>
                </a:solidFill>
                <a:latin typeface="Arial MT"/>
                <a:cs typeface="Arial MT"/>
              </a:rPr>
              <a:t>it</a:t>
            </a:r>
            <a:r>
              <a:rPr sz="1000" spc="5" dirty="0">
                <a:solidFill>
                  <a:srgbClr val="22373A"/>
                </a:solidFill>
                <a:latin typeface="Arial MT"/>
                <a:cs typeface="Arial MT"/>
              </a:rPr>
              <a:t> </a:t>
            </a:r>
            <a:r>
              <a:rPr sz="1000" spc="-20" dirty="0">
                <a:solidFill>
                  <a:srgbClr val="22373A"/>
                </a:solidFill>
                <a:latin typeface="Arial MT"/>
                <a:cs typeface="Arial MT"/>
              </a:rPr>
              <a:t>had</a:t>
            </a:r>
            <a:r>
              <a:rPr sz="1000" spc="5" dirty="0">
                <a:solidFill>
                  <a:srgbClr val="22373A"/>
                </a:solidFill>
                <a:latin typeface="Arial MT"/>
                <a:cs typeface="Arial MT"/>
              </a:rPr>
              <a:t> </a:t>
            </a:r>
            <a:r>
              <a:rPr sz="1000" spc="-30" dirty="0">
                <a:solidFill>
                  <a:srgbClr val="22373A"/>
                </a:solidFill>
                <a:latin typeface="Arial MT"/>
                <a:cs typeface="Arial MT"/>
              </a:rPr>
              <a:t>extracted</a:t>
            </a:r>
            <a:r>
              <a:rPr sz="1000" dirty="0">
                <a:solidFill>
                  <a:srgbClr val="22373A"/>
                </a:solidFill>
                <a:latin typeface="Arial MT"/>
                <a:cs typeface="Arial MT"/>
              </a:rPr>
              <a:t> </a:t>
            </a:r>
            <a:r>
              <a:rPr sz="1000" spc="-25" dirty="0">
                <a:solidFill>
                  <a:srgbClr val="22373A"/>
                </a:solidFill>
                <a:latin typeface="Arial MT"/>
                <a:cs typeface="Arial MT"/>
              </a:rPr>
              <a:t>correctly.</a:t>
            </a:r>
            <a:r>
              <a:rPr sz="1000" spc="100" dirty="0">
                <a:solidFill>
                  <a:srgbClr val="22373A"/>
                </a:solidFill>
                <a:latin typeface="Arial MT"/>
                <a:cs typeface="Arial MT"/>
              </a:rPr>
              <a:t> </a:t>
            </a:r>
            <a:r>
              <a:rPr sz="1000" spc="-25" dirty="0">
                <a:solidFill>
                  <a:srgbClr val="22373A"/>
                </a:solidFill>
                <a:latin typeface="Arial MT"/>
                <a:cs typeface="Arial MT"/>
              </a:rPr>
              <a:t>The </a:t>
            </a:r>
            <a:r>
              <a:rPr sz="1000" spc="-20" dirty="0">
                <a:solidFill>
                  <a:srgbClr val="22373A"/>
                </a:solidFill>
                <a:latin typeface="Arial MT"/>
                <a:cs typeface="Arial MT"/>
              </a:rPr>
              <a:t>bottleneck</a:t>
            </a:r>
            <a:r>
              <a:rPr sz="1000" dirty="0">
                <a:solidFill>
                  <a:srgbClr val="22373A"/>
                </a:solidFill>
                <a:latin typeface="Arial MT"/>
                <a:cs typeface="Arial MT"/>
              </a:rPr>
              <a:t> is</a:t>
            </a:r>
            <a:r>
              <a:rPr sz="1000" spc="10" dirty="0">
                <a:solidFill>
                  <a:srgbClr val="22373A"/>
                </a:solidFill>
                <a:latin typeface="Arial MT"/>
                <a:cs typeface="Arial MT"/>
              </a:rPr>
              <a:t> </a:t>
            </a:r>
            <a:r>
              <a:rPr sz="1000" spc="-20" dirty="0">
                <a:solidFill>
                  <a:srgbClr val="22373A"/>
                </a:solidFill>
                <a:latin typeface="Arial MT"/>
                <a:cs typeface="Arial MT"/>
              </a:rPr>
              <a:t>extraction,</a:t>
            </a:r>
            <a:r>
              <a:rPr sz="1000" dirty="0">
                <a:solidFill>
                  <a:srgbClr val="22373A"/>
                </a:solidFill>
                <a:latin typeface="Arial MT"/>
                <a:cs typeface="Arial MT"/>
              </a:rPr>
              <a:t> not</a:t>
            </a:r>
            <a:r>
              <a:rPr sz="1000" spc="5" dirty="0">
                <a:solidFill>
                  <a:srgbClr val="22373A"/>
                </a:solidFill>
                <a:latin typeface="Arial MT"/>
                <a:cs typeface="Arial MT"/>
              </a:rPr>
              <a:t> </a:t>
            </a:r>
            <a:r>
              <a:rPr sz="1000" spc="-10" dirty="0">
                <a:solidFill>
                  <a:srgbClr val="22373A"/>
                </a:solidFill>
                <a:latin typeface="Arial MT"/>
                <a:cs typeface="Arial MT"/>
              </a:rPr>
              <a:t>retrieval.</a:t>
            </a:r>
            <a:endParaRPr sz="1000">
              <a:latin typeface="Arial MT"/>
              <a:cs typeface="Arial MT"/>
            </a:endParaRPr>
          </a:p>
        </p:txBody>
      </p:sp>
      <p:pic>
        <p:nvPicPr>
          <p:cNvPr id="11" name="object 11"/>
          <p:cNvPicPr/>
          <p:nvPr/>
        </p:nvPicPr>
        <p:blipFill>
          <a:blip r:embed="rId3" cstate="print"/>
          <a:stretch>
            <a:fillRect/>
          </a:stretch>
        </p:blipFill>
        <p:spPr>
          <a:xfrm>
            <a:off x="101282" y="2998905"/>
            <a:ext cx="241983" cy="187117"/>
          </a:xfrm>
          <a:prstGeom prst="rect">
            <a:avLst/>
          </a:prstGeom>
        </p:spPr>
      </p:pic>
      <p:pic>
        <p:nvPicPr>
          <p:cNvPr id="12" name="object 12"/>
          <p:cNvPicPr/>
          <p:nvPr/>
        </p:nvPicPr>
        <p:blipFill>
          <a:blip r:embed="rId4" cstate="print"/>
          <a:stretch>
            <a:fillRect/>
          </a:stretch>
        </p:blipFill>
        <p:spPr>
          <a:xfrm>
            <a:off x="433285" y="2998965"/>
            <a:ext cx="187057" cy="187057"/>
          </a:xfrm>
          <a:prstGeom prst="rect">
            <a:avLst/>
          </a:prstGeom>
        </p:spPr>
      </p:pic>
      <p:pic>
        <p:nvPicPr>
          <p:cNvPr id="13" name="object 13"/>
          <p:cNvPicPr/>
          <p:nvPr/>
        </p:nvPicPr>
        <p:blipFill>
          <a:blip r:embed="rId5" cstate="print"/>
          <a:stretch>
            <a:fillRect/>
          </a:stretch>
        </p:blipFill>
        <p:spPr>
          <a:xfrm>
            <a:off x="710349" y="2998815"/>
            <a:ext cx="187208" cy="187208"/>
          </a:xfrm>
          <a:prstGeom prst="rect">
            <a:avLst/>
          </a:prstGeom>
        </p:spPr>
      </p:pic>
      <p:sp>
        <p:nvSpPr>
          <p:cNvPr id="14" name="object 14"/>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21</a:t>
            </a:r>
            <a:r>
              <a:rPr spc="-80" dirty="0"/>
              <a:t> </a:t>
            </a:r>
            <a:r>
              <a:rPr spc="195" dirty="0"/>
              <a:t>/</a:t>
            </a:r>
            <a:r>
              <a:rPr spc="-75" dirty="0"/>
              <a:t> </a:t>
            </a:r>
            <a:r>
              <a:rPr spc="-25" dirty="0"/>
              <a:t>32</a:t>
            </a:r>
          </a:p>
        </p:txBody>
      </p:sp>
    </p:spTree>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2770" y="76349"/>
            <a:ext cx="2683510" cy="207645"/>
          </a:xfrm>
          <a:prstGeom prst="rect">
            <a:avLst/>
          </a:prstGeom>
        </p:spPr>
        <p:txBody>
          <a:bodyPr vert="horz" wrap="square" lIns="0" tIns="12065" rIns="0" bIns="0" rtlCol="0">
            <a:spAutoFit/>
          </a:bodyPr>
          <a:lstStyle/>
          <a:p>
            <a:pPr marL="12700">
              <a:lnSpc>
                <a:spcPct val="100000"/>
              </a:lnSpc>
              <a:spcBef>
                <a:spcPts val="95"/>
              </a:spcBef>
            </a:pPr>
            <a:r>
              <a:rPr dirty="0"/>
              <a:t>Is</a:t>
            </a:r>
            <a:r>
              <a:rPr spc="25" dirty="0"/>
              <a:t> </a:t>
            </a:r>
            <a:r>
              <a:rPr dirty="0"/>
              <a:t>the</a:t>
            </a:r>
            <a:r>
              <a:rPr spc="25" dirty="0"/>
              <a:t> </a:t>
            </a:r>
            <a:r>
              <a:rPr spc="-20" dirty="0"/>
              <a:t>graph</a:t>
            </a:r>
            <a:r>
              <a:rPr spc="25" dirty="0"/>
              <a:t> </a:t>
            </a:r>
            <a:r>
              <a:rPr spc="-10" dirty="0"/>
              <a:t>actually</a:t>
            </a:r>
            <a:r>
              <a:rPr spc="25" dirty="0"/>
              <a:t> </a:t>
            </a:r>
            <a:r>
              <a:rPr spc="-30" dirty="0"/>
              <a:t>doing</a:t>
            </a:r>
            <a:r>
              <a:rPr spc="25" dirty="0"/>
              <a:t> </a:t>
            </a:r>
            <a:r>
              <a:rPr dirty="0"/>
              <a:t>the</a:t>
            </a:r>
            <a:r>
              <a:rPr spc="25" dirty="0"/>
              <a:t> </a:t>
            </a:r>
            <a:r>
              <a:rPr spc="-25" dirty="0"/>
              <a:t>work?</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3960495" cy="5080"/>
            </a:xfrm>
            <a:custGeom>
              <a:avLst/>
              <a:gdLst/>
              <a:ahLst/>
              <a:cxnLst/>
              <a:rect l="l" t="t" r="r" b="b"/>
              <a:pathLst>
                <a:path w="3960495" h="5079">
                  <a:moveTo>
                    <a:pt x="0" y="5060"/>
                  </a:moveTo>
                  <a:lnTo>
                    <a:pt x="0" y="0"/>
                  </a:lnTo>
                  <a:lnTo>
                    <a:pt x="3960050" y="0"/>
                  </a:lnTo>
                  <a:lnTo>
                    <a:pt x="3960050" y="5060"/>
                  </a:lnTo>
                  <a:lnTo>
                    <a:pt x="0" y="5060"/>
                  </a:lnTo>
                  <a:close/>
                </a:path>
              </a:pathLst>
            </a:custGeom>
            <a:solidFill>
              <a:srgbClr val="2D7DB8"/>
            </a:solidFill>
          </p:spPr>
          <p:txBody>
            <a:bodyPr wrap="square" lIns="0" tIns="0" rIns="0" bIns="0" rtlCol="0"/>
            <a:lstStyle/>
            <a:p>
              <a:endParaRPr/>
            </a:p>
          </p:txBody>
        </p:sp>
      </p:grpSp>
      <p:sp>
        <p:nvSpPr>
          <p:cNvPr id="7" name="object 7"/>
          <p:cNvSpPr txBox="1"/>
          <p:nvPr/>
        </p:nvSpPr>
        <p:spPr>
          <a:xfrm>
            <a:off x="347294" y="462456"/>
            <a:ext cx="3279140" cy="191770"/>
          </a:xfrm>
          <a:prstGeom prst="rect">
            <a:avLst/>
          </a:prstGeom>
        </p:spPr>
        <p:txBody>
          <a:bodyPr vert="horz" wrap="square" lIns="0" tIns="11430" rIns="0" bIns="0" rtlCol="0">
            <a:spAutoFit/>
          </a:bodyPr>
          <a:lstStyle/>
          <a:p>
            <a:pPr marL="12700">
              <a:lnSpc>
                <a:spcPct val="100000"/>
              </a:lnSpc>
              <a:spcBef>
                <a:spcPts val="90"/>
              </a:spcBef>
            </a:pPr>
            <a:r>
              <a:rPr sz="1100" spc="-114" dirty="0">
                <a:solidFill>
                  <a:srgbClr val="22373A"/>
                </a:solidFill>
                <a:latin typeface="Arial MT"/>
                <a:cs typeface="Arial MT"/>
              </a:rPr>
              <a:t>Same</a:t>
            </a:r>
            <a:r>
              <a:rPr sz="1100" spc="40" dirty="0">
                <a:solidFill>
                  <a:srgbClr val="22373A"/>
                </a:solidFill>
                <a:latin typeface="Arial MT"/>
                <a:cs typeface="Arial MT"/>
              </a:rPr>
              <a:t> </a:t>
            </a:r>
            <a:r>
              <a:rPr sz="1100" spc="-55" dirty="0">
                <a:solidFill>
                  <a:srgbClr val="22373A"/>
                </a:solidFill>
                <a:latin typeface="Arial MT"/>
                <a:cs typeface="Arial MT"/>
              </a:rPr>
              <a:t>scoring</a:t>
            </a:r>
            <a:r>
              <a:rPr sz="1100" spc="-20" dirty="0">
                <a:solidFill>
                  <a:srgbClr val="22373A"/>
                </a:solidFill>
                <a:latin typeface="Arial MT"/>
                <a:cs typeface="Arial MT"/>
              </a:rPr>
              <a:t> </a:t>
            </a:r>
            <a:r>
              <a:rPr sz="1100" spc="-10" dirty="0">
                <a:solidFill>
                  <a:srgbClr val="22373A"/>
                </a:solidFill>
                <a:latin typeface="Arial MT"/>
                <a:cs typeface="Arial MT"/>
              </a:rPr>
              <a:t>function,</a:t>
            </a:r>
            <a:r>
              <a:rPr sz="1100" spc="-45" dirty="0">
                <a:solidFill>
                  <a:srgbClr val="22373A"/>
                </a:solidFill>
                <a:latin typeface="Arial MT"/>
                <a:cs typeface="Arial MT"/>
              </a:rPr>
              <a:t> </a:t>
            </a:r>
            <a:r>
              <a:rPr sz="1100" spc="-105" dirty="0">
                <a:solidFill>
                  <a:srgbClr val="22373A"/>
                </a:solidFill>
                <a:latin typeface="Arial MT"/>
                <a:cs typeface="Arial MT"/>
              </a:rPr>
              <a:t>same</a:t>
            </a:r>
            <a:r>
              <a:rPr sz="1100" spc="30" dirty="0">
                <a:solidFill>
                  <a:srgbClr val="22373A"/>
                </a:solidFill>
                <a:latin typeface="Arial MT"/>
                <a:cs typeface="Arial MT"/>
              </a:rPr>
              <a:t> </a:t>
            </a:r>
            <a:r>
              <a:rPr sz="1100" spc="-20" dirty="0">
                <a:solidFill>
                  <a:srgbClr val="22373A"/>
                </a:solidFill>
                <a:latin typeface="Arial MT"/>
                <a:cs typeface="Arial MT"/>
              </a:rPr>
              <a:t>inputs,</a:t>
            </a:r>
            <a:r>
              <a:rPr sz="1100" dirty="0">
                <a:solidFill>
                  <a:srgbClr val="22373A"/>
                </a:solidFill>
                <a:latin typeface="Arial MT"/>
                <a:cs typeface="Arial MT"/>
              </a:rPr>
              <a:t> </a:t>
            </a:r>
            <a:r>
              <a:rPr sz="1100" spc="-30" dirty="0">
                <a:solidFill>
                  <a:srgbClr val="22373A"/>
                </a:solidFill>
                <a:latin typeface="Arial MT"/>
                <a:cs typeface="Arial MT"/>
              </a:rPr>
              <a:t>constraint</a:t>
            </a:r>
            <a:r>
              <a:rPr sz="1100" spc="5" dirty="0">
                <a:solidFill>
                  <a:srgbClr val="22373A"/>
                </a:solidFill>
                <a:latin typeface="Arial MT"/>
                <a:cs typeface="Arial MT"/>
              </a:rPr>
              <a:t> </a:t>
            </a:r>
            <a:r>
              <a:rPr sz="1100" spc="-30" dirty="0">
                <a:solidFill>
                  <a:srgbClr val="22373A"/>
                </a:solidFill>
                <a:latin typeface="Arial MT"/>
                <a:cs typeface="Arial MT"/>
              </a:rPr>
              <a:t>removed:</a:t>
            </a:r>
            <a:endParaRPr sz="1100">
              <a:latin typeface="Arial MT"/>
              <a:cs typeface="Arial MT"/>
            </a:endParaRPr>
          </a:p>
        </p:txBody>
      </p:sp>
      <p:graphicFrame>
        <p:nvGraphicFramePr>
          <p:cNvPr id="8" name="object 8"/>
          <p:cNvGraphicFramePr>
            <a:graphicFrameLocks noGrp="1"/>
          </p:cNvGraphicFramePr>
          <p:nvPr/>
        </p:nvGraphicFramePr>
        <p:xfrm>
          <a:off x="1241577" y="829906"/>
          <a:ext cx="3275965" cy="843915"/>
        </p:xfrm>
        <a:graphic>
          <a:graphicData uri="http://schemas.openxmlformats.org/drawingml/2006/table">
            <a:tbl>
              <a:tblPr firstRow="1" bandRow="1">
                <a:tableStyleId>{2D5ABB26-0587-4C30-8999-92F81FD0307C}</a:tableStyleId>
              </a:tblPr>
              <a:tblGrid>
                <a:gridCol w="1155065">
                  <a:extLst>
                    <a:ext uri="{9D8B030D-6E8A-4147-A177-3AD203B41FA5}">
                      <a16:colId xmlns:a16="http://schemas.microsoft.com/office/drawing/2014/main" val="20000"/>
                    </a:ext>
                  </a:extLst>
                </a:gridCol>
                <a:gridCol w="531495">
                  <a:extLst>
                    <a:ext uri="{9D8B030D-6E8A-4147-A177-3AD203B41FA5}">
                      <a16:colId xmlns:a16="http://schemas.microsoft.com/office/drawing/2014/main" val="20001"/>
                    </a:ext>
                  </a:extLst>
                </a:gridCol>
                <a:gridCol w="1589405">
                  <a:extLst>
                    <a:ext uri="{9D8B030D-6E8A-4147-A177-3AD203B41FA5}">
                      <a16:colId xmlns:a16="http://schemas.microsoft.com/office/drawing/2014/main" val="20002"/>
                    </a:ext>
                  </a:extLst>
                </a:gridCol>
              </a:tblGrid>
              <a:tr h="247650">
                <a:tc>
                  <a:txBody>
                    <a:bodyPr/>
                    <a:lstStyle/>
                    <a:p>
                      <a:pPr marL="75565">
                        <a:lnSpc>
                          <a:spcPct val="100000"/>
                        </a:lnSpc>
                        <a:spcBef>
                          <a:spcPts val="320"/>
                        </a:spcBef>
                      </a:pPr>
                      <a:r>
                        <a:rPr sz="1000" spc="-10" dirty="0">
                          <a:solidFill>
                            <a:srgbClr val="22373A"/>
                          </a:solidFill>
                          <a:latin typeface="Arial MT"/>
                          <a:cs typeface="Arial MT"/>
                        </a:rPr>
                        <a:t>Model</a:t>
                      </a:r>
                      <a:endParaRPr sz="1000">
                        <a:latin typeface="Arial MT"/>
                        <a:cs typeface="Arial MT"/>
                      </a:endParaRPr>
                    </a:p>
                  </a:txBody>
                  <a:tcPr marL="0" marR="0" marT="40640" marB="0">
                    <a:lnT w="12700">
                      <a:solidFill>
                        <a:srgbClr val="22373A"/>
                      </a:solidFill>
                      <a:prstDash val="solid"/>
                    </a:lnT>
                    <a:lnB w="9525">
                      <a:solidFill>
                        <a:srgbClr val="22373A"/>
                      </a:solidFill>
                      <a:prstDash val="solid"/>
                    </a:lnB>
                  </a:tcPr>
                </a:tc>
                <a:tc>
                  <a:txBody>
                    <a:bodyPr/>
                    <a:lstStyle/>
                    <a:p>
                      <a:pPr algn="ctr">
                        <a:lnSpc>
                          <a:spcPct val="100000"/>
                        </a:lnSpc>
                        <a:spcBef>
                          <a:spcPts val="320"/>
                        </a:spcBef>
                      </a:pPr>
                      <a:r>
                        <a:rPr sz="1000" spc="-10" dirty="0">
                          <a:solidFill>
                            <a:srgbClr val="22373A"/>
                          </a:solidFill>
                          <a:latin typeface="Arial MT"/>
                          <a:cs typeface="Arial MT"/>
                        </a:rPr>
                        <a:t>Scoped</a:t>
                      </a:r>
                      <a:endParaRPr sz="1000">
                        <a:latin typeface="Arial MT"/>
                        <a:cs typeface="Arial MT"/>
                      </a:endParaRPr>
                    </a:p>
                  </a:txBody>
                  <a:tcPr marL="0" marR="0" marT="40640" marB="0">
                    <a:lnT w="12700">
                      <a:solidFill>
                        <a:srgbClr val="22373A"/>
                      </a:solidFill>
                      <a:prstDash val="solid"/>
                    </a:lnT>
                    <a:lnB w="9525">
                      <a:solidFill>
                        <a:srgbClr val="22373A"/>
                      </a:solidFill>
                      <a:prstDash val="solid"/>
                    </a:lnB>
                  </a:tcPr>
                </a:tc>
                <a:tc>
                  <a:txBody>
                    <a:bodyPr/>
                    <a:lstStyle/>
                    <a:p>
                      <a:pPr algn="ctr">
                        <a:lnSpc>
                          <a:spcPct val="100000"/>
                        </a:lnSpc>
                        <a:spcBef>
                          <a:spcPts val="320"/>
                        </a:spcBef>
                      </a:pPr>
                      <a:r>
                        <a:rPr sz="1000" spc="-60" dirty="0">
                          <a:solidFill>
                            <a:srgbClr val="22373A"/>
                          </a:solidFill>
                          <a:latin typeface="Arial MT"/>
                          <a:cs typeface="Arial MT"/>
                        </a:rPr>
                        <a:t>Unscoped</a:t>
                      </a:r>
                      <a:r>
                        <a:rPr sz="1000" spc="-10" dirty="0">
                          <a:solidFill>
                            <a:srgbClr val="22373A"/>
                          </a:solidFill>
                          <a:latin typeface="Arial MT"/>
                          <a:cs typeface="Arial MT"/>
                        </a:rPr>
                        <a:t> (691</a:t>
                      </a:r>
                      <a:r>
                        <a:rPr sz="1000" spc="-25" dirty="0">
                          <a:solidFill>
                            <a:srgbClr val="22373A"/>
                          </a:solidFill>
                          <a:latin typeface="Arial MT"/>
                          <a:cs typeface="Arial MT"/>
                        </a:rPr>
                        <a:t> </a:t>
                      </a:r>
                      <a:r>
                        <a:rPr sz="1000" spc="-10" dirty="0">
                          <a:solidFill>
                            <a:srgbClr val="22373A"/>
                          </a:solidFill>
                          <a:latin typeface="Arial MT"/>
                          <a:cs typeface="Arial MT"/>
                        </a:rPr>
                        <a:t>techniques)</a:t>
                      </a:r>
                      <a:endParaRPr sz="1000">
                        <a:latin typeface="Arial MT"/>
                        <a:cs typeface="Arial MT"/>
                      </a:endParaRPr>
                    </a:p>
                  </a:txBody>
                  <a:tcPr marL="0" marR="0" marT="40640" marB="0">
                    <a:lnT w="12700">
                      <a:solidFill>
                        <a:srgbClr val="22373A"/>
                      </a:solidFill>
                      <a:prstDash val="solid"/>
                    </a:lnT>
                    <a:lnB w="9525">
                      <a:solidFill>
                        <a:srgbClr val="22373A"/>
                      </a:solidFill>
                      <a:prstDash val="solid"/>
                    </a:lnB>
                  </a:tcPr>
                </a:tc>
                <a:extLst>
                  <a:ext uri="{0D108BD9-81ED-4DB2-BD59-A6C34878D82A}">
                    <a16:rowId xmlns:a16="http://schemas.microsoft.com/office/drawing/2014/main" val="10000"/>
                  </a:ext>
                </a:extLst>
              </a:tr>
              <a:tr h="215900">
                <a:tc>
                  <a:txBody>
                    <a:bodyPr/>
                    <a:lstStyle/>
                    <a:p>
                      <a:pPr marL="75565">
                        <a:lnSpc>
                          <a:spcPct val="100000"/>
                        </a:lnSpc>
                        <a:spcBef>
                          <a:spcPts val="305"/>
                        </a:spcBef>
                      </a:pPr>
                      <a:r>
                        <a:rPr sz="1000" spc="-35" dirty="0">
                          <a:solidFill>
                            <a:srgbClr val="22373A"/>
                          </a:solidFill>
                          <a:latin typeface="Arial MT"/>
                          <a:cs typeface="Arial MT"/>
                        </a:rPr>
                        <a:t>Mistral-Nemo-</a:t>
                      </a:r>
                      <a:r>
                        <a:rPr sz="1000" spc="-25" dirty="0">
                          <a:solidFill>
                            <a:srgbClr val="22373A"/>
                          </a:solidFill>
                          <a:latin typeface="Arial MT"/>
                          <a:cs typeface="Arial MT"/>
                        </a:rPr>
                        <a:t>12B</a:t>
                      </a:r>
                      <a:endParaRPr sz="1000">
                        <a:latin typeface="Arial MT"/>
                        <a:cs typeface="Arial MT"/>
                      </a:endParaRPr>
                    </a:p>
                  </a:txBody>
                  <a:tcPr marL="0" marR="0" marT="38735" marB="0">
                    <a:lnT w="9525">
                      <a:solidFill>
                        <a:srgbClr val="22373A"/>
                      </a:solidFill>
                      <a:prstDash val="solid"/>
                    </a:lnT>
                  </a:tcPr>
                </a:tc>
                <a:tc>
                  <a:txBody>
                    <a:bodyPr/>
                    <a:lstStyle/>
                    <a:p>
                      <a:pPr algn="ctr">
                        <a:lnSpc>
                          <a:spcPct val="100000"/>
                        </a:lnSpc>
                        <a:spcBef>
                          <a:spcPts val="305"/>
                        </a:spcBef>
                      </a:pPr>
                      <a:r>
                        <a:rPr sz="1000" spc="-10" dirty="0">
                          <a:solidFill>
                            <a:srgbClr val="22373A"/>
                          </a:solidFill>
                          <a:latin typeface="Arial MT"/>
                          <a:cs typeface="Arial MT"/>
                        </a:rPr>
                        <a:t>0.833</a:t>
                      </a:r>
                      <a:endParaRPr sz="1000">
                        <a:latin typeface="Arial MT"/>
                        <a:cs typeface="Arial MT"/>
                      </a:endParaRPr>
                    </a:p>
                  </a:txBody>
                  <a:tcPr marL="0" marR="0" marT="38735" marB="0">
                    <a:lnT w="9525">
                      <a:solidFill>
                        <a:srgbClr val="22373A"/>
                      </a:solidFill>
                      <a:prstDash val="solid"/>
                    </a:lnT>
                  </a:tcPr>
                </a:tc>
                <a:tc>
                  <a:txBody>
                    <a:bodyPr/>
                    <a:lstStyle/>
                    <a:p>
                      <a:pPr algn="ctr">
                        <a:lnSpc>
                          <a:spcPct val="100000"/>
                        </a:lnSpc>
                        <a:spcBef>
                          <a:spcPts val="305"/>
                        </a:spcBef>
                      </a:pPr>
                      <a:r>
                        <a:rPr sz="1000" spc="-10" dirty="0">
                          <a:solidFill>
                            <a:srgbClr val="2D7DB8"/>
                          </a:solidFill>
                          <a:latin typeface="Arial MT"/>
                          <a:cs typeface="Arial MT"/>
                        </a:rPr>
                        <a:t>0.000</a:t>
                      </a:r>
                      <a:endParaRPr sz="1000">
                        <a:latin typeface="Arial MT"/>
                        <a:cs typeface="Arial MT"/>
                      </a:endParaRPr>
                    </a:p>
                  </a:txBody>
                  <a:tcPr marL="0" marR="0" marT="38735" marB="0">
                    <a:lnT w="9525">
                      <a:solidFill>
                        <a:srgbClr val="22373A"/>
                      </a:solidFill>
                      <a:prstDash val="solid"/>
                    </a:lnT>
                  </a:tcPr>
                </a:tc>
                <a:extLst>
                  <a:ext uri="{0D108BD9-81ED-4DB2-BD59-A6C34878D82A}">
                    <a16:rowId xmlns:a16="http://schemas.microsoft.com/office/drawing/2014/main" val="10001"/>
                  </a:ext>
                </a:extLst>
              </a:tr>
              <a:tr h="173990">
                <a:tc>
                  <a:txBody>
                    <a:bodyPr/>
                    <a:lstStyle/>
                    <a:p>
                      <a:pPr marL="75565">
                        <a:lnSpc>
                          <a:spcPts val="1175"/>
                        </a:lnSpc>
                      </a:pPr>
                      <a:r>
                        <a:rPr sz="1000" spc="-60" dirty="0">
                          <a:solidFill>
                            <a:srgbClr val="22373A"/>
                          </a:solidFill>
                          <a:latin typeface="Arial MT"/>
                          <a:cs typeface="Arial MT"/>
                        </a:rPr>
                        <a:t>Qwen2.5-</a:t>
                      </a:r>
                      <a:r>
                        <a:rPr sz="1000" spc="-50" dirty="0">
                          <a:solidFill>
                            <a:srgbClr val="22373A"/>
                          </a:solidFill>
                          <a:latin typeface="Arial MT"/>
                          <a:cs typeface="Arial MT"/>
                        </a:rPr>
                        <a:t>Coder-</a:t>
                      </a:r>
                      <a:r>
                        <a:rPr sz="1000" spc="-25" dirty="0">
                          <a:solidFill>
                            <a:srgbClr val="22373A"/>
                          </a:solidFill>
                          <a:latin typeface="Arial MT"/>
                          <a:cs typeface="Arial MT"/>
                        </a:rPr>
                        <a:t>7B</a:t>
                      </a:r>
                      <a:endParaRPr sz="1000">
                        <a:latin typeface="Arial MT"/>
                        <a:cs typeface="Arial MT"/>
                      </a:endParaRPr>
                    </a:p>
                  </a:txBody>
                  <a:tcPr marL="0" marR="0" marT="0" marB="0"/>
                </a:tc>
                <a:tc>
                  <a:txBody>
                    <a:bodyPr/>
                    <a:lstStyle/>
                    <a:p>
                      <a:pPr algn="ctr">
                        <a:lnSpc>
                          <a:spcPts val="1175"/>
                        </a:lnSpc>
                      </a:pPr>
                      <a:r>
                        <a:rPr sz="1000" spc="-10" dirty="0">
                          <a:solidFill>
                            <a:srgbClr val="22373A"/>
                          </a:solidFill>
                          <a:latin typeface="Arial MT"/>
                          <a:cs typeface="Arial MT"/>
                        </a:rPr>
                        <a:t>0.111</a:t>
                      </a:r>
                      <a:endParaRPr sz="1000">
                        <a:latin typeface="Arial MT"/>
                        <a:cs typeface="Arial MT"/>
                      </a:endParaRPr>
                    </a:p>
                  </a:txBody>
                  <a:tcPr marL="0" marR="0" marT="0" marB="0"/>
                </a:tc>
                <a:tc>
                  <a:txBody>
                    <a:bodyPr/>
                    <a:lstStyle/>
                    <a:p>
                      <a:pPr algn="ctr">
                        <a:lnSpc>
                          <a:spcPts val="1175"/>
                        </a:lnSpc>
                      </a:pPr>
                      <a:r>
                        <a:rPr sz="1000" spc="-10" dirty="0">
                          <a:solidFill>
                            <a:srgbClr val="2D7DB8"/>
                          </a:solidFill>
                          <a:latin typeface="Arial MT"/>
                          <a:cs typeface="Arial MT"/>
                        </a:rPr>
                        <a:t>0.000</a:t>
                      </a:r>
                      <a:endParaRPr sz="1000">
                        <a:latin typeface="Arial MT"/>
                        <a:cs typeface="Arial MT"/>
                      </a:endParaRPr>
                    </a:p>
                  </a:txBody>
                  <a:tcPr marL="0" marR="0" marT="0" marB="0"/>
                </a:tc>
                <a:extLst>
                  <a:ext uri="{0D108BD9-81ED-4DB2-BD59-A6C34878D82A}">
                    <a16:rowId xmlns:a16="http://schemas.microsoft.com/office/drawing/2014/main" val="10002"/>
                  </a:ext>
                </a:extLst>
              </a:tr>
              <a:tr h="206375">
                <a:tc>
                  <a:txBody>
                    <a:bodyPr/>
                    <a:lstStyle/>
                    <a:p>
                      <a:pPr marL="75565">
                        <a:lnSpc>
                          <a:spcPts val="1175"/>
                        </a:lnSpc>
                      </a:pPr>
                      <a:r>
                        <a:rPr sz="1000" spc="-55" dirty="0">
                          <a:solidFill>
                            <a:srgbClr val="22373A"/>
                          </a:solidFill>
                          <a:latin typeface="Arial MT"/>
                          <a:cs typeface="Arial MT"/>
                        </a:rPr>
                        <a:t>Qwen2.5-</a:t>
                      </a:r>
                      <a:r>
                        <a:rPr sz="1000" spc="-25" dirty="0">
                          <a:solidFill>
                            <a:srgbClr val="22373A"/>
                          </a:solidFill>
                          <a:latin typeface="Arial MT"/>
                          <a:cs typeface="Arial MT"/>
                        </a:rPr>
                        <a:t>3B</a:t>
                      </a:r>
                      <a:endParaRPr sz="1000">
                        <a:latin typeface="Arial MT"/>
                        <a:cs typeface="Arial MT"/>
                      </a:endParaRPr>
                    </a:p>
                  </a:txBody>
                  <a:tcPr marL="0" marR="0" marT="0" marB="0">
                    <a:lnB w="12700">
                      <a:solidFill>
                        <a:srgbClr val="22373A"/>
                      </a:solidFill>
                      <a:prstDash val="solid"/>
                    </a:lnB>
                  </a:tcPr>
                </a:tc>
                <a:tc>
                  <a:txBody>
                    <a:bodyPr/>
                    <a:lstStyle/>
                    <a:p>
                      <a:pPr algn="ctr">
                        <a:lnSpc>
                          <a:spcPts val="1175"/>
                        </a:lnSpc>
                      </a:pPr>
                      <a:r>
                        <a:rPr sz="1000" spc="-10" dirty="0">
                          <a:solidFill>
                            <a:srgbClr val="22373A"/>
                          </a:solidFill>
                          <a:latin typeface="Arial MT"/>
                          <a:cs typeface="Arial MT"/>
                        </a:rPr>
                        <a:t>0.278</a:t>
                      </a:r>
                      <a:endParaRPr sz="1000">
                        <a:latin typeface="Arial MT"/>
                        <a:cs typeface="Arial MT"/>
                      </a:endParaRPr>
                    </a:p>
                  </a:txBody>
                  <a:tcPr marL="0" marR="0" marT="0" marB="0">
                    <a:lnB w="12700">
                      <a:solidFill>
                        <a:srgbClr val="22373A"/>
                      </a:solidFill>
                      <a:prstDash val="solid"/>
                    </a:lnB>
                  </a:tcPr>
                </a:tc>
                <a:tc>
                  <a:txBody>
                    <a:bodyPr/>
                    <a:lstStyle/>
                    <a:p>
                      <a:pPr algn="ctr">
                        <a:lnSpc>
                          <a:spcPts val="1175"/>
                        </a:lnSpc>
                      </a:pPr>
                      <a:r>
                        <a:rPr sz="1000" spc="-10" dirty="0">
                          <a:solidFill>
                            <a:srgbClr val="2D7DB8"/>
                          </a:solidFill>
                          <a:latin typeface="Arial MT"/>
                          <a:cs typeface="Arial MT"/>
                        </a:rPr>
                        <a:t>0.056</a:t>
                      </a:r>
                      <a:endParaRPr sz="1000">
                        <a:latin typeface="Arial MT"/>
                        <a:cs typeface="Arial MT"/>
                      </a:endParaRPr>
                    </a:p>
                  </a:txBody>
                  <a:tcPr marL="0" marR="0" marT="0" marB="0">
                    <a:lnB w="12700">
                      <a:solidFill>
                        <a:srgbClr val="22373A"/>
                      </a:solidFill>
                      <a:prstDash val="solid"/>
                    </a:lnB>
                  </a:tcPr>
                </a:tc>
                <a:extLst>
                  <a:ext uri="{0D108BD9-81ED-4DB2-BD59-A6C34878D82A}">
                    <a16:rowId xmlns:a16="http://schemas.microsoft.com/office/drawing/2014/main" val="10003"/>
                  </a:ext>
                </a:extLst>
              </a:tr>
            </a:tbl>
          </a:graphicData>
        </a:graphic>
      </p:graphicFrame>
      <p:sp>
        <p:nvSpPr>
          <p:cNvPr id="9" name="object 9"/>
          <p:cNvSpPr txBox="1"/>
          <p:nvPr/>
        </p:nvSpPr>
        <p:spPr>
          <a:xfrm>
            <a:off x="347294" y="1785465"/>
            <a:ext cx="4537710" cy="394532"/>
          </a:xfrm>
          <a:prstGeom prst="rect">
            <a:avLst/>
          </a:prstGeom>
        </p:spPr>
        <p:txBody>
          <a:bodyPr vert="horz" wrap="square" lIns="0" tIns="12700" rIns="0" bIns="0" rtlCol="0">
            <a:spAutoFit/>
          </a:bodyPr>
          <a:lstStyle/>
          <a:p>
            <a:pPr marL="12700" marR="5080">
              <a:lnSpc>
                <a:spcPct val="118000"/>
              </a:lnSpc>
              <a:spcBef>
                <a:spcPts val="100"/>
              </a:spcBef>
            </a:pPr>
            <a:r>
              <a:rPr sz="1100" spc="-55" dirty="0">
                <a:solidFill>
                  <a:srgbClr val="22373A"/>
                </a:solidFill>
                <a:latin typeface="Arial MT"/>
                <a:cs typeface="Arial MT"/>
              </a:rPr>
              <a:t>Unconstrained</a:t>
            </a:r>
            <a:r>
              <a:rPr sz="1100" spc="-20" dirty="0">
                <a:solidFill>
                  <a:srgbClr val="22373A"/>
                </a:solidFill>
                <a:latin typeface="Arial MT"/>
                <a:cs typeface="Arial MT"/>
              </a:rPr>
              <a:t> </a:t>
            </a:r>
            <a:r>
              <a:rPr sz="1100" spc="-25" dirty="0">
                <a:solidFill>
                  <a:srgbClr val="22373A"/>
                </a:solidFill>
                <a:latin typeface="Arial MT"/>
                <a:cs typeface="Arial MT"/>
              </a:rPr>
              <a:t>similarity </a:t>
            </a:r>
            <a:r>
              <a:rPr sz="1100" spc="-65" dirty="0">
                <a:solidFill>
                  <a:srgbClr val="22373A"/>
                </a:solidFill>
                <a:latin typeface="Arial MT"/>
                <a:cs typeface="Arial MT"/>
              </a:rPr>
              <a:t>lands</a:t>
            </a:r>
            <a:r>
              <a:rPr sz="1100" spc="-10" dirty="0">
                <a:solidFill>
                  <a:srgbClr val="22373A"/>
                </a:solidFill>
                <a:latin typeface="Arial MT"/>
                <a:cs typeface="Arial MT"/>
              </a:rPr>
              <a:t> </a:t>
            </a:r>
            <a:r>
              <a:rPr sz="1100" dirty="0">
                <a:solidFill>
                  <a:srgbClr val="22373A"/>
                </a:solidFill>
                <a:latin typeface="Arial MT"/>
                <a:cs typeface="Arial MT"/>
              </a:rPr>
              <a:t>in</a:t>
            </a:r>
            <a:r>
              <a:rPr sz="1100" spc="-15" dirty="0">
                <a:solidFill>
                  <a:srgbClr val="22373A"/>
                </a:solidFill>
                <a:latin typeface="Arial MT"/>
                <a:cs typeface="Arial MT"/>
              </a:rPr>
              <a:t> </a:t>
            </a:r>
            <a:r>
              <a:rPr sz="1100" dirty="0">
                <a:solidFill>
                  <a:srgbClr val="22373A"/>
                </a:solidFill>
                <a:latin typeface="Arial MT"/>
                <a:cs typeface="Arial MT"/>
              </a:rPr>
              <a:t>the</a:t>
            </a:r>
            <a:r>
              <a:rPr sz="1100" spc="-20" dirty="0">
                <a:solidFill>
                  <a:srgbClr val="22373A"/>
                </a:solidFill>
                <a:latin typeface="Arial MT"/>
                <a:cs typeface="Arial MT"/>
              </a:rPr>
              <a:t> </a:t>
            </a:r>
            <a:r>
              <a:rPr sz="1100" dirty="0">
                <a:solidFill>
                  <a:srgbClr val="22373A"/>
                </a:solidFill>
                <a:latin typeface="Arial MT"/>
                <a:cs typeface="Arial MT"/>
              </a:rPr>
              <a:t>right</a:t>
            </a:r>
            <a:r>
              <a:rPr sz="1100" spc="-15" dirty="0">
                <a:solidFill>
                  <a:srgbClr val="22373A"/>
                </a:solidFill>
                <a:latin typeface="Arial MT"/>
                <a:cs typeface="Arial MT"/>
              </a:rPr>
              <a:t> </a:t>
            </a:r>
            <a:r>
              <a:rPr lang="en-GB" sz="1100" spc="-50" dirty="0" err="1">
                <a:solidFill>
                  <a:srgbClr val="22373A"/>
                </a:solidFill>
                <a:latin typeface="Arial MT"/>
                <a:cs typeface="Arial MT"/>
              </a:rPr>
              <a:t>neighborhood</a:t>
            </a:r>
            <a:r>
              <a:rPr lang="en-GB" sz="1100" spc="-50" dirty="0">
                <a:solidFill>
                  <a:srgbClr val="22373A"/>
                </a:solidFill>
                <a:latin typeface="Arial MT"/>
                <a:cs typeface="Arial MT"/>
              </a:rPr>
              <a:t>,</a:t>
            </a:r>
            <a:r>
              <a:rPr sz="1100" spc="-20" dirty="0">
                <a:solidFill>
                  <a:srgbClr val="22373A"/>
                </a:solidFill>
                <a:latin typeface="Arial MT"/>
                <a:cs typeface="Arial MT"/>
              </a:rPr>
              <a:t> </a:t>
            </a:r>
            <a:r>
              <a:rPr lang="en-GB" sz="1100" spc="-25" dirty="0">
                <a:solidFill>
                  <a:srgbClr val="22373A"/>
                </a:solidFill>
                <a:latin typeface="Arial MT"/>
                <a:cs typeface="Arial MT"/>
              </a:rPr>
              <a:t>not </a:t>
            </a:r>
            <a:r>
              <a:rPr sz="1100" spc="-10" dirty="0">
                <a:solidFill>
                  <a:srgbClr val="22373A"/>
                </a:solidFill>
                <a:latin typeface="Arial MT"/>
                <a:cs typeface="Arial MT"/>
              </a:rPr>
              <a:t>on</a:t>
            </a:r>
            <a:r>
              <a:rPr sz="1100" spc="-40" dirty="0">
                <a:solidFill>
                  <a:srgbClr val="22373A"/>
                </a:solidFill>
                <a:latin typeface="Arial MT"/>
                <a:cs typeface="Arial MT"/>
              </a:rPr>
              <a:t> </a:t>
            </a:r>
            <a:r>
              <a:rPr sz="1100" dirty="0">
                <a:solidFill>
                  <a:srgbClr val="22373A"/>
                </a:solidFill>
                <a:latin typeface="Arial MT"/>
                <a:cs typeface="Arial MT"/>
              </a:rPr>
              <a:t>the</a:t>
            </a:r>
            <a:r>
              <a:rPr sz="1100" spc="-20" dirty="0">
                <a:solidFill>
                  <a:srgbClr val="22373A"/>
                </a:solidFill>
                <a:latin typeface="Arial MT"/>
                <a:cs typeface="Arial MT"/>
              </a:rPr>
              <a:t> </a:t>
            </a:r>
            <a:r>
              <a:rPr sz="1100" dirty="0">
                <a:solidFill>
                  <a:srgbClr val="22373A"/>
                </a:solidFill>
                <a:latin typeface="Arial MT"/>
                <a:cs typeface="Arial MT"/>
              </a:rPr>
              <a:t>right</a:t>
            </a:r>
            <a:r>
              <a:rPr sz="1100" spc="-20" dirty="0">
                <a:solidFill>
                  <a:srgbClr val="22373A"/>
                </a:solidFill>
                <a:latin typeface="Arial MT"/>
                <a:cs typeface="Arial MT"/>
              </a:rPr>
              <a:t> </a:t>
            </a:r>
            <a:r>
              <a:rPr sz="1100" spc="-10" dirty="0">
                <a:solidFill>
                  <a:srgbClr val="22373A"/>
                </a:solidFill>
                <a:latin typeface="Arial MT"/>
                <a:cs typeface="Arial MT"/>
              </a:rPr>
              <a:t>identifier.</a:t>
            </a:r>
            <a:endParaRPr sz="1100" dirty="0">
              <a:latin typeface="Arial MT"/>
              <a:cs typeface="Arial MT"/>
            </a:endParaRPr>
          </a:p>
        </p:txBody>
      </p:sp>
      <p:sp>
        <p:nvSpPr>
          <p:cNvPr id="10" name="object 10"/>
          <p:cNvSpPr/>
          <p:nvPr/>
        </p:nvSpPr>
        <p:spPr>
          <a:xfrm>
            <a:off x="359994" y="2484640"/>
            <a:ext cx="5039995" cy="0"/>
          </a:xfrm>
          <a:custGeom>
            <a:avLst/>
            <a:gdLst/>
            <a:ahLst/>
            <a:cxnLst/>
            <a:rect l="l" t="t" r="r" b="b"/>
            <a:pathLst>
              <a:path w="5039995">
                <a:moveTo>
                  <a:pt x="0" y="0"/>
                </a:moveTo>
                <a:lnTo>
                  <a:pt x="5039995" y="0"/>
                </a:lnTo>
              </a:path>
            </a:pathLst>
          </a:custGeom>
          <a:ln w="7594">
            <a:solidFill>
              <a:srgbClr val="2D7DB8"/>
            </a:solidFill>
          </a:ln>
        </p:spPr>
        <p:txBody>
          <a:bodyPr wrap="square" lIns="0" tIns="0" rIns="0" bIns="0" rtlCol="0"/>
          <a:lstStyle/>
          <a:p>
            <a:endParaRPr/>
          </a:p>
        </p:txBody>
      </p:sp>
      <p:sp>
        <p:nvSpPr>
          <p:cNvPr id="11" name="object 11"/>
          <p:cNvSpPr txBox="1"/>
          <p:nvPr/>
        </p:nvSpPr>
        <p:spPr>
          <a:xfrm>
            <a:off x="347294" y="2611621"/>
            <a:ext cx="4909820" cy="374650"/>
          </a:xfrm>
          <a:prstGeom prst="rect">
            <a:avLst/>
          </a:prstGeom>
        </p:spPr>
        <p:txBody>
          <a:bodyPr vert="horz" wrap="square" lIns="0" tIns="12700" rIns="0" bIns="0" rtlCol="0">
            <a:spAutoFit/>
          </a:bodyPr>
          <a:lstStyle/>
          <a:p>
            <a:pPr marL="12700" marR="5080">
              <a:lnSpc>
                <a:spcPct val="114599"/>
              </a:lnSpc>
              <a:spcBef>
                <a:spcPts val="100"/>
              </a:spcBef>
            </a:pPr>
            <a:r>
              <a:rPr sz="1000" dirty="0">
                <a:solidFill>
                  <a:srgbClr val="22373A"/>
                </a:solidFill>
                <a:latin typeface="Arial MT"/>
                <a:cs typeface="Arial MT"/>
              </a:rPr>
              <a:t>The</a:t>
            </a:r>
            <a:r>
              <a:rPr sz="1000" spc="-10" dirty="0">
                <a:solidFill>
                  <a:srgbClr val="22373A"/>
                </a:solidFill>
                <a:latin typeface="Arial MT"/>
                <a:cs typeface="Arial MT"/>
              </a:rPr>
              <a:t> </a:t>
            </a:r>
            <a:r>
              <a:rPr sz="1000" spc="-25" dirty="0">
                <a:solidFill>
                  <a:srgbClr val="22373A"/>
                </a:solidFill>
                <a:latin typeface="Arial MT"/>
                <a:cs typeface="Arial MT"/>
              </a:rPr>
              <a:t>ranking</a:t>
            </a:r>
            <a:r>
              <a:rPr sz="1000" spc="-5" dirty="0">
                <a:solidFill>
                  <a:srgbClr val="22373A"/>
                </a:solidFill>
                <a:latin typeface="Arial MT"/>
                <a:cs typeface="Arial MT"/>
              </a:rPr>
              <a:t> </a:t>
            </a:r>
            <a:r>
              <a:rPr sz="1000" spc="-40" dirty="0">
                <a:solidFill>
                  <a:srgbClr val="22373A"/>
                </a:solidFill>
                <a:latin typeface="Arial MT"/>
                <a:cs typeface="Arial MT"/>
              </a:rPr>
              <a:t>machinery</a:t>
            </a:r>
            <a:r>
              <a:rPr sz="1000" spc="-10" dirty="0">
                <a:solidFill>
                  <a:srgbClr val="22373A"/>
                </a:solidFill>
                <a:latin typeface="Arial MT"/>
                <a:cs typeface="Arial MT"/>
              </a:rPr>
              <a:t> </a:t>
            </a:r>
            <a:r>
              <a:rPr sz="1000" spc="-25" dirty="0">
                <a:solidFill>
                  <a:srgbClr val="22373A"/>
                </a:solidFill>
                <a:latin typeface="Arial MT"/>
                <a:cs typeface="Arial MT"/>
              </a:rPr>
              <a:t>contributes</a:t>
            </a:r>
            <a:r>
              <a:rPr sz="1000" dirty="0">
                <a:solidFill>
                  <a:srgbClr val="22373A"/>
                </a:solidFill>
                <a:latin typeface="Arial MT"/>
                <a:cs typeface="Arial MT"/>
              </a:rPr>
              <a:t> </a:t>
            </a:r>
            <a:r>
              <a:rPr sz="1000" spc="-25" dirty="0">
                <a:solidFill>
                  <a:srgbClr val="22373A"/>
                </a:solidFill>
                <a:latin typeface="Arial MT"/>
                <a:cs typeface="Arial MT"/>
              </a:rPr>
              <a:t>almost</a:t>
            </a:r>
            <a:r>
              <a:rPr sz="1000" spc="-10" dirty="0">
                <a:solidFill>
                  <a:srgbClr val="22373A"/>
                </a:solidFill>
                <a:latin typeface="Arial MT"/>
                <a:cs typeface="Arial MT"/>
              </a:rPr>
              <a:t> nothing</a:t>
            </a:r>
            <a:r>
              <a:rPr sz="1000" spc="-5" dirty="0">
                <a:solidFill>
                  <a:srgbClr val="22373A"/>
                </a:solidFill>
                <a:latin typeface="Arial MT"/>
                <a:cs typeface="Arial MT"/>
              </a:rPr>
              <a:t> </a:t>
            </a:r>
            <a:r>
              <a:rPr sz="1000" dirty="0">
                <a:solidFill>
                  <a:srgbClr val="22373A"/>
                </a:solidFill>
                <a:latin typeface="Arial MT"/>
                <a:cs typeface="Arial MT"/>
              </a:rPr>
              <a:t>without</a:t>
            </a:r>
            <a:r>
              <a:rPr sz="1000" spc="-5" dirty="0">
                <a:solidFill>
                  <a:srgbClr val="22373A"/>
                </a:solidFill>
                <a:latin typeface="Arial MT"/>
                <a:cs typeface="Arial MT"/>
              </a:rPr>
              <a:t> </a:t>
            </a:r>
            <a:r>
              <a:rPr sz="1000" dirty="0">
                <a:solidFill>
                  <a:srgbClr val="22373A"/>
                </a:solidFill>
                <a:latin typeface="Arial MT"/>
                <a:cs typeface="Arial MT"/>
              </a:rPr>
              <a:t>the</a:t>
            </a:r>
            <a:r>
              <a:rPr sz="1000" spc="-10" dirty="0">
                <a:solidFill>
                  <a:srgbClr val="22373A"/>
                </a:solidFill>
                <a:latin typeface="Arial MT"/>
                <a:cs typeface="Arial MT"/>
              </a:rPr>
              <a:t> constraint.</a:t>
            </a:r>
            <a:r>
              <a:rPr sz="1000" spc="85" dirty="0">
                <a:solidFill>
                  <a:srgbClr val="22373A"/>
                </a:solidFill>
                <a:latin typeface="Arial MT"/>
                <a:cs typeface="Arial MT"/>
              </a:rPr>
              <a:t> </a:t>
            </a:r>
            <a:r>
              <a:rPr sz="1000" dirty="0">
                <a:solidFill>
                  <a:srgbClr val="22373A"/>
                </a:solidFill>
                <a:latin typeface="Arial MT"/>
                <a:cs typeface="Arial MT"/>
              </a:rPr>
              <a:t>The</a:t>
            </a:r>
            <a:r>
              <a:rPr sz="1000" spc="-5" dirty="0">
                <a:solidFill>
                  <a:srgbClr val="22373A"/>
                </a:solidFill>
                <a:latin typeface="Arial MT"/>
                <a:cs typeface="Arial MT"/>
              </a:rPr>
              <a:t> </a:t>
            </a:r>
            <a:r>
              <a:rPr sz="1000" spc="-20" dirty="0">
                <a:solidFill>
                  <a:srgbClr val="22373A"/>
                </a:solidFill>
                <a:latin typeface="Arial MT"/>
                <a:cs typeface="Arial MT"/>
              </a:rPr>
              <a:t>constraint</a:t>
            </a:r>
            <a:r>
              <a:rPr sz="1000" spc="-10" dirty="0">
                <a:solidFill>
                  <a:srgbClr val="22373A"/>
                </a:solidFill>
                <a:latin typeface="Arial MT"/>
                <a:cs typeface="Arial MT"/>
              </a:rPr>
              <a:t> </a:t>
            </a:r>
            <a:r>
              <a:rPr sz="1000" spc="-25" dirty="0">
                <a:solidFill>
                  <a:srgbClr val="22373A"/>
                </a:solidFill>
                <a:latin typeface="Arial MT"/>
                <a:cs typeface="Arial MT"/>
              </a:rPr>
              <a:t>is </a:t>
            </a:r>
            <a:r>
              <a:rPr sz="1000" dirty="0">
                <a:solidFill>
                  <a:srgbClr val="22373A"/>
                </a:solidFill>
                <a:latin typeface="Arial MT"/>
                <a:cs typeface="Arial MT"/>
              </a:rPr>
              <a:t>the</a:t>
            </a:r>
            <a:r>
              <a:rPr sz="1000" spc="-20" dirty="0">
                <a:solidFill>
                  <a:srgbClr val="22373A"/>
                </a:solidFill>
                <a:latin typeface="Arial MT"/>
                <a:cs typeface="Arial MT"/>
              </a:rPr>
              <a:t> </a:t>
            </a:r>
            <a:r>
              <a:rPr sz="1000" spc="-10" dirty="0">
                <a:solidFill>
                  <a:srgbClr val="22373A"/>
                </a:solidFill>
                <a:latin typeface="Arial MT"/>
                <a:cs typeface="Arial MT"/>
              </a:rPr>
              <a:t>mechanism.</a:t>
            </a:r>
            <a:endParaRPr sz="1000" dirty="0">
              <a:latin typeface="Arial MT"/>
              <a:cs typeface="Arial MT"/>
            </a:endParaRPr>
          </a:p>
        </p:txBody>
      </p:sp>
      <p:pic>
        <p:nvPicPr>
          <p:cNvPr id="12" name="object 12"/>
          <p:cNvPicPr/>
          <p:nvPr/>
        </p:nvPicPr>
        <p:blipFill>
          <a:blip r:embed="rId3" cstate="print"/>
          <a:stretch>
            <a:fillRect/>
          </a:stretch>
        </p:blipFill>
        <p:spPr>
          <a:xfrm>
            <a:off x="101282" y="2998905"/>
            <a:ext cx="241983" cy="187117"/>
          </a:xfrm>
          <a:prstGeom prst="rect">
            <a:avLst/>
          </a:prstGeom>
        </p:spPr>
      </p:pic>
      <p:pic>
        <p:nvPicPr>
          <p:cNvPr id="13" name="object 13"/>
          <p:cNvPicPr/>
          <p:nvPr/>
        </p:nvPicPr>
        <p:blipFill>
          <a:blip r:embed="rId4" cstate="print"/>
          <a:stretch>
            <a:fillRect/>
          </a:stretch>
        </p:blipFill>
        <p:spPr>
          <a:xfrm>
            <a:off x="433285" y="2998965"/>
            <a:ext cx="187057" cy="187057"/>
          </a:xfrm>
          <a:prstGeom prst="rect">
            <a:avLst/>
          </a:prstGeom>
        </p:spPr>
      </p:pic>
      <p:pic>
        <p:nvPicPr>
          <p:cNvPr id="14" name="object 14"/>
          <p:cNvPicPr/>
          <p:nvPr/>
        </p:nvPicPr>
        <p:blipFill>
          <a:blip r:embed="rId5" cstate="print"/>
          <a:stretch>
            <a:fillRect/>
          </a:stretch>
        </p:blipFill>
        <p:spPr>
          <a:xfrm>
            <a:off x="710349" y="2998815"/>
            <a:ext cx="187208" cy="187208"/>
          </a:xfrm>
          <a:prstGeom prst="rect">
            <a:avLst/>
          </a:prstGeom>
        </p:spPr>
      </p:pic>
      <p:sp>
        <p:nvSpPr>
          <p:cNvPr id="15" name="object 15"/>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22</a:t>
            </a:r>
            <a:r>
              <a:rPr spc="-80" dirty="0"/>
              <a:t> </a:t>
            </a:r>
            <a:r>
              <a:rPr spc="195" dirty="0"/>
              <a:t>/</a:t>
            </a:r>
            <a:r>
              <a:rPr spc="-75" dirty="0"/>
              <a:t> </a:t>
            </a:r>
            <a:r>
              <a:rPr spc="-25" dirty="0"/>
              <a:t>32</a:t>
            </a:r>
          </a:p>
        </p:txBody>
      </p:sp>
    </p:spTree>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Is</a:t>
            </a:r>
            <a:r>
              <a:rPr spc="20" dirty="0"/>
              <a:t> </a:t>
            </a:r>
            <a:r>
              <a:rPr dirty="0"/>
              <a:t>the</a:t>
            </a:r>
            <a:r>
              <a:rPr spc="20" dirty="0"/>
              <a:t> </a:t>
            </a:r>
            <a:r>
              <a:rPr spc="-45" dirty="0"/>
              <a:t>baseline</a:t>
            </a:r>
            <a:r>
              <a:rPr spc="20" dirty="0"/>
              <a:t> </a:t>
            </a:r>
            <a:r>
              <a:rPr spc="-45" dirty="0"/>
              <a:t>comparison</a:t>
            </a:r>
            <a:r>
              <a:rPr spc="20" dirty="0"/>
              <a:t> </a:t>
            </a:r>
            <a:r>
              <a:rPr spc="-10" dirty="0"/>
              <a:t>fair?</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4140200" cy="5080"/>
            </a:xfrm>
            <a:custGeom>
              <a:avLst/>
              <a:gdLst/>
              <a:ahLst/>
              <a:cxnLst/>
              <a:rect l="l" t="t" r="r" b="b"/>
              <a:pathLst>
                <a:path w="4140200" h="5079">
                  <a:moveTo>
                    <a:pt x="0" y="5060"/>
                  </a:moveTo>
                  <a:lnTo>
                    <a:pt x="0" y="0"/>
                  </a:lnTo>
                  <a:lnTo>
                    <a:pt x="4140053" y="0"/>
                  </a:lnTo>
                  <a:lnTo>
                    <a:pt x="4140053" y="5060"/>
                  </a:lnTo>
                  <a:lnTo>
                    <a:pt x="0" y="5060"/>
                  </a:lnTo>
                  <a:close/>
                </a:path>
              </a:pathLst>
            </a:custGeom>
            <a:solidFill>
              <a:srgbClr val="2D7DB8"/>
            </a:solidFill>
          </p:spPr>
          <p:txBody>
            <a:bodyPr wrap="square" lIns="0" tIns="0" rIns="0" bIns="0" rtlCol="0"/>
            <a:lstStyle/>
            <a:p>
              <a:endParaRPr/>
            </a:p>
          </p:txBody>
        </p:sp>
      </p:grpSp>
      <p:sp>
        <p:nvSpPr>
          <p:cNvPr id="7" name="object 7"/>
          <p:cNvSpPr txBox="1"/>
          <p:nvPr/>
        </p:nvSpPr>
        <p:spPr>
          <a:xfrm>
            <a:off x="347294" y="861425"/>
            <a:ext cx="4865370" cy="1631950"/>
          </a:xfrm>
          <a:prstGeom prst="rect">
            <a:avLst/>
          </a:prstGeom>
        </p:spPr>
        <p:txBody>
          <a:bodyPr vert="horz" wrap="square" lIns="0" tIns="12700" rIns="0" bIns="0" rtlCol="0">
            <a:spAutoFit/>
          </a:bodyPr>
          <a:lstStyle/>
          <a:p>
            <a:pPr marL="12700" marR="83185">
              <a:lnSpc>
                <a:spcPct val="118000"/>
              </a:lnSpc>
              <a:spcBef>
                <a:spcPts val="100"/>
              </a:spcBef>
            </a:pPr>
            <a:r>
              <a:rPr sz="1100" spc="-10" dirty="0">
                <a:solidFill>
                  <a:srgbClr val="22373A"/>
                </a:solidFill>
                <a:latin typeface="Arial MT"/>
                <a:cs typeface="Arial MT"/>
              </a:rPr>
              <a:t>The</a:t>
            </a:r>
            <a:r>
              <a:rPr sz="1100" spc="-45" dirty="0">
                <a:solidFill>
                  <a:srgbClr val="22373A"/>
                </a:solidFill>
                <a:latin typeface="Arial MT"/>
                <a:cs typeface="Arial MT"/>
              </a:rPr>
              <a:t> </a:t>
            </a:r>
            <a:r>
              <a:rPr sz="1100" spc="-65" dirty="0">
                <a:solidFill>
                  <a:srgbClr val="22373A"/>
                </a:solidFill>
                <a:latin typeface="Arial MT"/>
                <a:cs typeface="Arial MT"/>
              </a:rPr>
              <a:t>CIC-</a:t>
            </a:r>
            <a:r>
              <a:rPr sz="1100" spc="-35" dirty="0">
                <a:solidFill>
                  <a:srgbClr val="22373A"/>
                </a:solidFill>
                <a:latin typeface="Arial MT"/>
                <a:cs typeface="Arial MT"/>
              </a:rPr>
              <a:t>IDS</a:t>
            </a:r>
            <a:r>
              <a:rPr sz="1100" spc="-25" dirty="0">
                <a:solidFill>
                  <a:srgbClr val="22373A"/>
                </a:solidFill>
                <a:latin typeface="Arial MT"/>
                <a:cs typeface="Arial MT"/>
              </a:rPr>
              <a:t> </a:t>
            </a:r>
            <a:r>
              <a:rPr sz="1100" spc="-75" dirty="0">
                <a:solidFill>
                  <a:srgbClr val="22373A"/>
                </a:solidFill>
                <a:latin typeface="Arial MT"/>
                <a:cs typeface="Arial MT"/>
              </a:rPr>
              <a:t>baseline</a:t>
            </a:r>
            <a:r>
              <a:rPr sz="1100" dirty="0">
                <a:solidFill>
                  <a:srgbClr val="22373A"/>
                </a:solidFill>
                <a:latin typeface="Arial MT"/>
                <a:cs typeface="Arial MT"/>
              </a:rPr>
              <a:t> </a:t>
            </a:r>
            <a:r>
              <a:rPr sz="1100" spc="-55" dirty="0">
                <a:solidFill>
                  <a:srgbClr val="22373A"/>
                </a:solidFill>
                <a:latin typeface="Arial MT"/>
                <a:cs typeface="Arial MT"/>
              </a:rPr>
              <a:t>had</a:t>
            </a:r>
            <a:r>
              <a:rPr sz="1100" spc="-20" dirty="0">
                <a:solidFill>
                  <a:srgbClr val="22373A"/>
                </a:solidFill>
                <a:latin typeface="Arial MT"/>
                <a:cs typeface="Arial MT"/>
              </a:rPr>
              <a:t> </a:t>
            </a:r>
            <a:r>
              <a:rPr sz="1100" spc="-10" dirty="0">
                <a:solidFill>
                  <a:srgbClr val="22373A"/>
                </a:solidFill>
                <a:latin typeface="Arial MT"/>
                <a:cs typeface="Arial MT"/>
              </a:rPr>
              <a:t>no</a:t>
            </a:r>
            <a:r>
              <a:rPr sz="1100" spc="-20" dirty="0">
                <a:solidFill>
                  <a:srgbClr val="22373A"/>
                </a:solidFill>
                <a:latin typeface="Arial MT"/>
                <a:cs typeface="Arial MT"/>
              </a:rPr>
              <a:t> </a:t>
            </a:r>
            <a:r>
              <a:rPr sz="1100" spc="-45" dirty="0">
                <a:solidFill>
                  <a:srgbClr val="22373A"/>
                </a:solidFill>
                <a:latin typeface="Arial MT"/>
                <a:cs typeface="Arial MT"/>
              </a:rPr>
              <a:t>grammar</a:t>
            </a:r>
            <a:r>
              <a:rPr sz="1100" spc="-20" dirty="0">
                <a:solidFill>
                  <a:srgbClr val="22373A"/>
                </a:solidFill>
                <a:latin typeface="Arial MT"/>
                <a:cs typeface="Arial MT"/>
              </a:rPr>
              <a:t> constraint.</a:t>
            </a:r>
            <a:r>
              <a:rPr sz="1100" spc="65" dirty="0">
                <a:solidFill>
                  <a:srgbClr val="22373A"/>
                </a:solidFill>
                <a:latin typeface="Arial MT"/>
                <a:cs typeface="Arial MT"/>
              </a:rPr>
              <a:t> </a:t>
            </a:r>
            <a:r>
              <a:rPr sz="1100" spc="-35" dirty="0">
                <a:solidFill>
                  <a:srgbClr val="22373A"/>
                </a:solidFill>
                <a:latin typeface="Arial MT"/>
                <a:cs typeface="Arial MT"/>
              </a:rPr>
              <a:t>Quantified</a:t>
            </a:r>
            <a:r>
              <a:rPr sz="1100" spc="-20" dirty="0">
                <a:solidFill>
                  <a:srgbClr val="22373A"/>
                </a:solidFill>
                <a:latin typeface="Arial MT"/>
                <a:cs typeface="Arial MT"/>
              </a:rPr>
              <a:t> rather</a:t>
            </a:r>
            <a:r>
              <a:rPr sz="1100" spc="-25" dirty="0">
                <a:solidFill>
                  <a:srgbClr val="22373A"/>
                </a:solidFill>
                <a:latin typeface="Arial MT"/>
                <a:cs typeface="Arial MT"/>
              </a:rPr>
              <a:t> </a:t>
            </a:r>
            <a:r>
              <a:rPr sz="1100" spc="-10" dirty="0">
                <a:solidFill>
                  <a:srgbClr val="22373A"/>
                </a:solidFill>
                <a:latin typeface="Arial MT"/>
                <a:cs typeface="Arial MT"/>
              </a:rPr>
              <a:t>than</a:t>
            </a:r>
            <a:r>
              <a:rPr sz="1100" spc="-20" dirty="0">
                <a:solidFill>
                  <a:srgbClr val="22373A"/>
                </a:solidFill>
                <a:latin typeface="Arial MT"/>
                <a:cs typeface="Arial MT"/>
              </a:rPr>
              <a:t> </a:t>
            </a:r>
            <a:r>
              <a:rPr sz="1100" spc="-50" dirty="0">
                <a:solidFill>
                  <a:srgbClr val="22373A"/>
                </a:solidFill>
                <a:latin typeface="Arial MT"/>
                <a:cs typeface="Arial MT"/>
              </a:rPr>
              <a:t>assumed </a:t>
            </a:r>
            <a:r>
              <a:rPr sz="1100" spc="-20" dirty="0">
                <a:solidFill>
                  <a:srgbClr val="22373A"/>
                </a:solidFill>
                <a:latin typeface="Arial MT"/>
                <a:cs typeface="Arial MT"/>
              </a:rPr>
              <a:t>away:</a:t>
            </a:r>
            <a:endParaRPr sz="1100">
              <a:latin typeface="Arial MT"/>
              <a:cs typeface="Arial MT"/>
            </a:endParaRPr>
          </a:p>
          <a:p>
            <a:pPr marL="287020" indent="-135890">
              <a:lnSpc>
                <a:spcPct val="100000"/>
              </a:lnSpc>
              <a:spcBef>
                <a:spcPts val="1085"/>
              </a:spcBef>
              <a:buChar char="•"/>
              <a:tabLst>
                <a:tab pos="287020" algn="l"/>
              </a:tabLst>
            </a:pPr>
            <a:r>
              <a:rPr sz="1100" spc="-30" dirty="0">
                <a:solidFill>
                  <a:srgbClr val="22373A"/>
                </a:solidFill>
                <a:latin typeface="Arial MT"/>
                <a:cs typeface="Arial MT"/>
              </a:rPr>
              <a:t>51 </a:t>
            </a:r>
            <a:r>
              <a:rPr sz="1100" dirty="0">
                <a:solidFill>
                  <a:srgbClr val="22373A"/>
                </a:solidFill>
                <a:latin typeface="Arial MT"/>
                <a:cs typeface="Arial MT"/>
              </a:rPr>
              <a:t>of</a:t>
            </a:r>
            <a:r>
              <a:rPr sz="1100" spc="-5" dirty="0">
                <a:solidFill>
                  <a:srgbClr val="22373A"/>
                </a:solidFill>
                <a:latin typeface="Arial MT"/>
                <a:cs typeface="Arial MT"/>
              </a:rPr>
              <a:t> </a:t>
            </a:r>
            <a:r>
              <a:rPr sz="1100" spc="-30" dirty="0">
                <a:solidFill>
                  <a:srgbClr val="22373A"/>
                </a:solidFill>
                <a:latin typeface="Arial MT"/>
                <a:cs typeface="Arial MT"/>
              </a:rPr>
              <a:t>54</a:t>
            </a:r>
            <a:r>
              <a:rPr sz="1100" spc="-5" dirty="0">
                <a:solidFill>
                  <a:srgbClr val="22373A"/>
                </a:solidFill>
                <a:latin typeface="Arial MT"/>
                <a:cs typeface="Arial MT"/>
              </a:rPr>
              <a:t> </a:t>
            </a:r>
            <a:r>
              <a:rPr sz="1100" spc="-75" dirty="0">
                <a:solidFill>
                  <a:srgbClr val="22373A"/>
                </a:solidFill>
                <a:latin typeface="Arial MT"/>
                <a:cs typeface="Arial MT"/>
              </a:rPr>
              <a:t>baseline</a:t>
            </a:r>
            <a:r>
              <a:rPr sz="1100" dirty="0">
                <a:solidFill>
                  <a:srgbClr val="22373A"/>
                </a:solidFill>
                <a:latin typeface="Arial MT"/>
                <a:cs typeface="Arial MT"/>
              </a:rPr>
              <a:t> </a:t>
            </a:r>
            <a:r>
              <a:rPr sz="1100" spc="-25" dirty="0">
                <a:solidFill>
                  <a:srgbClr val="22373A"/>
                </a:solidFill>
                <a:latin typeface="Arial MT"/>
                <a:cs typeface="Arial MT"/>
              </a:rPr>
              <a:t>outputs</a:t>
            </a:r>
            <a:r>
              <a:rPr sz="1100" spc="-5" dirty="0">
                <a:solidFill>
                  <a:srgbClr val="22373A"/>
                </a:solidFill>
                <a:latin typeface="Arial MT"/>
                <a:cs typeface="Arial MT"/>
              </a:rPr>
              <a:t> </a:t>
            </a:r>
            <a:r>
              <a:rPr sz="1100" spc="-85" dirty="0">
                <a:solidFill>
                  <a:srgbClr val="22373A"/>
                </a:solidFill>
                <a:latin typeface="Arial MT"/>
                <a:cs typeface="Arial MT"/>
              </a:rPr>
              <a:t>parsed</a:t>
            </a:r>
            <a:r>
              <a:rPr sz="1100" spc="10" dirty="0">
                <a:solidFill>
                  <a:srgbClr val="22373A"/>
                </a:solidFill>
                <a:latin typeface="Arial MT"/>
                <a:cs typeface="Arial MT"/>
              </a:rPr>
              <a:t> </a:t>
            </a:r>
            <a:r>
              <a:rPr sz="1100" dirty="0">
                <a:solidFill>
                  <a:srgbClr val="22373A"/>
                </a:solidFill>
                <a:latin typeface="Arial MT"/>
                <a:cs typeface="Arial MT"/>
              </a:rPr>
              <a:t>to</a:t>
            </a:r>
            <a:r>
              <a:rPr sz="1100" spc="-5" dirty="0">
                <a:solidFill>
                  <a:srgbClr val="22373A"/>
                </a:solidFill>
                <a:latin typeface="Arial MT"/>
                <a:cs typeface="Arial MT"/>
              </a:rPr>
              <a:t> </a:t>
            </a:r>
            <a:r>
              <a:rPr sz="1100" dirty="0">
                <a:solidFill>
                  <a:srgbClr val="22373A"/>
                </a:solidFill>
                <a:latin typeface="Arial MT"/>
                <a:cs typeface="Arial MT"/>
              </a:rPr>
              <a:t>a</a:t>
            </a:r>
            <a:r>
              <a:rPr sz="1100" spc="-5" dirty="0">
                <a:solidFill>
                  <a:srgbClr val="22373A"/>
                </a:solidFill>
                <a:latin typeface="Arial MT"/>
                <a:cs typeface="Arial MT"/>
              </a:rPr>
              <a:t> </a:t>
            </a:r>
            <a:r>
              <a:rPr sz="1100" spc="-30" dirty="0">
                <a:solidFill>
                  <a:srgbClr val="22373A"/>
                </a:solidFill>
                <a:latin typeface="Arial MT"/>
                <a:cs typeface="Arial MT"/>
              </a:rPr>
              <a:t>valid</a:t>
            </a:r>
            <a:r>
              <a:rPr sz="1100" spc="-5" dirty="0">
                <a:solidFill>
                  <a:srgbClr val="22373A"/>
                </a:solidFill>
                <a:latin typeface="Arial MT"/>
                <a:cs typeface="Arial MT"/>
              </a:rPr>
              <a:t> </a:t>
            </a:r>
            <a:r>
              <a:rPr sz="1100" spc="-50" dirty="0">
                <a:solidFill>
                  <a:srgbClr val="22373A"/>
                </a:solidFill>
                <a:latin typeface="Arial MT"/>
                <a:cs typeface="Arial MT"/>
              </a:rPr>
              <a:t>technique</a:t>
            </a:r>
            <a:r>
              <a:rPr sz="1100" spc="-5" dirty="0">
                <a:solidFill>
                  <a:srgbClr val="22373A"/>
                </a:solidFill>
                <a:latin typeface="Arial MT"/>
                <a:cs typeface="Arial MT"/>
              </a:rPr>
              <a:t> </a:t>
            </a:r>
            <a:r>
              <a:rPr sz="1100" spc="-10" dirty="0">
                <a:solidFill>
                  <a:srgbClr val="22373A"/>
                </a:solidFill>
                <a:latin typeface="Arial MT"/>
                <a:cs typeface="Arial MT"/>
              </a:rPr>
              <a:t>identifier</a:t>
            </a:r>
            <a:endParaRPr sz="1100">
              <a:latin typeface="Arial MT"/>
              <a:cs typeface="Arial MT"/>
            </a:endParaRPr>
          </a:p>
          <a:p>
            <a:pPr marL="287020" indent="-135890">
              <a:lnSpc>
                <a:spcPct val="100000"/>
              </a:lnSpc>
              <a:spcBef>
                <a:spcPts val="535"/>
              </a:spcBef>
              <a:buChar char="•"/>
              <a:tabLst>
                <a:tab pos="287020" algn="l"/>
              </a:tabLst>
            </a:pPr>
            <a:r>
              <a:rPr sz="1100" dirty="0">
                <a:solidFill>
                  <a:srgbClr val="22373A"/>
                </a:solidFill>
                <a:latin typeface="Arial MT"/>
                <a:cs typeface="Arial MT"/>
              </a:rPr>
              <a:t>3</a:t>
            </a:r>
            <a:r>
              <a:rPr sz="1100" spc="-20" dirty="0">
                <a:solidFill>
                  <a:srgbClr val="22373A"/>
                </a:solidFill>
                <a:latin typeface="Arial MT"/>
                <a:cs typeface="Arial MT"/>
              </a:rPr>
              <a:t> </a:t>
            </a:r>
            <a:r>
              <a:rPr sz="1100" spc="-35" dirty="0">
                <a:solidFill>
                  <a:srgbClr val="22373A"/>
                </a:solidFill>
                <a:latin typeface="Arial MT"/>
                <a:cs typeface="Arial MT"/>
              </a:rPr>
              <a:t>failures,</a:t>
            </a:r>
            <a:r>
              <a:rPr sz="1100" spc="-15" dirty="0">
                <a:solidFill>
                  <a:srgbClr val="22373A"/>
                </a:solidFill>
                <a:latin typeface="Arial MT"/>
                <a:cs typeface="Arial MT"/>
              </a:rPr>
              <a:t> </a:t>
            </a:r>
            <a:r>
              <a:rPr sz="1100" dirty="0">
                <a:solidFill>
                  <a:srgbClr val="22373A"/>
                </a:solidFill>
                <a:latin typeface="Arial MT"/>
                <a:cs typeface="Arial MT"/>
              </a:rPr>
              <a:t>all</a:t>
            </a:r>
            <a:r>
              <a:rPr sz="1100" spc="-15" dirty="0">
                <a:solidFill>
                  <a:srgbClr val="22373A"/>
                </a:solidFill>
                <a:latin typeface="Arial MT"/>
                <a:cs typeface="Arial MT"/>
              </a:rPr>
              <a:t> </a:t>
            </a:r>
            <a:r>
              <a:rPr sz="1100" spc="-35" dirty="0">
                <a:solidFill>
                  <a:srgbClr val="22373A"/>
                </a:solidFill>
                <a:latin typeface="Arial MT"/>
                <a:cs typeface="Arial MT"/>
              </a:rPr>
              <a:t>Mistral-</a:t>
            </a:r>
            <a:r>
              <a:rPr sz="1100" spc="-20" dirty="0">
                <a:solidFill>
                  <a:srgbClr val="22373A"/>
                </a:solidFill>
                <a:latin typeface="Arial MT"/>
                <a:cs typeface="Arial MT"/>
              </a:rPr>
              <a:t>Nemo,</a:t>
            </a:r>
            <a:r>
              <a:rPr sz="1100" spc="-15" dirty="0">
                <a:solidFill>
                  <a:srgbClr val="22373A"/>
                </a:solidFill>
                <a:latin typeface="Arial MT"/>
                <a:cs typeface="Arial MT"/>
              </a:rPr>
              <a:t> </a:t>
            </a:r>
            <a:r>
              <a:rPr sz="1100" spc="-10" dirty="0">
                <a:solidFill>
                  <a:srgbClr val="22373A"/>
                </a:solidFill>
                <a:latin typeface="Arial MT"/>
                <a:cs typeface="Arial MT"/>
              </a:rPr>
              <a:t>emitting</a:t>
            </a:r>
            <a:r>
              <a:rPr sz="1100" spc="-20" dirty="0">
                <a:solidFill>
                  <a:srgbClr val="22373A"/>
                </a:solidFill>
                <a:latin typeface="Arial MT"/>
                <a:cs typeface="Arial MT"/>
              </a:rPr>
              <a:t> </a:t>
            </a:r>
            <a:r>
              <a:rPr sz="1100" dirty="0">
                <a:solidFill>
                  <a:srgbClr val="22373A"/>
                </a:solidFill>
                <a:latin typeface="Arial MT"/>
                <a:cs typeface="Arial MT"/>
              </a:rPr>
              <a:t>the</a:t>
            </a:r>
            <a:r>
              <a:rPr sz="1100" spc="-15" dirty="0">
                <a:solidFill>
                  <a:srgbClr val="22373A"/>
                </a:solidFill>
                <a:latin typeface="Arial MT"/>
                <a:cs typeface="Arial MT"/>
              </a:rPr>
              <a:t> </a:t>
            </a:r>
            <a:r>
              <a:rPr sz="1100" spc="-30" dirty="0">
                <a:solidFill>
                  <a:srgbClr val="22373A"/>
                </a:solidFill>
                <a:latin typeface="Arial MT"/>
                <a:cs typeface="Arial MT"/>
              </a:rPr>
              <a:t>invalid</a:t>
            </a:r>
            <a:r>
              <a:rPr sz="1100" spc="-15" dirty="0">
                <a:solidFill>
                  <a:srgbClr val="22373A"/>
                </a:solidFill>
                <a:latin typeface="Arial MT"/>
                <a:cs typeface="Arial MT"/>
              </a:rPr>
              <a:t> </a:t>
            </a:r>
            <a:r>
              <a:rPr sz="1100" dirty="0">
                <a:solidFill>
                  <a:srgbClr val="22373A"/>
                </a:solidFill>
                <a:latin typeface="Arial MT"/>
                <a:cs typeface="Arial MT"/>
              </a:rPr>
              <a:t>ID</a:t>
            </a:r>
            <a:r>
              <a:rPr sz="1100" spc="-15" dirty="0">
                <a:solidFill>
                  <a:srgbClr val="22373A"/>
                </a:solidFill>
                <a:latin typeface="Arial MT"/>
                <a:cs typeface="Arial MT"/>
              </a:rPr>
              <a:t> </a:t>
            </a:r>
            <a:r>
              <a:rPr sz="1100" spc="-20" dirty="0">
                <a:solidFill>
                  <a:srgbClr val="22373A"/>
                </a:solidFill>
                <a:latin typeface="Arial MT"/>
                <a:cs typeface="Arial MT"/>
              </a:rPr>
              <a:t>T886</a:t>
            </a:r>
            <a:endParaRPr sz="1100">
              <a:latin typeface="Arial MT"/>
              <a:cs typeface="Arial MT"/>
            </a:endParaRPr>
          </a:p>
          <a:p>
            <a:pPr marL="287020" marR="5080" indent="-135890">
              <a:lnSpc>
                <a:spcPct val="118000"/>
              </a:lnSpc>
              <a:spcBef>
                <a:spcPts val="300"/>
              </a:spcBef>
              <a:buChar char="•"/>
              <a:tabLst>
                <a:tab pos="289560" algn="l"/>
              </a:tabLst>
            </a:pPr>
            <a:r>
              <a:rPr sz="1100" spc="-35" dirty="0">
                <a:solidFill>
                  <a:srgbClr val="22373A"/>
                </a:solidFill>
                <a:latin typeface="Arial MT"/>
                <a:cs typeface="Arial MT"/>
              </a:rPr>
              <a:t>Crediting</a:t>
            </a:r>
            <a:r>
              <a:rPr sz="1100" spc="-15" dirty="0">
                <a:solidFill>
                  <a:srgbClr val="22373A"/>
                </a:solidFill>
                <a:latin typeface="Arial MT"/>
                <a:cs typeface="Arial MT"/>
              </a:rPr>
              <a:t> </a:t>
            </a:r>
            <a:r>
              <a:rPr sz="1100" dirty="0">
                <a:solidFill>
                  <a:srgbClr val="22373A"/>
                </a:solidFill>
                <a:latin typeface="Arial MT"/>
                <a:cs typeface="Arial MT"/>
              </a:rPr>
              <a:t>all</a:t>
            </a:r>
            <a:r>
              <a:rPr sz="1100" spc="10" dirty="0">
                <a:solidFill>
                  <a:srgbClr val="22373A"/>
                </a:solidFill>
                <a:latin typeface="Arial MT"/>
                <a:cs typeface="Arial MT"/>
              </a:rPr>
              <a:t> </a:t>
            </a:r>
            <a:r>
              <a:rPr sz="1100" spc="-30" dirty="0">
                <a:solidFill>
                  <a:srgbClr val="22373A"/>
                </a:solidFill>
                <a:latin typeface="Arial MT"/>
                <a:cs typeface="Arial MT"/>
              </a:rPr>
              <a:t>three</a:t>
            </a:r>
            <a:r>
              <a:rPr sz="1100" spc="10" dirty="0">
                <a:solidFill>
                  <a:srgbClr val="22373A"/>
                </a:solidFill>
                <a:latin typeface="Arial MT"/>
                <a:cs typeface="Arial MT"/>
              </a:rPr>
              <a:t> </a:t>
            </a:r>
            <a:r>
              <a:rPr sz="1100" spc="-110" dirty="0">
                <a:solidFill>
                  <a:srgbClr val="22373A"/>
                </a:solidFill>
                <a:latin typeface="Arial MT"/>
                <a:cs typeface="Arial MT"/>
              </a:rPr>
              <a:t>as</a:t>
            </a:r>
            <a:r>
              <a:rPr sz="1100" spc="35" dirty="0">
                <a:solidFill>
                  <a:srgbClr val="22373A"/>
                </a:solidFill>
                <a:latin typeface="Arial MT"/>
                <a:cs typeface="Arial MT"/>
              </a:rPr>
              <a:t> </a:t>
            </a:r>
            <a:r>
              <a:rPr sz="1100" spc="-35" dirty="0">
                <a:solidFill>
                  <a:srgbClr val="22373A"/>
                </a:solidFill>
                <a:latin typeface="Arial MT"/>
                <a:cs typeface="Arial MT"/>
              </a:rPr>
              <a:t>correct</a:t>
            </a:r>
            <a:r>
              <a:rPr sz="1100" spc="10" dirty="0">
                <a:solidFill>
                  <a:srgbClr val="22373A"/>
                </a:solidFill>
                <a:latin typeface="Arial MT"/>
                <a:cs typeface="Arial MT"/>
              </a:rPr>
              <a:t> </a:t>
            </a:r>
            <a:r>
              <a:rPr sz="1100" dirty="0">
                <a:solidFill>
                  <a:srgbClr val="22373A"/>
                </a:solidFill>
                <a:latin typeface="Arial MT"/>
                <a:cs typeface="Arial MT"/>
              </a:rPr>
              <a:t>lifts</a:t>
            </a:r>
            <a:r>
              <a:rPr sz="1100" spc="10" dirty="0">
                <a:solidFill>
                  <a:srgbClr val="22373A"/>
                </a:solidFill>
                <a:latin typeface="Arial MT"/>
                <a:cs typeface="Arial MT"/>
              </a:rPr>
              <a:t> </a:t>
            </a:r>
            <a:r>
              <a:rPr sz="1100" dirty="0">
                <a:solidFill>
                  <a:srgbClr val="22373A"/>
                </a:solidFill>
                <a:latin typeface="Arial MT"/>
                <a:cs typeface="Arial MT"/>
              </a:rPr>
              <a:t>that</a:t>
            </a:r>
            <a:r>
              <a:rPr sz="1100" spc="10" dirty="0">
                <a:solidFill>
                  <a:srgbClr val="22373A"/>
                </a:solidFill>
                <a:latin typeface="Arial MT"/>
                <a:cs typeface="Arial MT"/>
              </a:rPr>
              <a:t> </a:t>
            </a:r>
            <a:r>
              <a:rPr sz="1100" spc="-75" dirty="0">
                <a:solidFill>
                  <a:srgbClr val="22373A"/>
                </a:solidFill>
                <a:latin typeface="Arial MT"/>
                <a:cs typeface="Arial MT"/>
              </a:rPr>
              <a:t>baseline</a:t>
            </a:r>
            <a:r>
              <a:rPr sz="1100" spc="10" dirty="0">
                <a:solidFill>
                  <a:srgbClr val="22373A"/>
                </a:solidFill>
                <a:latin typeface="Arial MT"/>
                <a:cs typeface="Arial MT"/>
              </a:rPr>
              <a:t> </a:t>
            </a:r>
            <a:r>
              <a:rPr sz="1100" dirty="0">
                <a:solidFill>
                  <a:srgbClr val="22373A"/>
                </a:solidFill>
                <a:latin typeface="Arial MT"/>
                <a:cs typeface="Arial MT"/>
              </a:rPr>
              <a:t>to</a:t>
            </a:r>
            <a:r>
              <a:rPr sz="1100" spc="15" dirty="0">
                <a:solidFill>
                  <a:srgbClr val="22373A"/>
                </a:solidFill>
                <a:latin typeface="Arial MT"/>
                <a:cs typeface="Arial MT"/>
              </a:rPr>
              <a:t> </a:t>
            </a:r>
            <a:r>
              <a:rPr sz="1100" dirty="0">
                <a:solidFill>
                  <a:srgbClr val="22373A"/>
                </a:solidFill>
                <a:latin typeface="Arial MT"/>
                <a:cs typeface="Arial MT"/>
              </a:rPr>
              <a:t>at</a:t>
            </a:r>
            <a:r>
              <a:rPr sz="1100" spc="10" dirty="0">
                <a:solidFill>
                  <a:srgbClr val="22373A"/>
                </a:solidFill>
                <a:latin typeface="Arial MT"/>
                <a:cs typeface="Arial MT"/>
              </a:rPr>
              <a:t> </a:t>
            </a:r>
            <a:r>
              <a:rPr sz="1100" spc="-30" dirty="0">
                <a:solidFill>
                  <a:srgbClr val="22373A"/>
                </a:solidFill>
                <a:latin typeface="Arial MT"/>
                <a:cs typeface="Arial MT"/>
              </a:rPr>
              <a:t>most</a:t>
            </a:r>
            <a:r>
              <a:rPr sz="1100" spc="10" dirty="0">
                <a:solidFill>
                  <a:srgbClr val="22373A"/>
                </a:solidFill>
                <a:latin typeface="Arial MT"/>
                <a:cs typeface="Arial MT"/>
              </a:rPr>
              <a:t> </a:t>
            </a:r>
            <a:r>
              <a:rPr sz="1100" spc="-40" dirty="0">
                <a:solidFill>
                  <a:srgbClr val="22373A"/>
                </a:solidFill>
                <a:latin typeface="Arial MT"/>
                <a:cs typeface="Arial MT"/>
              </a:rPr>
              <a:t>0.722,</a:t>
            </a:r>
            <a:r>
              <a:rPr sz="1100" spc="10" dirty="0">
                <a:solidFill>
                  <a:srgbClr val="22373A"/>
                </a:solidFill>
                <a:latin typeface="Arial MT"/>
                <a:cs typeface="Arial MT"/>
              </a:rPr>
              <a:t> </a:t>
            </a:r>
            <a:r>
              <a:rPr sz="1100" dirty="0">
                <a:solidFill>
                  <a:srgbClr val="22373A"/>
                </a:solidFill>
                <a:latin typeface="Arial MT"/>
                <a:cs typeface="Arial MT"/>
              </a:rPr>
              <a:t>still</a:t>
            </a:r>
            <a:r>
              <a:rPr sz="1100" spc="10" dirty="0">
                <a:solidFill>
                  <a:srgbClr val="22373A"/>
                </a:solidFill>
                <a:latin typeface="Arial MT"/>
                <a:cs typeface="Arial MT"/>
              </a:rPr>
              <a:t> </a:t>
            </a:r>
            <a:r>
              <a:rPr sz="1100" spc="-60" dirty="0">
                <a:solidFill>
                  <a:srgbClr val="22373A"/>
                </a:solidFill>
                <a:latin typeface="Arial MT"/>
                <a:cs typeface="Arial MT"/>
              </a:rPr>
              <a:t>below</a:t>
            </a:r>
            <a:r>
              <a:rPr sz="1100" spc="10" dirty="0">
                <a:solidFill>
                  <a:srgbClr val="22373A"/>
                </a:solidFill>
                <a:latin typeface="Arial MT"/>
                <a:cs typeface="Arial MT"/>
              </a:rPr>
              <a:t> </a:t>
            </a:r>
            <a:r>
              <a:rPr sz="1100" spc="-25" dirty="0">
                <a:solidFill>
                  <a:srgbClr val="22373A"/>
                </a:solidFill>
                <a:latin typeface="Arial MT"/>
                <a:cs typeface="Arial MT"/>
              </a:rPr>
              <a:t>the 	</a:t>
            </a:r>
            <a:r>
              <a:rPr sz="1100" spc="-60" dirty="0">
                <a:solidFill>
                  <a:srgbClr val="22373A"/>
                </a:solidFill>
                <a:latin typeface="Arial MT"/>
                <a:cs typeface="Arial MT"/>
              </a:rPr>
              <a:t>grounded</a:t>
            </a:r>
            <a:r>
              <a:rPr sz="1100" spc="-15" dirty="0">
                <a:solidFill>
                  <a:srgbClr val="22373A"/>
                </a:solidFill>
                <a:latin typeface="Arial MT"/>
                <a:cs typeface="Arial MT"/>
              </a:rPr>
              <a:t> </a:t>
            </a:r>
            <a:r>
              <a:rPr sz="1100" spc="-10" dirty="0">
                <a:solidFill>
                  <a:srgbClr val="22373A"/>
                </a:solidFill>
                <a:latin typeface="Arial MT"/>
                <a:cs typeface="Arial MT"/>
              </a:rPr>
              <a:t>0.833</a:t>
            </a:r>
            <a:endParaRPr sz="1100">
              <a:latin typeface="Arial MT"/>
              <a:cs typeface="Arial MT"/>
            </a:endParaRPr>
          </a:p>
          <a:p>
            <a:pPr marL="287020" indent="-135890">
              <a:lnSpc>
                <a:spcPct val="100000"/>
              </a:lnSpc>
              <a:spcBef>
                <a:spcPts val="535"/>
              </a:spcBef>
              <a:buChar char="•"/>
              <a:tabLst>
                <a:tab pos="287020" algn="l"/>
              </a:tabLst>
            </a:pPr>
            <a:r>
              <a:rPr sz="1100" dirty="0">
                <a:solidFill>
                  <a:srgbClr val="22373A"/>
                </a:solidFill>
                <a:latin typeface="Arial MT"/>
                <a:cs typeface="Arial MT"/>
              </a:rPr>
              <a:t>Both</a:t>
            </a:r>
            <a:r>
              <a:rPr sz="1100" spc="5" dirty="0">
                <a:solidFill>
                  <a:srgbClr val="22373A"/>
                </a:solidFill>
                <a:latin typeface="Arial MT"/>
                <a:cs typeface="Arial MT"/>
              </a:rPr>
              <a:t> </a:t>
            </a:r>
            <a:r>
              <a:rPr sz="1100" spc="-75" dirty="0">
                <a:solidFill>
                  <a:srgbClr val="22373A"/>
                </a:solidFill>
                <a:latin typeface="Arial MT"/>
                <a:cs typeface="Arial MT"/>
              </a:rPr>
              <a:t>Qwen</a:t>
            </a:r>
            <a:r>
              <a:rPr sz="1100" spc="10" dirty="0">
                <a:solidFill>
                  <a:srgbClr val="22373A"/>
                </a:solidFill>
                <a:latin typeface="Arial MT"/>
                <a:cs typeface="Arial MT"/>
              </a:rPr>
              <a:t> </a:t>
            </a:r>
            <a:r>
              <a:rPr sz="1100" spc="-90" dirty="0">
                <a:solidFill>
                  <a:srgbClr val="22373A"/>
                </a:solidFill>
                <a:latin typeface="Arial MT"/>
                <a:cs typeface="Arial MT"/>
              </a:rPr>
              <a:t>baselines</a:t>
            </a:r>
            <a:r>
              <a:rPr sz="1100" spc="15" dirty="0">
                <a:solidFill>
                  <a:srgbClr val="22373A"/>
                </a:solidFill>
                <a:latin typeface="Arial MT"/>
                <a:cs typeface="Arial MT"/>
              </a:rPr>
              <a:t> </a:t>
            </a:r>
            <a:r>
              <a:rPr sz="1100" spc="-85" dirty="0">
                <a:solidFill>
                  <a:srgbClr val="22373A"/>
                </a:solidFill>
                <a:latin typeface="Arial MT"/>
                <a:cs typeface="Arial MT"/>
              </a:rPr>
              <a:t>parsed</a:t>
            </a:r>
            <a:r>
              <a:rPr sz="1100" spc="10" dirty="0">
                <a:solidFill>
                  <a:srgbClr val="22373A"/>
                </a:solidFill>
                <a:latin typeface="Arial MT"/>
                <a:cs typeface="Arial MT"/>
              </a:rPr>
              <a:t> </a:t>
            </a:r>
            <a:r>
              <a:rPr sz="1100" spc="-30" dirty="0">
                <a:solidFill>
                  <a:srgbClr val="22373A"/>
                </a:solidFill>
                <a:latin typeface="Arial MT"/>
                <a:cs typeface="Arial MT"/>
              </a:rPr>
              <a:t>18</a:t>
            </a:r>
            <a:r>
              <a:rPr sz="1100" spc="10" dirty="0">
                <a:solidFill>
                  <a:srgbClr val="22373A"/>
                </a:solidFill>
                <a:latin typeface="Arial MT"/>
                <a:cs typeface="Arial MT"/>
              </a:rPr>
              <a:t> </a:t>
            </a:r>
            <a:r>
              <a:rPr sz="1100" dirty="0">
                <a:solidFill>
                  <a:srgbClr val="22373A"/>
                </a:solidFill>
                <a:latin typeface="Arial MT"/>
                <a:cs typeface="Arial MT"/>
              </a:rPr>
              <a:t>of</a:t>
            </a:r>
            <a:r>
              <a:rPr sz="1100" spc="10" dirty="0">
                <a:solidFill>
                  <a:srgbClr val="22373A"/>
                </a:solidFill>
                <a:latin typeface="Arial MT"/>
                <a:cs typeface="Arial MT"/>
              </a:rPr>
              <a:t> </a:t>
            </a:r>
            <a:r>
              <a:rPr sz="1100" spc="-25" dirty="0">
                <a:solidFill>
                  <a:srgbClr val="22373A"/>
                </a:solidFill>
                <a:latin typeface="Arial MT"/>
                <a:cs typeface="Arial MT"/>
              </a:rPr>
              <a:t>18</a:t>
            </a:r>
            <a:endParaRPr sz="1100">
              <a:latin typeface="Arial MT"/>
              <a:cs typeface="Arial MT"/>
            </a:endParaRPr>
          </a:p>
        </p:txBody>
      </p:sp>
      <p:pic>
        <p:nvPicPr>
          <p:cNvPr id="8" name="object 8"/>
          <p:cNvPicPr/>
          <p:nvPr/>
        </p:nvPicPr>
        <p:blipFill>
          <a:blip r:embed="rId3" cstate="print"/>
          <a:stretch>
            <a:fillRect/>
          </a:stretch>
        </p:blipFill>
        <p:spPr>
          <a:xfrm>
            <a:off x="101282" y="2998905"/>
            <a:ext cx="241983" cy="187117"/>
          </a:xfrm>
          <a:prstGeom prst="rect">
            <a:avLst/>
          </a:prstGeom>
        </p:spPr>
      </p:pic>
      <p:pic>
        <p:nvPicPr>
          <p:cNvPr id="9" name="object 9"/>
          <p:cNvPicPr/>
          <p:nvPr/>
        </p:nvPicPr>
        <p:blipFill>
          <a:blip r:embed="rId4" cstate="print"/>
          <a:stretch>
            <a:fillRect/>
          </a:stretch>
        </p:blipFill>
        <p:spPr>
          <a:xfrm>
            <a:off x="433285" y="2998965"/>
            <a:ext cx="187057" cy="187057"/>
          </a:xfrm>
          <a:prstGeom prst="rect">
            <a:avLst/>
          </a:prstGeom>
        </p:spPr>
      </p:pic>
      <p:pic>
        <p:nvPicPr>
          <p:cNvPr id="10" name="object 10"/>
          <p:cNvPicPr/>
          <p:nvPr/>
        </p:nvPicPr>
        <p:blipFill>
          <a:blip r:embed="rId5" cstate="print"/>
          <a:stretch>
            <a:fillRect/>
          </a:stretch>
        </p:blipFill>
        <p:spPr>
          <a:xfrm>
            <a:off x="710349" y="2998815"/>
            <a:ext cx="187208" cy="187208"/>
          </a:xfrm>
          <a:prstGeom prst="rect">
            <a:avLst/>
          </a:prstGeom>
        </p:spPr>
      </p:pic>
      <p:sp>
        <p:nvSpPr>
          <p:cNvPr id="11" name="object 11"/>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23</a:t>
            </a:r>
            <a:r>
              <a:rPr spc="-80" dirty="0"/>
              <a:t> </a:t>
            </a:r>
            <a:r>
              <a:rPr spc="195" dirty="0"/>
              <a:t>/</a:t>
            </a:r>
            <a:r>
              <a:rPr spc="-75" dirty="0"/>
              <a:t> </a:t>
            </a:r>
            <a:r>
              <a:rPr spc="-25" dirty="0"/>
              <a:t>32</a:t>
            </a:r>
          </a:p>
        </p:txBody>
      </p:sp>
    </p:spTree>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2770" y="76349"/>
            <a:ext cx="3495675" cy="196849"/>
          </a:xfrm>
          <a:prstGeom prst="rect">
            <a:avLst/>
          </a:prstGeom>
        </p:spPr>
        <p:txBody>
          <a:bodyPr vert="horz" wrap="square" lIns="0" tIns="12065" rIns="0" bIns="0" rtlCol="0">
            <a:spAutoFit/>
          </a:bodyPr>
          <a:lstStyle/>
          <a:p>
            <a:pPr marL="12700">
              <a:lnSpc>
                <a:spcPct val="100000"/>
              </a:lnSpc>
              <a:spcBef>
                <a:spcPts val="95"/>
              </a:spcBef>
            </a:pPr>
            <a:r>
              <a:rPr lang="en-GB" spc="-25" dirty="0"/>
              <a:t>T</a:t>
            </a:r>
            <a:r>
              <a:rPr spc="-25" dirty="0" err="1"/>
              <a:t>ransfer</a:t>
            </a:r>
            <a:r>
              <a:rPr spc="30" dirty="0"/>
              <a:t> </a:t>
            </a:r>
            <a:r>
              <a:rPr dirty="0"/>
              <a:t>to</a:t>
            </a:r>
            <a:r>
              <a:rPr spc="35" dirty="0"/>
              <a:t> </a:t>
            </a:r>
            <a:r>
              <a:rPr spc="-10" dirty="0"/>
              <a:t>host</a:t>
            </a:r>
            <a:r>
              <a:rPr spc="35" dirty="0"/>
              <a:t> </a:t>
            </a:r>
            <a:r>
              <a:rPr dirty="0"/>
              <a:t>audit</a:t>
            </a:r>
            <a:r>
              <a:rPr spc="35" dirty="0"/>
              <a:t> </a:t>
            </a:r>
            <a:r>
              <a:rPr spc="-50" dirty="0"/>
              <a:t>logs</a:t>
            </a:r>
            <a:r>
              <a:rPr spc="30" dirty="0"/>
              <a:t> </a:t>
            </a:r>
            <a:r>
              <a:rPr spc="-10" dirty="0"/>
              <a:t>(DARPA)</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4320540" cy="5080"/>
            </a:xfrm>
            <a:custGeom>
              <a:avLst/>
              <a:gdLst/>
              <a:ahLst/>
              <a:cxnLst/>
              <a:rect l="l" t="t" r="r" b="b"/>
              <a:pathLst>
                <a:path w="4320540" h="5079">
                  <a:moveTo>
                    <a:pt x="0" y="5060"/>
                  </a:moveTo>
                  <a:lnTo>
                    <a:pt x="0" y="0"/>
                  </a:lnTo>
                  <a:lnTo>
                    <a:pt x="4320055" y="0"/>
                  </a:lnTo>
                  <a:lnTo>
                    <a:pt x="4320055" y="5060"/>
                  </a:lnTo>
                  <a:lnTo>
                    <a:pt x="0" y="5060"/>
                  </a:lnTo>
                  <a:close/>
                </a:path>
              </a:pathLst>
            </a:custGeom>
            <a:solidFill>
              <a:srgbClr val="2D7DB8"/>
            </a:solidFill>
          </p:spPr>
          <p:txBody>
            <a:bodyPr wrap="square" lIns="0" tIns="0" rIns="0" bIns="0" rtlCol="0"/>
            <a:lstStyle/>
            <a:p>
              <a:endParaRPr/>
            </a:p>
          </p:txBody>
        </p:sp>
      </p:grpSp>
      <p:graphicFrame>
        <p:nvGraphicFramePr>
          <p:cNvPr id="7" name="object 7"/>
          <p:cNvGraphicFramePr>
            <a:graphicFrameLocks noGrp="1"/>
          </p:cNvGraphicFramePr>
          <p:nvPr/>
        </p:nvGraphicFramePr>
        <p:xfrm>
          <a:off x="359994" y="666508"/>
          <a:ext cx="2414903" cy="843915"/>
        </p:xfrm>
        <a:graphic>
          <a:graphicData uri="http://schemas.openxmlformats.org/drawingml/2006/table">
            <a:tbl>
              <a:tblPr firstRow="1" bandRow="1">
                <a:tableStyleId>{2D5ABB26-0587-4C30-8999-92F81FD0307C}</a:tableStyleId>
              </a:tblPr>
              <a:tblGrid>
                <a:gridCol w="993775">
                  <a:extLst>
                    <a:ext uri="{9D8B030D-6E8A-4147-A177-3AD203B41FA5}">
                      <a16:colId xmlns:a16="http://schemas.microsoft.com/office/drawing/2014/main" val="20000"/>
                    </a:ext>
                  </a:extLst>
                </a:gridCol>
                <a:gridCol w="837564">
                  <a:extLst>
                    <a:ext uri="{9D8B030D-6E8A-4147-A177-3AD203B41FA5}">
                      <a16:colId xmlns:a16="http://schemas.microsoft.com/office/drawing/2014/main" val="20001"/>
                    </a:ext>
                  </a:extLst>
                </a:gridCol>
                <a:gridCol w="583564">
                  <a:extLst>
                    <a:ext uri="{9D8B030D-6E8A-4147-A177-3AD203B41FA5}">
                      <a16:colId xmlns:a16="http://schemas.microsoft.com/office/drawing/2014/main" val="20002"/>
                    </a:ext>
                  </a:extLst>
                </a:gridCol>
              </a:tblGrid>
              <a:tr h="247650">
                <a:tc>
                  <a:txBody>
                    <a:bodyPr/>
                    <a:lstStyle/>
                    <a:p>
                      <a:pPr marL="75565">
                        <a:lnSpc>
                          <a:spcPct val="100000"/>
                        </a:lnSpc>
                        <a:spcBef>
                          <a:spcPts val="320"/>
                        </a:spcBef>
                      </a:pPr>
                      <a:r>
                        <a:rPr sz="1000" spc="-10" dirty="0">
                          <a:solidFill>
                            <a:srgbClr val="22373A"/>
                          </a:solidFill>
                          <a:latin typeface="Arial MT"/>
                          <a:cs typeface="Arial MT"/>
                        </a:rPr>
                        <a:t>Model</a:t>
                      </a:r>
                      <a:endParaRPr sz="1000">
                        <a:latin typeface="Arial MT"/>
                        <a:cs typeface="Arial MT"/>
                      </a:endParaRPr>
                    </a:p>
                  </a:txBody>
                  <a:tcPr marL="0" marR="0" marT="40640" marB="0">
                    <a:lnT w="12700">
                      <a:solidFill>
                        <a:srgbClr val="22373A"/>
                      </a:solidFill>
                      <a:prstDash val="solid"/>
                    </a:lnT>
                    <a:lnB w="9525">
                      <a:solidFill>
                        <a:srgbClr val="22373A"/>
                      </a:solidFill>
                      <a:prstDash val="solid"/>
                    </a:lnB>
                  </a:tcPr>
                </a:tc>
                <a:tc>
                  <a:txBody>
                    <a:bodyPr/>
                    <a:lstStyle/>
                    <a:p>
                      <a:pPr algn="ctr">
                        <a:lnSpc>
                          <a:spcPct val="100000"/>
                        </a:lnSpc>
                        <a:spcBef>
                          <a:spcPts val="320"/>
                        </a:spcBef>
                      </a:pPr>
                      <a:r>
                        <a:rPr sz="1000" spc="-55" dirty="0">
                          <a:solidFill>
                            <a:srgbClr val="22373A"/>
                          </a:solidFill>
                          <a:latin typeface="Arial MT"/>
                          <a:cs typeface="Arial MT"/>
                        </a:rPr>
                        <a:t>Grounded</a:t>
                      </a:r>
                      <a:r>
                        <a:rPr sz="1000" spc="10" dirty="0">
                          <a:solidFill>
                            <a:srgbClr val="22373A"/>
                          </a:solidFill>
                          <a:latin typeface="Arial MT"/>
                          <a:cs typeface="Arial MT"/>
                        </a:rPr>
                        <a:t> </a:t>
                      </a:r>
                      <a:r>
                        <a:rPr sz="1000" spc="-25" dirty="0">
                          <a:solidFill>
                            <a:srgbClr val="22373A"/>
                          </a:solidFill>
                          <a:latin typeface="Arial MT"/>
                          <a:cs typeface="Arial MT"/>
                        </a:rPr>
                        <a:t>F1</a:t>
                      </a:r>
                      <a:endParaRPr sz="1000">
                        <a:latin typeface="Arial MT"/>
                        <a:cs typeface="Arial MT"/>
                      </a:endParaRPr>
                    </a:p>
                  </a:txBody>
                  <a:tcPr marL="0" marR="0" marT="40640" marB="0">
                    <a:lnT w="12700">
                      <a:solidFill>
                        <a:srgbClr val="22373A"/>
                      </a:solidFill>
                      <a:prstDash val="solid"/>
                    </a:lnT>
                    <a:lnB w="9525">
                      <a:solidFill>
                        <a:srgbClr val="22373A"/>
                      </a:solidFill>
                      <a:prstDash val="solid"/>
                    </a:lnB>
                  </a:tcPr>
                </a:tc>
                <a:tc>
                  <a:txBody>
                    <a:bodyPr/>
                    <a:lstStyle/>
                    <a:p>
                      <a:pPr algn="ctr">
                        <a:lnSpc>
                          <a:spcPct val="100000"/>
                        </a:lnSpc>
                        <a:spcBef>
                          <a:spcPts val="320"/>
                        </a:spcBef>
                      </a:pPr>
                      <a:r>
                        <a:rPr sz="1000" spc="-10" dirty="0">
                          <a:solidFill>
                            <a:srgbClr val="22373A"/>
                          </a:solidFill>
                          <a:latin typeface="Arial MT"/>
                          <a:cs typeface="Arial MT"/>
                        </a:rPr>
                        <a:t>Baseline</a:t>
                      </a:r>
                      <a:endParaRPr sz="1000">
                        <a:latin typeface="Arial MT"/>
                        <a:cs typeface="Arial MT"/>
                      </a:endParaRPr>
                    </a:p>
                  </a:txBody>
                  <a:tcPr marL="0" marR="0" marT="40640" marB="0">
                    <a:lnT w="12700">
                      <a:solidFill>
                        <a:srgbClr val="22373A"/>
                      </a:solidFill>
                      <a:prstDash val="solid"/>
                    </a:lnT>
                    <a:lnB w="9525">
                      <a:solidFill>
                        <a:srgbClr val="22373A"/>
                      </a:solidFill>
                      <a:prstDash val="solid"/>
                    </a:lnB>
                  </a:tcPr>
                </a:tc>
                <a:extLst>
                  <a:ext uri="{0D108BD9-81ED-4DB2-BD59-A6C34878D82A}">
                    <a16:rowId xmlns:a16="http://schemas.microsoft.com/office/drawing/2014/main" val="10000"/>
                  </a:ext>
                </a:extLst>
              </a:tr>
              <a:tr h="215900">
                <a:tc>
                  <a:txBody>
                    <a:bodyPr/>
                    <a:lstStyle/>
                    <a:p>
                      <a:pPr marL="75565">
                        <a:lnSpc>
                          <a:spcPct val="100000"/>
                        </a:lnSpc>
                        <a:spcBef>
                          <a:spcPts val="305"/>
                        </a:spcBef>
                      </a:pPr>
                      <a:r>
                        <a:rPr sz="1000" spc="-35" dirty="0">
                          <a:solidFill>
                            <a:srgbClr val="22373A"/>
                          </a:solidFill>
                          <a:latin typeface="Arial MT"/>
                          <a:cs typeface="Arial MT"/>
                        </a:rPr>
                        <a:t>Mistral-</a:t>
                      </a:r>
                      <a:r>
                        <a:rPr sz="1000" spc="-20" dirty="0">
                          <a:solidFill>
                            <a:srgbClr val="22373A"/>
                          </a:solidFill>
                          <a:latin typeface="Arial MT"/>
                          <a:cs typeface="Arial MT"/>
                        </a:rPr>
                        <a:t>Nemo</a:t>
                      </a:r>
                      <a:endParaRPr sz="1000">
                        <a:latin typeface="Arial MT"/>
                        <a:cs typeface="Arial MT"/>
                      </a:endParaRPr>
                    </a:p>
                  </a:txBody>
                  <a:tcPr marL="0" marR="0" marT="38735" marB="0">
                    <a:lnT w="9525">
                      <a:solidFill>
                        <a:srgbClr val="22373A"/>
                      </a:solidFill>
                      <a:prstDash val="solid"/>
                    </a:lnT>
                  </a:tcPr>
                </a:tc>
                <a:tc>
                  <a:txBody>
                    <a:bodyPr/>
                    <a:lstStyle/>
                    <a:p>
                      <a:pPr algn="ctr">
                        <a:lnSpc>
                          <a:spcPct val="100000"/>
                        </a:lnSpc>
                        <a:spcBef>
                          <a:spcPts val="305"/>
                        </a:spcBef>
                      </a:pPr>
                      <a:r>
                        <a:rPr sz="1000" spc="-10" dirty="0">
                          <a:solidFill>
                            <a:srgbClr val="22373A"/>
                          </a:solidFill>
                          <a:latin typeface="Arial MT"/>
                          <a:cs typeface="Arial MT"/>
                        </a:rPr>
                        <a:t>0.635</a:t>
                      </a:r>
                      <a:endParaRPr sz="1000">
                        <a:latin typeface="Arial MT"/>
                        <a:cs typeface="Arial MT"/>
                      </a:endParaRPr>
                    </a:p>
                  </a:txBody>
                  <a:tcPr marL="0" marR="0" marT="38735" marB="0">
                    <a:lnT w="9525">
                      <a:solidFill>
                        <a:srgbClr val="22373A"/>
                      </a:solidFill>
                      <a:prstDash val="solid"/>
                    </a:lnT>
                  </a:tcPr>
                </a:tc>
                <a:tc>
                  <a:txBody>
                    <a:bodyPr/>
                    <a:lstStyle/>
                    <a:p>
                      <a:pPr algn="ctr">
                        <a:lnSpc>
                          <a:spcPct val="100000"/>
                        </a:lnSpc>
                        <a:spcBef>
                          <a:spcPts val="305"/>
                        </a:spcBef>
                      </a:pPr>
                      <a:r>
                        <a:rPr sz="1000" spc="-10" dirty="0">
                          <a:solidFill>
                            <a:srgbClr val="22373A"/>
                          </a:solidFill>
                          <a:latin typeface="Arial MT"/>
                          <a:cs typeface="Arial MT"/>
                        </a:rPr>
                        <a:t>0.209</a:t>
                      </a:r>
                      <a:endParaRPr sz="1000">
                        <a:latin typeface="Arial MT"/>
                        <a:cs typeface="Arial MT"/>
                      </a:endParaRPr>
                    </a:p>
                  </a:txBody>
                  <a:tcPr marL="0" marR="0" marT="38735" marB="0">
                    <a:lnT w="9525">
                      <a:solidFill>
                        <a:srgbClr val="22373A"/>
                      </a:solidFill>
                      <a:prstDash val="solid"/>
                    </a:lnT>
                  </a:tcPr>
                </a:tc>
                <a:extLst>
                  <a:ext uri="{0D108BD9-81ED-4DB2-BD59-A6C34878D82A}">
                    <a16:rowId xmlns:a16="http://schemas.microsoft.com/office/drawing/2014/main" val="10001"/>
                  </a:ext>
                </a:extLst>
              </a:tr>
              <a:tr h="173990">
                <a:tc>
                  <a:txBody>
                    <a:bodyPr/>
                    <a:lstStyle/>
                    <a:p>
                      <a:pPr marL="75565">
                        <a:lnSpc>
                          <a:spcPts val="1175"/>
                        </a:lnSpc>
                      </a:pPr>
                      <a:r>
                        <a:rPr sz="1000" spc="-65" dirty="0">
                          <a:solidFill>
                            <a:srgbClr val="22373A"/>
                          </a:solidFill>
                          <a:latin typeface="Arial MT"/>
                          <a:cs typeface="Arial MT"/>
                        </a:rPr>
                        <a:t>Qwen-</a:t>
                      </a:r>
                      <a:r>
                        <a:rPr sz="1000" spc="-50" dirty="0">
                          <a:solidFill>
                            <a:srgbClr val="22373A"/>
                          </a:solidFill>
                          <a:latin typeface="Arial MT"/>
                          <a:cs typeface="Arial MT"/>
                        </a:rPr>
                        <a:t>Coder-</a:t>
                      </a:r>
                      <a:r>
                        <a:rPr sz="1000" spc="-25" dirty="0">
                          <a:solidFill>
                            <a:srgbClr val="22373A"/>
                          </a:solidFill>
                          <a:latin typeface="Arial MT"/>
                          <a:cs typeface="Arial MT"/>
                        </a:rPr>
                        <a:t>7B</a:t>
                      </a:r>
                      <a:endParaRPr sz="1000">
                        <a:latin typeface="Arial MT"/>
                        <a:cs typeface="Arial MT"/>
                      </a:endParaRPr>
                    </a:p>
                  </a:txBody>
                  <a:tcPr marL="0" marR="0" marT="0" marB="0"/>
                </a:tc>
                <a:tc>
                  <a:txBody>
                    <a:bodyPr/>
                    <a:lstStyle/>
                    <a:p>
                      <a:pPr algn="ctr">
                        <a:lnSpc>
                          <a:spcPts val="1175"/>
                        </a:lnSpc>
                      </a:pPr>
                      <a:r>
                        <a:rPr sz="1000" spc="-10" dirty="0">
                          <a:solidFill>
                            <a:srgbClr val="2D7DB8"/>
                          </a:solidFill>
                          <a:latin typeface="Arial MT"/>
                          <a:cs typeface="Arial MT"/>
                        </a:rPr>
                        <a:t>0.710</a:t>
                      </a:r>
                      <a:endParaRPr sz="1000">
                        <a:latin typeface="Arial MT"/>
                        <a:cs typeface="Arial MT"/>
                      </a:endParaRPr>
                    </a:p>
                  </a:txBody>
                  <a:tcPr marL="0" marR="0" marT="0" marB="0"/>
                </a:tc>
                <a:tc>
                  <a:txBody>
                    <a:bodyPr/>
                    <a:lstStyle/>
                    <a:p>
                      <a:pPr algn="ctr">
                        <a:lnSpc>
                          <a:spcPts val="1175"/>
                        </a:lnSpc>
                      </a:pPr>
                      <a:r>
                        <a:rPr sz="1000" spc="-10" dirty="0">
                          <a:solidFill>
                            <a:srgbClr val="22373A"/>
                          </a:solidFill>
                          <a:latin typeface="Arial MT"/>
                          <a:cs typeface="Arial MT"/>
                        </a:rPr>
                        <a:t>0.272</a:t>
                      </a:r>
                      <a:endParaRPr sz="1000">
                        <a:latin typeface="Arial MT"/>
                        <a:cs typeface="Arial MT"/>
                      </a:endParaRPr>
                    </a:p>
                  </a:txBody>
                  <a:tcPr marL="0" marR="0" marT="0" marB="0"/>
                </a:tc>
                <a:extLst>
                  <a:ext uri="{0D108BD9-81ED-4DB2-BD59-A6C34878D82A}">
                    <a16:rowId xmlns:a16="http://schemas.microsoft.com/office/drawing/2014/main" val="10002"/>
                  </a:ext>
                </a:extLst>
              </a:tr>
              <a:tr h="206375">
                <a:tc>
                  <a:txBody>
                    <a:bodyPr/>
                    <a:lstStyle/>
                    <a:p>
                      <a:pPr marL="75565">
                        <a:lnSpc>
                          <a:spcPts val="1175"/>
                        </a:lnSpc>
                      </a:pPr>
                      <a:r>
                        <a:rPr sz="1000" spc="-50" dirty="0">
                          <a:solidFill>
                            <a:srgbClr val="22373A"/>
                          </a:solidFill>
                          <a:latin typeface="Arial MT"/>
                          <a:cs typeface="Arial MT"/>
                        </a:rPr>
                        <a:t>Qwen-</a:t>
                      </a:r>
                      <a:r>
                        <a:rPr sz="1000" spc="-25" dirty="0">
                          <a:solidFill>
                            <a:srgbClr val="22373A"/>
                          </a:solidFill>
                          <a:latin typeface="Arial MT"/>
                          <a:cs typeface="Arial MT"/>
                        </a:rPr>
                        <a:t>3B</a:t>
                      </a:r>
                      <a:endParaRPr sz="1000">
                        <a:latin typeface="Arial MT"/>
                        <a:cs typeface="Arial MT"/>
                      </a:endParaRPr>
                    </a:p>
                  </a:txBody>
                  <a:tcPr marL="0" marR="0" marT="0" marB="0">
                    <a:lnB w="12700">
                      <a:solidFill>
                        <a:srgbClr val="22373A"/>
                      </a:solidFill>
                      <a:prstDash val="solid"/>
                    </a:lnB>
                  </a:tcPr>
                </a:tc>
                <a:tc>
                  <a:txBody>
                    <a:bodyPr/>
                    <a:lstStyle/>
                    <a:p>
                      <a:pPr algn="ctr">
                        <a:lnSpc>
                          <a:spcPts val="1175"/>
                        </a:lnSpc>
                      </a:pPr>
                      <a:r>
                        <a:rPr sz="1000" spc="-10" dirty="0">
                          <a:solidFill>
                            <a:srgbClr val="22373A"/>
                          </a:solidFill>
                          <a:latin typeface="Arial MT"/>
                          <a:cs typeface="Arial MT"/>
                        </a:rPr>
                        <a:t>0.685</a:t>
                      </a:r>
                      <a:endParaRPr sz="1000">
                        <a:latin typeface="Arial MT"/>
                        <a:cs typeface="Arial MT"/>
                      </a:endParaRPr>
                    </a:p>
                  </a:txBody>
                  <a:tcPr marL="0" marR="0" marT="0" marB="0">
                    <a:lnB w="12700">
                      <a:solidFill>
                        <a:srgbClr val="22373A"/>
                      </a:solidFill>
                      <a:prstDash val="solid"/>
                    </a:lnB>
                  </a:tcPr>
                </a:tc>
                <a:tc>
                  <a:txBody>
                    <a:bodyPr/>
                    <a:lstStyle/>
                    <a:p>
                      <a:pPr algn="ctr">
                        <a:lnSpc>
                          <a:spcPts val="1175"/>
                        </a:lnSpc>
                      </a:pPr>
                      <a:r>
                        <a:rPr sz="1000" spc="-10" dirty="0">
                          <a:solidFill>
                            <a:srgbClr val="22373A"/>
                          </a:solidFill>
                          <a:latin typeface="Arial MT"/>
                          <a:cs typeface="Arial MT"/>
                        </a:rPr>
                        <a:t>0.254</a:t>
                      </a:r>
                      <a:endParaRPr sz="1000">
                        <a:latin typeface="Arial MT"/>
                        <a:cs typeface="Arial MT"/>
                      </a:endParaRPr>
                    </a:p>
                  </a:txBody>
                  <a:tcPr marL="0" marR="0" marT="0" marB="0">
                    <a:lnB w="12700">
                      <a:solidFill>
                        <a:srgbClr val="22373A"/>
                      </a:solidFill>
                      <a:prstDash val="solid"/>
                    </a:lnB>
                  </a:tcPr>
                </a:tc>
                <a:extLst>
                  <a:ext uri="{0D108BD9-81ED-4DB2-BD59-A6C34878D82A}">
                    <a16:rowId xmlns:a16="http://schemas.microsoft.com/office/drawing/2014/main" val="10003"/>
                  </a:ext>
                </a:extLst>
              </a:tr>
            </a:tbl>
          </a:graphicData>
        </a:graphic>
      </p:graphicFrame>
      <p:pic>
        <p:nvPicPr>
          <p:cNvPr id="8" name="object 8"/>
          <p:cNvPicPr/>
          <p:nvPr/>
        </p:nvPicPr>
        <p:blipFill>
          <a:blip r:embed="rId3" cstate="print"/>
          <a:stretch>
            <a:fillRect/>
          </a:stretch>
        </p:blipFill>
        <p:spPr>
          <a:xfrm>
            <a:off x="3081566" y="660950"/>
            <a:ext cx="2318446" cy="1440455"/>
          </a:xfrm>
          <a:prstGeom prst="rect">
            <a:avLst/>
          </a:prstGeom>
        </p:spPr>
      </p:pic>
      <p:sp>
        <p:nvSpPr>
          <p:cNvPr id="9" name="object 9"/>
          <p:cNvSpPr/>
          <p:nvPr/>
        </p:nvSpPr>
        <p:spPr>
          <a:xfrm>
            <a:off x="359994" y="2456535"/>
            <a:ext cx="5039995" cy="0"/>
          </a:xfrm>
          <a:custGeom>
            <a:avLst/>
            <a:gdLst/>
            <a:ahLst/>
            <a:cxnLst/>
            <a:rect l="l" t="t" r="r" b="b"/>
            <a:pathLst>
              <a:path w="5039995">
                <a:moveTo>
                  <a:pt x="0" y="0"/>
                </a:moveTo>
                <a:lnTo>
                  <a:pt x="5039995" y="0"/>
                </a:lnTo>
              </a:path>
            </a:pathLst>
          </a:custGeom>
          <a:ln w="7594">
            <a:solidFill>
              <a:srgbClr val="2D7DB8"/>
            </a:solidFill>
          </a:ln>
        </p:spPr>
        <p:txBody>
          <a:bodyPr wrap="square" lIns="0" tIns="0" rIns="0" bIns="0" rtlCol="0"/>
          <a:lstStyle/>
          <a:p>
            <a:endParaRPr/>
          </a:p>
        </p:txBody>
      </p:sp>
      <p:sp>
        <p:nvSpPr>
          <p:cNvPr id="10" name="object 10"/>
          <p:cNvSpPr txBox="1"/>
          <p:nvPr/>
        </p:nvSpPr>
        <p:spPr>
          <a:xfrm>
            <a:off x="347294" y="1659679"/>
            <a:ext cx="5022850" cy="1140697"/>
          </a:xfrm>
          <a:prstGeom prst="rect">
            <a:avLst/>
          </a:prstGeom>
        </p:spPr>
        <p:txBody>
          <a:bodyPr vert="horz" wrap="square" lIns="0" tIns="12065" rIns="0" bIns="0" rtlCol="0">
            <a:spAutoFit/>
          </a:bodyPr>
          <a:lstStyle/>
          <a:p>
            <a:pPr marL="287655" indent="-130810">
              <a:lnSpc>
                <a:spcPct val="100000"/>
              </a:lnSpc>
              <a:spcBef>
                <a:spcPts val="95"/>
              </a:spcBef>
              <a:buClr>
                <a:srgbClr val="22373A"/>
              </a:buClr>
              <a:buChar char="•"/>
              <a:tabLst>
                <a:tab pos="287655" algn="l"/>
              </a:tabLst>
            </a:pPr>
            <a:r>
              <a:rPr sz="1000" dirty="0">
                <a:solidFill>
                  <a:srgbClr val="2D7DB8"/>
                </a:solidFill>
                <a:latin typeface="Arial MT"/>
                <a:cs typeface="Arial MT"/>
              </a:rPr>
              <a:t>+0.43</a:t>
            </a:r>
            <a:r>
              <a:rPr sz="1000" spc="-10" dirty="0">
                <a:solidFill>
                  <a:srgbClr val="2D7DB8"/>
                </a:solidFill>
                <a:latin typeface="Arial MT"/>
                <a:cs typeface="Arial MT"/>
              </a:rPr>
              <a:t> </a:t>
            </a:r>
            <a:r>
              <a:rPr sz="1000" dirty="0">
                <a:solidFill>
                  <a:srgbClr val="2D7DB8"/>
                </a:solidFill>
                <a:latin typeface="Arial MT"/>
                <a:cs typeface="Arial MT"/>
              </a:rPr>
              <a:t>F1</a:t>
            </a:r>
            <a:r>
              <a:rPr sz="1000" spc="-10" dirty="0">
                <a:solidFill>
                  <a:srgbClr val="2D7DB8"/>
                </a:solidFill>
                <a:latin typeface="Arial MT"/>
                <a:cs typeface="Arial MT"/>
              </a:rPr>
              <a:t> </a:t>
            </a:r>
            <a:r>
              <a:rPr sz="1000" dirty="0">
                <a:solidFill>
                  <a:srgbClr val="22373A"/>
                </a:solidFill>
                <a:latin typeface="Arial MT"/>
                <a:cs typeface="Arial MT"/>
              </a:rPr>
              <a:t>for</a:t>
            </a:r>
            <a:r>
              <a:rPr sz="1000" spc="-5" dirty="0">
                <a:solidFill>
                  <a:srgbClr val="22373A"/>
                </a:solidFill>
                <a:latin typeface="Arial MT"/>
                <a:cs typeface="Arial MT"/>
              </a:rPr>
              <a:t> </a:t>
            </a:r>
            <a:r>
              <a:rPr sz="1000" spc="-50" dirty="0">
                <a:solidFill>
                  <a:srgbClr val="22373A"/>
                </a:solidFill>
                <a:latin typeface="Arial MT"/>
                <a:cs typeface="Arial MT"/>
              </a:rPr>
              <a:t>every</a:t>
            </a:r>
            <a:r>
              <a:rPr sz="1000" spc="-10" dirty="0">
                <a:solidFill>
                  <a:srgbClr val="22373A"/>
                </a:solidFill>
                <a:latin typeface="Arial MT"/>
                <a:cs typeface="Arial MT"/>
              </a:rPr>
              <a:t> </a:t>
            </a:r>
            <a:r>
              <a:rPr sz="1000" spc="-20" dirty="0">
                <a:solidFill>
                  <a:srgbClr val="22373A"/>
                </a:solidFill>
                <a:latin typeface="Arial MT"/>
                <a:cs typeface="Arial MT"/>
              </a:rPr>
              <a:t>model</a:t>
            </a:r>
            <a:endParaRPr sz="1000" dirty="0">
              <a:latin typeface="Arial MT"/>
              <a:cs typeface="Arial MT"/>
            </a:endParaRPr>
          </a:p>
          <a:p>
            <a:pPr marL="287655" indent="-130810">
              <a:lnSpc>
                <a:spcPct val="100000"/>
              </a:lnSpc>
              <a:spcBef>
                <a:spcPts val="770"/>
              </a:spcBef>
              <a:buChar char="•"/>
              <a:tabLst>
                <a:tab pos="287655" algn="l"/>
              </a:tabLst>
            </a:pPr>
            <a:r>
              <a:rPr sz="1000" spc="-45" dirty="0">
                <a:solidFill>
                  <a:srgbClr val="22373A"/>
                </a:solidFill>
                <a:latin typeface="Arial MT"/>
                <a:cs typeface="Arial MT"/>
              </a:rPr>
              <a:t>Confidence</a:t>
            </a:r>
            <a:r>
              <a:rPr sz="1000" dirty="0">
                <a:solidFill>
                  <a:srgbClr val="22373A"/>
                </a:solidFill>
                <a:latin typeface="Arial MT"/>
                <a:cs typeface="Arial MT"/>
              </a:rPr>
              <a:t> </a:t>
            </a:r>
            <a:r>
              <a:rPr sz="1000" spc="-25" dirty="0">
                <a:solidFill>
                  <a:srgbClr val="22373A"/>
                </a:solidFill>
                <a:latin typeface="Arial MT"/>
                <a:cs typeface="Arial MT"/>
              </a:rPr>
              <a:t>intervals</a:t>
            </a:r>
            <a:r>
              <a:rPr sz="1000" dirty="0">
                <a:solidFill>
                  <a:srgbClr val="22373A"/>
                </a:solidFill>
                <a:latin typeface="Arial MT"/>
                <a:cs typeface="Arial MT"/>
              </a:rPr>
              <a:t> </a:t>
            </a:r>
            <a:r>
              <a:rPr sz="1000" spc="-10" dirty="0">
                <a:solidFill>
                  <a:srgbClr val="22373A"/>
                </a:solidFill>
                <a:latin typeface="Arial MT"/>
                <a:cs typeface="Arial MT"/>
              </a:rPr>
              <a:t>disjoint</a:t>
            </a:r>
            <a:endParaRPr sz="1000" dirty="0">
              <a:latin typeface="Arial MT"/>
              <a:cs typeface="Arial MT"/>
            </a:endParaRPr>
          </a:p>
          <a:p>
            <a:pPr marL="287655" indent="-130810">
              <a:lnSpc>
                <a:spcPct val="100000"/>
              </a:lnSpc>
              <a:spcBef>
                <a:spcPts val="775"/>
              </a:spcBef>
              <a:buChar char="•"/>
              <a:tabLst>
                <a:tab pos="287655" algn="l"/>
              </a:tabLst>
            </a:pPr>
            <a:r>
              <a:rPr sz="1000" spc="-40" dirty="0">
                <a:solidFill>
                  <a:srgbClr val="22373A"/>
                </a:solidFill>
                <a:latin typeface="Arial MT"/>
                <a:cs typeface="Arial MT"/>
              </a:rPr>
              <a:t>Precision</a:t>
            </a:r>
            <a:r>
              <a:rPr sz="1000" spc="10" dirty="0">
                <a:solidFill>
                  <a:srgbClr val="22373A"/>
                </a:solidFill>
                <a:latin typeface="Arial MT"/>
                <a:cs typeface="Arial MT"/>
              </a:rPr>
              <a:t> </a:t>
            </a:r>
            <a:r>
              <a:rPr sz="1000" spc="-50" dirty="0">
                <a:solidFill>
                  <a:srgbClr val="22373A"/>
                </a:solidFill>
                <a:latin typeface="Arial MT"/>
                <a:cs typeface="Arial MT"/>
              </a:rPr>
              <a:t>0.96–</a:t>
            </a:r>
            <a:r>
              <a:rPr sz="1000" spc="-25" dirty="0">
                <a:solidFill>
                  <a:srgbClr val="22373A"/>
                </a:solidFill>
                <a:latin typeface="Arial MT"/>
                <a:cs typeface="Arial MT"/>
              </a:rPr>
              <a:t>1.00,</a:t>
            </a:r>
            <a:r>
              <a:rPr sz="1000" spc="15" dirty="0">
                <a:solidFill>
                  <a:srgbClr val="22373A"/>
                </a:solidFill>
                <a:latin typeface="Arial MT"/>
                <a:cs typeface="Arial MT"/>
              </a:rPr>
              <a:t> </a:t>
            </a:r>
            <a:r>
              <a:rPr sz="1000" spc="-30" dirty="0">
                <a:solidFill>
                  <a:srgbClr val="22373A"/>
                </a:solidFill>
                <a:latin typeface="Arial MT"/>
                <a:cs typeface="Arial MT"/>
              </a:rPr>
              <a:t>recall</a:t>
            </a:r>
            <a:r>
              <a:rPr sz="1000" spc="10" dirty="0">
                <a:solidFill>
                  <a:srgbClr val="22373A"/>
                </a:solidFill>
                <a:latin typeface="Arial MT"/>
                <a:cs typeface="Arial MT"/>
              </a:rPr>
              <a:t> </a:t>
            </a:r>
            <a:r>
              <a:rPr sz="1000" i="1" spc="220" dirty="0">
                <a:solidFill>
                  <a:srgbClr val="22373A"/>
                </a:solidFill>
                <a:latin typeface="Arial"/>
                <a:cs typeface="Arial"/>
              </a:rPr>
              <a:t>≈</a:t>
            </a:r>
            <a:r>
              <a:rPr sz="1000" i="1" spc="15" dirty="0">
                <a:solidFill>
                  <a:srgbClr val="22373A"/>
                </a:solidFill>
                <a:latin typeface="Arial"/>
                <a:cs typeface="Arial"/>
              </a:rPr>
              <a:t> </a:t>
            </a:r>
            <a:r>
              <a:rPr sz="1000" spc="-25" dirty="0">
                <a:solidFill>
                  <a:srgbClr val="22373A"/>
                </a:solidFill>
                <a:latin typeface="Arial MT"/>
                <a:cs typeface="Arial MT"/>
              </a:rPr>
              <a:t>0.5</a:t>
            </a:r>
            <a:endParaRPr sz="1000" dirty="0">
              <a:latin typeface="Arial MT"/>
              <a:cs typeface="Arial MT"/>
            </a:endParaRPr>
          </a:p>
          <a:p>
            <a:pPr>
              <a:lnSpc>
                <a:spcPct val="100000"/>
              </a:lnSpc>
            </a:pPr>
            <a:endParaRPr sz="1000" dirty="0">
              <a:latin typeface="Arial MT"/>
              <a:cs typeface="Arial MT"/>
            </a:endParaRPr>
          </a:p>
          <a:p>
            <a:pPr>
              <a:lnSpc>
                <a:spcPct val="100000"/>
              </a:lnSpc>
              <a:spcBef>
                <a:spcPts val="10"/>
              </a:spcBef>
            </a:pPr>
            <a:endParaRPr sz="1000" dirty="0">
              <a:latin typeface="Arial MT"/>
              <a:cs typeface="Arial MT"/>
            </a:endParaRPr>
          </a:p>
          <a:p>
            <a:pPr marL="12700">
              <a:lnSpc>
                <a:spcPct val="100000"/>
              </a:lnSpc>
            </a:pPr>
            <a:r>
              <a:rPr sz="1000" dirty="0">
                <a:solidFill>
                  <a:srgbClr val="22373A"/>
                </a:solidFill>
                <a:latin typeface="Arial MT"/>
                <a:cs typeface="Arial MT"/>
              </a:rPr>
              <a:t>The</a:t>
            </a:r>
            <a:r>
              <a:rPr sz="1000" spc="-15" dirty="0">
                <a:solidFill>
                  <a:srgbClr val="22373A"/>
                </a:solidFill>
                <a:latin typeface="Arial MT"/>
                <a:cs typeface="Arial MT"/>
              </a:rPr>
              <a:t> </a:t>
            </a:r>
            <a:r>
              <a:rPr sz="1000" spc="-30" dirty="0">
                <a:solidFill>
                  <a:srgbClr val="22373A"/>
                </a:solidFill>
                <a:latin typeface="Arial MT"/>
                <a:cs typeface="Arial MT"/>
              </a:rPr>
              <a:t>model</a:t>
            </a:r>
            <a:r>
              <a:rPr sz="1000" spc="-10" dirty="0">
                <a:solidFill>
                  <a:srgbClr val="22373A"/>
                </a:solidFill>
                <a:latin typeface="Arial MT"/>
                <a:cs typeface="Arial MT"/>
              </a:rPr>
              <a:t> </a:t>
            </a:r>
            <a:r>
              <a:rPr sz="1000" spc="-25" dirty="0">
                <a:solidFill>
                  <a:srgbClr val="22373A"/>
                </a:solidFill>
                <a:latin typeface="Arial MT"/>
                <a:cs typeface="Arial MT"/>
              </a:rPr>
              <a:t>ranking</a:t>
            </a:r>
            <a:r>
              <a:rPr sz="1000" spc="-15" dirty="0">
                <a:solidFill>
                  <a:srgbClr val="22373A"/>
                </a:solidFill>
                <a:latin typeface="Arial MT"/>
                <a:cs typeface="Arial MT"/>
              </a:rPr>
              <a:t> </a:t>
            </a:r>
            <a:r>
              <a:rPr sz="1000" dirty="0">
                <a:solidFill>
                  <a:srgbClr val="22373A"/>
                </a:solidFill>
                <a:latin typeface="Arial MT"/>
                <a:cs typeface="Arial MT"/>
              </a:rPr>
              <a:t>flips</a:t>
            </a:r>
            <a:r>
              <a:rPr sz="1000" spc="-10" dirty="0">
                <a:solidFill>
                  <a:srgbClr val="22373A"/>
                </a:solidFill>
                <a:latin typeface="Arial MT"/>
                <a:cs typeface="Arial MT"/>
              </a:rPr>
              <a:t> </a:t>
            </a:r>
            <a:r>
              <a:rPr sz="1000" spc="-60" dirty="0">
                <a:solidFill>
                  <a:srgbClr val="22373A"/>
                </a:solidFill>
                <a:latin typeface="Arial MT"/>
                <a:cs typeface="Arial MT"/>
              </a:rPr>
              <a:t>between</a:t>
            </a:r>
            <a:r>
              <a:rPr sz="1000" spc="-5" dirty="0">
                <a:solidFill>
                  <a:srgbClr val="22373A"/>
                </a:solidFill>
                <a:latin typeface="Arial MT"/>
                <a:cs typeface="Arial MT"/>
              </a:rPr>
              <a:t> </a:t>
            </a:r>
            <a:r>
              <a:rPr sz="1000" spc="-10" dirty="0">
                <a:solidFill>
                  <a:srgbClr val="22373A"/>
                </a:solidFill>
                <a:latin typeface="Arial MT"/>
                <a:cs typeface="Arial MT"/>
              </a:rPr>
              <a:t>datasets.</a:t>
            </a:r>
            <a:endParaRPr sz="1000" dirty="0">
              <a:latin typeface="Arial MT"/>
              <a:cs typeface="Arial MT"/>
            </a:endParaRPr>
          </a:p>
        </p:txBody>
      </p:sp>
      <p:pic>
        <p:nvPicPr>
          <p:cNvPr id="11" name="object 11"/>
          <p:cNvPicPr/>
          <p:nvPr/>
        </p:nvPicPr>
        <p:blipFill>
          <a:blip r:embed="rId4" cstate="print"/>
          <a:stretch>
            <a:fillRect/>
          </a:stretch>
        </p:blipFill>
        <p:spPr>
          <a:xfrm>
            <a:off x="101282" y="2998905"/>
            <a:ext cx="241983" cy="187117"/>
          </a:xfrm>
          <a:prstGeom prst="rect">
            <a:avLst/>
          </a:prstGeom>
        </p:spPr>
      </p:pic>
      <p:pic>
        <p:nvPicPr>
          <p:cNvPr id="12" name="object 12"/>
          <p:cNvPicPr/>
          <p:nvPr/>
        </p:nvPicPr>
        <p:blipFill>
          <a:blip r:embed="rId5" cstate="print"/>
          <a:stretch>
            <a:fillRect/>
          </a:stretch>
        </p:blipFill>
        <p:spPr>
          <a:xfrm>
            <a:off x="433285" y="2998965"/>
            <a:ext cx="187057" cy="187057"/>
          </a:xfrm>
          <a:prstGeom prst="rect">
            <a:avLst/>
          </a:prstGeom>
        </p:spPr>
      </p:pic>
      <p:pic>
        <p:nvPicPr>
          <p:cNvPr id="13" name="object 13"/>
          <p:cNvPicPr/>
          <p:nvPr/>
        </p:nvPicPr>
        <p:blipFill>
          <a:blip r:embed="rId6" cstate="print"/>
          <a:stretch>
            <a:fillRect/>
          </a:stretch>
        </p:blipFill>
        <p:spPr>
          <a:xfrm>
            <a:off x="710349" y="2998815"/>
            <a:ext cx="187208" cy="187208"/>
          </a:xfrm>
          <a:prstGeom prst="rect">
            <a:avLst/>
          </a:prstGeom>
        </p:spPr>
      </p:pic>
      <p:sp>
        <p:nvSpPr>
          <p:cNvPr id="14" name="object 14"/>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24</a:t>
            </a:r>
            <a:r>
              <a:rPr spc="-80" dirty="0"/>
              <a:t> </a:t>
            </a:r>
            <a:r>
              <a:rPr spc="195" dirty="0"/>
              <a:t>/</a:t>
            </a:r>
            <a:r>
              <a:rPr spc="-75" dirty="0"/>
              <a:t> </a:t>
            </a:r>
            <a:r>
              <a:rPr spc="-25" dirty="0"/>
              <a:t>32</a:t>
            </a:r>
          </a:p>
        </p:txBody>
      </p:sp>
    </p:spTree>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2770" y="76349"/>
            <a:ext cx="2785745" cy="207645"/>
          </a:xfrm>
          <a:prstGeom prst="rect">
            <a:avLst/>
          </a:prstGeom>
        </p:spPr>
        <p:txBody>
          <a:bodyPr vert="horz" wrap="square" lIns="0" tIns="12065" rIns="0" bIns="0" rtlCol="0">
            <a:spAutoFit/>
          </a:bodyPr>
          <a:lstStyle/>
          <a:p>
            <a:pPr marL="12700">
              <a:lnSpc>
                <a:spcPct val="100000"/>
              </a:lnSpc>
              <a:spcBef>
                <a:spcPts val="95"/>
              </a:spcBef>
            </a:pPr>
            <a:r>
              <a:rPr spc="-50" dirty="0"/>
              <a:t>Correctness</a:t>
            </a:r>
            <a:r>
              <a:rPr dirty="0"/>
              <a:t> and </a:t>
            </a:r>
            <a:r>
              <a:rPr spc="-35" dirty="0"/>
              <a:t>grounding</a:t>
            </a:r>
            <a:r>
              <a:rPr dirty="0"/>
              <a:t> can </a:t>
            </a:r>
            <a:r>
              <a:rPr spc="-20" dirty="0"/>
              <a:t>diverge</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4500245" cy="5080"/>
            </a:xfrm>
            <a:custGeom>
              <a:avLst/>
              <a:gdLst/>
              <a:ahLst/>
              <a:cxnLst/>
              <a:rect l="l" t="t" r="r" b="b"/>
              <a:pathLst>
                <a:path w="4500245" h="5079">
                  <a:moveTo>
                    <a:pt x="0" y="5060"/>
                  </a:moveTo>
                  <a:lnTo>
                    <a:pt x="0" y="0"/>
                  </a:lnTo>
                  <a:lnTo>
                    <a:pt x="4500057" y="0"/>
                  </a:lnTo>
                  <a:lnTo>
                    <a:pt x="4500057" y="5060"/>
                  </a:lnTo>
                  <a:lnTo>
                    <a:pt x="0" y="5060"/>
                  </a:lnTo>
                  <a:close/>
                </a:path>
              </a:pathLst>
            </a:custGeom>
            <a:solidFill>
              <a:srgbClr val="2D7DB8"/>
            </a:solidFill>
          </p:spPr>
          <p:txBody>
            <a:bodyPr wrap="square" lIns="0" tIns="0" rIns="0" bIns="0" rtlCol="0"/>
            <a:lstStyle/>
            <a:p>
              <a:endParaRPr/>
            </a:p>
          </p:txBody>
        </p:sp>
      </p:grpSp>
      <p:sp>
        <p:nvSpPr>
          <p:cNvPr id="7" name="object 7"/>
          <p:cNvSpPr txBox="1"/>
          <p:nvPr/>
        </p:nvSpPr>
        <p:spPr>
          <a:xfrm>
            <a:off x="347294" y="616900"/>
            <a:ext cx="2111375" cy="1323340"/>
          </a:xfrm>
          <a:prstGeom prst="rect">
            <a:avLst/>
          </a:prstGeom>
        </p:spPr>
        <p:txBody>
          <a:bodyPr vert="horz" wrap="square" lIns="0" tIns="43180" rIns="0" bIns="0" rtlCol="0">
            <a:spAutoFit/>
          </a:bodyPr>
          <a:lstStyle/>
          <a:p>
            <a:pPr marL="12700">
              <a:lnSpc>
                <a:spcPct val="100000"/>
              </a:lnSpc>
              <a:spcBef>
                <a:spcPts val="340"/>
              </a:spcBef>
            </a:pPr>
            <a:r>
              <a:rPr sz="1100" spc="-10" dirty="0">
                <a:solidFill>
                  <a:srgbClr val="22373A"/>
                </a:solidFill>
                <a:latin typeface="Arial MT"/>
                <a:cs typeface="Arial MT"/>
              </a:rPr>
              <a:t>The</a:t>
            </a:r>
            <a:r>
              <a:rPr sz="1100" spc="-25" dirty="0">
                <a:solidFill>
                  <a:srgbClr val="22373A"/>
                </a:solidFill>
                <a:latin typeface="Arial MT"/>
                <a:cs typeface="Arial MT"/>
              </a:rPr>
              <a:t> </a:t>
            </a:r>
            <a:r>
              <a:rPr sz="1100" spc="-45" dirty="0">
                <a:solidFill>
                  <a:srgbClr val="22373A"/>
                </a:solidFill>
                <a:latin typeface="Arial MT"/>
                <a:cs typeface="Arial MT"/>
              </a:rPr>
              <a:t>coder</a:t>
            </a:r>
            <a:r>
              <a:rPr sz="1100" spc="-25" dirty="0">
                <a:solidFill>
                  <a:srgbClr val="22373A"/>
                </a:solidFill>
                <a:latin typeface="Arial MT"/>
                <a:cs typeface="Arial MT"/>
              </a:rPr>
              <a:t> </a:t>
            </a:r>
            <a:r>
              <a:rPr sz="1100" spc="-55" dirty="0">
                <a:solidFill>
                  <a:srgbClr val="22373A"/>
                </a:solidFill>
                <a:latin typeface="Arial MT"/>
                <a:cs typeface="Arial MT"/>
              </a:rPr>
              <a:t>model</a:t>
            </a:r>
            <a:r>
              <a:rPr sz="1100" spc="-20" dirty="0">
                <a:solidFill>
                  <a:srgbClr val="22373A"/>
                </a:solidFill>
                <a:latin typeface="Arial MT"/>
                <a:cs typeface="Arial MT"/>
              </a:rPr>
              <a:t> </a:t>
            </a:r>
            <a:r>
              <a:rPr sz="1100" spc="-30" dirty="0">
                <a:solidFill>
                  <a:srgbClr val="22373A"/>
                </a:solidFill>
                <a:latin typeface="Arial MT"/>
                <a:cs typeface="Arial MT"/>
              </a:rPr>
              <a:t>writes</a:t>
            </a:r>
            <a:r>
              <a:rPr sz="1100" spc="-20" dirty="0">
                <a:solidFill>
                  <a:srgbClr val="22373A"/>
                </a:solidFill>
                <a:latin typeface="Arial MT"/>
                <a:cs typeface="Arial MT"/>
              </a:rPr>
              <a:t> </a:t>
            </a:r>
            <a:r>
              <a:rPr sz="1100" spc="-25" dirty="0">
                <a:solidFill>
                  <a:srgbClr val="22373A"/>
                </a:solidFill>
                <a:latin typeface="Arial MT"/>
                <a:cs typeface="Arial MT"/>
              </a:rPr>
              <a:t>the</a:t>
            </a:r>
            <a:endParaRPr sz="1100">
              <a:latin typeface="Arial MT"/>
              <a:cs typeface="Arial MT"/>
            </a:endParaRPr>
          </a:p>
          <a:p>
            <a:pPr marL="12700" marR="5080">
              <a:lnSpc>
                <a:spcPct val="118000"/>
              </a:lnSpc>
            </a:pPr>
            <a:r>
              <a:rPr sz="1100" spc="-55" dirty="0">
                <a:solidFill>
                  <a:srgbClr val="2D7DB8"/>
                </a:solidFill>
                <a:latin typeface="Arial MT"/>
                <a:cs typeface="Arial MT"/>
              </a:rPr>
              <a:t>best-</a:t>
            </a:r>
            <a:r>
              <a:rPr sz="1100" spc="-60" dirty="0">
                <a:solidFill>
                  <a:srgbClr val="2D7DB8"/>
                </a:solidFill>
                <a:latin typeface="Arial MT"/>
                <a:cs typeface="Arial MT"/>
              </a:rPr>
              <a:t>grounded</a:t>
            </a:r>
            <a:r>
              <a:rPr sz="1100" spc="-15" dirty="0">
                <a:solidFill>
                  <a:srgbClr val="2D7DB8"/>
                </a:solidFill>
                <a:latin typeface="Arial MT"/>
                <a:cs typeface="Arial MT"/>
              </a:rPr>
              <a:t> </a:t>
            </a:r>
            <a:r>
              <a:rPr sz="1100" spc="-40" dirty="0">
                <a:solidFill>
                  <a:srgbClr val="22373A"/>
                </a:solidFill>
                <a:latin typeface="Arial MT"/>
                <a:cs typeface="Arial MT"/>
              </a:rPr>
              <a:t>reports</a:t>
            </a:r>
            <a:r>
              <a:rPr sz="1100" spc="-15" dirty="0">
                <a:solidFill>
                  <a:srgbClr val="22373A"/>
                </a:solidFill>
                <a:latin typeface="Arial MT"/>
                <a:cs typeface="Arial MT"/>
              </a:rPr>
              <a:t> </a:t>
            </a:r>
            <a:r>
              <a:rPr sz="1100" spc="-55" dirty="0">
                <a:solidFill>
                  <a:srgbClr val="22373A"/>
                </a:solidFill>
                <a:latin typeface="Arial MT"/>
                <a:cs typeface="Arial MT"/>
              </a:rPr>
              <a:t>and</a:t>
            </a:r>
            <a:r>
              <a:rPr sz="1100" spc="-15" dirty="0">
                <a:solidFill>
                  <a:srgbClr val="22373A"/>
                </a:solidFill>
                <a:latin typeface="Arial MT"/>
                <a:cs typeface="Arial MT"/>
              </a:rPr>
              <a:t> </a:t>
            </a:r>
            <a:r>
              <a:rPr sz="1100" dirty="0">
                <a:solidFill>
                  <a:srgbClr val="22373A"/>
                </a:solidFill>
                <a:latin typeface="Arial MT"/>
                <a:cs typeface="Arial MT"/>
              </a:rPr>
              <a:t>the</a:t>
            </a:r>
            <a:r>
              <a:rPr sz="1100" spc="-15" dirty="0">
                <a:solidFill>
                  <a:srgbClr val="22373A"/>
                </a:solidFill>
                <a:latin typeface="Arial MT"/>
                <a:cs typeface="Arial MT"/>
              </a:rPr>
              <a:t> </a:t>
            </a:r>
            <a:r>
              <a:rPr sz="1100" spc="-10" dirty="0">
                <a:solidFill>
                  <a:srgbClr val="2D7DB8"/>
                </a:solidFill>
                <a:latin typeface="Arial MT"/>
                <a:cs typeface="Arial MT"/>
              </a:rPr>
              <a:t>worst </a:t>
            </a:r>
            <a:r>
              <a:rPr sz="1100" spc="-10" dirty="0">
                <a:solidFill>
                  <a:srgbClr val="22373A"/>
                </a:solidFill>
                <a:latin typeface="Arial MT"/>
                <a:cs typeface="Arial MT"/>
              </a:rPr>
              <a:t>classifications.</a:t>
            </a:r>
            <a:endParaRPr sz="1100">
              <a:latin typeface="Arial MT"/>
              <a:cs typeface="Arial MT"/>
            </a:endParaRPr>
          </a:p>
          <a:p>
            <a:pPr marL="12700" marR="227329" algn="just">
              <a:lnSpc>
                <a:spcPct val="118000"/>
              </a:lnSpc>
              <a:spcBef>
                <a:spcPts val="865"/>
              </a:spcBef>
            </a:pPr>
            <a:r>
              <a:rPr sz="1100" dirty="0">
                <a:solidFill>
                  <a:srgbClr val="22373A"/>
                </a:solidFill>
                <a:latin typeface="Arial MT"/>
                <a:cs typeface="Arial MT"/>
              </a:rPr>
              <a:t>It</a:t>
            </a:r>
            <a:r>
              <a:rPr sz="1100" spc="65" dirty="0">
                <a:solidFill>
                  <a:srgbClr val="22373A"/>
                </a:solidFill>
                <a:latin typeface="Arial MT"/>
                <a:cs typeface="Arial MT"/>
              </a:rPr>
              <a:t> </a:t>
            </a:r>
            <a:r>
              <a:rPr sz="1100" spc="-80" dirty="0">
                <a:solidFill>
                  <a:srgbClr val="22373A"/>
                </a:solidFill>
                <a:latin typeface="Arial MT"/>
                <a:cs typeface="Arial MT"/>
              </a:rPr>
              <a:t>produces</a:t>
            </a:r>
            <a:r>
              <a:rPr sz="1100" spc="65" dirty="0">
                <a:solidFill>
                  <a:srgbClr val="22373A"/>
                </a:solidFill>
                <a:latin typeface="Arial MT"/>
                <a:cs typeface="Arial MT"/>
              </a:rPr>
              <a:t> </a:t>
            </a:r>
            <a:r>
              <a:rPr sz="1100" spc="-25" dirty="0">
                <a:solidFill>
                  <a:srgbClr val="22373A"/>
                </a:solidFill>
                <a:latin typeface="Arial MT"/>
                <a:cs typeface="Arial MT"/>
              </a:rPr>
              <a:t>internally</a:t>
            </a:r>
            <a:r>
              <a:rPr sz="1100" spc="70" dirty="0">
                <a:solidFill>
                  <a:srgbClr val="22373A"/>
                </a:solidFill>
                <a:latin typeface="Arial MT"/>
                <a:cs typeface="Arial MT"/>
              </a:rPr>
              <a:t> </a:t>
            </a:r>
            <a:r>
              <a:rPr sz="1100" spc="-40" dirty="0">
                <a:solidFill>
                  <a:srgbClr val="22373A"/>
                </a:solidFill>
                <a:latin typeface="Arial MT"/>
                <a:cs typeface="Arial MT"/>
              </a:rPr>
              <a:t>consistent, </a:t>
            </a:r>
            <a:r>
              <a:rPr sz="1100" spc="-70" dirty="0">
                <a:solidFill>
                  <a:srgbClr val="22373A"/>
                </a:solidFill>
                <a:latin typeface="Arial MT"/>
                <a:cs typeface="Arial MT"/>
              </a:rPr>
              <a:t>well-</a:t>
            </a:r>
            <a:r>
              <a:rPr sz="1100" spc="-80" dirty="0">
                <a:solidFill>
                  <a:srgbClr val="22373A"/>
                </a:solidFill>
                <a:latin typeface="Arial MT"/>
                <a:cs typeface="Arial MT"/>
              </a:rPr>
              <a:t>evidenced</a:t>
            </a:r>
            <a:r>
              <a:rPr sz="1100" spc="10" dirty="0">
                <a:solidFill>
                  <a:srgbClr val="22373A"/>
                </a:solidFill>
                <a:latin typeface="Arial MT"/>
                <a:cs typeface="Arial MT"/>
              </a:rPr>
              <a:t> </a:t>
            </a:r>
            <a:r>
              <a:rPr sz="1100" spc="-35" dirty="0">
                <a:solidFill>
                  <a:srgbClr val="22373A"/>
                </a:solidFill>
                <a:latin typeface="Arial MT"/>
                <a:cs typeface="Arial MT"/>
              </a:rPr>
              <a:t>reports</a:t>
            </a:r>
            <a:r>
              <a:rPr sz="1100" spc="15" dirty="0">
                <a:solidFill>
                  <a:srgbClr val="22373A"/>
                </a:solidFill>
                <a:latin typeface="Arial MT"/>
                <a:cs typeface="Arial MT"/>
              </a:rPr>
              <a:t> </a:t>
            </a:r>
            <a:r>
              <a:rPr sz="1100" spc="-20" dirty="0">
                <a:solidFill>
                  <a:srgbClr val="22373A"/>
                </a:solidFill>
                <a:latin typeface="Arial MT"/>
                <a:cs typeface="Arial MT"/>
              </a:rPr>
              <a:t>about</a:t>
            </a:r>
            <a:r>
              <a:rPr sz="1100" spc="15" dirty="0">
                <a:solidFill>
                  <a:srgbClr val="22373A"/>
                </a:solidFill>
                <a:latin typeface="Arial MT"/>
                <a:cs typeface="Arial MT"/>
              </a:rPr>
              <a:t> </a:t>
            </a:r>
            <a:r>
              <a:rPr sz="1100" spc="-25" dirty="0">
                <a:solidFill>
                  <a:srgbClr val="22373A"/>
                </a:solidFill>
                <a:latin typeface="Arial MT"/>
                <a:cs typeface="Arial MT"/>
              </a:rPr>
              <a:t>the </a:t>
            </a:r>
            <a:r>
              <a:rPr sz="1100" spc="-40" dirty="0">
                <a:solidFill>
                  <a:srgbClr val="22373A"/>
                </a:solidFill>
                <a:latin typeface="Arial MT"/>
                <a:cs typeface="Arial MT"/>
              </a:rPr>
              <a:t>wrong</a:t>
            </a:r>
            <a:r>
              <a:rPr sz="1100" spc="-35" dirty="0">
                <a:solidFill>
                  <a:srgbClr val="22373A"/>
                </a:solidFill>
                <a:latin typeface="Arial MT"/>
                <a:cs typeface="Arial MT"/>
              </a:rPr>
              <a:t> </a:t>
            </a:r>
            <a:r>
              <a:rPr sz="1100" spc="-10" dirty="0">
                <a:solidFill>
                  <a:srgbClr val="22373A"/>
                </a:solidFill>
                <a:latin typeface="Arial MT"/>
                <a:cs typeface="Arial MT"/>
              </a:rPr>
              <a:t>attack.</a:t>
            </a:r>
            <a:endParaRPr sz="1100">
              <a:latin typeface="Arial MT"/>
              <a:cs typeface="Arial MT"/>
            </a:endParaRPr>
          </a:p>
        </p:txBody>
      </p:sp>
      <p:pic>
        <p:nvPicPr>
          <p:cNvPr id="8" name="object 8"/>
          <p:cNvPicPr/>
          <p:nvPr/>
        </p:nvPicPr>
        <p:blipFill>
          <a:blip r:embed="rId3" cstate="print"/>
          <a:stretch>
            <a:fillRect/>
          </a:stretch>
        </p:blipFill>
        <p:spPr>
          <a:xfrm>
            <a:off x="2577617" y="560988"/>
            <a:ext cx="2822432" cy="1854741"/>
          </a:xfrm>
          <a:prstGeom prst="rect">
            <a:avLst/>
          </a:prstGeom>
        </p:spPr>
      </p:pic>
      <p:sp>
        <p:nvSpPr>
          <p:cNvPr id="9" name="object 9"/>
          <p:cNvSpPr/>
          <p:nvPr/>
        </p:nvSpPr>
        <p:spPr>
          <a:xfrm>
            <a:off x="359994" y="2556510"/>
            <a:ext cx="5039995" cy="0"/>
          </a:xfrm>
          <a:custGeom>
            <a:avLst/>
            <a:gdLst/>
            <a:ahLst/>
            <a:cxnLst/>
            <a:rect l="l" t="t" r="r" b="b"/>
            <a:pathLst>
              <a:path w="5039995">
                <a:moveTo>
                  <a:pt x="0" y="0"/>
                </a:moveTo>
                <a:lnTo>
                  <a:pt x="5039995" y="0"/>
                </a:lnTo>
              </a:path>
            </a:pathLst>
          </a:custGeom>
          <a:ln w="7594">
            <a:solidFill>
              <a:srgbClr val="2D7DB8"/>
            </a:solidFill>
          </a:ln>
        </p:spPr>
        <p:txBody>
          <a:bodyPr wrap="square" lIns="0" tIns="0" rIns="0" bIns="0" rtlCol="0"/>
          <a:lstStyle/>
          <a:p>
            <a:endParaRPr/>
          </a:p>
        </p:txBody>
      </p:sp>
      <p:sp>
        <p:nvSpPr>
          <p:cNvPr id="10" name="object 10"/>
          <p:cNvSpPr txBox="1"/>
          <p:nvPr/>
        </p:nvSpPr>
        <p:spPr>
          <a:xfrm>
            <a:off x="347294" y="2706260"/>
            <a:ext cx="5030470" cy="177800"/>
          </a:xfrm>
          <a:prstGeom prst="rect">
            <a:avLst/>
          </a:prstGeom>
        </p:spPr>
        <p:txBody>
          <a:bodyPr vert="horz" wrap="square" lIns="0" tIns="12065" rIns="0" bIns="0" rtlCol="0">
            <a:spAutoFit/>
          </a:bodyPr>
          <a:lstStyle/>
          <a:p>
            <a:pPr marL="12700">
              <a:lnSpc>
                <a:spcPct val="100000"/>
              </a:lnSpc>
              <a:spcBef>
                <a:spcPts val="95"/>
              </a:spcBef>
            </a:pPr>
            <a:r>
              <a:rPr sz="1000" dirty="0">
                <a:solidFill>
                  <a:srgbClr val="22373A"/>
                </a:solidFill>
                <a:latin typeface="Arial MT"/>
                <a:cs typeface="Arial MT"/>
              </a:rPr>
              <a:t>A</a:t>
            </a:r>
            <a:r>
              <a:rPr sz="1000" spc="-5" dirty="0">
                <a:solidFill>
                  <a:srgbClr val="22373A"/>
                </a:solidFill>
                <a:latin typeface="Arial MT"/>
                <a:cs typeface="Arial MT"/>
              </a:rPr>
              <a:t> </a:t>
            </a:r>
            <a:r>
              <a:rPr sz="1000" spc="-45" dirty="0">
                <a:solidFill>
                  <a:srgbClr val="22373A"/>
                </a:solidFill>
                <a:latin typeface="Arial MT"/>
                <a:cs typeface="Arial MT"/>
              </a:rPr>
              <a:t>system</a:t>
            </a:r>
            <a:r>
              <a:rPr sz="1000" spc="-5" dirty="0">
                <a:solidFill>
                  <a:srgbClr val="22373A"/>
                </a:solidFill>
                <a:latin typeface="Arial MT"/>
                <a:cs typeface="Arial MT"/>
              </a:rPr>
              <a:t> </a:t>
            </a:r>
            <a:r>
              <a:rPr sz="1000" spc="-20" dirty="0">
                <a:solidFill>
                  <a:srgbClr val="22373A"/>
                </a:solidFill>
                <a:latin typeface="Arial MT"/>
                <a:cs typeface="Arial MT"/>
              </a:rPr>
              <a:t>reporting</a:t>
            </a:r>
            <a:r>
              <a:rPr sz="1000" dirty="0">
                <a:solidFill>
                  <a:srgbClr val="22373A"/>
                </a:solidFill>
                <a:latin typeface="Arial MT"/>
                <a:cs typeface="Arial MT"/>
              </a:rPr>
              <a:t> </a:t>
            </a:r>
            <a:r>
              <a:rPr sz="1000" spc="-10" dirty="0">
                <a:solidFill>
                  <a:srgbClr val="22373A"/>
                </a:solidFill>
                <a:latin typeface="Arial MT"/>
                <a:cs typeface="Arial MT"/>
              </a:rPr>
              <a:t>only</a:t>
            </a:r>
            <a:r>
              <a:rPr sz="1000" spc="-5" dirty="0">
                <a:solidFill>
                  <a:srgbClr val="22373A"/>
                </a:solidFill>
                <a:latin typeface="Arial MT"/>
                <a:cs typeface="Arial MT"/>
              </a:rPr>
              <a:t> </a:t>
            </a:r>
            <a:r>
              <a:rPr sz="1000" spc="-35" dirty="0">
                <a:solidFill>
                  <a:srgbClr val="22373A"/>
                </a:solidFill>
                <a:latin typeface="Arial MT"/>
                <a:cs typeface="Arial MT"/>
              </a:rPr>
              <a:t>grounding</a:t>
            </a:r>
            <a:r>
              <a:rPr sz="1000" spc="-5" dirty="0">
                <a:solidFill>
                  <a:srgbClr val="22373A"/>
                </a:solidFill>
                <a:latin typeface="Arial MT"/>
                <a:cs typeface="Arial MT"/>
              </a:rPr>
              <a:t> </a:t>
            </a:r>
            <a:r>
              <a:rPr sz="1000" spc="-25" dirty="0">
                <a:solidFill>
                  <a:srgbClr val="22373A"/>
                </a:solidFill>
                <a:latin typeface="Arial MT"/>
                <a:cs typeface="Arial MT"/>
              </a:rPr>
              <a:t>would</a:t>
            </a:r>
            <a:r>
              <a:rPr sz="1000" spc="-5" dirty="0">
                <a:solidFill>
                  <a:srgbClr val="22373A"/>
                </a:solidFill>
                <a:latin typeface="Arial MT"/>
                <a:cs typeface="Arial MT"/>
              </a:rPr>
              <a:t> </a:t>
            </a:r>
            <a:r>
              <a:rPr sz="1000" spc="-20" dirty="0">
                <a:solidFill>
                  <a:srgbClr val="22373A"/>
                </a:solidFill>
                <a:latin typeface="Arial MT"/>
                <a:cs typeface="Arial MT"/>
              </a:rPr>
              <a:t>rank</a:t>
            </a:r>
            <a:r>
              <a:rPr sz="1000" spc="-5" dirty="0">
                <a:solidFill>
                  <a:srgbClr val="22373A"/>
                </a:solidFill>
                <a:latin typeface="Arial MT"/>
                <a:cs typeface="Arial MT"/>
              </a:rPr>
              <a:t> </a:t>
            </a:r>
            <a:r>
              <a:rPr sz="1000" dirty="0">
                <a:solidFill>
                  <a:srgbClr val="22373A"/>
                </a:solidFill>
                <a:latin typeface="Arial MT"/>
                <a:cs typeface="Arial MT"/>
              </a:rPr>
              <a:t>the</a:t>
            </a:r>
            <a:r>
              <a:rPr sz="1000" spc="-5" dirty="0">
                <a:solidFill>
                  <a:srgbClr val="22373A"/>
                </a:solidFill>
                <a:latin typeface="Arial MT"/>
                <a:cs typeface="Arial MT"/>
              </a:rPr>
              <a:t> </a:t>
            </a:r>
            <a:r>
              <a:rPr sz="1000" spc="-25" dirty="0">
                <a:solidFill>
                  <a:srgbClr val="22373A"/>
                </a:solidFill>
                <a:latin typeface="Arial MT"/>
                <a:cs typeface="Arial MT"/>
              </a:rPr>
              <a:t>worst</a:t>
            </a:r>
            <a:r>
              <a:rPr sz="1000" spc="-5" dirty="0">
                <a:solidFill>
                  <a:srgbClr val="22373A"/>
                </a:solidFill>
                <a:latin typeface="Arial MT"/>
                <a:cs typeface="Arial MT"/>
              </a:rPr>
              <a:t> </a:t>
            </a:r>
            <a:r>
              <a:rPr sz="1000" spc="-30" dirty="0">
                <a:solidFill>
                  <a:srgbClr val="22373A"/>
                </a:solidFill>
                <a:latin typeface="Arial MT"/>
                <a:cs typeface="Arial MT"/>
              </a:rPr>
              <a:t>model</a:t>
            </a:r>
            <a:r>
              <a:rPr sz="1000" spc="-5" dirty="0">
                <a:solidFill>
                  <a:srgbClr val="22373A"/>
                </a:solidFill>
                <a:latin typeface="Arial MT"/>
                <a:cs typeface="Arial MT"/>
              </a:rPr>
              <a:t> </a:t>
            </a:r>
            <a:r>
              <a:rPr sz="1000" dirty="0">
                <a:solidFill>
                  <a:srgbClr val="22373A"/>
                </a:solidFill>
                <a:latin typeface="Arial MT"/>
                <a:cs typeface="Arial MT"/>
              </a:rPr>
              <a:t>first.</a:t>
            </a:r>
            <a:r>
              <a:rPr sz="1000" spc="85" dirty="0">
                <a:solidFill>
                  <a:srgbClr val="22373A"/>
                </a:solidFill>
                <a:latin typeface="Arial MT"/>
                <a:cs typeface="Arial MT"/>
              </a:rPr>
              <a:t> </a:t>
            </a:r>
            <a:r>
              <a:rPr sz="1000" dirty="0">
                <a:solidFill>
                  <a:srgbClr val="22373A"/>
                </a:solidFill>
                <a:latin typeface="Arial MT"/>
                <a:cs typeface="Arial MT"/>
              </a:rPr>
              <a:t>Both </a:t>
            </a:r>
            <a:r>
              <a:rPr sz="1000" spc="-30" dirty="0">
                <a:solidFill>
                  <a:srgbClr val="22373A"/>
                </a:solidFill>
                <a:latin typeface="Arial MT"/>
                <a:cs typeface="Arial MT"/>
              </a:rPr>
              <a:t>metrics</a:t>
            </a:r>
            <a:r>
              <a:rPr sz="1000" spc="-5" dirty="0">
                <a:solidFill>
                  <a:srgbClr val="22373A"/>
                </a:solidFill>
                <a:latin typeface="Arial MT"/>
                <a:cs typeface="Arial MT"/>
              </a:rPr>
              <a:t> </a:t>
            </a:r>
            <a:r>
              <a:rPr sz="1000" spc="-50" dirty="0">
                <a:solidFill>
                  <a:srgbClr val="22373A"/>
                </a:solidFill>
                <a:latin typeface="Arial MT"/>
                <a:cs typeface="Arial MT"/>
              </a:rPr>
              <a:t>are</a:t>
            </a:r>
            <a:r>
              <a:rPr sz="1000" dirty="0">
                <a:solidFill>
                  <a:srgbClr val="22373A"/>
                </a:solidFill>
                <a:latin typeface="Arial MT"/>
                <a:cs typeface="Arial MT"/>
              </a:rPr>
              <a:t> </a:t>
            </a:r>
            <a:r>
              <a:rPr sz="1000" spc="-10" dirty="0">
                <a:solidFill>
                  <a:srgbClr val="22373A"/>
                </a:solidFill>
                <a:latin typeface="Arial MT"/>
                <a:cs typeface="Arial MT"/>
              </a:rPr>
              <a:t>needed.</a:t>
            </a:r>
            <a:endParaRPr sz="1000">
              <a:latin typeface="Arial MT"/>
              <a:cs typeface="Arial MT"/>
            </a:endParaRPr>
          </a:p>
        </p:txBody>
      </p:sp>
      <p:pic>
        <p:nvPicPr>
          <p:cNvPr id="11" name="object 11"/>
          <p:cNvPicPr/>
          <p:nvPr/>
        </p:nvPicPr>
        <p:blipFill>
          <a:blip r:embed="rId4" cstate="print"/>
          <a:stretch>
            <a:fillRect/>
          </a:stretch>
        </p:blipFill>
        <p:spPr>
          <a:xfrm>
            <a:off x="101282" y="2998905"/>
            <a:ext cx="241983" cy="187117"/>
          </a:xfrm>
          <a:prstGeom prst="rect">
            <a:avLst/>
          </a:prstGeom>
        </p:spPr>
      </p:pic>
      <p:pic>
        <p:nvPicPr>
          <p:cNvPr id="12" name="object 12"/>
          <p:cNvPicPr/>
          <p:nvPr/>
        </p:nvPicPr>
        <p:blipFill>
          <a:blip r:embed="rId5" cstate="print"/>
          <a:stretch>
            <a:fillRect/>
          </a:stretch>
        </p:blipFill>
        <p:spPr>
          <a:xfrm>
            <a:off x="433285" y="2998965"/>
            <a:ext cx="187057" cy="187057"/>
          </a:xfrm>
          <a:prstGeom prst="rect">
            <a:avLst/>
          </a:prstGeom>
        </p:spPr>
      </p:pic>
      <p:pic>
        <p:nvPicPr>
          <p:cNvPr id="13" name="object 13"/>
          <p:cNvPicPr/>
          <p:nvPr/>
        </p:nvPicPr>
        <p:blipFill>
          <a:blip r:embed="rId6" cstate="print"/>
          <a:stretch>
            <a:fillRect/>
          </a:stretch>
        </p:blipFill>
        <p:spPr>
          <a:xfrm>
            <a:off x="710349" y="2998815"/>
            <a:ext cx="187208" cy="187208"/>
          </a:xfrm>
          <a:prstGeom prst="rect">
            <a:avLst/>
          </a:prstGeom>
        </p:spPr>
      </p:pic>
      <p:sp>
        <p:nvSpPr>
          <p:cNvPr id="14" name="object 14"/>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25</a:t>
            </a:r>
            <a:r>
              <a:rPr spc="-80" dirty="0"/>
              <a:t> </a:t>
            </a:r>
            <a:r>
              <a:rPr spc="195" dirty="0"/>
              <a:t>/</a:t>
            </a:r>
            <a:r>
              <a:rPr spc="-75" dirty="0"/>
              <a:t> </a:t>
            </a:r>
            <a:r>
              <a:rPr spc="-25" dirty="0"/>
              <a:t>32</a:t>
            </a:r>
          </a:p>
        </p:txBody>
      </p:sp>
    </p:spTree>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20" dirty="0"/>
              <a:t>Limitations</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4680585" cy="5080"/>
            </a:xfrm>
            <a:custGeom>
              <a:avLst/>
              <a:gdLst/>
              <a:ahLst/>
              <a:cxnLst/>
              <a:rect l="l" t="t" r="r" b="b"/>
              <a:pathLst>
                <a:path w="4680585" h="5079">
                  <a:moveTo>
                    <a:pt x="0" y="5060"/>
                  </a:moveTo>
                  <a:lnTo>
                    <a:pt x="0" y="0"/>
                  </a:lnTo>
                  <a:lnTo>
                    <a:pt x="4680059" y="0"/>
                  </a:lnTo>
                  <a:lnTo>
                    <a:pt x="4680059" y="5060"/>
                  </a:lnTo>
                  <a:lnTo>
                    <a:pt x="0" y="5060"/>
                  </a:lnTo>
                  <a:close/>
                </a:path>
              </a:pathLst>
            </a:custGeom>
            <a:solidFill>
              <a:srgbClr val="2D7DB8"/>
            </a:solidFill>
          </p:spPr>
          <p:txBody>
            <a:bodyPr wrap="square" lIns="0" tIns="0" rIns="0" bIns="0" rtlCol="0"/>
            <a:lstStyle/>
            <a:p>
              <a:endParaRPr/>
            </a:p>
          </p:txBody>
        </p:sp>
      </p:grpSp>
      <p:sp>
        <p:nvSpPr>
          <p:cNvPr id="7" name="object 7"/>
          <p:cNvSpPr txBox="1"/>
          <p:nvPr/>
        </p:nvSpPr>
        <p:spPr>
          <a:xfrm>
            <a:off x="347294" y="723732"/>
            <a:ext cx="5065395" cy="1364615"/>
          </a:xfrm>
          <a:prstGeom prst="rect">
            <a:avLst/>
          </a:prstGeom>
        </p:spPr>
        <p:txBody>
          <a:bodyPr vert="horz" wrap="square" lIns="0" tIns="12700" rIns="0" bIns="0" rtlCol="0">
            <a:spAutoFit/>
          </a:bodyPr>
          <a:lstStyle/>
          <a:p>
            <a:pPr marL="12700" marR="26670">
              <a:lnSpc>
                <a:spcPct val="118000"/>
              </a:lnSpc>
              <a:spcBef>
                <a:spcPts val="100"/>
              </a:spcBef>
            </a:pPr>
            <a:r>
              <a:rPr sz="1100" b="1" dirty="0">
                <a:solidFill>
                  <a:srgbClr val="22373A"/>
                </a:solidFill>
                <a:latin typeface="Arial"/>
                <a:cs typeface="Arial"/>
              </a:rPr>
              <a:t>The</a:t>
            </a:r>
            <a:r>
              <a:rPr sz="1100" b="1" spc="30" dirty="0">
                <a:solidFill>
                  <a:srgbClr val="22373A"/>
                </a:solidFill>
                <a:latin typeface="Arial"/>
                <a:cs typeface="Arial"/>
              </a:rPr>
              <a:t> </a:t>
            </a:r>
            <a:r>
              <a:rPr sz="1100" b="1" dirty="0">
                <a:solidFill>
                  <a:srgbClr val="22373A"/>
                </a:solidFill>
                <a:latin typeface="Arial"/>
                <a:cs typeface="Arial"/>
              </a:rPr>
              <a:t>alert</a:t>
            </a:r>
            <a:r>
              <a:rPr sz="1100" b="1" spc="30" dirty="0">
                <a:solidFill>
                  <a:srgbClr val="22373A"/>
                </a:solidFill>
                <a:latin typeface="Arial"/>
                <a:cs typeface="Arial"/>
              </a:rPr>
              <a:t> </a:t>
            </a:r>
            <a:r>
              <a:rPr sz="1100" b="1" dirty="0">
                <a:solidFill>
                  <a:srgbClr val="22373A"/>
                </a:solidFill>
                <a:latin typeface="Arial"/>
                <a:cs typeface="Arial"/>
              </a:rPr>
              <a:t>text</a:t>
            </a:r>
            <a:r>
              <a:rPr sz="1100" b="1" spc="35" dirty="0">
                <a:solidFill>
                  <a:srgbClr val="22373A"/>
                </a:solidFill>
                <a:latin typeface="Arial"/>
                <a:cs typeface="Arial"/>
              </a:rPr>
              <a:t> </a:t>
            </a:r>
            <a:r>
              <a:rPr sz="1100" b="1" spc="-25" dirty="0">
                <a:solidFill>
                  <a:srgbClr val="22373A"/>
                </a:solidFill>
                <a:latin typeface="Arial"/>
                <a:cs typeface="Arial"/>
              </a:rPr>
              <a:t>is</a:t>
            </a:r>
            <a:r>
              <a:rPr sz="1100" b="1" spc="35" dirty="0">
                <a:solidFill>
                  <a:srgbClr val="22373A"/>
                </a:solidFill>
                <a:latin typeface="Arial"/>
                <a:cs typeface="Arial"/>
              </a:rPr>
              <a:t> </a:t>
            </a:r>
            <a:r>
              <a:rPr sz="1100" b="1" dirty="0">
                <a:solidFill>
                  <a:srgbClr val="22373A"/>
                </a:solidFill>
                <a:latin typeface="Arial"/>
                <a:cs typeface="Arial"/>
              </a:rPr>
              <a:t>the</a:t>
            </a:r>
            <a:r>
              <a:rPr sz="1100" b="1" spc="30" dirty="0">
                <a:solidFill>
                  <a:srgbClr val="22373A"/>
                </a:solidFill>
                <a:latin typeface="Arial"/>
                <a:cs typeface="Arial"/>
              </a:rPr>
              <a:t> </a:t>
            </a:r>
            <a:r>
              <a:rPr sz="1100" b="1" spc="-25" dirty="0">
                <a:solidFill>
                  <a:srgbClr val="22373A"/>
                </a:solidFill>
                <a:latin typeface="Arial"/>
                <a:cs typeface="Arial"/>
              </a:rPr>
              <a:t>ceiling.</a:t>
            </a:r>
            <a:r>
              <a:rPr sz="1100" b="1" spc="100" dirty="0">
                <a:solidFill>
                  <a:srgbClr val="22373A"/>
                </a:solidFill>
                <a:latin typeface="Arial"/>
                <a:cs typeface="Arial"/>
              </a:rPr>
              <a:t> </a:t>
            </a:r>
            <a:r>
              <a:rPr sz="1100" dirty="0">
                <a:solidFill>
                  <a:srgbClr val="22373A"/>
                </a:solidFill>
                <a:latin typeface="Arial MT"/>
                <a:cs typeface="Arial MT"/>
              </a:rPr>
              <a:t>A </a:t>
            </a:r>
            <a:r>
              <a:rPr sz="1100" spc="-60" dirty="0">
                <a:solidFill>
                  <a:srgbClr val="22373A"/>
                </a:solidFill>
                <a:latin typeface="Arial MT"/>
                <a:cs typeface="Arial MT"/>
              </a:rPr>
              <a:t>single</a:t>
            </a:r>
            <a:r>
              <a:rPr sz="1100" dirty="0">
                <a:solidFill>
                  <a:srgbClr val="22373A"/>
                </a:solidFill>
                <a:latin typeface="Arial MT"/>
                <a:cs typeface="Arial MT"/>
              </a:rPr>
              <a:t> </a:t>
            </a:r>
            <a:r>
              <a:rPr sz="1100" spc="-50" dirty="0">
                <a:solidFill>
                  <a:srgbClr val="22373A"/>
                </a:solidFill>
                <a:latin typeface="Arial MT"/>
                <a:cs typeface="Arial MT"/>
              </a:rPr>
              <a:t>SYN</a:t>
            </a:r>
            <a:r>
              <a:rPr sz="1100" dirty="0">
                <a:solidFill>
                  <a:srgbClr val="22373A"/>
                </a:solidFill>
                <a:latin typeface="Arial MT"/>
                <a:cs typeface="Arial MT"/>
              </a:rPr>
              <a:t> </a:t>
            </a:r>
            <a:r>
              <a:rPr sz="1100" spc="-45" dirty="0">
                <a:solidFill>
                  <a:srgbClr val="22373A"/>
                </a:solidFill>
                <a:latin typeface="Arial MT"/>
                <a:cs typeface="Arial MT"/>
              </a:rPr>
              <a:t>packet</a:t>
            </a:r>
            <a:r>
              <a:rPr sz="1100" dirty="0">
                <a:solidFill>
                  <a:srgbClr val="22373A"/>
                </a:solidFill>
                <a:latin typeface="Arial MT"/>
                <a:cs typeface="Arial MT"/>
              </a:rPr>
              <a:t> to</a:t>
            </a:r>
            <a:r>
              <a:rPr sz="1100" spc="5" dirty="0">
                <a:solidFill>
                  <a:srgbClr val="22373A"/>
                </a:solidFill>
                <a:latin typeface="Arial MT"/>
                <a:cs typeface="Arial MT"/>
              </a:rPr>
              <a:t> </a:t>
            </a:r>
            <a:r>
              <a:rPr sz="1100" dirty="0">
                <a:solidFill>
                  <a:srgbClr val="22373A"/>
                </a:solidFill>
                <a:latin typeface="Arial MT"/>
                <a:cs typeface="Arial MT"/>
              </a:rPr>
              <a:t>port </a:t>
            </a:r>
            <a:r>
              <a:rPr sz="1100" spc="-30" dirty="0">
                <a:solidFill>
                  <a:srgbClr val="22373A"/>
                </a:solidFill>
                <a:latin typeface="Arial MT"/>
                <a:cs typeface="Arial MT"/>
              </a:rPr>
              <a:t>21</a:t>
            </a:r>
            <a:r>
              <a:rPr sz="1100" dirty="0">
                <a:solidFill>
                  <a:srgbClr val="22373A"/>
                </a:solidFill>
                <a:latin typeface="Arial MT"/>
                <a:cs typeface="Arial MT"/>
              </a:rPr>
              <a:t> </a:t>
            </a:r>
            <a:r>
              <a:rPr sz="1100" spc="-50" dirty="0">
                <a:solidFill>
                  <a:srgbClr val="22373A"/>
                </a:solidFill>
                <a:latin typeface="Arial MT"/>
                <a:cs typeface="Arial MT"/>
              </a:rPr>
              <a:t>looks</a:t>
            </a:r>
            <a:r>
              <a:rPr sz="1100" dirty="0">
                <a:solidFill>
                  <a:srgbClr val="22373A"/>
                </a:solidFill>
                <a:latin typeface="Arial MT"/>
                <a:cs typeface="Arial MT"/>
              </a:rPr>
              <a:t> </a:t>
            </a:r>
            <a:r>
              <a:rPr sz="1100" spc="-35" dirty="0">
                <a:solidFill>
                  <a:srgbClr val="22373A"/>
                </a:solidFill>
                <a:latin typeface="Arial MT"/>
                <a:cs typeface="Arial MT"/>
              </a:rPr>
              <a:t>identical</a:t>
            </a:r>
            <a:r>
              <a:rPr sz="1100" dirty="0">
                <a:solidFill>
                  <a:srgbClr val="22373A"/>
                </a:solidFill>
                <a:latin typeface="Arial MT"/>
                <a:cs typeface="Arial MT"/>
              </a:rPr>
              <a:t> </a:t>
            </a:r>
            <a:r>
              <a:rPr sz="1100" spc="-10" dirty="0">
                <a:solidFill>
                  <a:srgbClr val="22373A"/>
                </a:solidFill>
                <a:latin typeface="Arial MT"/>
                <a:cs typeface="Arial MT"/>
              </a:rPr>
              <a:t>whether </a:t>
            </a:r>
            <a:r>
              <a:rPr sz="1100" dirty="0">
                <a:solidFill>
                  <a:srgbClr val="22373A"/>
                </a:solidFill>
                <a:latin typeface="Arial MT"/>
                <a:cs typeface="Arial MT"/>
              </a:rPr>
              <a:t>it</a:t>
            </a:r>
            <a:r>
              <a:rPr sz="1100" spc="-15" dirty="0">
                <a:solidFill>
                  <a:srgbClr val="22373A"/>
                </a:solidFill>
                <a:latin typeface="Arial MT"/>
                <a:cs typeface="Arial MT"/>
              </a:rPr>
              <a:t> </a:t>
            </a:r>
            <a:r>
              <a:rPr sz="1100" spc="-10" dirty="0">
                <a:solidFill>
                  <a:srgbClr val="22373A"/>
                </a:solidFill>
                <a:latin typeface="Arial MT"/>
                <a:cs typeface="Arial MT"/>
              </a:rPr>
              <a:t>is</a:t>
            </a:r>
            <a:r>
              <a:rPr sz="1100" spc="-5" dirty="0">
                <a:solidFill>
                  <a:srgbClr val="22373A"/>
                </a:solidFill>
                <a:latin typeface="Arial MT"/>
                <a:cs typeface="Arial MT"/>
              </a:rPr>
              <a:t> </a:t>
            </a:r>
            <a:r>
              <a:rPr sz="1100" spc="-75" dirty="0">
                <a:solidFill>
                  <a:srgbClr val="22373A"/>
                </a:solidFill>
                <a:latin typeface="Arial MT"/>
                <a:cs typeface="Arial MT"/>
              </a:rPr>
              <a:t>reconnaissance,</a:t>
            </a:r>
            <a:r>
              <a:rPr sz="1100" dirty="0">
                <a:solidFill>
                  <a:srgbClr val="22373A"/>
                </a:solidFill>
                <a:latin typeface="Arial MT"/>
                <a:cs typeface="Arial MT"/>
              </a:rPr>
              <a:t> </a:t>
            </a:r>
            <a:r>
              <a:rPr sz="1100" spc="-25" dirty="0">
                <a:solidFill>
                  <a:srgbClr val="22373A"/>
                </a:solidFill>
                <a:latin typeface="Arial MT"/>
                <a:cs typeface="Arial MT"/>
              </a:rPr>
              <a:t>brute</a:t>
            </a:r>
            <a:r>
              <a:rPr sz="1100" spc="-10" dirty="0">
                <a:solidFill>
                  <a:srgbClr val="22373A"/>
                </a:solidFill>
                <a:latin typeface="Arial MT"/>
                <a:cs typeface="Arial MT"/>
              </a:rPr>
              <a:t> </a:t>
            </a:r>
            <a:r>
              <a:rPr sz="1100" spc="-35" dirty="0">
                <a:solidFill>
                  <a:srgbClr val="22373A"/>
                </a:solidFill>
                <a:latin typeface="Arial MT"/>
                <a:cs typeface="Arial MT"/>
              </a:rPr>
              <a:t>force,</a:t>
            </a:r>
            <a:r>
              <a:rPr sz="1100" spc="-5" dirty="0">
                <a:solidFill>
                  <a:srgbClr val="22373A"/>
                </a:solidFill>
                <a:latin typeface="Arial MT"/>
                <a:cs typeface="Arial MT"/>
              </a:rPr>
              <a:t> </a:t>
            </a:r>
            <a:r>
              <a:rPr sz="1100" dirty="0">
                <a:solidFill>
                  <a:srgbClr val="22373A"/>
                </a:solidFill>
                <a:latin typeface="Arial MT"/>
                <a:cs typeface="Arial MT"/>
              </a:rPr>
              <a:t>or</a:t>
            </a:r>
            <a:r>
              <a:rPr sz="1100" spc="-5" dirty="0">
                <a:solidFill>
                  <a:srgbClr val="22373A"/>
                </a:solidFill>
                <a:latin typeface="Arial MT"/>
                <a:cs typeface="Arial MT"/>
              </a:rPr>
              <a:t> </a:t>
            </a:r>
            <a:r>
              <a:rPr sz="1100" dirty="0">
                <a:solidFill>
                  <a:srgbClr val="22373A"/>
                </a:solidFill>
                <a:latin typeface="Arial MT"/>
                <a:cs typeface="Arial MT"/>
              </a:rPr>
              <a:t>a</a:t>
            </a:r>
            <a:r>
              <a:rPr sz="1100" spc="-10" dirty="0">
                <a:solidFill>
                  <a:srgbClr val="22373A"/>
                </a:solidFill>
                <a:latin typeface="Arial MT"/>
                <a:cs typeface="Arial MT"/>
              </a:rPr>
              <a:t> </a:t>
            </a:r>
            <a:r>
              <a:rPr sz="1100" dirty="0">
                <a:solidFill>
                  <a:srgbClr val="22373A"/>
                </a:solidFill>
                <a:latin typeface="Arial MT"/>
                <a:cs typeface="Arial MT"/>
              </a:rPr>
              <a:t>botnet</a:t>
            </a:r>
            <a:r>
              <a:rPr sz="1100" spc="-5" dirty="0">
                <a:solidFill>
                  <a:srgbClr val="22373A"/>
                </a:solidFill>
                <a:latin typeface="Arial MT"/>
                <a:cs typeface="Arial MT"/>
              </a:rPr>
              <a:t> </a:t>
            </a:r>
            <a:r>
              <a:rPr sz="1100" spc="-10" dirty="0">
                <a:solidFill>
                  <a:srgbClr val="22373A"/>
                </a:solidFill>
                <a:latin typeface="Arial MT"/>
                <a:cs typeface="Arial MT"/>
              </a:rPr>
              <a:t>beacon.</a:t>
            </a:r>
            <a:endParaRPr sz="1100">
              <a:latin typeface="Arial MT"/>
              <a:cs typeface="Arial MT"/>
            </a:endParaRPr>
          </a:p>
          <a:p>
            <a:pPr marL="12700" marR="116839">
              <a:lnSpc>
                <a:spcPct val="118000"/>
              </a:lnSpc>
            </a:pPr>
            <a:r>
              <a:rPr sz="1100" b="1" dirty="0">
                <a:solidFill>
                  <a:srgbClr val="22373A"/>
                </a:solidFill>
                <a:latin typeface="Arial"/>
                <a:cs typeface="Arial"/>
              </a:rPr>
              <a:t>The</a:t>
            </a:r>
            <a:r>
              <a:rPr sz="1100" b="1" spc="5" dirty="0">
                <a:solidFill>
                  <a:srgbClr val="22373A"/>
                </a:solidFill>
                <a:latin typeface="Arial"/>
                <a:cs typeface="Arial"/>
              </a:rPr>
              <a:t> </a:t>
            </a:r>
            <a:r>
              <a:rPr sz="1100" b="1" spc="-10" dirty="0">
                <a:solidFill>
                  <a:srgbClr val="22373A"/>
                </a:solidFill>
                <a:latin typeface="Arial"/>
                <a:cs typeface="Arial"/>
              </a:rPr>
              <a:t>template</a:t>
            </a:r>
            <a:r>
              <a:rPr sz="1100" b="1" spc="25" dirty="0">
                <a:solidFill>
                  <a:srgbClr val="22373A"/>
                </a:solidFill>
                <a:latin typeface="Arial"/>
                <a:cs typeface="Arial"/>
              </a:rPr>
              <a:t> </a:t>
            </a:r>
            <a:r>
              <a:rPr sz="1100" b="1" spc="-40" dirty="0">
                <a:solidFill>
                  <a:srgbClr val="22373A"/>
                </a:solidFill>
                <a:latin typeface="Arial"/>
                <a:cs typeface="Arial"/>
              </a:rPr>
              <a:t>captures</a:t>
            </a:r>
            <a:r>
              <a:rPr sz="1100" b="1" spc="30" dirty="0">
                <a:solidFill>
                  <a:srgbClr val="22373A"/>
                </a:solidFill>
                <a:latin typeface="Arial"/>
                <a:cs typeface="Arial"/>
              </a:rPr>
              <a:t> </a:t>
            </a:r>
            <a:r>
              <a:rPr sz="1100" b="1" spc="-20" dirty="0">
                <a:solidFill>
                  <a:srgbClr val="22373A"/>
                </a:solidFill>
                <a:latin typeface="Arial"/>
                <a:cs typeface="Arial"/>
              </a:rPr>
              <a:t>flow</a:t>
            </a:r>
            <a:r>
              <a:rPr sz="1100" b="1" spc="25" dirty="0">
                <a:solidFill>
                  <a:srgbClr val="22373A"/>
                </a:solidFill>
                <a:latin typeface="Arial"/>
                <a:cs typeface="Arial"/>
              </a:rPr>
              <a:t> </a:t>
            </a:r>
            <a:r>
              <a:rPr sz="1100" b="1" spc="-35" dirty="0">
                <a:solidFill>
                  <a:srgbClr val="22373A"/>
                </a:solidFill>
                <a:latin typeface="Arial"/>
                <a:cs typeface="Arial"/>
              </a:rPr>
              <a:t>statistics</a:t>
            </a:r>
            <a:r>
              <a:rPr sz="1100" spc="-35" dirty="0">
                <a:solidFill>
                  <a:srgbClr val="22373A"/>
                </a:solidFill>
                <a:latin typeface="Arial MT"/>
                <a:cs typeface="Arial MT"/>
              </a:rPr>
              <a:t>,</a:t>
            </a:r>
            <a:r>
              <a:rPr sz="1100" spc="-5" dirty="0">
                <a:solidFill>
                  <a:srgbClr val="22373A"/>
                </a:solidFill>
                <a:latin typeface="Arial MT"/>
                <a:cs typeface="Arial MT"/>
              </a:rPr>
              <a:t> </a:t>
            </a:r>
            <a:r>
              <a:rPr sz="1100" dirty="0">
                <a:solidFill>
                  <a:srgbClr val="22373A"/>
                </a:solidFill>
                <a:latin typeface="Arial MT"/>
                <a:cs typeface="Arial MT"/>
              </a:rPr>
              <a:t>not </a:t>
            </a:r>
            <a:r>
              <a:rPr sz="1100" spc="-70" dirty="0">
                <a:solidFill>
                  <a:srgbClr val="22373A"/>
                </a:solidFill>
                <a:latin typeface="Arial MT"/>
                <a:cs typeface="Arial MT"/>
              </a:rPr>
              <a:t>payload</a:t>
            </a:r>
            <a:r>
              <a:rPr sz="1100" spc="-5" dirty="0">
                <a:solidFill>
                  <a:srgbClr val="22373A"/>
                </a:solidFill>
                <a:latin typeface="Arial MT"/>
                <a:cs typeface="Arial MT"/>
              </a:rPr>
              <a:t> </a:t>
            </a:r>
            <a:r>
              <a:rPr sz="1100" dirty="0">
                <a:solidFill>
                  <a:srgbClr val="22373A"/>
                </a:solidFill>
                <a:latin typeface="Arial MT"/>
                <a:cs typeface="Arial MT"/>
              </a:rPr>
              <a:t>or</a:t>
            </a:r>
            <a:r>
              <a:rPr sz="1100" spc="-5" dirty="0">
                <a:solidFill>
                  <a:srgbClr val="22373A"/>
                </a:solidFill>
                <a:latin typeface="Arial MT"/>
                <a:cs typeface="Arial MT"/>
              </a:rPr>
              <a:t> </a:t>
            </a:r>
            <a:r>
              <a:rPr sz="1100" spc="-20" dirty="0">
                <a:solidFill>
                  <a:srgbClr val="22373A"/>
                </a:solidFill>
                <a:latin typeface="Arial MT"/>
                <a:cs typeface="Arial MT"/>
              </a:rPr>
              <a:t>multi-</a:t>
            </a:r>
            <a:r>
              <a:rPr sz="1100" spc="-10" dirty="0">
                <a:solidFill>
                  <a:srgbClr val="22373A"/>
                </a:solidFill>
                <a:latin typeface="Arial MT"/>
                <a:cs typeface="Arial MT"/>
              </a:rPr>
              <a:t>flow</a:t>
            </a:r>
            <a:r>
              <a:rPr sz="1100" spc="-5" dirty="0">
                <a:solidFill>
                  <a:srgbClr val="22373A"/>
                </a:solidFill>
                <a:latin typeface="Arial MT"/>
                <a:cs typeface="Arial MT"/>
              </a:rPr>
              <a:t> </a:t>
            </a:r>
            <a:r>
              <a:rPr sz="1100" spc="-20" dirty="0">
                <a:solidFill>
                  <a:srgbClr val="22373A"/>
                </a:solidFill>
                <a:latin typeface="Arial MT"/>
                <a:cs typeface="Arial MT"/>
              </a:rPr>
              <a:t>state,</a:t>
            </a:r>
            <a:r>
              <a:rPr sz="1100" dirty="0">
                <a:solidFill>
                  <a:srgbClr val="22373A"/>
                </a:solidFill>
                <a:latin typeface="Arial MT"/>
                <a:cs typeface="Arial MT"/>
              </a:rPr>
              <a:t> </a:t>
            </a:r>
            <a:r>
              <a:rPr sz="1100" spc="-90" dirty="0">
                <a:solidFill>
                  <a:srgbClr val="22373A"/>
                </a:solidFill>
                <a:latin typeface="Arial MT"/>
                <a:cs typeface="Arial MT"/>
              </a:rPr>
              <a:t>so</a:t>
            </a:r>
            <a:r>
              <a:rPr sz="1100" spc="15" dirty="0">
                <a:solidFill>
                  <a:srgbClr val="22373A"/>
                </a:solidFill>
                <a:latin typeface="Arial MT"/>
                <a:cs typeface="Arial MT"/>
              </a:rPr>
              <a:t> </a:t>
            </a:r>
            <a:r>
              <a:rPr sz="1100" spc="-10" dirty="0">
                <a:solidFill>
                  <a:srgbClr val="22373A"/>
                </a:solidFill>
                <a:latin typeface="Arial MT"/>
                <a:cs typeface="Arial MT"/>
              </a:rPr>
              <a:t>minority </a:t>
            </a:r>
            <a:r>
              <a:rPr sz="1100" spc="-105" dirty="0">
                <a:solidFill>
                  <a:srgbClr val="22373A"/>
                </a:solidFill>
                <a:latin typeface="Arial MT"/>
                <a:cs typeface="Arial MT"/>
              </a:rPr>
              <a:t>classes</a:t>
            </a:r>
            <a:r>
              <a:rPr sz="1100" spc="30" dirty="0">
                <a:solidFill>
                  <a:srgbClr val="22373A"/>
                </a:solidFill>
                <a:latin typeface="Arial MT"/>
                <a:cs typeface="Arial MT"/>
              </a:rPr>
              <a:t> </a:t>
            </a:r>
            <a:r>
              <a:rPr sz="1100" spc="-65" dirty="0">
                <a:solidFill>
                  <a:srgbClr val="22373A"/>
                </a:solidFill>
                <a:latin typeface="Arial MT"/>
                <a:cs typeface="Arial MT"/>
              </a:rPr>
              <a:t>are</a:t>
            </a:r>
            <a:r>
              <a:rPr sz="1100" dirty="0">
                <a:solidFill>
                  <a:srgbClr val="22373A"/>
                </a:solidFill>
                <a:latin typeface="Arial MT"/>
                <a:cs typeface="Arial MT"/>
              </a:rPr>
              <a:t> </a:t>
            </a:r>
            <a:r>
              <a:rPr sz="1100" spc="-90" dirty="0">
                <a:solidFill>
                  <a:srgbClr val="22373A"/>
                </a:solidFill>
                <a:latin typeface="Arial MT"/>
                <a:cs typeface="Arial MT"/>
              </a:rPr>
              <a:t>missed</a:t>
            </a:r>
            <a:r>
              <a:rPr sz="1100" spc="15" dirty="0">
                <a:solidFill>
                  <a:srgbClr val="22373A"/>
                </a:solidFill>
                <a:latin typeface="Arial MT"/>
                <a:cs typeface="Arial MT"/>
              </a:rPr>
              <a:t> </a:t>
            </a:r>
            <a:r>
              <a:rPr sz="1100" spc="-20" dirty="0">
                <a:solidFill>
                  <a:srgbClr val="22373A"/>
                </a:solidFill>
                <a:latin typeface="Arial MT"/>
                <a:cs typeface="Arial MT"/>
              </a:rPr>
              <a:t>by</a:t>
            </a:r>
            <a:r>
              <a:rPr sz="1100" spc="15" dirty="0">
                <a:solidFill>
                  <a:srgbClr val="22373A"/>
                </a:solidFill>
                <a:latin typeface="Arial MT"/>
                <a:cs typeface="Arial MT"/>
              </a:rPr>
              <a:t> </a:t>
            </a:r>
            <a:r>
              <a:rPr sz="1100" spc="-70" dirty="0">
                <a:solidFill>
                  <a:srgbClr val="22373A"/>
                </a:solidFill>
                <a:latin typeface="Arial MT"/>
                <a:cs typeface="Arial MT"/>
              </a:rPr>
              <a:t>every</a:t>
            </a:r>
            <a:r>
              <a:rPr sz="1100" spc="15" dirty="0">
                <a:solidFill>
                  <a:srgbClr val="22373A"/>
                </a:solidFill>
                <a:latin typeface="Arial MT"/>
                <a:cs typeface="Arial MT"/>
              </a:rPr>
              <a:t> </a:t>
            </a:r>
            <a:r>
              <a:rPr sz="1100" spc="-10" dirty="0">
                <a:solidFill>
                  <a:srgbClr val="22373A"/>
                </a:solidFill>
                <a:latin typeface="Arial MT"/>
                <a:cs typeface="Arial MT"/>
              </a:rPr>
              <a:t>model.</a:t>
            </a:r>
            <a:endParaRPr sz="1100">
              <a:latin typeface="Arial MT"/>
              <a:cs typeface="Arial MT"/>
            </a:endParaRPr>
          </a:p>
          <a:p>
            <a:pPr marL="12700" marR="5080">
              <a:lnSpc>
                <a:spcPct val="118000"/>
              </a:lnSpc>
              <a:spcBef>
                <a:spcPts val="1200"/>
              </a:spcBef>
            </a:pPr>
            <a:r>
              <a:rPr sz="1100" b="1" dirty="0">
                <a:solidFill>
                  <a:srgbClr val="22373A"/>
                </a:solidFill>
                <a:latin typeface="Arial"/>
                <a:cs typeface="Arial"/>
              </a:rPr>
              <a:t>The</a:t>
            </a:r>
            <a:r>
              <a:rPr sz="1100" b="1" spc="25" dirty="0">
                <a:solidFill>
                  <a:srgbClr val="22373A"/>
                </a:solidFill>
                <a:latin typeface="Arial"/>
                <a:cs typeface="Arial"/>
              </a:rPr>
              <a:t> </a:t>
            </a:r>
            <a:r>
              <a:rPr sz="1100" b="1" spc="-55" dirty="0">
                <a:solidFill>
                  <a:srgbClr val="22373A"/>
                </a:solidFill>
                <a:latin typeface="Arial"/>
                <a:cs typeface="Arial"/>
              </a:rPr>
              <a:t>evidence</a:t>
            </a:r>
            <a:r>
              <a:rPr sz="1100" b="1" spc="25" dirty="0">
                <a:solidFill>
                  <a:srgbClr val="22373A"/>
                </a:solidFill>
                <a:latin typeface="Arial"/>
                <a:cs typeface="Arial"/>
              </a:rPr>
              <a:t> </a:t>
            </a:r>
            <a:r>
              <a:rPr sz="1100" b="1" spc="-25" dirty="0">
                <a:solidFill>
                  <a:srgbClr val="22373A"/>
                </a:solidFill>
                <a:latin typeface="Arial"/>
                <a:cs typeface="Arial"/>
              </a:rPr>
              <a:t>is</a:t>
            </a:r>
            <a:r>
              <a:rPr sz="1100" b="1" spc="25" dirty="0">
                <a:solidFill>
                  <a:srgbClr val="22373A"/>
                </a:solidFill>
                <a:latin typeface="Arial"/>
                <a:cs typeface="Arial"/>
              </a:rPr>
              <a:t> </a:t>
            </a:r>
            <a:r>
              <a:rPr sz="1100" b="1" spc="-30" dirty="0">
                <a:solidFill>
                  <a:srgbClr val="22373A"/>
                </a:solidFill>
                <a:latin typeface="Arial"/>
                <a:cs typeface="Arial"/>
              </a:rPr>
              <a:t>narrow.</a:t>
            </a:r>
            <a:r>
              <a:rPr sz="1100" b="1" spc="95" dirty="0">
                <a:solidFill>
                  <a:srgbClr val="22373A"/>
                </a:solidFill>
                <a:latin typeface="Arial"/>
                <a:cs typeface="Arial"/>
              </a:rPr>
              <a:t> </a:t>
            </a:r>
            <a:r>
              <a:rPr sz="1100" spc="-45" dirty="0">
                <a:solidFill>
                  <a:srgbClr val="22373A"/>
                </a:solidFill>
                <a:latin typeface="Arial MT"/>
                <a:cs typeface="Arial MT"/>
              </a:rPr>
              <a:t>Two</a:t>
            </a:r>
            <a:r>
              <a:rPr sz="1100" spc="-10" dirty="0">
                <a:solidFill>
                  <a:srgbClr val="22373A"/>
                </a:solidFill>
                <a:latin typeface="Arial MT"/>
                <a:cs typeface="Arial MT"/>
              </a:rPr>
              <a:t> </a:t>
            </a:r>
            <a:r>
              <a:rPr sz="1100" spc="-50" dirty="0">
                <a:solidFill>
                  <a:srgbClr val="22373A"/>
                </a:solidFill>
                <a:latin typeface="Arial MT"/>
                <a:cs typeface="Arial MT"/>
              </a:rPr>
              <a:t>environments,</a:t>
            </a:r>
            <a:r>
              <a:rPr sz="1100" spc="-5" dirty="0">
                <a:solidFill>
                  <a:srgbClr val="22373A"/>
                </a:solidFill>
                <a:latin typeface="Arial MT"/>
                <a:cs typeface="Arial MT"/>
              </a:rPr>
              <a:t> </a:t>
            </a:r>
            <a:r>
              <a:rPr sz="1100" dirty="0">
                <a:solidFill>
                  <a:srgbClr val="22373A"/>
                </a:solidFill>
                <a:latin typeface="Arial MT"/>
                <a:cs typeface="Arial MT"/>
              </a:rPr>
              <a:t>a</a:t>
            </a:r>
            <a:r>
              <a:rPr sz="1100" spc="-5" dirty="0">
                <a:solidFill>
                  <a:srgbClr val="22373A"/>
                </a:solidFill>
                <a:latin typeface="Arial MT"/>
                <a:cs typeface="Arial MT"/>
              </a:rPr>
              <a:t> </a:t>
            </a:r>
            <a:r>
              <a:rPr sz="1100" spc="-55" dirty="0">
                <a:solidFill>
                  <a:srgbClr val="22373A"/>
                </a:solidFill>
                <a:latin typeface="Arial MT"/>
                <a:cs typeface="Arial MT"/>
              </a:rPr>
              <a:t>small</a:t>
            </a:r>
            <a:r>
              <a:rPr sz="1100" spc="-10" dirty="0">
                <a:solidFill>
                  <a:srgbClr val="22373A"/>
                </a:solidFill>
                <a:latin typeface="Arial MT"/>
                <a:cs typeface="Arial MT"/>
              </a:rPr>
              <a:t> </a:t>
            </a:r>
            <a:r>
              <a:rPr sz="1100" spc="-65" dirty="0">
                <a:solidFill>
                  <a:srgbClr val="22373A"/>
                </a:solidFill>
                <a:latin typeface="Arial MT"/>
                <a:cs typeface="Arial MT"/>
              </a:rPr>
              <a:t>slice</a:t>
            </a:r>
            <a:r>
              <a:rPr sz="1100" spc="-10" dirty="0">
                <a:solidFill>
                  <a:srgbClr val="22373A"/>
                </a:solidFill>
                <a:latin typeface="Arial MT"/>
                <a:cs typeface="Arial MT"/>
              </a:rPr>
              <a:t> </a:t>
            </a:r>
            <a:r>
              <a:rPr sz="1100" dirty="0">
                <a:solidFill>
                  <a:srgbClr val="22373A"/>
                </a:solidFill>
                <a:latin typeface="Arial MT"/>
                <a:cs typeface="Arial MT"/>
              </a:rPr>
              <a:t>of</a:t>
            </a:r>
            <a:r>
              <a:rPr sz="1100" spc="-5" dirty="0">
                <a:solidFill>
                  <a:srgbClr val="22373A"/>
                </a:solidFill>
                <a:latin typeface="Arial MT"/>
                <a:cs typeface="Arial MT"/>
              </a:rPr>
              <a:t> </a:t>
            </a:r>
            <a:r>
              <a:rPr sz="1100" dirty="0">
                <a:solidFill>
                  <a:srgbClr val="22373A"/>
                </a:solidFill>
                <a:latin typeface="Arial MT"/>
                <a:cs typeface="Arial MT"/>
              </a:rPr>
              <a:t>ATT&amp;CK,</a:t>
            </a:r>
            <a:r>
              <a:rPr sz="1100" spc="-10" dirty="0">
                <a:solidFill>
                  <a:srgbClr val="22373A"/>
                </a:solidFill>
                <a:latin typeface="Arial MT"/>
                <a:cs typeface="Arial MT"/>
              </a:rPr>
              <a:t> </a:t>
            </a:r>
            <a:r>
              <a:rPr sz="1100" spc="-65" dirty="0">
                <a:solidFill>
                  <a:srgbClr val="22373A"/>
                </a:solidFill>
                <a:latin typeface="Arial MT"/>
                <a:cs typeface="Arial MT"/>
              </a:rPr>
              <a:t>and</a:t>
            </a:r>
            <a:r>
              <a:rPr sz="1100" spc="-5" dirty="0">
                <a:solidFill>
                  <a:srgbClr val="22373A"/>
                </a:solidFill>
                <a:latin typeface="Arial MT"/>
                <a:cs typeface="Arial MT"/>
              </a:rPr>
              <a:t> </a:t>
            </a:r>
            <a:r>
              <a:rPr sz="1100" spc="-10" dirty="0">
                <a:solidFill>
                  <a:srgbClr val="22373A"/>
                </a:solidFill>
                <a:latin typeface="Arial MT"/>
                <a:cs typeface="Arial MT"/>
              </a:rPr>
              <a:t>grounding </a:t>
            </a:r>
            <a:r>
              <a:rPr sz="1100" spc="-35" dirty="0">
                <a:solidFill>
                  <a:srgbClr val="22373A"/>
                </a:solidFill>
                <a:latin typeface="Arial MT"/>
                <a:cs typeface="Arial MT"/>
              </a:rPr>
              <a:t>metrics</a:t>
            </a:r>
            <a:r>
              <a:rPr sz="1100" spc="-20" dirty="0">
                <a:solidFill>
                  <a:srgbClr val="22373A"/>
                </a:solidFill>
                <a:latin typeface="Arial MT"/>
                <a:cs typeface="Arial MT"/>
              </a:rPr>
              <a:t> </a:t>
            </a:r>
            <a:r>
              <a:rPr sz="1100" dirty="0">
                <a:solidFill>
                  <a:srgbClr val="22373A"/>
                </a:solidFill>
                <a:latin typeface="Arial MT"/>
                <a:cs typeface="Arial MT"/>
              </a:rPr>
              <a:t>that</a:t>
            </a:r>
            <a:r>
              <a:rPr sz="1100" spc="-5" dirty="0">
                <a:solidFill>
                  <a:srgbClr val="22373A"/>
                </a:solidFill>
                <a:latin typeface="Arial MT"/>
                <a:cs typeface="Arial MT"/>
              </a:rPr>
              <a:t> </a:t>
            </a:r>
            <a:r>
              <a:rPr sz="1100" spc="-90" dirty="0">
                <a:solidFill>
                  <a:srgbClr val="22373A"/>
                </a:solidFill>
                <a:latin typeface="Arial MT"/>
                <a:cs typeface="Arial MT"/>
              </a:rPr>
              <a:t>measure</a:t>
            </a:r>
            <a:r>
              <a:rPr sz="1100" spc="15" dirty="0">
                <a:solidFill>
                  <a:srgbClr val="22373A"/>
                </a:solidFill>
                <a:latin typeface="Arial MT"/>
                <a:cs typeface="Arial MT"/>
              </a:rPr>
              <a:t> </a:t>
            </a:r>
            <a:r>
              <a:rPr sz="1100" spc="-25" dirty="0">
                <a:solidFill>
                  <a:srgbClr val="22373A"/>
                </a:solidFill>
                <a:latin typeface="Arial MT"/>
                <a:cs typeface="Arial MT"/>
              </a:rPr>
              <a:t>similarity</a:t>
            </a:r>
            <a:r>
              <a:rPr sz="1100" dirty="0">
                <a:solidFill>
                  <a:srgbClr val="22373A"/>
                </a:solidFill>
                <a:latin typeface="Arial MT"/>
                <a:cs typeface="Arial MT"/>
              </a:rPr>
              <a:t> </a:t>
            </a:r>
            <a:r>
              <a:rPr sz="1100" spc="-20" dirty="0">
                <a:solidFill>
                  <a:srgbClr val="22373A"/>
                </a:solidFill>
                <a:latin typeface="Arial MT"/>
                <a:cs typeface="Arial MT"/>
              </a:rPr>
              <a:t>rather</a:t>
            </a:r>
            <a:r>
              <a:rPr sz="1100" dirty="0">
                <a:solidFill>
                  <a:srgbClr val="22373A"/>
                </a:solidFill>
                <a:latin typeface="Arial MT"/>
                <a:cs typeface="Arial MT"/>
              </a:rPr>
              <a:t> </a:t>
            </a:r>
            <a:r>
              <a:rPr sz="1100" spc="-10" dirty="0">
                <a:solidFill>
                  <a:srgbClr val="22373A"/>
                </a:solidFill>
                <a:latin typeface="Arial MT"/>
                <a:cs typeface="Arial MT"/>
              </a:rPr>
              <a:t>than</a:t>
            </a:r>
            <a:r>
              <a:rPr sz="1100" spc="-5" dirty="0">
                <a:solidFill>
                  <a:srgbClr val="22373A"/>
                </a:solidFill>
                <a:latin typeface="Arial MT"/>
                <a:cs typeface="Arial MT"/>
              </a:rPr>
              <a:t> </a:t>
            </a:r>
            <a:r>
              <a:rPr sz="1100" spc="-20" dirty="0">
                <a:solidFill>
                  <a:srgbClr val="22373A"/>
                </a:solidFill>
                <a:latin typeface="Arial MT"/>
                <a:cs typeface="Arial MT"/>
              </a:rPr>
              <a:t>factual</a:t>
            </a:r>
            <a:r>
              <a:rPr sz="1100" dirty="0">
                <a:solidFill>
                  <a:srgbClr val="22373A"/>
                </a:solidFill>
                <a:latin typeface="Arial MT"/>
                <a:cs typeface="Arial MT"/>
              </a:rPr>
              <a:t> </a:t>
            </a:r>
            <a:r>
              <a:rPr sz="1100" spc="-10" dirty="0">
                <a:solidFill>
                  <a:srgbClr val="22373A"/>
                </a:solidFill>
                <a:latin typeface="Arial MT"/>
                <a:cs typeface="Arial MT"/>
              </a:rPr>
              <a:t>accuracy.</a:t>
            </a:r>
            <a:endParaRPr sz="1100">
              <a:latin typeface="Arial MT"/>
              <a:cs typeface="Arial MT"/>
            </a:endParaRPr>
          </a:p>
        </p:txBody>
      </p:sp>
      <p:sp>
        <p:nvSpPr>
          <p:cNvPr id="8" name="object 8"/>
          <p:cNvSpPr/>
          <p:nvPr/>
        </p:nvSpPr>
        <p:spPr>
          <a:xfrm>
            <a:off x="359994" y="2366340"/>
            <a:ext cx="5039995" cy="0"/>
          </a:xfrm>
          <a:custGeom>
            <a:avLst/>
            <a:gdLst/>
            <a:ahLst/>
            <a:cxnLst/>
            <a:rect l="l" t="t" r="r" b="b"/>
            <a:pathLst>
              <a:path w="5039995">
                <a:moveTo>
                  <a:pt x="0" y="0"/>
                </a:moveTo>
                <a:lnTo>
                  <a:pt x="5039995" y="0"/>
                </a:lnTo>
              </a:path>
            </a:pathLst>
          </a:custGeom>
          <a:ln w="7594">
            <a:solidFill>
              <a:srgbClr val="2D7DB8"/>
            </a:solidFill>
          </a:ln>
        </p:spPr>
        <p:txBody>
          <a:bodyPr wrap="square" lIns="0" tIns="0" rIns="0" bIns="0" rtlCol="0"/>
          <a:lstStyle/>
          <a:p>
            <a:endParaRPr/>
          </a:p>
        </p:txBody>
      </p:sp>
      <p:sp>
        <p:nvSpPr>
          <p:cNvPr id="9" name="object 9"/>
          <p:cNvSpPr txBox="1"/>
          <p:nvPr/>
        </p:nvSpPr>
        <p:spPr>
          <a:xfrm>
            <a:off x="347294" y="2516078"/>
            <a:ext cx="1085850" cy="177800"/>
          </a:xfrm>
          <a:prstGeom prst="rect">
            <a:avLst/>
          </a:prstGeom>
        </p:spPr>
        <p:txBody>
          <a:bodyPr vert="horz" wrap="square" lIns="0" tIns="12065" rIns="0" bIns="0" rtlCol="0">
            <a:spAutoFit/>
          </a:bodyPr>
          <a:lstStyle/>
          <a:p>
            <a:pPr marL="12700">
              <a:lnSpc>
                <a:spcPct val="100000"/>
              </a:lnSpc>
              <a:spcBef>
                <a:spcPts val="95"/>
              </a:spcBef>
            </a:pPr>
            <a:r>
              <a:rPr sz="1000" dirty="0">
                <a:solidFill>
                  <a:srgbClr val="22373A"/>
                </a:solidFill>
                <a:latin typeface="Arial MT"/>
                <a:cs typeface="Arial MT"/>
              </a:rPr>
              <a:t>Both</a:t>
            </a:r>
            <a:r>
              <a:rPr sz="1000" spc="-20" dirty="0">
                <a:solidFill>
                  <a:srgbClr val="22373A"/>
                </a:solidFill>
                <a:latin typeface="Arial MT"/>
                <a:cs typeface="Arial MT"/>
              </a:rPr>
              <a:t> </a:t>
            </a:r>
            <a:r>
              <a:rPr sz="1000" spc="-50" dirty="0">
                <a:solidFill>
                  <a:srgbClr val="22373A"/>
                </a:solidFill>
                <a:latin typeface="Arial MT"/>
                <a:cs typeface="Arial MT"/>
              </a:rPr>
              <a:t>are</a:t>
            </a:r>
            <a:r>
              <a:rPr sz="1000" spc="-15" dirty="0">
                <a:solidFill>
                  <a:srgbClr val="22373A"/>
                </a:solidFill>
                <a:latin typeface="Arial MT"/>
                <a:cs typeface="Arial MT"/>
              </a:rPr>
              <a:t> </a:t>
            </a:r>
            <a:r>
              <a:rPr sz="1000" dirty="0">
                <a:solidFill>
                  <a:srgbClr val="22373A"/>
                </a:solidFill>
                <a:latin typeface="Arial MT"/>
                <a:cs typeface="Arial MT"/>
              </a:rPr>
              <a:t>data</a:t>
            </a:r>
            <a:r>
              <a:rPr sz="1000" spc="-15" dirty="0">
                <a:solidFill>
                  <a:srgbClr val="22373A"/>
                </a:solidFill>
                <a:latin typeface="Arial MT"/>
                <a:cs typeface="Arial MT"/>
              </a:rPr>
              <a:t> </a:t>
            </a:r>
            <a:r>
              <a:rPr sz="1000" spc="-10" dirty="0">
                <a:solidFill>
                  <a:srgbClr val="22373A"/>
                </a:solidFill>
                <a:latin typeface="Arial MT"/>
                <a:cs typeface="Arial MT"/>
              </a:rPr>
              <a:t>limits</a:t>
            </a:r>
            <a:endParaRPr sz="1000">
              <a:latin typeface="Arial MT"/>
              <a:cs typeface="Arial MT"/>
            </a:endParaRPr>
          </a:p>
        </p:txBody>
      </p:sp>
      <p:pic>
        <p:nvPicPr>
          <p:cNvPr id="10" name="object 10"/>
          <p:cNvPicPr/>
          <p:nvPr/>
        </p:nvPicPr>
        <p:blipFill>
          <a:blip r:embed="rId3" cstate="print"/>
          <a:stretch>
            <a:fillRect/>
          </a:stretch>
        </p:blipFill>
        <p:spPr>
          <a:xfrm>
            <a:off x="101282" y="2998905"/>
            <a:ext cx="241983" cy="187117"/>
          </a:xfrm>
          <a:prstGeom prst="rect">
            <a:avLst/>
          </a:prstGeom>
        </p:spPr>
      </p:pic>
      <p:pic>
        <p:nvPicPr>
          <p:cNvPr id="11" name="object 11"/>
          <p:cNvPicPr/>
          <p:nvPr/>
        </p:nvPicPr>
        <p:blipFill>
          <a:blip r:embed="rId4" cstate="print"/>
          <a:stretch>
            <a:fillRect/>
          </a:stretch>
        </p:blipFill>
        <p:spPr>
          <a:xfrm>
            <a:off x="433285" y="2998965"/>
            <a:ext cx="187057" cy="187057"/>
          </a:xfrm>
          <a:prstGeom prst="rect">
            <a:avLst/>
          </a:prstGeom>
        </p:spPr>
      </p:pic>
      <p:pic>
        <p:nvPicPr>
          <p:cNvPr id="12" name="object 12"/>
          <p:cNvPicPr/>
          <p:nvPr/>
        </p:nvPicPr>
        <p:blipFill>
          <a:blip r:embed="rId5" cstate="print"/>
          <a:stretch>
            <a:fillRect/>
          </a:stretch>
        </p:blipFill>
        <p:spPr>
          <a:xfrm>
            <a:off x="710349" y="2998815"/>
            <a:ext cx="187208" cy="187208"/>
          </a:xfrm>
          <a:prstGeom prst="rect">
            <a:avLst/>
          </a:prstGeom>
        </p:spPr>
      </p:pic>
      <p:sp>
        <p:nvSpPr>
          <p:cNvPr id="13" name="object 13"/>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26</a:t>
            </a:r>
            <a:r>
              <a:rPr spc="-80" dirty="0"/>
              <a:t> </a:t>
            </a:r>
            <a:r>
              <a:rPr spc="195" dirty="0"/>
              <a:t>/</a:t>
            </a:r>
            <a:r>
              <a:rPr spc="-75" dirty="0"/>
              <a:t> </a:t>
            </a:r>
            <a:r>
              <a:rPr spc="-25" dirty="0"/>
              <a:t>32</a:t>
            </a:r>
          </a:p>
        </p:txBody>
      </p:sp>
    </p:spTree>
  </p:cSld>
  <p:clrMapOvr>
    <a:masterClrMapping/>
  </p:clrMapOvr>
  <p:transition>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30" dirty="0"/>
              <a:t>Contributions</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5040630" cy="5080"/>
            </a:xfrm>
            <a:custGeom>
              <a:avLst/>
              <a:gdLst/>
              <a:ahLst/>
              <a:cxnLst/>
              <a:rect l="l" t="t" r="r" b="b"/>
              <a:pathLst>
                <a:path w="5040630" h="5079">
                  <a:moveTo>
                    <a:pt x="0" y="5060"/>
                  </a:moveTo>
                  <a:lnTo>
                    <a:pt x="0" y="0"/>
                  </a:lnTo>
                  <a:lnTo>
                    <a:pt x="5040064" y="0"/>
                  </a:lnTo>
                  <a:lnTo>
                    <a:pt x="5040064" y="5060"/>
                  </a:lnTo>
                  <a:lnTo>
                    <a:pt x="0" y="5060"/>
                  </a:lnTo>
                  <a:close/>
                </a:path>
              </a:pathLst>
            </a:custGeom>
            <a:solidFill>
              <a:srgbClr val="2D7DB8"/>
            </a:solidFill>
          </p:spPr>
          <p:txBody>
            <a:bodyPr wrap="square" lIns="0" tIns="0" rIns="0" bIns="0" rtlCol="0"/>
            <a:lstStyle/>
            <a:p>
              <a:endParaRPr/>
            </a:p>
          </p:txBody>
        </p:sp>
      </p:grpSp>
      <p:sp>
        <p:nvSpPr>
          <p:cNvPr id="7" name="object 7"/>
          <p:cNvSpPr txBox="1"/>
          <p:nvPr/>
        </p:nvSpPr>
        <p:spPr>
          <a:xfrm>
            <a:off x="347294" y="839086"/>
            <a:ext cx="5064125" cy="619913"/>
          </a:xfrm>
          <a:prstGeom prst="rect">
            <a:avLst/>
          </a:prstGeom>
        </p:spPr>
        <p:txBody>
          <a:bodyPr vert="horz" wrap="square" lIns="0" tIns="12700" rIns="0" bIns="0" rtlCol="0">
            <a:spAutoFit/>
          </a:bodyPr>
          <a:lstStyle/>
          <a:p>
            <a:pPr marL="12700" marR="5080">
              <a:lnSpc>
                <a:spcPct val="118000"/>
              </a:lnSpc>
              <a:spcBef>
                <a:spcPts val="100"/>
              </a:spcBef>
            </a:pPr>
            <a:r>
              <a:rPr sz="1100" b="1" spc="-10" dirty="0">
                <a:solidFill>
                  <a:srgbClr val="22373A"/>
                </a:solidFill>
                <a:latin typeface="Arial"/>
                <a:cs typeface="Arial"/>
              </a:rPr>
              <a:t>Architectural</a:t>
            </a:r>
            <a:r>
              <a:rPr lang="en-GB" sz="1100" b="1" spc="-10" dirty="0">
                <a:solidFill>
                  <a:srgbClr val="22373A"/>
                </a:solidFill>
                <a:latin typeface="Arial"/>
                <a:cs typeface="Arial"/>
              </a:rPr>
              <a:t>: </a:t>
            </a:r>
            <a:r>
              <a:rPr lang="en-GB" sz="1100" spc="-10" dirty="0">
                <a:solidFill>
                  <a:srgbClr val="22373A"/>
                </a:solidFill>
                <a:latin typeface="Arial"/>
                <a:cs typeface="Arial"/>
              </a:rPr>
              <a:t>proposes a pipeline based on grouping logs. </a:t>
            </a:r>
            <a:r>
              <a:rPr sz="1100" b="1" spc="90" dirty="0">
                <a:solidFill>
                  <a:srgbClr val="22373A"/>
                </a:solidFill>
                <a:latin typeface="Arial"/>
                <a:cs typeface="Arial"/>
              </a:rPr>
              <a:t> </a:t>
            </a:r>
            <a:endParaRPr lang="en-GB" sz="1100" b="1" spc="90" dirty="0">
              <a:solidFill>
                <a:srgbClr val="22373A"/>
              </a:solidFill>
              <a:latin typeface="Arial"/>
              <a:cs typeface="Arial"/>
            </a:endParaRPr>
          </a:p>
          <a:p>
            <a:pPr marL="12700" marR="5080">
              <a:lnSpc>
                <a:spcPct val="118000"/>
              </a:lnSpc>
              <a:spcBef>
                <a:spcPts val="100"/>
              </a:spcBef>
            </a:pPr>
            <a:endParaRPr lang="en-GB" sz="1100" b="1" spc="90" dirty="0">
              <a:solidFill>
                <a:srgbClr val="22373A"/>
              </a:solidFill>
              <a:latin typeface="Arial"/>
              <a:cs typeface="Arial"/>
            </a:endParaRPr>
          </a:p>
          <a:p>
            <a:pPr marL="12700" marR="5080">
              <a:lnSpc>
                <a:spcPct val="118000"/>
              </a:lnSpc>
              <a:spcBef>
                <a:spcPts val="100"/>
              </a:spcBef>
            </a:pPr>
            <a:r>
              <a:rPr sz="1100" b="1" spc="-10" dirty="0" err="1">
                <a:solidFill>
                  <a:srgbClr val="22373A"/>
                </a:solidFill>
                <a:latin typeface="Arial"/>
                <a:cs typeface="Arial"/>
              </a:rPr>
              <a:t>Empirica</a:t>
            </a:r>
            <a:r>
              <a:rPr lang="en-GB" sz="1100" b="1" spc="-10" dirty="0">
                <a:solidFill>
                  <a:srgbClr val="22373A"/>
                </a:solidFill>
                <a:latin typeface="Arial"/>
                <a:cs typeface="Arial"/>
              </a:rPr>
              <a:t>l &amp; </a:t>
            </a:r>
            <a:r>
              <a:rPr sz="1100" b="1" spc="-20" dirty="0">
                <a:solidFill>
                  <a:srgbClr val="22373A"/>
                </a:solidFill>
                <a:latin typeface="Arial"/>
                <a:cs typeface="Arial"/>
              </a:rPr>
              <a:t>Evaluative</a:t>
            </a:r>
            <a:r>
              <a:rPr lang="en-GB" sz="1100" b="1" spc="-20" dirty="0">
                <a:solidFill>
                  <a:srgbClr val="22373A"/>
                </a:solidFill>
                <a:latin typeface="Arial"/>
                <a:cs typeface="Arial"/>
              </a:rPr>
              <a:t>: </a:t>
            </a:r>
            <a:r>
              <a:rPr lang="en-GB" sz="1100" spc="-20" dirty="0">
                <a:solidFill>
                  <a:srgbClr val="22373A"/>
                </a:solidFill>
                <a:latin typeface="Arial"/>
                <a:cs typeface="Arial"/>
              </a:rPr>
              <a:t>proceeds to compare pipeline performances</a:t>
            </a:r>
            <a:endParaRPr sz="1100" dirty="0">
              <a:latin typeface="Arial MT"/>
              <a:cs typeface="Arial MT"/>
            </a:endParaRPr>
          </a:p>
        </p:txBody>
      </p:sp>
      <p:pic>
        <p:nvPicPr>
          <p:cNvPr id="8" name="object 8"/>
          <p:cNvPicPr/>
          <p:nvPr/>
        </p:nvPicPr>
        <p:blipFill>
          <a:blip r:embed="rId3" cstate="print"/>
          <a:stretch>
            <a:fillRect/>
          </a:stretch>
        </p:blipFill>
        <p:spPr>
          <a:xfrm>
            <a:off x="101282" y="2998905"/>
            <a:ext cx="241983" cy="187117"/>
          </a:xfrm>
          <a:prstGeom prst="rect">
            <a:avLst/>
          </a:prstGeom>
        </p:spPr>
      </p:pic>
      <p:pic>
        <p:nvPicPr>
          <p:cNvPr id="9" name="object 9"/>
          <p:cNvPicPr/>
          <p:nvPr/>
        </p:nvPicPr>
        <p:blipFill>
          <a:blip r:embed="rId4" cstate="print"/>
          <a:stretch>
            <a:fillRect/>
          </a:stretch>
        </p:blipFill>
        <p:spPr>
          <a:xfrm>
            <a:off x="433285" y="2998965"/>
            <a:ext cx="187057" cy="187057"/>
          </a:xfrm>
          <a:prstGeom prst="rect">
            <a:avLst/>
          </a:prstGeom>
        </p:spPr>
      </p:pic>
      <p:pic>
        <p:nvPicPr>
          <p:cNvPr id="10" name="object 10"/>
          <p:cNvPicPr/>
          <p:nvPr/>
        </p:nvPicPr>
        <p:blipFill>
          <a:blip r:embed="rId5" cstate="print"/>
          <a:stretch>
            <a:fillRect/>
          </a:stretch>
        </p:blipFill>
        <p:spPr>
          <a:xfrm>
            <a:off x="710349" y="2998815"/>
            <a:ext cx="187208" cy="187208"/>
          </a:xfrm>
          <a:prstGeom prst="rect">
            <a:avLst/>
          </a:prstGeom>
        </p:spPr>
      </p:pic>
      <p:sp>
        <p:nvSpPr>
          <p:cNvPr id="11" name="object 11"/>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28</a:t>
            </a:r>
            <a:r>
              <a:rPr spc="-80" dirty="0"/>
              <a:t> </a:t>
            </a:r>
            <a:r>
              <a:rPr spc="195" dirty="0"/>
              <a:t>/</a:t>
            </a:r>
            <a:r>
              <a:rPr spc="-75" dirty="0"/>
              <a:t> </a:t>
            </a:r>
            <a:r>
              <a:rPr spc="-25" dirty="0"/>
              <a:t>32</a:t>
            </a:r>
          </a:p>
        </p:txBody>
      </p:sp>
    </p:spTree>
  </p:cSld>
  <p:clrMapOvr>
    <a:masterClrMapping/>
  </p:clrMapOvr>
  <p:transition>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65" dirty="0"/>
              <a:t>Conclusions</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5220335" cy="5080"/>
            </a:xfrm>
            <a:custGeom>
              <a:avLst/>
              <a:gdLst/>
              <a:ahLst/>
              <a:cxnLst/>
              <a:rect l="l" t="t" r="r" b="b"/>
              <a:pathLst>
                <a:path w="5220335" h="5079">
                  <a:moveTo>
                    <a:pt x="0" y="5060"/>
                  </a:moveTo>
                  <a:lnTo>
                    <a:pt x="0" y="0"/>
                  </a:lnTo>
                  <a:lnTo>
                    <a:pt x="5220067" y="0"/>
                  </a:lnTo>
                  <a:lnTo>
                    <a:pt x="5220067" y="5060"/>
                  </a:lnTo>
                  <a:lnTo>
                    <a:pt x="0" y="5060"/>
                  </a:lnTo>
                  <a:close/>
                </a:path>
              </a:pathLst>
            </a:custGeom>
            <a:solidFill>
              <a:srgbClr val="2D7DB8"/>
            </a:solidFill>
          </p:spPr>
          <p:txBody>
            <a:bodyPr wrap="square" lIns="0" tIns="0" rIns="0" bIns="0" rtlCol="0"/>
            <a:lstStyle/>
            <a:p>
              <a:endParaRPr/>
            </a:p>
          </p:txBody>
        </p:sp>
      </p:grpSp>
      <p:sp>
        <p:nvSpPr>
          <p:cNvPr id="7" name="object 7"/>
          <p:cNvSpPr txBox="1"/>
          <p:nvPr/>
        </p:nvSpPr>
        <p:spPr>
          <a:xfrm>
            <a:off x="268516" y="897709"/>
            <a:ext cx="5066665" cy="1635125"/>
          </a:xfrm>
          <a:prstGeom prst="rect">
            <a:avLst/>
          </a:prstGeom>
        </p:spPr>
        <p:txBody>
          <a:bodyPr vert="horz" wrap="square" lIns="0" tIns="12700" rIns="0" bIns="0" rtlCol="0">
            <a:spAutoFit/>
          </a:bodyPr>
          <a:lstStyle/>
          <a:p>
            <a:pPr marL="368300" marR="65405" indent="-356235">
              <a:lnSpc>
                <a:spcPct val="118000"/>
              </a:lnSpc>
              <a:spcBef>
                <a:spcPts val="100"/>
              </a:spcBef>
            </a:pPr>
            <a:r>
              <a:rPr sz="1100" b="1" dirty="0">
                <a:solidFill>
                  <a:srgbClr val="22373A"/>
                </a:solidFill>
                <a:latin typeface="Arial"/>
                <a:cs typeface="Arial"/>
              </a:rPr>
              <a:t>RQ1</a:t>
            </a:r>
            <a:r>
              <a:rPr sz="1100" b="1" spc="125" dirty="0">
                <a:solidFill>
                  <a:srgbClr val="22373A"/>
                </a:solidFill>
                <a:latin typeface="Arial"/>
                <a:cs typeface="Arial"/>
              </a:rPr>
              <a:t> </a:t>
            </a:r>
            <a:r>
              <a:rPr sz="1100" spc="-55" dirty="0">
                <a:solidFill>
                  <a:srgbClr val="22373A"/>
                </a:solidFill>
                <a:latin typeface="Arial MT"/>
                <a:cs typeface="Arial MT"/>
              </a:rPr>
              <a:t>Semantic</a:t>
            </a:r>
            <a:r>
              <a:rPr sz="1100" spc="-5" dirty="0">
                <a:solidFill>
                  <a:srgbClr val="22373A"/>
                </a:solidFill>
                <a:latin typeface="Arial MT"/>
                <a:cs typeface="Arial MT"/>
              </a:rPr>
              <a:t> </a:t>
            </a:r>
            <a:r>
              <a:rPr sz="1100" spc="-40" dirty="0">
                <a:solidFill>
                  <a:srgbClr val="22373A"/>
                </a:solidFill>
                <a:latin typeface="Arial MT"/>
                <a:cs typeface="Arial MT"/>
              </a:rPr>
              <a:t>clustering</a:t>
            </a:r>
            <a:r>
              <a:rPr sz="1100" spc="-5" dirty="0">
                <a:solidFill>
                  <a:srgbClr val="22373A"/>
                </a:solidFill>
                <a:latin typeface="Arial MT"/>
                <a:cs typeface="Arial MT"/>
              </a:rPr>
              <a:t> </a:t>
            </a:r>
            <a:r>
              <a:rPr sz="1100" spc="-60" dirty="0">
                <a:solidFill>
                  <a:srgbClr val="22373A"/>
                </a:solidFill>
                <a:latin typeface="Arial MT"/>
                <a:cs typeface="Arial MT"/>
              </a:rPr>
              <a:t>groups</a:t>
            </a:r>
            <a:r>
              <a:rPr sz="1100" spc="-5" dirty="0">
                <a:solidFill>
                  <a:srgbClr val="22373A"/>
                </a:solidFill>
                <a:latin typeface="Arial MT"/>
                <a:cs typeface="Arial MT"/>
              </a:rPr>
              <a:t> </a:t>
            </a:r>
            <a:r>
              <a:rPr sz="1100" spc="-35" dirty="0">
                <a:solidFill>
                  <a:srgbClr val="22373A"/>
                </a:solidFill>
                <a:latin typeface="Arial MT"/>
                <a:cs typeface="Arial MT"/>
              </a:rPr>
              <a:t>alerts</a:t>
            </a:r>
            <a:r>
              <a:rPr sz="1100" spc="-5" dirty="0">
                <a:solidFill>
                  <a:srgbClr val="22373A"/>
                </a:solidFill>
                <a:latin typeface="Arial MT"/>
                <a:cs typeface="Arial MT"/>
              </a:rPr>
              <a:t> </a:t>
            </a:r>
            <a:r>
              <a:rPr sz="1100" spc="-45" dirty="0">
                <a:solidFill>
                  <a:srgbClr val="22373A"/>
                </a:solidFill>
                <a:latin typeface="Arial MT"/>
                <a:cs typeface="Arial MT"/>
              </a:rPr>
              <a:t>coherently</a:t>
            </a:r>
            <a:r>
              <a:rPr sz="1100" spc="-5" dirty="0">
                <a:solidFill>
                  <a:srgbClr val="22373A"/>
                </a:solidFill>
                <a:latin typeface="Arial MT"/>
                <a:cs typeface="Arial MT"/>
              </a:rPr>
              <a:t> </a:t>
            </a:r>
            <a:r>
              <a:rPr sz="1100" spc="-35" dirty="0">
                <a:solidFill>
                  <a:srgbClr val="22373A"/>
                </a:solidFill>
                <a:latin typeface="Arial MT"/>
                <a:cs typeface="Arial MT"/>
              </a:rPr>
              <a:t>(0.837</a:t>
            </a:r>
            <a:r>
              <a:rPr sz="1100" spc="-5" dirty="0">
                <a:solidFill>
                  <a:srgbClr val="22373A"/>
                </a:solidFill>
                <a:latin typeface="Arial MT"/>
                <a:cs typeface="Arial MT"/>
              </a:rPr>
              <a:t> </a:t>
            </a:r>
            <a:r>
              <a:rPr sz="1100" dirty="0">
                <a:solidFill>
                  <a:srgbClr val="22373A"/>
                </a:solidFill>
                <a:latin typeface="Arial MT"/>
                <a:cs typeface="Arial MT"/>
              </a:rPr>
              <a:t>purity),</a:t>
            </a:r>
            <a:r>
              <a:rPr sz="1100" spc="-5" dirty="0">
                <a:solidFill>
                  <a:srgbClr val="22373A"/>
                </a:solidFill>
                <a:latin typeface="Arial MT"/>
                <a:cs typeface="Arial MT"/>
              </a:rPr>
              <a:t> </a:t>
            </a:r>
            <a:r>
              <a:rPr sz="1100" dirty="0">
                <a:solidFill>
                  <a:srgbClr val="22373A"/>
                </a:solidFill>
                <a:latin typeface="Arial MT"/>
                <a:cs typeface="Arial MT"/>
              </a:rPr>
              <a:t>but</a:t>
            </a:r>
            <a:r>
              <a:rPr sz="1100" spc="-5" dirty="0">
                <a:solidFill>
                  <a:srgbClr val="22373A"/>
                </a:solidFill>
                <a:latin typeface="Arial MT"/>
                <a:cs typeface="Arial MT"/>
              </a:rPr>
              <a:t> </a:t>
            </a:r>
            <a:r>
              <a:rPr sz="1100" spc="-80" dirty="0">
                <a:solidFill>
                  <a:srgbClr val="22373A"/>
                </a:solidFill>
                <a:latin typeface="Arial MT"/>
                <a:cs typeface="Arial MT"/>
              </a:rPr>
              <a:t>coherence</a:t>
            </a:r>
            <a:r>
              <a:rPr sz="1100" spc="5" dirty="0">
                <a:solidFill>
                  <a:srgbClr val="22373A"/>
                </a:solidFill>
                <a:latin typeface="Arial MT"/>
                <a:cs typeface="Arial MT"/>
              </a:rPr>
              <a:t> </a:t>
            </a:r>
            <a:r>
              <a:rPr sz="1100" spc="-10" dirty="0">
                <a:solidFill>
                  <a:srgbClr val="22373A"/>
                </a:solidFill>
                <a:latin typeface="Arial MT"/>
                <a:cs typeface="Arial MT"/>
              </a:rPr>
              <a:t>is</a:t>
            </a:r>
            <a:r>
              <a:rPr sz="1100" spc="-5" dirty="0">
                <a:solidFill>
                  <a:srgbClr val="22373A"/>
                </a:solidFill>
                <a:latin typeface="Arial MT"/>
                <a:cs typeface="Arial MT"/>
              </a:rPr>
              <a:t> </a:t>
            </a:r>
            <a:r>
              <a:rPr sz="1100" spc="-25" dirty="0">
                <a:solidFill>
                  <a:srgbClr val="22373A"/>
                </a:solidFill>
                <a:latin typeface="Arial MT"/>
                <a:cs typeface="Arial MT"/>
              </a:rPr>
              <a:t>not </a:t>
            </a:r>
            <a:r>
              <a:rPr sz="1100" spc="-30" dirty="0">
                <a:solidFill>
                  <a:srgbClr val="22373A"/>
                </a:solidFill>
                <a:latin typeface="Arial MT"/>
                <a:cs typeface="Arial MT"/>
              </a:rPr>
              <a:t>discrimination:</a:t>
            </a:r>
            <a:r>
              <a:rPr sz="1100" spc="70" dirty="0">
                <a:solidFill>
                  <a:srgbClr val="22373A"/>
                </a:solidFill>
                <a:latin typeface="Arial MT"/>
                <a:cs typeface="Arial MT"/>
              </a:rPr>
              <a:t> </a:t>
            </a:r>
            <a:r>
              <a:rPr sz="1100" spc="-60" dirty="0">
                <a:solidFill>
                  <a:srgbClr val="22373A"/>
                </a:solidFill>
                <a:latin typeface="Arial MT"/>
                <a:cs typeface="Arial MT"/>
              </a:rPr>
              <a:t>separating</a:t>
            </a:r>
            <a:r>
              <a:rPr sz="1100" spc="-15" dirty="0">
                <a:solidFill>
                  <a:srgbClr val="22373A"/>
                </a:solidFill>
                <a:latin typeface="Arial MT"/>
                <a:cs typeface="Arial MT"/>
              </a:rPr>
              <a:t> </a:t>
            </a:r>
            <a:r>
              <a:rPr sz="1100" spc="-70" dirty="0">
                <a:solidFill>
                  <a:srgbClr val="22373A"/>
                </a:solidFill>
                <a:latin typeface="Arial MT"/>
                <a:cs typeface="Arial MT"/>
              </a:rPr>
              <a:t>one</a:t>
            </a:r>
            <a:r>
              <a:rPr sz="1100" spc="-5" dirty="0">
                <a:solidFill>
                  <a:srgbClr val="22373A"/>
                </a:solidFill>
                <a:latin typeface="Arial MT"/>
                <a:cs typeface="Arial MT"/>
              </a:rPr>
              <a:t> </a:t>
            </a:r>
            <a:r>
              <a:rPr sz="1100" spc="-50" dirty="0">
                <a:solidFill>
                  <a:srgbClr val="22373A"/>
                </a:solidFill>
                <a:latin typeface="Arial MT"/>
                <a:cs typeface="Arial MT"/>
              </a:rPr>
              <a:t>technique</a:t>
            </a:r>
            <a:r>
              <a:rPr sz="1100" spc="-10" dirty="0">
                <a:solidFill>
                  <a:srgbClr val="22373A"/>
                </a:solidFill>
                <a:latin typeface="Arial MT"/>
                <a:cs typeface="Arial MT"/>
              </a:rPr>
              <a:t> </a:t>
            </a:r>
            <a:r>
              <a:rPr sz="1100" dirty="0">
                <a:solidFill>
                  <a:srgbClr val="22373A"/>
                </a:solidFill>
                <a:latin typeface="Arial MT"/>
                <a:cs typeface="Arial MT"/>
              </a:rPr>
              <a:t>from</a:t>
            </a:r>
            <a:r>
              <a:rPr sz="1100" spc="-15" dirty="0">
                <a:solidFill>
                  <a:srgbClr val="22373A"/>
                </a:solidFill>
                <a:latin typeface="Arial MT"/>
                <a:cs typeface="Arial MT"/>
              </a:rPr>
              <a:t> </a:t>
            </a:r>
            <a:r>
              <a:rPr sz="1100" spc="-40" dirty="0">
                <a:solidFill>
                  <a:srgbClr val="22373A"/>
                </a:solidFill>
                <a:latin typeface="Arial MT"/>
                <a:cs typeface="Arial MT"/>
              </a:rPr>
              <a:t>another</a:t>
            </a:r>
            <a:r>
              <a:rPr sz="1100" spc="-15" dirty="0">
                <a:solidFill>
                  <a:srgbClr val="22373A"/>
                </a:solidFill>
                <a:latin typeface="Arial MT"/>
                <a:cs typeface="Arial MT"/>
              </a:rPr>
              <a:t> </a:t>
            </a:r>
            <a:r>
              <a:rPr sz="1100" spc="-10" dirty="0">
                <a:solidFill>
                  <a:srgbClr val="22373A"/>
                </a:solidFill>
                <a:latin typeface="Arial MT"/>
                <a:cs typeface="Arial MT"/>
              </a:rPr>
              <a:t>is </a:t>
            </a:r>
            <a:r>
              <a:rPr sz="1100" dirty="0">
                <a:solidFill>
                  <a:srgbClr val="22373A"/>
                </a:solidFill>
                <a:latin typeface="Arial MT"/>
                <a:cs typeface="Arial MT"/>
              </a:rPr>
              <a:t>the</a:t>
            </a:r>
            <a:r>
              <a:rPr sz="1100" spc="-15" dirty="0">
                <a:solidFill>
                  <a:srgbClr val="22373A"/>
                </a:solidFill>
                <a:latin typeface="Arial MT"/>
                <a:cs typeface="Arial MT"/>
              </a:rPr>
              <a:t> </a:t>
            </a:r>
            <a:r>
              <a:rPr sz="1100" spc="-50" dirty="0">
                <a:solidFill>
                  <a:srgbClr val="22373A"/>
                </a:solidFill>
                <a:latin typeface="Arial MT"/>
                <a:cs typeface="Arial MT"/>
              </a:rPr>
              <a:t>hard</a:t>
            </a:r>
            <a:r>
              <a:rPr sz="1100" spc="-10" dirty="0">
                <a:solidFill>
                  <a:srgbClr val="22373A"/>
                </a:solidFill>
                <a:latin typeface="Arial MT"/>
                <a:cs typeface="Arial MT"/>
              </a:rPr>
              <a:t> part.</a:t>
            </a:r>
            <a:endParaRPr sz="1100">
              <a:latin typeface="Arial MT"/>
              <a:cs typeface="Arial MT"/>
            </a:endParaRPr>
          </a:p>
          <a:p>
            <a:pPr marL="368300" marR="20320" indent="-356235">
              <a:lnSpc>
                <a:spcPct val="118000"/>
              </a:lnSpc>
              <a:spcBef>
                <a:spcPts val="300"/>
              </a:spcBef>
            </a:pPr>
            <a:r>
              <a:rPr sz="1100" b="1" dirty="0">
                <a:solidFill>
                  <a:srgbClr val="22373A"/>
                </a:solidFill>
                <a:latin typeface="Arial"/>
                <a:cs typeface="Arial"/>
              </a:rPr>
              <a:t>RQ2</a:t>
            </a:r>
            <a:r>
              <a:rPr sz="1100" b="1" spc="80" dirty="0">
                <a:solidFill>
                  <a:srgbClr val="22373A"/>
                </a:solidFill>
                <a:latin typeface="Arial"/>
                <a:cs typeface="Arial"/>
              </a:rPr>
              <a:t> </a:t>
            </a:r>
            <a:r>
              <a:rPr sz="1100" spc="-10" dirty="0">
                <a:solidFill>
                  <a:srgbClr val="22373A"/>
                </a:solidFill>
                <a:latin typeface="Arial MT"/>
                <a:cs typeface="Arial MT"/>
              </a:rPr>
              <a:t>The</a:t>
            </a:r>
            <a:r>
              <a:rPr sz="1100" spc="-20" dirty="0">
                <a:solidFill>
                  <a:srgbClr val="22373A"/>
                </a:solidFill>
                <a:latin typeface="Arial MT"/>
                <a:cs typeface="Arial MT"/>
              </a:rPr>
              <a:t> </a:t>
            </a:r>
            <a:r>
              <a:rPr sz="1100" spc="-45" dirty="0">
                <a:solidFill>
                  <a:srgbClr val="22373A"/>
                </a:solidFill>
                <a:latin typeface="Arial MT"/>
                <a:cs typeface="Arial MT"/>
              </a:rPr>
              <a:t>graph</a:t>
            </a:r>
            <a:r>
              <a:rPr sz="1100" spc="-20" dirty="0">
                <a:solidFill>
                  <a:srgbClr val="22373A"/>
                </a:solidFill>
                <a:latin typeface="Arial MT"/>
                <a:cs typeface="Arial MT"/>
              </a:rPr>
              <a:t> </a:t>
            </a:r>
            <a:r>
              <a:rPr sz="1100" dirty="0">
                <a:solidFill>
                  <a:srgbClr val="22373A"/>
                </a:solidFill>
                <a:latin typeface="Arial MT"/>
                <a:cs typeface="Arial MT"/>
              </a:rPr>
              <a:t>faithfully</a:t>
            </a:r>
            <a:r>
              <a:rPr sz="1100" spc="-25" dirty="0">
                <a:solidFill>
                  <a:srgbClr val="22373A"/>
                </a:solidFill>
                <a:latin typeface="Arial MT"/>
                <a:cs typeface="Arial MT"/>
              </a:rPr>
              <a:t> </a:t>
            </a:r>
            <a:r>
              <a:rPr sz="1100" spc="-80" dirty="0">
                <a:solidFill>
                  <a:srgbClr val="22373A"/>
                </a:solidFill>
                <a:latin typeface="Arial MT"/>
                <a:cs typeface="Arial MT"/>
              </a:rPr>
              <a:t>represents</a:t>
            </a:r>
            <a:r>
              <a:rPr sz="1100" spc="5" dirty="0">
                <a:solidFill>
                  <a:srgbClr val="22373A"/>
                </a:solidFill>
                <a:latin typeface="Arial MT"/>
                <a:cs typeface="Arial MT"/>
              </a:rPr>
              <a:t> </a:t>
            </a:r>
            <a:r>
              <a:rPr sz="1100" spc="-10" dirty="0">
                <a:solidFill>
                  <a:srgbClr val="22373A"/>
                </a:solidFill>
                <a:latin typeface="Arial MT"/>
                <a:cs typeface="Arial MT"/>
              </a:rPr>
              <a:t>what</a:t>
            </a:r>
            <a:r>
              <a:rPr sz="1100" spc="-20" dirty="0">
                <a:solidFill>
                  <a:srgbClr val="22373A"/>
                </a:solidFill>
                <a:latin typeface="Arial MT"/>
                <a:cs typeface="Arial MT"/>
              </a:rPr>
              <a:t> </a:t>
            </a:r>
            <a:r>
              <a:rPr sz="1100" dirty="0">
                <a:solidFill>
                  <a:srgbClr val="22373A"/>
                </a:solidFill>
                <a:latin typeface="Arial MT"/>
                <a:cs typeface="Arial MT"/>
              </a:rPr>
              <a:t>the</a:t>
            </a:r>
            <a:r>
              <a:rPr sz="1100" spc="-20" dirty="0">
                <a:solidFill>
                  <a:srgbClr val="22373A"/>
                </a:solidFill>
                <a:latin typeface="Arial MT"/>
                <a:cs typeface="Arial MT"/>
              </a:rPr>
              <a:t> </a:t>
            </a:r>
            <a:r>
              <a:rPr sz="1100" spc="-55" dirty="0">
                <a:solidFill>
                  <a:srgbClr val="22373A"/>
                </a:solidFill>
                <a:latin typeface="Arial MT"/>
                <a:cs typeface="Arial MT"/>
              </a:rPr>
              <a:t>model</a:t>
            </a:r>
            <a:r>
              <a:rPr sz="1100" spc="-20" dirty="0">
                <a:solidFill>
                  <a:srgbClr val="22373A"/>
                </a:solidFill>
                <a:latin typeface="Arial MT"/>
                <a:cs typeface="Arial MT"/>
              </a:rPr>
              <a:t> </a:t>
            </a:r>
            <a:r>
              <a:rPr sz="1100" spc="-60" dirty="0">
                <a:solidFill>
                  <a:srgbClr val="22373A"/>
                </a:solidFill>
                <a:latin typeface="Arial MT"/>
                <a:cs typeface="Arial MT"/>
              </a:rPr>
              <a:t>read</a:t>
            </a:r>
            <a:r>
              <a:rPr sz="1100" spc="-15" dirty="0">
                <a:solidFill>
                  <a:srgbClr val="22373A"/>
                </a:solidFill>
                <a:latin typeface="Arial MT"/>
                <a:cs typeface="Arial MT"/>
              </a:rPr>
              <a:t> </a:t>
            </a:r>
            <a:r>
              <a:rPr sz="1100" dirty="0">
                <a:solidFill>
                  <a:srgbClr val="22373A"/>
                </a:solidFill>
                <a:latin typeface="Arial MT"/>
                <a:cs typeface="Arial MT"/>
              </a:rPr>
              <a:t>from</a:t>
            </a:r>
            <a:r>
              <a:rPr sz="1100" spc="-20" dirty="0">
                <a:solidFill>
                  <a:srgbClr val="22373A"/>
                </a:solidFill>
                <a:latin typeface="Arial MT"/>
                <a:cs typeface="Arial MT"/>
              </a:rPr>
              <a:t> </a:t>
            </a:r>
            <a:r>
              <a:rPr sz="1100" dirty="0">
                <a:solidFill>
                  <a:srgbClr val="22373A"/>
                </a:solidFill>
                <a:latin typeface="Arial MT"/>
                <a:cs typeface="Arial MT"/>
              </a:rPr>
              <a:t>the</a:t>
            </a:r>
            <a:r>
              <a:rPr sz="1100" spc="-25" dirty="0">
                <a:solidFill>
                  <a:srgbClr val="22373A"/>
                </a:solidFill>
                <a:latin typeface="Arial MT"/>
                <a:cs typeface="Arial MT"/>
              </a:rPr>
              <a:t> </a:t>
            </a:r>
            <a:r>
              <a:rPr sz="1100" spc="-30" dirty="0">
                <a:solidFill>
                  <a:srgbClr val="22373A"/>
                </a:solidFill>
                <a:latin typeface="Arial MT"/>
                <a:cs typeface="Arial MT"/>
              </a:rPr>
              <a:t>alerts,</a:t>
            </a:r>
            <a:r>
              <a:rPr sz="1100" spc="-20" dirty="0">
                <a:solidFill>
                  <a:srgbClr val="22373A"/>
                </a:solidFill>
                <a:latin typeface="Arial MT"/>
                <a:cs typeface="Arial MT"/>
              </a:rPr>
              <a:t> </a:t>
            </a:r>
            <a:r>
              <a:rPr sz="1100" spc="-40" dirty="0">
                <a:solidFill>
                  <a:srgbClr val="22373A"/>
                </a:solidFill>
                <a:latin typeface="Arial MT"/>
                <a:cs typeface="Arial MT"/>
              </a:rPr>
              <a:t>which</a:t>
            </a:r>
            <a:r>
              <a:rPr sz="1100" spc="-20" dirty="0">
                <a:solidFill>
                  <a:srgbClr val="22373A"/>
                </a:solidFill>
                <a:latin typeface="Arial MT"/>
                <a:cs typeface="Arial MT"/>
              </a:rPr>
              <a:t> </a:t>
            </a:r>
            <a:r>
              <a:rPr sz="1100" spc="-10" dirty="0">
                <a:solidFill>
                  <a:srgbClr val="22373A"/>
                </a:solidFill>
                <a:latin typeface="Arial MT"/>
                <a:cs typeface="Arial MT"/>
              </a:rPr>
              <a:t>is</a:t>
            </a:r>
            <a:r>
              <a:rPr sz="1100" spc="-20" dirty="0">
                <a:solidFill>
                  <a:srgbClr val="22373A"/>
                </a:solidFill>
                <a:latin typeface="Arial MT"/>
                <a:cs typeface="Arial MT"/>
              </a:rPr>
              <a:t> </a:t>
            </a:r>
            <a:r>
              <a:rPr sz="1100" spc="-25" dirty="0">
                <a:solidFill>
                  <a:srgbClr val="22373A"/>
                </a:solidFill>
                <a:latin typeface="Arial MT"/>
                <a:cs typeface="Arial MT"/>
              </a:rPr>
              <a:t>not </a:t>
            </a:r>
            <a:r>
              <a:rPr sz="1100" spc="-85" dirty="0">
                <a:solidFill>
                  <a:srgbClr val="22373A"/>
                </a:solidFill>
                <a:latin typeface="Arial MT"/>
                <a:cs typeface="Arial MT"/>
              </a:rPr>
              <a:t>always</a:t>
            </a:r>
            <a:r>
              <a:rPr sz="1100" spc="10" dirty="0">
                <a:solidFill>
                  <a:srgbClr val="22373A"/>
                </a:solidFill>
                <a:latin typeface="Arial MT"/>
                <a:cs typeface="Arial MT"/>
              </a:rPr>
              <a:t> </a:t>
            </a:r>
            <a:r>
              <a:rPr sz="1100" spc="-10" dirty="0">
                <a:solidFill>
                  <a:srgbClr val="22373A"/>
                </a:solidFill>
                <a:latin typeface="Arial MT"/>
                <a:cs typeface="Arial MT"/>
              </a:rPr>
              <a:t>what</a:t>
            </a:r>
            <a:r>
              <a:rPr sz="1100" spc="-65" dirty="0">
                <a:solidFill>
                  <a:srgbClr val="22373A"/>
                </a:solidFill>
                <a:latin typeface="Arial MT"/>
                <a:cs typeface="Arial MT"/>
              </a:rPr>
              <a:t> </a:t>
            </a:r>
            <a:r>
              <a:rPr sz="1100" dirty="0">
                <a:solidFill>
                  <a:srgbClr val="22373A"/>
                </a:solidFill>
                <a:latin typeface="Arial MT"/>
                <a:cs typeface="Arial MT"/>
              </a:rPr>
              <a:t>the</a:t>
            </a:r>
            <a:r>
              <a:rPr sz="1100" spc="-25" dirty="0">
                <a:solidFill>
                  <a:srgbClr val="22373A"/>
                </a:solidFill>
                <a:latin typeface="Arial MT"/>
                <a:cs typeface="Arial MT"/>
              </a:rPr>
              <a:t> </a:t>
            </a:r>
            <a:r>
              <a:rPr sz="1100" spc="-35" dirty="0">
                <a:solidFill>
                  <a:srgbClr val="22373A"/>
                </a:solidFill>
                <a:latin typeface="Arial MT"/>
                <a:cs typeface="Arial MT"/>
              </a:rPr>
              <a:t>alerts</a:t>
            </a:r>
            <a:r>
              <a:rPr sz="1100" spc="-25" dirty="0">
                <a:solidFill>
                  <a:srgbClr val="22373A"/>
                </a:solidFill>
                <a:latin typeface="Arial MT"/>
                <a:cs typeface="Arial MT"/>
              </a:rPr>
              <a:t> </a:t>
            </a:r>
            <a:r>
              <a:rPr sz="1100" spc="-10" dirty="0">
                <a:solidFill>
                  <a:srgbClr val="22373A"/>
                </a:solidFill>
                <a:latin typeface="Arial MT"/>
                <a:cs typeface="Arial MT"/>
              </a:rPr>
              <a:t>showed.</a:t>
            </a:r>
            <a:endParaRPr sz="1100">
              <a:latin typeface="Arial MT"/>
              <a:cs typeface="Arial MT"/>
            </a:endParaRPr>
          </a:p>
          <a:p>
            <a:pPr marL="368300" marR="5080" indent="-356235">
              <a:lnSpc>
                <a:spcPct val="118000"/>
              </a:lnSpc>
              <a:spcBef>
                <a:spcPts val="300"/>
              </a:spcBef>
            </a:pPr>
            <a:r>
              <a:rPr sz="1100" b="1" dirty="0">
                <a:solidFill>
                  <a:srgbClr val="22373A"/>
                </a:solidFill>
                <a:latin typeface="Arial"/>
                <a:cs typeface="Arial"/>
              </a:rPr>
              <a:t>RQ3</a:t>
            </a:r>
            <a:r>
              <a:rPr sz="1100" b="1" spc="190" dirty="0">
                <a:solidFill>
                  <a:srgbClr val="22373A"/>
                </a:solidFill>
                <a:latin typeface="Arial"/>
                <a:cs typeface="Arial"/>
              </a:rPr>
              <a:t> </a:t>
            </a:r>
            <a:r>
              <a:rPr sz="1100" spc="-65" dirty="0">
                <a:solidFill>
                  <a:srgbClr val="22373A"/>
                </a:solidFill>
                <a:latin typeface="Arial MT"/>
                <a:cs typeface="Arial MT"/>
              </a:rPr>
              <a:t>Behaviour-</a:t>
            </a:r>
            <a:r>
              <a:rPr sz="1100" spc="-70" dirty="0">
                <a:solidFill>
                  <a:srgbClr val="22373A"/>
                </a:solidFill>
                <a:latin typeface="Arial MT"/>
                <a:cs typeface="Arial MT"/>
              </a:rPr>
              <a:t>anchored</a:t>
            </a:r>
            <a:r>
              <a:rPr sz="1100" spc="25" dirty="0">
                <a:solidFill>
                  <a:srgbClr val="22373A"/>
                </a:solidFill>
                <a:latin typeface="Arial MT"/>
                <a:cs typeface="Arial MT"/>
              </a:rPr>
              <a:t> </a:t>
            </a:r>
            <a:r>
              <a:rPr sz="1100" spc="-35" dirty="0">
                <a:solidFill>
                  <a:srgbClr val="22373A"/>
                </a:solidFill>
                <a:latin typeface="Arial MT"/>
                <a:cs typeface="Arial MT"/>
              </a:rPr>
              <a:t>retrieval</a:t>
            </a:r>
            <a:r>
              <a:rPr sz="1100" spc="30" dirty="0">
                <a:solidFill>
                  <a:srgbClr val="22373A"/>
                </a:solidFill>
                <a:latin typeface="Arial MT"/>
                <a:cs typeface="Arial MT"/>
              </a:rPr>
              <a:t> </a:t>
            </a:r>
            <a:r>
              <a:rPr sz="1100" spc="-55" dirty="0">
                <a:solidFill>
                  <a:srgbClr val="22373A"/>
                </a:solidFill>
                <a:latin typeface="Arial MT"/>
                <a:cs typeface="Arial MT"/>
              </a:rPr>
              <a:t>improved</a:t>
            </a:r>
            <a:r>
              <a:rPr sz="1100" spc="30" dirty="0">
                <a:solidFill>
                  <a:srgbClr val="22373A"/>
                </a:solidFill>
                <a:latin typeface="Arial MT"/>
                <a:cs typeface="Arial MT"/>
              </a:rPr>
              <a:t> </a:t>
            </a:r>
            <a:r>
              <a:rPr sz="1100" spc="-50" dirty="0">
                <a:solidFill>
                  <a:srgbClr val="22373A"/>
                </a:solidFill>
                <a:latin typeface="Arial MT"/>
                <a:cs typeface="Arial MT"/>
              </a:rPr>
              <a:t>classification</a:t>
            </a:r>
            <a:r>
              <a:rPr sz="1100" spc="30" dirty="0">
                <a:solidFill>
                  <a:srgbClr val="22373A"/>
                </a:solidFill>
                <a:latin typeface="Arial MT"/>
                <a:cs typeface="Arial MT"/>
              </a:rPr>
              <a:t> </a:t>
            </a:r>
            <a:r>
              <a:rPr sz="1100" dirty="0">
                <a:solidFill>
                  <a:srgbClr val="22373A"/>
                </a:solidFill>
                <a:latin typeface="Arial MT"/>
                <a:cs typeface="Arial MT"/>
              </a:rPr>
              <a:t>in</a:t>
            </a:r>
            <a:r>
              <a:rPr sz="1100" spc="25" dirty="0">
                <a:solidFill>
                  <a:srgbClr val="22373A"/>
                </a:solidFill>
                <a:latin typeface="Arial MT"/>
                <a:cs typeface="Arial MT"/>
              </a:rPr>
              <a:t> </a:t>
            </a:r>
            <a:r>
              <a:rPr sz="1100" spc="-70" dirty="0">
                <a:solidFill>
                  <a:srgbClr val="22373A"/>
                </a:solidFill>
                <a:latin typeface="Arial MT"/>
                <a:cs typeface="Arial MT"/>
              </a:rPr>
              <a:t>every</a:t>
            </a:r>
            <a:r>
              <a:rPr sz="1100" spc="30" dirty="0">
                <a:solidFill>
                  <a:srgbClr val="22373A"/>
                </a:solidFill>
                <a:latin typeface="Arial MT"/>
                <a:cs typeface="Arial MT"/>
              </a:rPr>
              <a:t> </a:t>
            </a:r>
            <a:r>
              <a:rPr sz="1100" spc="-35" dirty="0">
                <a:solidFill>
                  <a:srgbClr val="22373A"/>
                </a:solidFill>
                <a:latin typeface="Arial MT"/>
                <a:cs typeface="Arial MT"/>
              </a:rPr>
              <a:t>tested</a:t>
            </a:r>
            <a:r>
              <a:rPr sz="1100" spc="30" dirty="0">
                <a:solidFill>
                  <a:srgbClr val="22373A"/>
                </a:solidFill>
                <a:latin typeface="Arial MT"/>
                <a:cs typeface="Arial MT"/>
              </a:rPr>
              <a:t> </a:t>
            </a:r>
            <a:r>
              <a:rPr sz="1100" spc="-25" dirty="0">
                <a:solidFill>
                  <a:srgbClr val="22373A"/>
                </a:solidFill>
                <a:latin typeface="Arial MT"/>
                <a:cs typeface="Arial MT"/>
              </a:rPr>
              <a:t>condition;</a:t>
            </a:r>
            <a:r>
              <a:rPr sz="1100" spc="30" dirty="0">
                <a:solidFill>
                  <a:srgbClr val="22373A"/>
                </a:solidFill>
                <a:latin typeface="Arial MT"/>
                <a:cs typeface="Arial MT"/>
              </a:rPr>
              <a:t> </a:t>
            </a:r>
            <a:r>
              <a:rPr sz="1100" spc="-25" dirty="0">
                <a:solidFill>
                  <a:srgbClr val="22373A"/>
                </a:solidFill>
                <a:latin typeface="Arial MT"/>
                <a:cs typeface="Arial MT"/>
              </a:rPr>
              <a:t>the </a:t>
            </a:r>
            <a:r>
              <a:rPr sz="1100" spc="-105" dirty="0">
                <a:solidFill>
                  <a:srgbClr val="22373A"/>
                </a:solidFill>
                <a:latin typeface="Arial MT"/>
                <a:cs typeface="Arial MT"/>
              </a:rPr>
              <a:t>same</a:t>
            </a:r>
            <a:r>
              <a:rPr sz="1100" spc="30" dirty="0">
                <a:solidFill>
                  <a:srgbClr val="22373A"/>
                </a:solidFill>
                <a:latin typeface="Arial MT"/>
                <a:cs typeface="Arial MT"/>
              </a:rPr>
              <a:t> </a:t>
            </a:r>
            <a:r>
              <a:rPr sz="1100" spc="-35" dirty="0">
                <a:solidFill>
                  <a:srgbClr val="22373A"/>
                </a:solidFill>
                <a:latin typeface="Arial MT"/>
                <a:cs typeface="Arial MT"/>
              </a:rPr>
              <a:t>ranking</a:t>
            </a:r>
            <a:r>
              <a:rPr sz="1100" spc="-40" dirty="0">
                <a:solidFill>
                  <a:srgbClr val="22373A"/>
                </a:solidFill>
                <a:latin typeface="Arial MT"/>
                <a:cs typeface="Arial MT"/>
              </a:rPr>
              <a:t> </a:t>
            </a:r>
            <a:r>
              <a:rPr sz="1100" dirty="0">
                <a:solidFill>
                  <a:srgbClr val="22373A"/>
                </a:solidFill>
                <a:latin typeface="Arial MT"/>
                <a:cs typeface="Arial MT"/>
              </a:rPr>
              <a:t>without</a:t>
            </a:r>
            <a:r>
              <a:rPr sz="1100" spc="-25" dirty="0">
                <a:solidFill>
                  <a:srgbClr val="22373A"/>
                </a:solidFill>
                <a:latin typeface="Arial MT"/>
                <a:cs typeface="Arial MT"/>
              </a:rPr>
              <a:t> </a:t>
            </a:r>
            <a:r>
              <a:rPr sz="1100" dirty="0">
                <a:solidFill>
                  <a:srgbClr val="22373A"/>
                </a:solidFill>
                <a:latin typeface="Arial MT"/>
                <a:cs typeface="Arial MT"/>
              </a:rPr>
              <a:t>the</a:t>
            </a:r>
            <a:r>
              <a:rPr sz="1100" spc="-10" dirty="0">
                <a:solidFill>
                  <a:srgbClr val="22373A"/>
                </a:solidFill>
                <a:latin typeface="Arial MT"/>
                <a:cs typeface="Arial MT"/>
              </a:rPr>
              <a:t> </a:t>
            </a:r>
            <a:r>
              <a:rPr sz="1100" spc="-30" dirty="0">
                <a:solidFill>
                  <a:srgbClr val="22373A"/>
                </a:solidFill>
                <a:latin typeface="Arial MT"/>
                <a:cs typeface="Arial MT"/>
              </a:rPr>
              <a:t>constraint</a:t>
            </a:r>
            <a:r>
              <a:rPr sz="1100" spc="-10" dirty="0">
                <a:solidFill>
                  <a:srgbClr val="22373A"/>
                </a:solidFill>
                <a:latin typeface="Arial MT"/>
                <a:cs typeface="Arial MT"/>
              </a:rPr>
              <a:t> </a:t>
            </a:r>
            <a:r>
              <a:rPr sz="1100" spc="-60" dirty="0">
                <a:solidFill>
                  <a:srgbClr val="22373A"/>
                </a:solidFill>
                <a:latin typeface="Arial MT"/>
                <a:cs typeface="Arial MT"/>
              </a:rPr>
              <a:t>classified</a:t>
            </a:r>
            <a:r>
              <a:rPr sz="1100" spc="-15" dirty="0">
                <a:solidFill>
                  <a:srgbClr val="22373A"/>
                </a:solidFill>
                <a:latin typeface="Arial MT"/>
                <a:cs typeface="Arial MT"/>
              </a:rPr>
              <a:t> </a:t>
            </a:r>
            <a:r>
              <a:rPr sz="1100" spc="-35" dirty="0">
                <a:solidFill>
                  <a:srgbClr val="22373A"/>
                </a:solidFill>
                <a:latin typeface="Arial MT"/>
                <a:cs typeface="Arial MT"/>
              </a:rPr>
              <a:t>almost</a:t>
            </a:r>
            <a:r>
              <a:rPr sz="1100" spc="-10" dirty="0">
                <a:solidFill>
                  <a:srgbClr val="22373A"/>
                </a:solidFill>
                <a:latin typeface="Arial MT"/>
                <a:cs typeface="Arial MT"/>
              </a:rPr>
              <a:t> </a:t>
            </a:r>
            <a:r>
              <a:rPr sz="1100" spc="-25" dirty="0">
                <a:solidFill>
                  <a:srgbClr val="22373A"/>
                </a:solidFill>
                <a:latin typeface="Arial MT"/>
                <a:cs typeface="Arial MT"/>
              </a:rPr>
              <a:t>nothing</a:t>
            </a:r>
            <a:r>
              <a:rPr sz="1100" spc="-10" dirty="0">
                <a:solidFill>
                  <a:srgbClr val="22373A"/>
                </a:solidFill>
                <a:latin typeface="Arial MT"/>
                <a:cs typeface="Arial MT"/>
              </a:rPr>
              <a:t> correctly.</a:t>
            </a:r>
            <a:endParaRPr sz="1100">
              <a:latin typeface="Arial MT"/>
              <a:cs typeface="Arial MT"/>
            </a:endParaRPr>
          </a:p>
          <a:p>
            <a:pPr>
              <a:lnSpc>
                <a:spcPct val="100000"/>
              </a:lnSpc>
              <a:spcBef>
                <a:spcPts val="140"/>
              </a:spcBef>
            </a:pPr>
            <a:endParaRPr sz="1100">
              <a:latin typeface="Arial MT"/>
              <a:cs typeface="Arial MT"/>
            </a:endParaRPr>
          </a:p>
          <a:p>
            <a:pPr marL="91440">
              <a:lnSpc>
                <a:spcPct val="100000"/>
              </a:lnSpc>
              <a:spcBef>
                <a:spcPts val="5"/>
              </a:spcBef>
            </a:pPr>
            <a:r>
              <a:rPr sz="1100" spc="-60" dirty="0">
                <a:solidFill>
                  <a:srgbClr val="22373A"/>
                </a:solidFill>
                <a:latin typeface="Arial MT"/>
                <a:cs typeface="Arial MT"/>
              </a:rPr>
              <a:t>Every</a:t>
            </a:r>
            <a:r>
              <a:rPr sz="1100" spc="10" dirty="0">
                <a:solidFill>
                  <a:srgbClr val="22373A"/>
                </a:solidFill>
                <a:latin typeface="Arial MT"/>
                <a:cs typeface="Arial MT"/>
              </a:rPr>
              <a:t> </a:t>
            </a:r>
            <a:r>
              <a:rPr sz="1100" spc="-50" dirty="0">
                <a:solidFill>
                  <a:srgbClr val="22373A"/>
                </a:solidFill>
                <a:latin typeface="Arial MT"/>
                <a:cs typeface="Arial MT"/>
              </a:rPr>
              <a:t>remaining</a:t>
            </a:r>
            <a:r>
              <a:rPr sz="1100" spc="15" dirty="0">
                <a:solidFill>
                  <a:srgbClr val="22373A"/>
                </a:solidFill>
                <a:latin typeface="Arial MT"/>
                <a:cs typeface="Arial MT"/>
              </a:rPr>
              <a:t> </a:t>
            </a:r>
            <a:r>
              <a:rPr sz="1100" spc="-30" dirty="0">
                <a:solidFill>
                  <a:srgbClr val="22373A"/>
                </a:solidFill>
                <a:latin typeface="Arial MT"/>
                <a:cs typeface="Arial MT"/>
              </a:rPr>
              <a:t>error</a:t>
            </a:r>
            <a:r>
              <a:rPr sz="1100" spc="10" dirty="0">
                <a:solidFill>
                  <a:srgbClr val="22373A"/>
                </a:solidFill>
                <a:latin typeface="Arial MT"/>
                <a:cs typeface="Arial MT"/>
              </a:rPr>
              <a:t> </a:t>
            </a:r>
            <a:r>
              <a:rPr sz="1100" spc="-45" dirty="0">
                <a:solidFill>
                  <a:srgbClr val="22373A"/>
                </a:solidFill>
                <a:latin typeface="Arial MT"/>
                <a:cs typeface="Arial MT"/>
              </a:rPr>
              <a:t>traces</a:t>
            </a:r>
            <a:r>
              <a:rPr sz="1100" spc="15" dirty="0">
                <a:solidFill>
                  <a:srgbClr val="22373A"/>
                </a:solidFill>
                <a:latin typeface="Arial MT"/>
                <a:cs typeface="Arial MT"/>
              </a:rPr>
              <a:t> </a:t>
            </a:r>
            <a:r>
              <a:rPr sz="1100" dirty="0">
                <a:solidFill>
                  <a:srgbClr val="22373A"/>
                </a:solidFill>
                <a:latin typeface="Arial MT"/>
                <a:cs typeface="Arial MT"/>
              </a:rPr>
              <a:t>to</a:t>
            </a:r>
            <a:r>
              <a:rPr sz="1100" spc="10" dirty="0">
                <a:solidFill>
                  <a:srgbClr val="22373A"/>
                </a:solidFill>
                <a:latin typeface="Arial MT"/>
                <a:cs typeface="Arial MT"/>
              </a:rPr>
              <a:t> </a:t>
            </a:r>
            <a:r>
              <a:rPr sz="1100" spc="-25" dirty="0">
                <a:solidFill>
                  <a:srgbClr val="22373A"/>
                </a:solidFill>
                <a:latin typeface="Arial MT"/>
                <a:cs typeface="Arial MT"/>
              </a:rPr>
              <a:t>extraction,</a:t>
            </a:r>
            <a:r>
              <a:rPr sz="1100" spc="15" dirty="0">
                <a:solidFill>
                  <a:srgbClr val="22373A"/>
                </a:solidFill>
                <a:latin typeface="Arial MT"/>
                <a:cs typeface="Arial MT"/>
              </a:rPr>
              <a:t> </a:t>
            </a:r>
            <a:r>
              <a:rPr sz="1100" dirty="0">
                <a:solidFill>
                  <a:srgbClr val="22373A"/>
                </a:solidFill>
                <a:latin typeface="Arial MT"/>
                <a:cs typeface="Arial MT"/>
              </a:rPr>
              <a:t>not</a:t>
            </a:r>
            <a:r>
              <a:rPr sz="1100" spc="10" dirty="0">
                <a:solidFill>
                  <a:srgbClr val="22373A"/>
                </a:solidFill>
                <a:latin typeface="Arial MT"/>
                <a:cs typeface="Arial MT"/>
              </a:rPr>
              <a:t> </a:t>
            </a:r>
            <a:r>
              <a:rPr sz="1100" dirty="0">
                <a:solidFill>
                  <a:srgbClr val="22373A"/>
                </a:solidFill>
                <a:latin typeface="Arial MT"/>
                <a:cs typeface="Arial MT"/>
              </a:rPr>
              <a:t>to</a:t>
            </a:r>
            <a:r>
              <a:rPr sz="1100" spc="15" dirty="0">
                <a:solidFill>
                  <a:srgbClr val="22373A"/>
                </a:solidFill>
                <a:latin typeface="Arial MT"/>
                <a:cs typeface="Arial MT"/>
              </a:rPr>
              <a:t> </a:t>
            </a:r>
            <a:r>
              <a:rPr sz="1100" spc="-10" dirty="0">
                <a:solidFill>
                  <a:srgbClr val="22373A"/>
                </a:solidFill>
                <a:latin typeface="Arial MT"/>
                <a:cs typeface="Arial MT"/>
              </a:rPr>
              <a:t>retrieval.</a:t>
            </a:r>
            <a:endParaRPr sz="1100">
              <a:latin typeface="Arial MT"/>
              <a:cs typeface="Arial MT"/>
            </a:endParaRPr>
          </a:p>
        </p:txBody>
      </p:sp>
      <p:pic>
        <p:nvPicPr>
          <p:cNvPr id="8" name="object 8"/>
          <p:cNvPicPr/>
          <p:nvPr/>
        </p:nvPicPr>
        <p:blipFill>
          <a:blip r:embed="rId3" cstate="print"/>
          <a:stretch>
            <a:fillRect/>
          </a:stretch>
        </p:blipFill>
        <p:spPr>
          <a:xfrm>
            <a:off x="101282" y="2998905"/>
            <a:ext cx="241983" cy="187117"/>
          </a:xfrm>
          <a:prstGeom prst="rect">
            <a:avLst/>
          </a:prstGeom>
        </p:spPr>
      </p:pic>
      <p:pic>
        <p:nvPicPr>
          <p:cNvPr id="9" name="object 9"/>
          <p:cNvPicPr/>
          <p:nvPr/>
        </p:nvPicPr>
        <p:blipFill>
          <a:blip r:embed="rId4" cstate="print"/>
          <a:stretch>
            <a:fillRect/>
          </a:stretch>
        </p:blipFill>
        <p:spPr>
          <a:xfrm>
            <a:off x="433285" y="2998965"/>
            <a:ext cx="187057" cy="187057"/>
          </a:xfrm>
          <a:prstGeom prst="rect">
            <a:avLst/>
          </a:prstGeom>
        </p:spPr>
      </p:pic>
      <p:pic>
        <p:nvPicPr>
          <p:cNvPr id="10" name="object 10"/>
          <p:cNvPicPr/>
          <p:nvPr/>
        </p:nvPicPr>
        <p:blipFill>
          <a:blip r:embed="rId5" cstate="print"/>
          <a:stretch>
            <a:fillRect/>
          </a:stretch>
        </p:blipFill>
        <p:spPr>
          <a:xfrm>
            <a:off x="710349" y="2998815"/>
            <a:ext cx="187208" cy="187208"/>
          </a:xfrm>
          <a:prstGeom prst="rect">
            <a:avLst/>
          </a:prstGeom>
        </p:spPr>
      </p:pic>
      <p:sp>
        <p:nvSpPr>
          <p:cNvPr id="11" name="object 11"/>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29</a:t>
            </a:r>
            <a:r>
              <a:rPr spc="-80" dirty="0"/>
              <a:t> </a:t>
            </a:r>
            <a:r>
              <a:rPr spc="195" dirty="0"/>
              <a:t>/</a:t>
            </a:r>
            <a:r>
              <a:rPr spc="-75" dirty="0"/>
              <a:t> </a:t>
            </a:r>
            <a:r>
              <a:rPr spc="-25" dirty="0"/>
              <a:t>32</a:t>
            </a:r>
          </a:p>
        </p:txBody>
      </p:sp>
    </p:spTree>
  </p:cSld>
  <p:clrMapOvr>
    <a:masterClrMapping/>
  </p:clrMapOvr>
  <p:transition>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2770" y="76349"/>
            <a:ext cx="881380" cy="207645"/>
          </a:xfrm>
          <a:prstGeom prst="rect">
            <a:avLst/>
          </a:prstGeom>
        </p:spPr>
        <p:txBody>
          <a:bodyPr vert="horz" wrap="square" lIns="0" tIns="12065" rIns="0" bIns="0" rtlCol="0">
            <a:spAutoFit/>
          </a:bodyPr>
          <a:lstStyle/>
          <a:p>
            <a:pPr marL="12700">
              <a:lnSpc>
                <a:spcPct val="100000"/>
              </a:lnSpc>
              <a:spcBef>
                <a:spcPts val="95"/>
              </a:spcBef>
            </a:pPr>
            <a:r>
              <a:rPr dirty="0"/>
              <a:t>Future</a:t>
            </a:r>
            <a:r>
              <a:rPr spc="-20" dirty="0"/>
              <a:t> </a:t>
            </a:r>
            <a:r>
              <a:rPr spc="-25" dirty="0"/>
              <a:t>work</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5400675" cy="5080"/>
            </a:xfrm>
            <a:custGeom>
              <a:avLst/>
              <a:gdLst/>
              <a:ahLst/>
              <a:cxnLst/>
              <a:rect l="l" t="t" r="r" b="b"/>
              <a:pathLst>
                <a:path w="5400675" h="5079">
                  <a:moveTo>
                    <a:pt x="0" y="5060"/>
                  </a:moveTo>
                  <a:lnTo>
                    <a:pt x="0" y="0"/>
                  </a:lnTo>
                  <a:lnTo>
                    <a:pt x="5400069" y="0"/>
                  </a:lnTo>
                  <a:lnTo>
                    <a:pt x="5400069" y="5060"/>
                  </a:lnTo>
                  <a:lnTo>
                    <a:pt x="0" y="5060"/>
                  </a:lnTo>
                  <a:close/>
                </a:path>
              </a:pathLst>
            </a:custGeom>
            <a:solidFill>
              <a:srgbClr val="2D7DB8"/>
            </a:solidFill>
          </p:spPr>
          <p:txBody>
            <a:bodyPr wrap="square" lIns="0" tIns="0" rIns="0" bIns="0" rtlCol="0"/>
            <a:lstStyle/>
            <a:p>
              <a:endParaRPr/>
            </a:p>
          </p:txBody>
        </p:sp>
      </p:grpSp>
      <p:sp>
        <p:nvSpPr>
          <p:cNvPr id="7" name="object 7"/>
          <p:cNvSpPr txBox="1"/>
          <p:nvPr/>
        </p:nvSpPr>
        <p:spPr>
          <a:xfrm>
            <a:off x="486283" y="1013978"/>
            <a:ext cx="4808855" cy="879087"/>
          </a:xfrm>
          <a:prstGeom prst="rect">
            <a:avLst/>
          </a:prstGeom>
        </p:spPr>
        <p:txBody>
          <a:bodyPr vert="horz" wrap="square" lIns="0" tIns="12700" rIns="0" bIns="0" rtlCol="0">
            <a:spAutoFit/>
          </a:bodyPr>
          <a:lstStyle/>
          <a:p>
            <a:pPr marL="147955" marR="328930" indent="-135890">
              <a:lnSpc>
                <a:spcPct val="118000"/>
              </a:lnSpc>
              <a:spcBef>
                <a:spcPts val="100"/>
              </a:spcBef>
              <a:buFont typeface="Arial MT"/>
              <a:buChar char="•"/>
              <a:tabLst>
                <a:tab pos="150495" algn="l"/>
              </a:tabLst>
            </a:pPr>
            <a:r>
              <a:rPr sz="1100" b="1" spc="-30" dirty="0">
                <a:solidFill>
                  <a:srgbClr val="22373A"/>
                </a:solidFill>
                <a:latin typeface="Arial"/>
                <a:cs typeface="Arial"/>
              </a:rPr>
              <a:t>Richer</a:t>
            </a:r>
            <a:r>
              <a:rPr sz="1100" b="1" spc="30" dirty="0">
                <a:solidFill>
                  <a:srgbClr val="22373A"/>
                </a:solidFill>
                <a:latin typeface="Arial"/>
                <a:cs typeface="Arial"/>
              </a:rPr>
              <a:t> </a:t>
            </a:r>
            <a:r>
              <a:rPr sz="1100" b="1" dirty="0">
                <a:solidFill>
                  <a:srgbClr val="22373A"/>
                </a:solidFill>
                <a:latin typeface="Arial"/>
                <a:cs typeface="Arial"/>
              </a:rPr>
              <a:t>alert</a:t>
            </a:r>
            <a:r>
              <a:rPr sz="1100" b="1" spc="25" dirty="0">
                <a:solidFill>
                  <a:srgbClr val="22373A"/>
                </a:solidFill>
                <a:latin typeface="Arial"/>
                <a:cs typeface="Arial"/>
              </a:rPr>
              <a:t> </a:t>
            </a:r>
            <a:r>
              <a:rPr sz="1100" b="1" spc="-35" dirty="0">
                <a:solidFill>
                  <a:srgbClr val="22373A"/>
                </a:solidFill>
                <a:latin typeface="Arial"/>
                <a:cs typeface="Arial"/>
              </a:rPr>
              <a:t>representation</a:t>
            </a:r>
            <a:r>
              <a:rPr sz="1100" spc="-35" dirty="0">
                <a:solidFill>
                  <a:srgbClr val="22373A"/>
                </a:solidFill>
                <a:latin typeface="Arial MT"/>
                <a:cs typeface="Arial MT"/>
              </a:rPr>
              <a:t>:</a:t>
            </a:r>
            <a:r>
              <a:rPr sz="1100" spc="90" dirty="0">
                <a:solidFill>
                  <a:srgbClr val="22373A"/>
                </a:solidFill>
                <a:latin typeface="Arial MT"/>
                <a:cs typeface="Arial MT"/>
              </a:rPr>
              <a:t> </a:t>
            </a:r>
            <a:r>
              <a:rPr sz="1100" spc="-70" dirty="0">
                <a:solidFill>
                  <a:srgbClr val="22373A"/>
                </a:solidFill>
                <a:latin typeface="Arial MT"/>
                <a:cs typeface="Arial MT"/>
              </a:rPr>
              <a:t>payload</a:t>
            </a:r>
            <a:r>
              <a:rPr sz="1100" spc="-5" dirty="0">
                <a:solidFill>
                  <a:srgbClr val="22373A"/>
                </a:solidFill>
                <a:latin typeface="Arial MT"/>
                <a:cs typeface="Arial MT"/>
              </a:rPr>
              <a:t> </a:t>
            </a:r>
            <a:r>
              <a:rPr sz="1100" spc="-65" dirty="0">
                <a:solidFill>
                  <a:srgbClr val="22373A"/>
                </a:solidFill>
                <a:latin typeface="Arial MT"/>
                <a:cs typeface="Arial MT"/>
              </a:rPr>
              <a:t>summaries,</a:t>
            </a:r>
            <a:r>
              <a:rPr sz="1100" spc="-5" dirty="0">
                <a:solidFill>
                  <a:srgbClr val="22373A"/>
                </a:solidFill>
                <a:latin typeface="Arial MT"/>
                <a:cs typeface="Arial MT"/>
              </a:rPr>
              <a:t> </a:t>
            </a:r>
            <a:r>
              <a:rPr sz="1100" spc="-35" dirty="0">
                <a:solidFill>
                  <a:srgbClr val="22373A"/>
                </a:solidFill>
                <a:latin typeface="Arial MT"/>
                <a:cs typeface="Arial MT"/>
              </a:rPr>
              <a:t>temporal</a:t>
            </a:r>
            <a:r>
              <a:rPr sz="1100" dirty="0">
                <a:solidFill>
                  <a:srgbClr val="22373A"/>
                </a:solidFill>
                <a:latin typeface="Arial MT"/>
                <a:cs typeface="Arial MT"/>
              </a:rPr>
              <a:t> </a:t>
            </a:r>
            <a:r>
              <a:rPr sz="1100" spc="-55" dirty="0">
                <a:solidFill>
                  <a:srgbClr val="22373A"/>
                </a:solidFill>
                <a:latin typeface="Arial MT"/>
                <a:cs typeface="Arial MT"/>
              </a:rPr>
              <a:t>and</a:t>
            </a:r>
            <a:r>
              <a:rPr sz="1100" spc="-5" dirty="0">
                <a:solidFill>
                  <a:srgbClr val="22373A"/>
                </a:solidFill>
                <a:latin typeface="Arial MT"/>
                <a:cs typeface="Arial MT"/>
              </a:rPr>
              <a:t> </a:t>
            </a:r>
            <a:r>
              <a:rPr sz="1100" spc="-70" dirty="0">
                <a:solidFill>
                  <a:srgbClr val="22373A"/>
                </a:solidFill>
                <a:latin typeface="Arial MT"/>
                <a:cs typeface="Arial MT"/>
              </a:rPr>
              <a:t>cross-</a:t>
            </a:r>
            <a:r>
              <a:rPr sz="1100" spc="-20" dirty="0">
                <a:solidFill>
                  <a:srgbClr val="22373A"/>
                </a:solidFill>
                <a:latin typeface="Arial MT"/>
                <a:cs typeface="Arial MT"/>
              </a:rPr>
              <a:t>host 	context;</a:t>
            </a:r>
            <a:r>
              <a:rPr sz="1100" spc="-15" dirty="0">
                <a:solidFill>
                  <a:srgbClr val="22373A"/>
                </a:solidFill>
                <a:latin typeface="Arial MT"/>
                <a:cs typeface="Arial MT"/>
              </a:rPr>
              <a:t> </a:t>
            </a:r>
            <a:r>
              <a:rPr sz="1100" dirty="0">
                <a:solidFill>
                  <a:srgbClr val="22373A"/>
                </a:solidFill>
                <a:latin typeface="Arial MT"/>
                <a:cs typeface="Arial MT"/>
              </a:rPr>
              <a:t>the</a:t>
            </a:r>
            <a:r>
              <a:rPr sz="1100" spc="-10" dirty="0">
                <a:solidFill>
                  <a:srgbClr val="22373A"/>
                </a:solidFill>
                <a:latin typeface="Arial MT"/>
                <a:cs typeface="Arial MT"/>
              </a:rPr>
              <a:t> </a:t>
            </a:r>
            <a:r>
              <a:rPr sz="1100" spc="-70" dirty="0">
                <a:solidFill>
                  <a:srgbClr val="22373A"/>
                </a:solidFill>
                <a:latin typeface="Arial MT"/>
                <a:cs typeface="Arial MT"/>
              </a:rPr>
              <a:t>highest-</a:t>
            </a:r>
            <a:r>
              <a:rPr sz="1100" spc="-60" dirty="0">
                <a:solidFill>
                  <a:srgbClr val="22373A"/>
                </a:solidFill>
                <a:latin typeface="Arial MT"/>
                <a:cs typeface="Arial MT"/>
              </a:rPr>
              <a:t>leverage</a:t>
            </a:r>
            <a:r>
              <a:rPr sz="1100" spc="-10" dirty="0">
                <a:solidFill>
                  <a:srgbClr val="22373A"/>
                </a:solidFill>
                <a:latin typeface="Arial MT"/>
                <a:cs typeface="Arial MT"/>
              </a:rPr>
              <a:t> change</a:t>
            </a:r>
            <a:endParaRPr sz="1100" dirty="0">
              <a:latin typeface="Arial MT"/>
              <a:cs typeface="Arial MT"/>
            </a:endParaRPr>
          </a:p>
          <a:p>
            <a:pPr marL="148590" indent="-135890">
              <a:lnSpc>
                <a:spcPct val="100000"/>
              </a:lnSpc>
              <a:spcBef>
                <a:spcPts val="540"/>
              </a:spcBef>
              <a:buFont typeface="Arial MT"/>
              <a:buChar char="•"/>
              <a:tabLst>
                <a:tab pos="148590" algn="l"/>
              </a:tabLst>
            </a:pPr>
            <a:r>
              <a:rPr sz="1100" b="1" spc="-10" dirty="0">
                <a:solidFill>
                  <a:srgbClr val="22373A"/>
                </a:solidFill>
                <a:latin typeface="Arial"/>
                <a:cs typeface="Arial"/>
              </a:rPr>
              <a:t>Expert</a:t>
            </a:r>
            <a:r>
              <a:rPr sz="1100" b="1" spc="20" dirty="0">
                <a:solidFill>
                  <a:srgbClr val="22373A"/>
                </a:solidFill>
                <a:latin typeface="Arial"/>
                <a:cs typeface="Arial"/>
              </a:rPr>
              <a:t> </a:t>
            </a:r>
            <a:r>
              <a:rPr sz="1100" b="1" spc="-35" dirty="0">
                <a:solidFill>
                  <a:srgbClr val="22373A"/>
                </a:solidFill>
                <a:latin typeface="Arial"/>
                <a:cs typeface="Arial"/>
              </a:rPr>
              <a:t>evaluation</a:t>
            </a:r>
            <a:r>
              <a:rPr sz="1100" b="1" dirty="0">
                <a:solidFill>
                  <a:srgbClr val="22373A"/>
                </a:solidFill>
                <a:latin typeface="Arial"/>
                <a:cs typeface="Arial"/>
              </a:rPr>
              <a:t> </a:t>
            </a:r>
            <a:r>
              <a:rPr sz="1100" dirty="0">
                <a:solidFill>
                  <a:srgbClr val="22373A"/>
                </a:solidFill>
                <a:latin typeface="Arial MT"/>
                <a:cs typeface="Arial MT"/>
              </a:rPr>
              <a:t>of</a:t>
            </a:r>
            <a:r>
              <a:rPr sz="1100" spc="-5" dirty="0">
                <a:solidFill>
                  <a:srgbClr val="22373A"/>
                </a:solidFill>
                <a:latin typeface="Arial MT"/>
                <a:cs typeface="Arial MT"/>
              </a:rPr>
              <a:t> </a:t>
            </a:r>
            <a:r>
              <a:rPr sz="1100" spc="-20" dirty="0">
                <a:solidFill>
                  <a:srgbClr val="22373A"/>
                </a:solidFill>
                <a:latin typeface="Arial MT"/>
                <a:cs typeface="Arial MT"/>
              </a:rPr>
              <a:t>report</a:t>
            </a:r>
            <a:r>
              <a:rPr sz="1100" spc="-5" dirty="0">
                <a:solidFill>
                  <a:srgbClr val="22373A"/>
                </a:solidFill>
                <a:latin typeface="Arial MT"/>
                <a:cs typeface="Arial MT"/>
              </a:rPr>
              <a:t> </a:t>
            </a:r>
            <a:r>
              <a:rPr sz="1100" spc="-20" dirty="0">
                <a:solidFill>
                  <a:srgbClr val="22373A"/>
                </a:solidFill>
                <a:latin typeface="Arial MT"/>
                <a:cs typeface="Arial MT"/>
              </a:rPr>
              <a:t>quality</a:t>
            </a:r>
            <a:r>
              <a:rPr sz="1100" dirty="0">
                <a:solidFill>
                  <a:srgbClr val="22373A"/>
                </a:solidFill>
                <a:latin typeface="Arial MT"/>
                <a:cs typeface="Arial MT"/>
              </a:rPr>
              <a:t> </a:t>
            </a:r>
            <a:r>
              <a:rPr sz="1100" spc="-75" dirty="0">
                <a:solidFill>
                  <a:srgbClr val="22373A"/>
                </a:solidFill>
                <a:latin typeface="Arial MT"/>
                <a:cs typeface="Arial MT"/>
              </a:rPr>
              <a:t>alongside</a:t>
            </a:r>
            <a:r>
              <a:rPr sz="1100" dirty="0">
                <a:solidFill>
                  <a:srgbClr val="22373A"/>
                </a:solidFill>
                <a:latin typeface="Arial MT"/>
                <a:cs typeface="Arial MT"/>
              </a:rPr>
              <a:t> the</a:t>
            </a:r>
            <a:r>
              <a:rPr sz="1100" spc="-5" dirty="0">
                <a:solidFill>
                  <a:srgbClr val="22373A"/>
                </a:solidFill>
                <a:latin typeface="Arial MT"/>
                <a:cs typeface="Arial MT"/>
              </a:rPr>
              <a:t> </a:t>
            </a:r>
            <a:r>
              <a:rPr sz="1100" spc="-45" dirty="0">
                <a:solidFill>
                  <a:srgbClr val="22373A"/>
                </a:solidFill>
                <a:latin typeface="Arial MT"/>
                <a:cs typeface="Arial MT"/>
              </a:rPr>
              <a:t>automated</a:t>
            </a:r>
            <a:r>
              <a:rPr sz="1100" dirty="0">
                <a:solidFill>
                  <a:srgbClr val="22373A"/>
                </a:solidFill>
                <a:latin typeface="Arial MT"/>
                <a:cs typeface="Arial MT"/>
              </a:rPr>
              <a:t> </a:t>
            </a:r>
            <a:r>
              <a:rPr sz="1100" spc="-10" dirty="0">
                <a:solidFill>
                  <a:srgbClr val="22373A"/>
                </a:solidFill>
                <a:latin typeface="Arial MT"/>
                <a:cs typeface="Arial MT"/>
              </a:rPr>
              <a:t>metrics</a:t>
            </a:r>
            <a:endParaRPr sz="1100" dirty="0">
              <a:latin typeface="Arial MT"/>
              <a:cs typeface="Arial MT"/>
            </a:endParaRPr>
          </a:p>
          <a:p>
            <a:pPr marL="148590" indent="-135890">
              <a:lnSpc>
                <a:spcPct val="100000"/>
              </a:lnSpc>
              <a:spcBef>
                <a:spcPts val="540"/>
              </a:spcBef>
              <a:buFont typeface="Arial MT"/>
              <a:buChar char="•"/>
              <a:tabLst>
                <a:tab pos="148590" algn="l"/>
              </a:tabLst>
            </a:pPr>
            <a:r>
              <a:rPr sz="1100" b="1" spc="-20" dirty="0">
                <a:solidFill>
                  <a:srgbClr val="22373A"/>
                </a:solidFill>
                <a:latin typeface="Arial"/>
                <a:cs typeface="Arial"/>
              </a:rPr>
              <a:t>Live</a:t>
            </a:r>
            <a:r>
              <a:rPr sz="1100" b="1" spc="20" dirty="0">
                <a:solidFill>
                  <a:srgbClr val="22373A"/>
                </a:solidFill>
                <a:latin typeface="Arial"/>
                <a:cs typeface="Arial"/>
              </a:rPr>
              <a:t> </a:t>
            </a:r>
            <a:r>
              <a:rPr sz="1100" b="1" spc="-25" dirty="0">
                <a:solidFill>
                  <a:srgbClr val="22373A"/>
                </a:solidFill>
                <a:latin typeface="Arial"/>
                <a:cs typeface="Arial"/>
              </a:rPr>
              <a:t>stream</a:t>
            </a:r>
            <a:r>
              <a:rPr sz="1100" b="1" spc="20" dirty="0">
                <a:solidFill>
                  <a:srgbClr val="22373A"/>
                </a:solidFill>
                <a:latin typeface="Arial"/>
                <a:cs typeface="Arial"/>
              </a:rPr>
              <a:t> </a:t>
            </a:r>
            <a:r>
              <a:rPr sz="1100" b="1" spc="-50" dirty="0">
                <a:solidFill>
                  <a:srgbClr val="22373A"/>
                </a:solidFill>
                <a:latin typeface="Arial"/>
                <a:cs typeface="Arial"/>
              </a:rPr>
              <a:t>ingestion</a:t>
            </a:r>
            <a:r>
              <a:rPr sz="1100" b="1" spc="-5" dirty="0">
                <a:solidFill>
                  <a:srgbClr val="22373A"/>
                </a:solidFill>
                <a:latin typeface="Arial"/>
                <a:cs typeface="Arial"/>
              </a:rPr>
              <a:t> </a:t>
            </a:r>
            <a:r>
              <a:rPr sz="1100" dirty="0">
                <a:solidFill>
                  <a:srgbClr val="22373A"/>
                </a:solidFill>
                <a:latin typeface="Arial MT"/>
                <a:cs typeface="Arial MT"/>
              </a:rPr>
              <a:t>with</a:t>
            </a:r>
            <a:r>
              <a:rPr sz="1100" spc="-5" dirty="0">
                <a:solidFill>
                  <a:srgbClr val="22373A"/>
                </a:solidFill>
                <a:latin typeface="Arial MT"/>
                <a:cs typeface="Arial MT"/>
              </a:rPr>
              <a:t> </a:t>
            </a:r>
            <a:r>
              <a:rPr sz="1100" spc="-50" dirty="0">
                <a:solidFill>
                  <a:srgbClr val="22373A"/>
                </a:solidFill>
                <a:latin typeface="Arial MT"/>
                <a:cs typeface="Arial MT"/>
              </a:rPr>
              <a:t>sliding-window</a:t>
            </a:r>
            <a:r>
              <a:rPr sz="1100" spc="-10" dirty="0">
                <a:solidFill>
                  <a:srgbClr val="22373A"/>
                </a:solidFill>
                <a:latin typeface="Arial MT"/>
                <a:cs typeface="Arial MT"/>
              </a:rPr>
              <a:t> clustering</a:t>
            </a:r>
            <a:endParaRPr sz="1100" dirty="0">
              <a:latin typeface="Arial MT"/>
              <a:cs typeface="Arial MT"/>
            </a:endParaRPr>
          </a:p>
        </p:txBody>
      </p:sp>
      <p:pic>
        <p:nvPicPr>
          <p:cNvPr id="8" name="object 8"/>
          <p:cNvPicPr/>
          <p:nvPr/>
        </p:nvPicPr>
        <p:blipFill>
          <a:blip r:embed="rId3" cstate="print"/>
          <a:stretch>
            <a:fillRect/>
          </a:stretch>
        </p:blipFill>
        <p:spPr>
          <a:xfrm>
            <a:off x="101282" y="2998905"/>
            <a:ext cx="241983" cy="187117"/>
          </a:xfrm>
          <a:prstGeom prst="rect">
            <a:avLst/>
          </a:prstGeom>
        </p:spPr>
      </p:pic>
      <p:pic>
        <p:nvPicPr>
          <p:cNvPr id="9" name="object 9"/>
          <p:cNvPicPr/>
          <p:nvPr/>
        </p:nvPicPr>
        <p:blipFill>
          <a:blip r:embed="rId4" cstate="print"/>
          <a:stretch>
            <a:fillRect/>
          </a:stretch>
        </p:blipFill>
        <p:spPr>
          <a:xfrm>
            <a:off x="433285" y="2998965"/>
            <a:ext cx="187057" cy="187057"/>
          </a:xfrm>
          <a:prstGeom prst="rect">
            <a:avLst/>
          </a:prstGeom>
        </p:spPr>
      </p:pic>
      <p:pic>
        <p:nvPicPr>
          <p:cNvPr id="10" name="object 10"/>
          <p:cNvPicPr/>
          <p:nvPr/>
        </p:nvPicPr>
        <p:blipFill>
          <a:blip r:embed="rId5" cstate="print"/>
          <a:stretch>
            <a:fillRect/>
          </a:stretch>
        </p:blipFill>
        <p:spPr>
          <a:xfrm>
            <a:off x="710349" y="2998815"/>
            <a:ext cx="187208" cy="187208"/>
          </a:xfrm>
          <a:prstGeom prst="rect">
            <a:avLst/>
          </a:prstGeom>
        </p:spPr>
      </p:pic>
      <p:sp>
        <p:nvSpPr>
          <p:cNvPr id="11" name="object 11"/>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30</a:t>
            </a:r>
            <a:r>
              <a:rPr spc="-80" dirty="0"/>
              <a:t> </a:t>
            </a:r>
            <a:r>
              <a:rPr spc="195" dirty="0"/>
              <a:t>/</a:t>
            </a:r>
            <a:r>
              <a:rPr spc="-75" dirty="0"/>
              <a:t> </a:t>
            </a:r>
            <a:r>
              <a:rPr spc="-25" dirty="0"/>
              <a:t>32</a:t>
            </a:r>
          </a:p>
        </p:txBody>
      </p:sp>
    </p:spTree>
  </p:cSld>
  <p:clrMapOvr>
    <a:masterClrMapping/>
  </p:clrMapOvr>
  <p:transition>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50" dirty="0"/>
              <a:t>References</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5580380" cy="5080"/>
            </a:xfrm>
            <a:custGeom>
              <a:avLst/>
              <a:gdLst/>
              <a:ahLst/>
              <a:cxnLst/>
              <a:rect l="l" t="t" r="r" b="b"/>
              <a:pathLst>
                <a:path w="5580380" h="5079">
                  <a:moveTo>
                    <a:pt x="0" y="5060"/>
                  </a:moveTo>
                  <a:lnTo>
                    <a:pt x="0" y="0"/>
                  </a:lnTo>
                  <a:lnTo>
                    <a:pt x="5580071" y="0"/>
                  </a:lnTo>
                  <a:lnTo>
                    <a:pt x="5580071" y="5060"/>
                  </a:lnTo>
                  <a:lnTo>
                    <a:pt x="0" y="5060"/>
                  </a:lnTo>
                  <a:close/>
                </a:path>
              </a:pathLst>
            </a:custGeom>
            <a:solidFill>
              <a:srgbClr val="2D7DB8"/>
            </a:solidFill>
          </p:spPr>
          <p:txBody>
            <a:bodyPr wrap="square" lIns="0" tIns="0" rIns="0" bIns="0" rtlCol="0"/>
            <a:lstStyle/>
            <a:p>
              <a:endParaRPr/>
            </a:p>
          </p:txBody>
        </p:sp>
      </p:grpSp>
      <p:sp>
        <p:nvSpPr>
          <p:cNvPr id="7" name="object 7"/>
          <p:cNvSpPr txBox="1"/>
          <p:nvPr/>
        </p:nvSpPr>
        <p:spPr>
          <a:xfrm>
            <a:off x="347294" y="401966"/>
            <a:ext cx="104139"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22373A"/>
                </a:solidFill>
                <a:latin typeface="Lucida Sans Unicode"/>
                <a:cs typeface="Lucida Sans Unicode"/>
              </a:rPr>
              <a:t>►</a:t>
            </a:r>
            <a:endParaRPr sz="800">
              <a:latin typeface="Lucida Sans Unicode"/>
              <a:cs typeface="Lucida Sans Unicode"/>
            </a:endParaRPr>
          </a:p>
        </p:txBody>
      </p:sp>
      <p:sp>
        <p:nvSpPr>
          <p:cNvPr id="8" name="object 8"/>
          <p:cNvSpPr txBox="1"/>
          <p:nvPr/>
        </p:nvSpPr>
        <p:spPr>
          <a:xfrm>
            <a:off x="347294" y="980667"/>
            <a:ext cx="104139"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22373A"/>
                </a:solidFill>
                <a:latin typeface="Lucida Sans Unicode"/>
                <a:cs typeface="Lucida Sans Unicode"/>
              </a:rPr>
              <a:t>►</a:t>
            </a:r>
            <a:endParaRPr sz="800">
              <a:latin typeface="Lucida Sans Unicode"/>
              <a:cs typeface="Lucida Sans Unicode"/>
            </a:endParaRPr>
          </a:p>
        </p:txBody>
      </p:sp>
      <p:sp>
        <p:nvSpPr>
          <p:cNvPr id="9" name="object 9"/>
          <p:cNvSpPr txBox="1"/>
          <p:nvPr/>
        </p:nvSpPr>
        <p:spPr>
          <a:xfrm>
            <a:off x="347294" y="1557488"/>
            <a:ext cx="104139"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22373A"/>
                </a:solidFill>
                <a:latin typeface="Lucida Sans Unicode"/>
                <a:cs typeface="Lucida Sans Unicode"/>
              </a:rPr>
              <a:t>►</a:t>
            </a:r>
            <a:endParaRPr sz="800">
              <a:latin typeface="Lucida Sans Unicode"/>
              <a:cs typeface="Lucida Sans Unicode"/>
            </a:endParaRPr>
          </a:p>
        </p:txBody>
      </p:sp>
      <p:sp>
        <p:nvSpPr>
          <p:cNvPr id="10" name="object 10"/>
          <p:cNvSpPr txBox="1"/>
          <p:nvPr/>
        </p:nvSpPr>
        <p:spPr>
          <a:xfrm>
            <a:off x="347294" y="2251594"/>
            <a:ext cx="104139"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22373A"/>
                </a:solidFill>
                <a:latin typeface="Lucida Sans Unicode"/>
                <a:cs typeface="Lucida Sans Unicode"/>
              </a:rPr>
              <a:t>►</a:t>
            </a:r>
            <a:endParaRPr sz="800">
              <a:latin typeface="Lucida Sans Unicode"/>
              <a:cs typeface="Lucida Sans Unicode"/>
            </a:endParaRPr>
          </a:p>
        </p:txBody>
      </p:sp>
      <p:sp>
        <p:nvSpPr>
          <p:cNvPr id="11" name="object 11"/>
          <p:cNvSpPr txBox="1"/>
          <p:nvPr/>
        </p:nvSpPr>
        <p:spPr>
          <a:xfrm>
            <a:off x="583311" y="380452"/>
            <a:ext cx="4829175" cy="2564130"/>
          </a:xfrm>
          <a:prstGeom prst="rect">
            <a:avLst/>
          </a:prstGeom>
        </p:spPr>
        <p:txBody>
          <a:bodyPr vert="horz" wrap="square" lIns="0" tIns="38100" rIns="0" bIns="0" rtlCol="0">
            <a:spAutoFit/>
          </a:bodyPr>
          <a:lstStyle/>
          <a:p>
            <a:pPr marL="12700" marR="5080">
              <a:lnSpc>
                <a:spcPct val="83900"/>
              </a:lnSpc>
              <a:spcBef>
                <a:spcPts val="300"/>
              </a:spcBef>
            </a:pPr>
            <a:r>
              <a:rPr sz="1100" dirty="0">
                <a:solidFill>
                  <a:srgbClr val="22373A"/>
                </a:solidFill>
                <a:latin typeface="Arial MT"/>
                <a:cs typeface="Arial MT"/>
              </a:rPr>
              <a:t>L.</a:t>
            </a:r>
            <a:r>
              <a:rPr sz="1100" spc="-20" dirty="0">
                <a:solidFill>
                  <a:srgbClr val="22373A"/>
                </a:solidFill>
                <a:latin typeface="Arial MT"/>
                <a:cs typeface="Arial MT"/>
              </a:rPr>
              <a:t> </a:t>
            </a:r>
            <a:r>
              <a:rPr sz="1100" spc="-65" dirty="0">
                <a:solidFill>
                  <a:srgbClr val="22373A"/>
                </a:solidFill>
                <a:latin typeface="Arial MT"/>
                <a:cs typeface="Arial MT"/>
              </a:rPr>
              <a:t>Gao,</a:t>
            </a:r>
            <a:r>
              <a:rPr sz="1100" spc="-5" dirty="0">
                <a:solidFill>
                  <a:srgbClr val="22373A"/>
                </a:solidFill>
                <a:latin typeface="Arial MT"/>
                <a:cs typeface="Arial MT"/>
              </a:rPr>
              <a:t> </a:t>
            </a:r>
            <a:r>
              <a:rPr sz="1100" dirty="0">
                <a:solidFill>
                  <a:srgbClr val="22373A"/>
                </a:solidFill>
                <a:latin typeface="Arial MT"/>
                <a:cs typeface="Arial MT"/>
              </a:rPr>
              <a:t>X.</a:t>
            </a:r>
            <a:r>
              <a:rPr sz="1100" spc="-5" dirty="0">
                <a:solidFill>
                  <a:srgbClr val="22373A"/>
                </a:solidFill>
                <a:latin typeface="Arial MT"/>
                <a:cs typeface="Arial MT"/>
              </a:rPr>
              <a:t> </a:t>
            </a:r>
            <a:r>
              <a:rPr sz="1100" dirty="0">
                <a:solidFill>
                  <a:srgbClr val="22373A"/>
                </a:solidFill>
                <a:latin typeface="Arial MT"/>
                <a:cs typeface="Arial MT"/>
              </a:rPr>
              <a:t>Ma, J.</a:t>
            </a:r>
            <a:r>
              <a:rPr sz="1100" spc="-5" dirty="0">
                <a:solidFill>
                  <a:srgbClr val="22373A"/>
                </a:solidFill>
                <a:latin typeface="Arial MT"/>
                <a:cs typeface="Arial MT"/>
              </a:rPr>
              <a:t> </a:t>
            </a:r>
            <a:r>
              <a:rPr sz="1100" dirty="0">
                <a:solidFill>
                  <a:srgbClr val="22373A"/>
                </a:solidFill>
                <a:latin typeface="Arial MT"/>
                <a:cs typeface="Arial MT"/>
              </a:rPr>
              <a:t>Lin,</a:t>
            </a:r>
            <a:r>
              <a:rPr sz="1100" spc="-5" dirty="0">
                <a:solidFill>
                  <a:srgbClr val="22373A"/>
                </a:solidFill>
                <a:latin typeface="Arial MT"/>
                <a:cs typeface="Arial MT"/>
              </a:rPr>
              <a:t> </a:t>
            </a:r>
            <a:r>
              <a:rPr sz="1100" spc="-55" dirty="0">
                <a:solidFill>
                  <a:srgbClr val="22373A"/>
                </a:solidFill>
                <a:latin typeface="Arial MT"/>
                <a:cs typeface="Arial MT"/>
              </a:rPr>
              <a:t>and</a:t>
            </a:r>
            <a:r>
              <a:rPr sz="1100" dirty="0">
                <a:solidFill>
                  <a:srgbClr val="22373A"/>
                </a:solidFill>
                <a:latin typeface="Arial MT"/>
                <a:cs typeface="Arial MT"/>
              </a:rPr>
              <a:t> J.</a:t>
            </a:r>
            <a:r>
              <a:rPr sz="1100" spc="-5" dirty="0">
                <a:solidFill>
                  <a:srgbClr val="22373A"/>
                </a:solidFill>
                <a:latin typeface="Arial MT"/>
                <a:cs typeface="Arial MT"/>
              </a:rPr>
              <a:t> </a:t>
            </a:r>
            <a:r>
              <a:rPr sz="1100" spc="-35" dirty="0">
                <a:solidFill>
                  <a:srgbClr val="22373A"/>
                </a:solidFill>
                <a:latin typeface="Arial MT"/>
                <a:cs typeface="Arial MT"/>
              </a:rPr>
              <a:t>Callan,</a:t>
            </a:r>
            <a:r>
              <a:rPr sz="1100" spc="25" dirty="0">
                <a:solidFill>
                  <a:srgbClr val="22373A"/>
                </a:solidFill>
                <a:latin typeface="Arial MT"/>
                <a:cs typeface="Arial MT"/>
              </a:rPr>
              <a:t> </a:t>
            </a:r>
            <a:r>
              <a:rPr sz="1100" b="1" spc="-160" dirty="0">
                <a:solidFill>
                  <a:srgbClr val="22373A"/>
                </a:solidFill>
                <a:latin typeface="Arial"/>
                <a:cs typeface="Arial"/>
              </a:rPr>
              <a:t>“</a:t>
            </a:r>
            <a:r>
              <a:rPr sz="1100" b="1" spc="-204" dirty="0">
                <a:solidFill>
                  <a:srgbClr val="22373A"/>
                </a:solidFill>
                <a:latin typeface="Arial"/>
                <a:cs typeface="Arial"/>
              </a:rPr>
              <a:t> </a:t>
            </a:r>
            <a:r>
              <a:rPr sz="1100" b="1" spc="-50" dirty="0">
                <a:solidFill>
                  <a:srgbClr val="22373A"/>
                </a:solidFill>
                <a:latin typeface="Arial"/>
                <a:cs typeface="Arial"/>
              </a:rPr>
              <a:t>Precise</a:t>
            </a:r>
            <a:r>
              <a:rPr sz="1100" b="1" spc="25" dirty="0">
                <a:solidFill>
                  <a:srgbClr val="22373A"/>
                </a:solidFill>
                <a:latin typeface="Arial"/>
                <a:cs typeface="Arial"/>
              </a:rPr>
              <a:t> </a:t>
            </a:r>
            <a:r>
              <a:rPr sz="1100" b="1" spc="-35" dirty="0">
                <a:solidFill>
                  <a:srgbClr val="22373A"/>
                </a:solidFill>
                <a:latin typeface="Arial"/>
                <a:cs typeface="Arial"/>
              </a:rPr>
              <a:t>Zero-</a:t>
            </a:r>
            <a:r>
              <a:rPr sz="1100" b="1" dirty="0">
                <a:solidFill>
                  <a:srgbClr val="22373A"/>
                </a:solidFill>
                <a:latin typeface="Arial"/>
                <a:cs typeface="Arial"/>
              </a:rPr>
              <a:t>Shot</a:t>
            </a:r>
            <a:r>
              <a:rPr sz="1100" b="1" spc="25" dirty="0">
                <a:solidFill>
                  <a:srgbClr val="22373A"/>
                </a:solidFill>
                <a:latin typeface="Arial"/>
                <a:cs typeface="Arial"/>
              </a:rPr>
              <a:t> </a:t>
            </a:r>
            <a:r>
              <a:rPr sz="1100" b="1" spc="-45" dirty="0">
                <a:solidFill>
                  <a:srgbClr val="22373A"/>
                </a:solidFill>
                <a:latin typeface="Arial"/>
                <a:cs typeface="Arial"/>
              </a:rPr>
              <a:t>Dense</a:t>
            </a:r>
            <a:r>
              <a:rPr sz="1100" b="1" spc="30" dirty="0">
                <a:solidFill>
                  <a:srgbClr val="22373A"/>
                </a:solidFill>
                <a:latin typeface="Arial"/>
                <a:cs typeface="Arial"/>
              </a:rPr>
              <a:t> </a:t>
            </a:r>
            <a:r>
              <a:rPr sz="1100" b="1" spc="-10" dirty="0">
                <a:solidFill>
                  <a:srgbClr val="22373A"/>
                </a:solidFill>
                <a:latin typeface="Arial"/>
                <a:cs typeface="Arial"/>
              </a:rPr>
              <a:t>Retrieval without</a:t>
            </a:r>
            <a:r>
              <a:rPr sz="1100" b="1" spc="25" dirty="0">
                <a:solidFill>
                  <a:srgbClr val="22373A"/>
                </a:solidFill>
                <a:latin typeface="Arial"/>
                <a:cs typeface="Arial"/>
              </a:rPr>
              <a:t> </a:t>
            </a:r>
            <a:r>
              <a:rPr sz="1100" b="1" spc="-50" dirty="0">
                <a:solidFill>
                  <a:srgbClr val="22373A"/>
                </a:solidFill>
                <a:latin typeface="Arial"/>
                <a:cs typeface="Arial"/>
              </a:rPr>
              <a:t>Relevance</a:t>
            </a:r>
            <a:r>
              <a:rPr sz="1100" b="1" spc="25" dirty="0">
                <a:solidFill>
                  <a:srgbClr val="22373A"/>
                </a:solidFill>
                <a:latin typeface="Arial"/>
                <a:cs typeface="Arial"/>
              </a:rPr>
              <a:t> </a:t>
            </a:r>
            <a:r>
              <a:rPr sz="1100" b="1" spc="-45" dirty="0">
                <a:solidFill>
                  <a:srgbClr val="22373A"/>
                </a:solidFill>
                <a:latin typeface="Arial"/>
                <a:cs typeface="Arial"/>
              </a:rPr>
              <a:t>Labels,”</a:t>
            </a:r>
            <a:r>
              <a:rPr sz="1100" b="1" spc="50" dirty="0">
                <a:solidFill>
                  <a:srgbClr val="22373A"/>
                </a:solidFill>
                <a:latin typeface="Arial"/>
                <a:cs typeface="Arial"/>
              </a:rPr>
              <a:t> </a:t>
            </a:r>
            <a:r>
              <a:rPr sz="1000" dirty="0">
                <a:solidFill>
                  <a:srgbClr val="6E7B7D"/>
                </a:solidFill>
                <a:latin typeface="Arial MT"/>
                <a:cs typeface="Arial MT"/>
              </a:rPr>
              <a:t>in </a:t>
            </a:r>
            <a:r>
              <a:rPr sz="1000" i="1" spc="-50" dirty="0">
                <a:solidFill>
                  <a:srgbClr val="6E7B7D"/>
                </a:solidFill>
                <a:latin typeface="Arial"/>
                <a:cs typeface="Arial"/>
              </a:rPr>
              <a:t>Proceedings</a:t>
            </a:r>
            <a:r>
              <a:rPr sz="1000" i="1" spc="-5" dirty="0">
                <a:solidFill>
                  <a:srgbClr val="6E7B7D"/>
                </a:solidFill>
                <a:latin typeface="Arial"/>
                <a:cs typeface="Arial"/>
              </a:rPr>
              <a:t> </a:t>
            </a:r>
            <a:r>
              <a:rPr sz="1000" i="1" dirty="0">
                <a:solidFill>
                  <a:srgbClr val="6E7B7D"/>
                </a:solidFill>
                <a:latin typeface="Arial"/>
                <a:cs typeface="Arial"/>
              </a:rPr>
              <a:t>of the</a:t>
            </a:r>
            <a:r>
              <a:rPr sz="1000" i="1" spc="-5" dirty="0">
                <a:solidFill>
                  <a:srgbClr val="6E7B7D"/>
                </a:solidFill>
                <a:latin typeface="Arial"/>
                <a:cs typeface="Arial"/>
              </a:rPr>
              <a:t> </a:t>
            </a:r>
            <a:r>
              <a:rPr sz="1000" i="1" spc="-20" dirty="0">
                <a:solidFill>
                  <a:srgbClr val="6E7B7D"/>
                </a:solidFill>
                <a:latin typeface="Arial"/>
                <a:cs typeface="Arial"/>
              </a:rPr>
              <a:t>61st</a:t>
            </a:r>
            <a:r>
              <a:rPr sz="1000" i="1" spc="-5" dirty="0">
                <a:solidFill>
                  <a:srgbClr val="6E7B7D"/>
                </a:solidFill>
                <a:latin typeface="Arial"/>
                <a:cs typeface="Arial"/>
              </a:rPr>
              <a:t> </a:t>
            </a:r>
            <a:r>
              <a:rPr sz="1000" i="1" spc="-25" dirty="0">
                <a:solidFill>
                  <a:srgbClr val="6E7B7D"/>
                </a:solidFill>
                <a:latin typeface="Arial"/>
                <a:cs typeface="Arial"/>
              </a:rPr>
              <a:t>Annual</a:t>
            </a:r>
            <a:r>
              <a:rPr sz="1000" i="1" spc="-5" dirty="0">
                <a:solidFill>
                  <a:srgbClr val="6E7B7D"/>
                </a:solidFill>
                <a:latin typeface="Arial"/>
                <a:cs typeface="Arial"/>
              </a:rPr>
              <a:t> </a:t>
            </a:r>
            <a:r>
              <a:rPr sz="1000" i="1" spc="-20" dirty="0">
                <a:solidFill>
                  <a:srgbClr val="6E7B7D"/>
                </a:solidFill>
                <a:latin typeface="Arial"/>
                <a:cs typeface="Arial"/>
              </a:rPr>
              <a:t>Meeting</a:t>
            </a:r>
            <a:r>
              <a:rPr sz="1000" i="1" dirty="0">
                <a:solidFill>
                  <a:srgbClr val="6E7B7D"/>
                </a:solidFill>
                <a:latin typeface="Arial"/>
                <a:cs typeface="Arial"/>
              </a:rPr>
              <a:t> of</a:t>
            </a:r>
            <a:r>
              <a:rPr sz="1000" i="1" spc="-5" dirty="0">
                <a:solidFill>
                  <a:srgbClr val="6E7B7D"/>
                </a:solidFill>
                <a:latin typeface="Arial"/>
                <a:cs typeface="Arial"/>
              </a:rPr>
              <a:t> </a:t>
            </a:r>
            <a:r>
              <a:rPr sz="1000" i="1" spc="-25" dirty="0">
                <a:solidFill>
                  <a:srgbClr val="6E7B7D"/>
                </a:solidFill>
                <a:latin typeface="Arial"/>
                <a:cs typeface="Arial"/>
              </a:rPr>
              <a:t>the </a:t>
            </a:r>
            <a:r>
              <a:rPr sz="1000" i="1" spc="-35" dirty="0">
                <a:solidFill>
                  <a:srgbClr val="6E7B7D"/>
                </a:solidFill>
                <a:latin typeface="Arial"/>
                <a:cs typeface="Arial"/>
              </a:rPr>
              <a:t>Association</a:t>
            </a:r>
            <a:r>
              <a:rPr sz="1000" i="1" dirty="0">
                <a:solidFill>
                  <a:srgbClr val="6E7B7D"/>
                </a:solidFill>
                <a:latin typeface="Arial"/>
                <a:cs typeface="Arial"/>
              </a:rPr>
              <a:t> for</a:t>
            </a:r>
            <a:r>
              <a:rPr sz="1000" i="1" spc="5" dirty="0">
                <a:solidFill>
                  <a:srgbClr val="6E7B7D"/>
                </a:solidFill>
                <a:latin typeface="Arial"/>
                <a:cs typeface="Arial"/>
              </a:rPr>
              <a:t> </a:t>
            </a:r>
            <a:r>
              <a:rPr sz="1000" i="1" spc="-30" dirty="0">
                <a:solidFill>
                  <a:srgbClr val="6E7B7D"/>
                </a:solidFill>
                <a:latin typeface="Arial"/>
                <a:cs typeface="Arial"/>
              </a:rPr>
              <a:t>Computational</a:t>
            </a:r>
            <a:r>
              <a:rPr sz="1000" i="1" dirty="0">
                <a:solidFill>
                  <a:srgbClr val="6E7B7D"/>
                </a:solidFill>
                <a:latin typeface="Arial"/>
                <a:cs typeface="Arial"/>
              </a:rPr>
              <a:t> </a:t>
            </a:r>
            <a:r>
              <a:rPr sz="1000" i="1" spc="-25" dirty="0">
                <a:solidFill>
                  <a:srgbClr val="6E7B7D"/>
                </a:solidFill>
                <a:latin typeface="Arial"/>
                <a:cs typeface="Arial"/>
              </a:rPr>
              <a:t>Linguistics</a:t>
            </a:r>
            <a:r>
              <a:rPr sz="1000" i="1" spc="5" dirty="0">
                <a:solidFill>
                  <a:srgbClr val="6E7B7D"/>
                </a:solidFill>
                <a:latin typeface="Arial"/>
                <a:cs typeface="Arial"/>
              </a:rPr>
              <a:t> </a:t>
            </a:r>
            <a:r>
              <a:rPr sz="1000" i="1" spc="-25" dirty="0">
                <a:solidFill>
                  <a:srgbClr val="6E7B7D"/>
                </a:solidFill>
                <a:latin typeface="Arial"/>
                <a:cs typeface="Arial"/>
              </a:rPr>
              <a:t>(Volume</a:t>
            </a:r>
            <a:r>
              <a:rPr sz="1000" i="1" spc="5" dirty="0">
                <a:solidFill>
                  <a:srgbClr val="6E7B7D"/>
                </a:solidFill>
                <a:latin typeface="Arial"/>
                <a:cs typeface="Arial"/>
              </a:rPr>
              <a:t> </a:t>
            </a:r>
            <a:r>
              <a:rPr sz="1000" i="1" dirty="0">
                <a:solidFill>
                  <a:srgbClr val="6E7B7D"/>
                </a:solidFill>
                <a:latin typeface="Arial"/>
                <a:cs typeface="Arial"/>
              </a:rPr>
              <a:t>1: </a:t>
            </a:r>
            <a:r>
              <a:rPr sz="1000" i="1" spc="-20" dirty="0">
                <a:solidFill>
                  <a:srgbClr val="6E7B7D"/>
                </a:solidFill>
                <a:latin typeface="Arial"/>
                <a:cs typeface="Arial"/>
              </a:rPr>
              <a:t>Long</a:t>
            </a:r>
            <a:r>
              <a:rPr sz="1000" i="1" spc="5" dirty="0">
                <a:solidFill>
                  <a:srgbClr val="6E7B7D"/>
                </a:solidFill>
                <a:latin typeface="Arial"/>
                <a:cs typeface="Arial"/>
              </a:rPr>
              <a:t> </a:t>
            </a:r>
            <a:r>
              <a:rPr sz="1000" i="1" spc="-40" dirty="0">
                <a:solidFill>
                  <a:srgbClr val="6E7B7D"/>
                </a:solidFill>
                <a:latin typeface="Arial"/>
                <a:cs typeface="Arial"/>
              </a:rPr>
              <a:t>Papers)</a:t>
            </a:r>
            <a:r>
              <a:rPr sz="1000" spc="-40" dirty="0">
                <a:solidFill>
                  <a:srgbClr val="6E7B7D"/>
                </a:solidFill>
                <a:latin typeface="Arial MT"/>
                <a:cs typeface="Arial MT"/>
              </a:rPr>
              <a:t>,</a:t>
            </a:r>
            <a:r>
              <a:rPr sz="1000" spc="5" dirty="0">
                <a:solidFill>
                  <a:srgbClr val="6E7B7D"/>
                </a:solidFill>
                <a:latin typeface="Arial MT"/>
                <a:cs typeface="Arial MT"/>
              </a:rPr>
              <a:t> </a:t>
            </a:r>
            <a:r>
              <a:rPr sz="1000" spc="-35" dirty="0">
                <a:solidFill>
                  <a:srgbClr val="6E7B7D"/>
                </a:solidFill>
                <a:latin typeface="Arial MT"/>
                <a:cs typeface="Arial MT"/>
              </a:rPr>
              <a:t>Association</a:t>
            </a:r>
            <a:r>
              <a:rPr sz="1000" dirty="0">
                <a:solidFill>
                  <a:srgbClr val="6E7B7D"/>
                </a:solidFill>
                <a:latin typeface="Arial MT"/>
                <a:cs typeface="Arial MT"/>
              </a:rPr>
              <a:t> </a:t>
            </a:r>
            <a:r>
              <a:rPr sz="1000" spc="-25" dirty="0">
                <a:solidFill>
                  <a:srgbClr val="6E7B7D"/>
                </a:solidFill>
                <a:latin typeface="Arial MT"/>
                <a:cs typeface="Arial MT"/>
              </a:rPr>
              <a:t>for </a:t>
            </a:r>
            <a:r>
              <a:rPr sz="1000" spc="-30" dirty="0">
                <a:solidFill>
                  <a:srgbClr val="6E7B7D"/>
                </a:solidFill>
                <a:latin typeface="Arial MT"/>
                <a:cs typeface="Arial MT"/>
              </a:rPr>
              <a:t>Computational</a:t>
            </a:r>
            <a:r>
              <a:rPr sz="1000" spc="155" dirty="0">
                <a:solidFill>
                  <a:srgbClr val="6E7B7D"/>
                </a:solidFill>
                <a:latin typeface="Arial MT"/>
                <a:cs typeface="Arial MT"/>
              </a:rPr>
              <a:t> </a:t>
            </a:r>
            <a:r>
              <a:rPr sz="1000" spc="-30" dirty="0">
                <a:solidFill>
                  <a:srgbClr val="6E7B7D"/>
                </a:solidFill>
                <a:latin typeface="Arial MT"/>
                <a:cs typeface="Arial MT"/>
              </a:rPr>
              <a:t>Linguistics,</a:t>
            </a:r>
            <a:r>
              <a:rPr sz="1000" spc="155" dirty="0">
                <a:solidFill>
                  <a:srgbClr val="6E7B7D"/>
                </a:solidFill>
                <a:latin typeface="Arial MT"/>
                <a:cs typeface="Arial MT"/>
              </a:rPr>
              <a:t> </a:t>
            </a:r>
            <a:r>
              <a:rPr sz="1000" spc="-35" dirty="0">
                <a:solidFill>
                  <a:srgbClr val="6E7B7D"/>
                </a:solidFill>
                <a:latin typeface="Arial MT"/>
                <a:cs typeface="Arial MT"/>
              </a:rPr>
              <a:t>2023,</a:t>
            </a:r>
            <a:r>
              <a:rPr sz="1000" spc="160" dirty="0">
                <a:solidFill>
                  <a:srgbClr val="6E7B7D"/>
                </a:solidFill>
                <a:latin typeface="Arial MT"/>
                <a:cs typeface="Arial MT"/>
              </a:rPr>
              <a:t> </a:t>
            </a:r>
            <a:r>
              <a:rPr sz="1000" dirty="0">
                <a:solidFill>
                  <a:srgbClr val="6E7B7D"/>
                </a:solidFill>
                <a:latin typeface="Arial MT"/>
                <a:cs typeface="Arial MT"/>
              </a:rPr>
              <a:t>pp.</a:t>
            </a:r>
            <a:r>
              <a:rPr sz="1000" spc="155" dirty="0">
                <a:solidFill>
                  <a:srgbClr val="6E7B7D"/>
                </a:solidFill>
                <a:latin typeface="Arial MT"/>
                <a:cs typeface="Arial MT"/>
              </a:rPr>
              <a:t> </a:t>
            </a:r>
            <a:r>
              <a:rPr sz="1000" spc="-60" dirty="0">
                <a:solidFill>
                  <a:srgbClr val="6E7B7D"/>
                </a:solidFill>
                <a:latin typeface="Arial MT"/>
                <a:cs typeface="Arial MT"/>
              </a:rPr>
              <a:t>1762–</a:t>
            </a:r>
            <a:r>
              <a:rPr sz="1000" spc="-35" dirty="0">
                <a:solidFill>
                  <a:srgbClr val="6E7B7D"/>
                </a:solidFill>
                <a:latin typeface="Arial MT"/>
                <a:cs typeface="Arial MT"/>
              </a:rPr>
              <a:t>1777.</a:t>
            </a:r>
            <a:r>
              <a:rPr sz="1000" spc="155" dirty="0">
                <a:solidFill>
                  <a:srgbClr val="6E7B7D"/>
                </a:solidFill>
                <a:latin typeface="Arial MT"/>
                <a:cs typeface="Arial MT"/>
              </a:rPr>
              <a:t> </a:t>
            </a:r>
            <a:r>
              <a:rPr sz="1000" spc="50" dirty="0">
                <a:solidFill>
                  <a:srgbClr val="6E7B7D"/>
                </a:solidFill>
                <a:latin typeface="Cambria"/>
                <a:cs typeface="Cambria"/>
              </a:rPr>
              <a:t>doi</a:t>
            </a:r>
            <a:r>
              <a:rPr sz="1000" spc="50" dirty="0">
                <a:solidFill>
                  <a:srgbClr val="6E7B7D"/>
                </a:solidFill>
                <a:latin typeface="Arial MT"/>
                <a:cs typeface="Arial MT"/>
              </a:rPr>
              <a:t>:</a:t>
            </a:r>
            <a:r>
              <a:rPr sz="1000" spc="160" dirty="0">
                <a:solidFill>
                  <a:srgbClr val="6E7B7D"/>
                </a:solidFill>
                <a:latin typeface="Arial MT"/>
                <a:cs typeface="Arial MT"/>
              </a:rPr>
              <a:t> </a:t>
            </a:r>
            <a:r>
              <a:rPr sz="1000" dirty="0">
                <a:solidFill>
                  <a:srgbClr val="6E7B7D"/>
                </a:solidFill>
                <a:latin typeface="Cambria"/>
                <a:cs typeface="Cambria"/>
                <a:hlinkClick r:id="rId3"/>
              </a:rPr>
              <a:t>10.18653/v1/2023.acl-</a:t>
            </a:r>
            <a:r>
              <a:rPr sz="1000" spc="40" dirty="0">
                <a:solidFill>
                  <a:srgbClr val="6E7B7D"/>
                </a:solidFill>
                <a:latin typeface="Cambria"/>
                <a:cs typeface="Cambria"/>
                <a:hlinkClick r:id="rId3"/>
              </a:rPr>
              <a:t>long.99</a:t>
            </a:r>
            <a:r>
              <a:rPr sz="1000" spc="40" dirty="0">
                <a:solidFill>
                  <a:srgbClr val="6E7B7D"/>
                </a:solidFill>
                <a:latin typeface="Arial MT"/>
                <a:cs typeface="Arial MT"/>
              </a:rPr>
              <a:t>.</a:t>
            </a:r>
            <a:endParaRPr sz="1000">
              <a:latin typeface="Arial MT"/>
              <a:cs typeface="Arial MT"/>
            </a:endParaRPr>
          </a:p>
          <a:p>
            <a:pPr marL="12700" marR="176530">
              <a:lnSpc>
                <a:spcPct val="83500"/>
              </a:lnSpc>
              <a:spcBef>
                <a:spcPts val="340"/>
              </a:spcBef>
            </a:pPr>
            <a:r>
              <a:rPr sz="1100" spc="-10" dirty="0">
                <a:solidFill>
                  <a:srgbClr val="22373A"/>
                </a:solidFill>
                <a:latin typeface="Arial MT"/>
                <a:cs typeface="Arial MT"/>
              </a:rPr>
              <a:t>S.</a:t>
            </a:r>
            <a:r>
              <a:rPr sz="1100" spc="-5" dirty="0">
                <a:solidFill>
                  <a:srgbClr val="22373A"/>
                </a:solidFill>
                <a:latin typeface="Arial MT"/>
                <a:cs typeface="Arial MT"/>
              </a:rPr>
              <a:t> </a:t>
            </a:r>
            <a:r>
              <a:rPr sz="1100" spc="-70" dirty="0">
                <a:solidFill>
                  <a:srgbClr val="22373A"/>
                </a:solidFill>
                <a:latin typeface="Arial MT"/>
                <a:cs typeface="Arial MT"/>
              </a:rPr>
              <a:t>Geng,</a:t>
            </a:r>
            <a:r>
              <a:rPr sz="1100" spc="10" dirty="0">
                <a:solidFill>
                  <a:srgbClr val="22373A"/>
                </a:solidFill>
                <a:latin typeface="Arial MT"/>
                <a:cs typeface="Arial MT"/>
              </a:rPr>
              <a:t> </a:t>
            </a:r>
            <a:r>
              <a:rPr sz="1100" dirty="0">
                <a:solidFill>
                  <a:srgbClr val="22373A"/>
                </a:solidFill>
                <a:latin typeface="Arial MT"/>
                <a:cs typeface="Arial MT"/>
              </a:rPr>
              <a:t>M.</a:t>
            </a:r>
            <a:r>
              <a:rPr sz="1100" spc="10" dirty="0">
                <a:solidFill>
                  <a:srgbClr val="22373A"/>
                </a:solidFill>
                <a:latin typeface="Arial MT"/>
                <a:cs typeface="Arial MT"/>
              </a:rPr>
              <a:t> </a:t>
            </a:r>
            <a:r>
              <a:rPr sz="1100" spc="-40" dirty="0">
                <a:solidFill>
                  <a:srgbClr val="22373A"/>
                </a:solidFill>
                <a:latin typeface="Arial MT"/>
                <a:cs typeface="Arial MT"/>
              </a:rPr>
              <a:t>Josifoski,</a:t>
            </a:r>
            <a:r>
              <a:rPr sz="1100" spc="10" dirty="0">
                <a:solidFill>
                  <a:srgbClr val="22373A"/>
                </a:solidFill>
                <a:latin typeface="Arial MT"/>
                <a:cs typeface="Arial MT"/>
              </a:rPr>
              <a:t> </a:t>
            </a:r>
            <a:r>
              <a:rPr sz="1100" dirty="0">
                <a:solidFill>
                  <a:srgbClr val="22373A"/>
                </a:solidFill>
                <a:latin typeface="Arial MT"/>
                <a:cs typeface="Arial MT"/>
              </a:rPr>
              <a:t>M.</a:t>
            </a:r>
            <a:r>
              <a:rPr sz="1100" spc="5" dirty="0">
                <a:solidFill>
                  <a:srgbClr val="22373A"/>
                </a:solidFill>
                <a:latin typeface="Arial MT"/>
                <a:cs typeface="Arial MT"/>
              </a:rPr>
              <a:t> </a:t>
            </a:r>
            <a:r>
              <a:rPr sz="1100" spc="-50" dirty="0">
                <a:solidFill>
                  <a:srgbClr val="22373A"/>
                </a:solidFill>
                <a:latin typeface="Arial MT"/>
                <a:cs typeface="Arial MT"/>
              </a:rPr>
              <a:t>Peyrard,</a:t>
            </a:r>
            <a:r>
              <a:rPr sz="1100" spc="10" dirty="0">
                <a:solidFill>
                  <a:srgbClr val="22373A"/>
                </a:solidFill>
                <a:latin typeface="Arial MT"/>
                <a:cs typeface="Arial MT"/>
              </a:rPr>
              <a:t> </a:t>
            </a:r>
            <a:r>
              <a:rPr sz="1100" spc="-55" dirty="0">
                <a:solidFill>
                  <a:srgbClr val="22373A"/>
                </a:solidFill>
                <a:latin typeface="Arial MT"/>
                <a:cs typeface="Arial MT"/>
              </a:rPr>
              <a:t>and</a:t>
            </a:r>
            <a:r>
              <a:rPr sz="1100" spc="10" dirty="0">
                <a:solidFill>
                  <a:srgbClr val="22373A"/>
                </a:solidFill>
                <a:latin typeface="Arial MT"/>
                <a:cs typeface="Arial MT"/>
              </a:rPr>
              <a:t> </a:t>
            </a:r>
            <a:r>
              <a:rPr sz="1100" dirty="0">
                <a:solidFill>
                  <a:srgbClr val="22373A"/>
                </a:solidFill>
                <a:latin typeface="Arial MT"/>
                <a:cs typeface="Arial MT"/>
              </a:rPr>
              <a:t>R.</a:t>
            </a:r>
            <a:r>
              <a:rPr sz="1100" spc="10" dirty="0">
                <a:solidFill>
                  <a:srgbClr val="22373A"/>
                </a:solidFill>
                <a:latin typeface="Arial MT"/>
                <a:cs typeface="Arial MT"/>
              </a:rPr>
              <a:t> </a:t>
            </a:r>
            <a:r>
              <a:rPr sz="1100" spc="-25" dirty="0">
                <a:solidFill>
                  <a:srgbClr val="22373A"/>
                </a:solidFill>
                <a:latin typeface="Arial MT"/>
                <a:cs typeface="Arial MT"/>
              </a:rPr>
              <a:t>West,</a:t>
            </a:r>
            <a:r>
              <a:rPr sz="1100" spc="40" dirty="0">
                <a:solidFill>
                  <a:srgbClr val="22373A"/>
                </a:solidFill>
                <a:latin typeface="Arial MT"/>
                <a:cs typeface="Arial MT"/>
              </a:rPr>
              <a:t> </a:t>
            </a:r>
            <a:r>
              <a:rPr sz="1100" b="1" spc="-160" dirty="0">
                <a:solidFill>
                  <a:srgbClr val="22373A"/>
                </a:solidFill>
                <a:latin typeface="Arial"/>
                <a:cs typeface="Arial"/>
              </a:rPr>
              <a:t>“</a:t>
            </a:r>
            <a:r>
              <a:rPr sz="1100" b="1" spc="-204" dirty="0">
                <a:solidFill>
                  <a:srgbClr val="22373A"/>
                </a:solidFill>
                <a:latin typeface="Arial"/>
                <a:cs typeface="Arial"/>
              </a:rPr>
              <a:t> </a:t>
            </a:r>
            <a:r>
              <a:rPr sz="1100" b="1" spc="-45" dirty="0">
                <a:solidFill>
                  <a:srgbClr val="22373A"/>
                </a:solidFill>
                <a:latin typeface="Arial"/>
                <a:cs typeface="Arial"/>
              </a:rPr>
              <a:t>Grammar-</a:t>
            </a:r>
            <a:r>
              <a:rPr sz="1100" b="1" spc="-10" dirty="0">
                <a:solidFill>
                  <a:srgbClr val="22373A"/>
                </a:solidFill>
                <a:latin typeface="Arial"/>
                <a:cs typeface="Arial"/>
              </a:rPr>
              <a:t>Constrained </a:t>
            </a:r>
            <a:r>
              <a:rPr sz="1100" b="1" spc="-35" dirty="0">
                <a:solidFill>
                  <a:srgbClr val="22373A"/>
                </a:solidFill>
                <a:latin typeface="Arial"/>
                <a:cs typeface="Arial"/>
              </a:rPr>
              <a:t>Decoding</a:t>
            </a:r>
            <a:r>
              <a:rPr sz="1100" b="1" spc="20" dirty="0">
                <a:solidFill>
                  <a:srgbClr val="22373A"/>
                </a:solidFill>
                <a:latin typeface="Arial"/>
                <a:cs typeface="Arial"/>
              </a:rPr>
              <a:t> </a:t>
            </a:r>
            <a:r>
              <a:rPr sz="1100" b="1" dirty="0">
                <a:solidFill>
                  <a:srgbClr val="22373A"/>
                </a:solidFill>
                <a:latin typeface="Arial"/>
                <a:cs typeface="Arial"/>
              </a:rPr>
              <a:t>for</a:t>
            </a:r>
            <a:r>
              <a:rPr sz="1100" b="1" spc="25" dirty="0">
                <a:solidFill>
                  <a:srgbClr val="22373A"/>
                </a:solidFill>
                <a:latin typeface="Arial"/>
                <a:cs typeface="Arial"/>
              </a:rPr>
              <a:t> </a:t>
            </a:r>
            <a:r>
              <a:rPr sz="1100" b="1" spc="-20" dirty="0">
                <a:solidFill>
                  <a:srgbClr val="22373A"/>
                </a:solidFill>
                <a:latin typeface="Arial"/>
                <a:cs typeface="Arial"/>
              </a:rPr>
              <a:t>Structured</a:t>
            </a:r>
            <a:r>
              <a:rPr sz="1100" b="1" spc="25" dirty="0">
                <a:solidFill>
                  <a:srgbClr val="22373A"/>
                </a:solidFill>
                <a:latin typeface="Arial"/>
                <a:cs typeface="Arial"/>
              </a:rPr>
              <a:t> </a:t>
            </a:r>
            <a:r>
              <a:rPr sz="1100" b="1" dirty="0">
                <a:solidFill>
                  <a:srgbClr val="22373A"/>
                </a:solidFill>
                <a:latin typeface="Arial"/>
                <a:cs typeface="Arial"/>
              </a:rPr>
              <a:t>NLP</a:t>
            </a:r>
            <a:r>
              <a:rPr sz="1100" b="1" spc="20" dirty="0">
                <a:solidFill>
                  <a:srgbClr val="22373A"/>
                </a:solidFill>
                <a:latin typeface="Arial"/>
                <a:cs typeface="Arial"/>
              </a:rPr>
              <a:t> </a:t>
            </a:r>
            <a:r>
              <a:rPr sz="1100" b="1" spc="-50" dirty="0">
                <a:solidFill>
                  <a:srgbClr val="22373A"/>
                </a:solidFill>
                <a:latin typeface="Arial"/>
                <a:cs typeface="Arial"/>
              </a:rPr>
              <a:t>Tasks</a:t>
            </a:r>
            <a:r>
              <a:rPr sz="1100" b="1" spc="25" dirty="0">
                <a:solidFill>
                  <a:srgbClr val="22373A"/>
                </a:solidFill>
                <a:latin typeface="Arial"/>
                <a:cs typeface="Arial"/>
              </a:rPr>
              <a:t> </a:t>
            </a:r>
            <a:r>
              <a:rPr sz="1100" b="1" spc="-10" dirty="0">
                <a:solidFill>
                  <a:srgbClr val="22373A"/>
                </a:solidFill>
                <a:latin typeface="Arial"/>
                <a:cs typeface="Arial"/>
              </a:rPr>
              <a:t>without</a:t>
            </a:r>
            <a:r>
              <a:rPr sz="1100" b="1" spc="20" dirty="0">
                <a:solidFill>
                  <a:srgbClr val="22373A"/>
                </a:solidFill>
                <a:latin typeface="Arial"/>
                <a:cs typeface="Arial"/>
              </a:rPr>
              <a:t> </a:t>
            </a:r>
            <a:r>
              <a:rPr sz="1100" b="1" spc="-35" dirty="0">
                <a:solidFill>
                  <a:srgbClr val="22373A"/>
                </a:solidFill>
                <a:latin typeface="Arial"/>
                <a:cs typeface="Arial"/>
              </a:rPr>
              <a:t>Finetuning,”</a:t>
            </a:r>
            <a:r>
              <a:rPr sz="1100" b="1" spc="50" dirty="0">
                <a:solidFill>
                  <a:srgbClr val="22373A"/>
                </a:solidFill>
                <a:latin typeface="Arial"/>
                <a:cs typeface="Arial"/>
              </a:rPr>
              <a:t> </a:t>
            </a:r>
            <a:r>
              <a:rPr sz="1000" dirty="0">
                <a:solidFill>
                  <a:srgbClr val="6E7B7D"/>
                </a:solidFill>
                <a:latin typeface="Arial MT"/>
                <a:cs typeface="Arial MT"/>
              </a:rPr>
              <a:t>in</a:t>
            </a:r>
            <a:r>
              <a:rPr sz="1000" spc="-5" dirty="0">
                <a:solidFill>
                  <a:srgbClr val="6E7B7D"/>
                </a:solidFill>
                <a:latin typeface="Arial MT"/>
                <a:cs typeface="Arial MT"/>
              </a:rPr>
              <a:t> </a:t>
            </a:r>
            <a:r>
              <a:rPr sz="1000" i="1" spc="-10" dirty="0">
                <a:solidFill>
                  <a:srgbClr val="6E7B7D"/>
                </a:solidFill>
                <a:latin typeface="Arial"/>
                <a:cs typeface="Arial"/>
              </a:rPr>
              <a:t>EMNLP </a:t>
            </a:r>
            <a:r>
              <a:rPr sz="1000" i="1" spc="-40" dirty="0">
                <a:solidFill>
                  <a:srgbClr val="6E7B7D"/>
                </a:solidFill>
                <a:latin typeface="Arial"/>
                <a:cs typeface="Arial"/>
              </a:rPr>
              <a:t>2023</a:t>
            </a:r>
            <a:r>
              <a:rPr sz="1000" i="1" spc="-5" dirty="0">
                <a:solidFill>
                  <a:srgbClr val="6E7B7D"/>
                </a:solidFill>
                <a:latin typeface="Arial"/>
                <a:cs typeface="Arial"/>
              </a:rPr>
              <a:t> </a:t>
            </a:r>
            <a:r>
              <a:rPr sz="1000" i="1" spc="-50" dirty="0">
                <a:solidFill>
                  <a:srgbClr val="6E7B7D"/>
                </a:solidFill>
                <a:latin typeface="Arial"/>
                <a:cs typeface="Arial"/>
              </a:rPr>
              <a:t>- </a:t>
            </a:r>
            <a:r>
              <a:rPr sz="1000" i="1" spc="-40" dirty="0">
                <a:solidFill>
                  <a:srgbClr val="6E7B7D"/>
                </a:solidFill>
                <a:latin typeface="Arial"/>
                <a:cs typeface="Arial"/>
              </a:rPr>
              <a:t>2023</a:t>
            </a:r>
            <a:r>
              <a:rPr sz="1000" i="1" spc="-5" dirty="0">
                <a:solidFill>
                  <a:srgbClr val="6E7B7D"/>
                </a:solidFill>
                <a:latin typeface="Arial"/>
                <a:cs typeface="Arial"/>
              </a:rPr>
              <a:t> </a:t>
            </a:r>
            <a:r>
              <a:rPr sz="1000" i="1" spc="-55" dirty="0">
                <a:solidFill>
                  <a:srgbClr val="6E7B7D"/>
                </a:solidFill>
                <a:latin typeface="Arial"/>
                <a:cs typeface="Arial"/>
              </a:rPr>
              <a:t>Conference</a:t>
            </a:r>
            <a:r>
              <a:rPr sz="1000" i="1" dirty="0">
                <a:solidFill>
                  <a:srgbClr val="6E7B7D"/>
                </a:solidFill>
                <a:latin typeface="Arial"/>
                <a:cs typeface="Arial"/>
              </a:rPr>
              <a:t> on</a:t>
            </a:r>
            <a:r>
              <a:rPr sz="1000" i="1" spc="-5" dirty="0">
                <a:solidFill>
                  <a:srgbClr val="6E7B7D"/>
                </a:solidFill>
                <a:latin typeface="Arial"/>
                <a:cs typeface="Arial"/>
              </a:rPr>
              <a:t> </a:t>
            </a:r>
            <a:r>
              <a:rPr sz="1000" i="1" spc="-25" dirty="0">
                <a:solidFill>
                  <a:srgbClr val="6E7B7D"/>
                </a:solidFill>
                <a:latin typeface="Arial"/>
                <a:cs typeface="Arial"/>
              </a:rPr>
              <a:t>Empirical</a:t>
            </a:r>
            <a:r>
              <a:rPr sz="1000" i="1" dirty="0">
                <a:solidFill>
                  <a:srgbClr val="6E7B7D"/>
                </a:solidFill>
                <a:latin typeface="Arial"/>
                <a:cs typeface="Arial"/>
              </a:rPr>
              <a:t> </a:t>
            </a:r>
            <a:r>
              <a:rPr sz="1000" i="1" spc="-25" dirty="0">
                <a:solidFill>
                  <a:srgbClr val="6E7B7D"/>
                </a:solidFill>
                <a:latin typeface="Arial"/>
                <a:cs typeface="Arial"/>
              </a:rPr>
              <a:t>Methods</a:t>
            </a:r>
            <a:r>
              <a:rPr sz="1000" i="1" spc="-5" dirty="0">
                <a:solidFill>
                  <a:srgbClr val="6E7B7D"/>
                </a:solidFill>
                <a:latin typeface="Arial"/>
                <a:cs typeface="Arial"/>
              </a:rPr>
              <a:t> </a:t>
            </a:r>
            <a:r>
              <a:rPr sz="1000" i="1" dirty="0">
                <a:solidFill>
                  <a:srgbClr val="6E7B7D"/>
                </a:solidFill>
                <a:latin typeface="Arial"/>
                <a:cs typeface="Arial"/>
              </a:rPr>
              <a:t>in </a:t>
            </a:r>
            <a:r>
              <a:rPr sz="1000" i="1" spc="-10" dirty="0">
                <a:solidFill>
                  <a:srgbClr val="6E7B7D"/>
                </a:solidFill>
                <a:latin typeface="Arial"/>
                <a:cs typeface="Arial"/>
              </a:rPr>
              <a:t>Natural</a:t>
            </a:r>
            <a:r>
              <a:rPr sz="1000" i="1" spc="-5" dirty="0">
                <a:solidFill>
                  <a:srgbClr val="6E7B7D"/>
                </a:solidFill>
                <a:latin typeface="Arial"/>
                <a:cs typeface="Arial"/>
              </a:rPr>
              <a:t> </a:t>
            </a:r>
            <a:r>
              <a:rPr sz="1000" i="1" spc="-50" dirty="0">
                <a:solidFill>
                  <a:srgbClr val="6E7B7D"/>
                </a:solidFill>
                <a:latin typeface="Arial"/>
                <a:cs typeface="Arial"/>
              </a:rPr>
              <a:t>Language</a:t>
            </a:r>
            <a:r>
              <a:rPr sz="1000" i="1" dirty="0">
                <a:solidFill>
                  <a:srgbClr val="6E7B7D"/>
                </a:solidFill>
                <a:latin typeface="Arial"/>
                <a:cs typeface="Arial"/>
              </a:rPr>
              <a:t> </a:t>
            </a:r>
            <a:r>
              <a:rPr sz="1000" i="1" spc="-50" dirty="0">
                <a:solidFill>
                  <a:srgbClr val="6E7B7D"/>
                </a:solidFill>
                <a:latin typeface="Arial"/>
                <a:cs typeface="Arial"/>
              </a:rPr>
              <a:t>Processing,</a:t>
            </a:r>
            <a:r>
              <a:rPr sz="1000" i="1" dirty="0">
                <a:solidFill>
                  <a:srgbClr val="6E7B7D"/>
                </a:solidFill>
                <a:latin typeface="Arial"/>
                <a:cs typeface="Arial"/>
              </a:rPr>
              <a:t> </a:t>
            </a:r>
            <a:r>
              <a:rPr sz="1000" i="1" spc="-10" dirty="0">
                <a:solidFill>
                  <a:srgbClr val="6E7B7D"/>
                </a:solidFill>
                <a:latin typeface="Arial"/>
                <a:cs typeface="Arial"/>
              </a:rPr>
              <a:t>Proceedings</a:t>
            </a:r>
            <a:r>
              <a:rPr sz="1000" spc="-10" dirty="0">
                <a:solidFill>
                  <a:srgbClr val="6E7B7D"/>
                </a:solidFill>
                <a:latin typeface="Arial MT"/>
                <a:cs typeface="Arial MT"/>
              </a:rPr>
              <a:t>, </a:t>
            </a:r>
            <a:r>
              <a:rPr sz="1000" spc="-35" dirty="0">
                <a:solidFill>
                  <a:srgbClr val="6E7B7D"/>
                </a:solidFill>
                <a:latin typeface="Arial MT"/>
                <a:cs typeface="Arial MT"/>
              </a:rPr>
              <a:t>2023.</a:t>
            </a:r>
            <a:r>
              <a:rPr sz="1000" spc="215" dirty="0">
                <a:solidFill>
                  <a:srgbClr val="6E7B7D"/>
                </a:solidFill>
                <a:latin typeface="Arial MT"/>
                <a:cs typeface="Arial MT"/>
              </a:rPr>
              <a:t> </a:t>
            </a:r>
            <a:r>
              <a:rPr sz="1000" spc="50" dirty="0">
                <a:solidFill>
                  <a:srgbClr val="6E7B7D"/>
                </a:solidFill>
                <a:latin typeface="Cambria"/>
                <a:cs typeface="Cambria"/>
              </a:rPr>
              <a:t>doi</a:t>
            </a:r>
            <a:r>
              <a:rPr sz="1000" spc="50" dirty="0">
                <a:solidFill>
                  <a:srgbClr val="6E7B7D"/>
                </a:solidFill>
                <a:latin typeface="Arial MT"/>
                <a:cs typeface="Arial MT"/>
              </a:rPr>
              <a:t>:</a:t>
            </a:r>
            <a:r>
              <a:rPr sz="1000" spc="215" dirty="0">
                <a:solidFill>
                  <a:srgbClr val="6E7B7D"/>
                </a:solidFill>
                <a:latin typeface="Arial MT"/>
                <a:cs typeface="Arial MT"/>
              </a:rPr>
              <a:t> </a:t>
            </a:r>
            <a:r>
              <a:rPr sz="1000" dirty="0">
                <a:solidFill>
                  <a:srgbClr val="6E7B7D"/>
                </a:solidFill>
                <a:latin typeface="Cambria"/>
                <a:cs typeface="Cambria"/>
                <a:hlinkClick r:id="rId4"/>
              </a:rPr>
              <a:t>10.18653/v1/2023.emnlp-</a:t>
            </a:r>
            <a:r>
              <a:rPr sz="1000" spc="-10" dirty="0">
                <a:solidFill>
                  <a:srgbClr val="6E7B7D"/>
                </a:solidFill>
                <a:latin typeface="Cambria"/>
                <a:cs typeface="Cambria"/>
                <a:hlinkClick r:id="rId4"/>
              </a:rPr>
              <a:t>main.674</a:t>
            </a:r>
            <a:r>
              <a:rPr sz="1000" spc="-10" dirty="0">
                <a:solidFill>
                  <a:srgbClr val="6E7B7D"/>
                </a:solidFill>
                <a:latin typeface="Arial MT"/>
                <a:cs typeface="Arial MT"/>
              </a:rPr>
              <a:t>.</a:t>
            </a:r>
            <a:endParaRPr sz="1000">
              <a:latin typeface="Arial MT"/>
              <a:cs typeface="Arial MT"/>
            </a:endParaRPr>
          </a:p>
          <a:p>
            <a:pPr marL="12700" marR="101600">
              <a:lnSpc>
                <a:spcPct val="83300"/>
              </a:lnSpc>
              <a:spcBef>
                <a:spcPts val="340"/>
              </a:spcBef>
            </a:pPr>
            <a:r>
              <a:rPr sz="1100" dirty="0">
                <a:solidFill>
                  <a:srgbClr val="22373A"/>
                </a:solidFill>
                <a:latin typeface="Arial MT"/>
                <a:cs typeface="Arial MT"/>
              </a:rPr>
              <a:t>N.</a:t>
            </a:r>
            <a:r>
              <a:rPr sz="1100" spc="-5" dirty="0">
                <a:solidFill>
                  <a:srgbClr val="22373A"/>
                </a:solidFill>
                <a:latin typeface="Arial MT"/>
                <a:cs typeface="Arial MT"/>
              </a:rPr>
              <a:t> </a:t>
            </a:r>
            <a:r>
              <a:rPr sz="1100" spc="-85" dirty="0">
                <a:solidFill>
                  <a:srgbClr val="22373A"/>
                </a:solidFill>
                <a:latin typeface="Arial MT"/>
                <a:cs typeface="Arial MT"/>
              </a:rPr>
              <a:t>Reimers</a:t>
            </a:r>
            <a:r>
              <a:rPr sz="1100" spc="10" dirty="0">
                <a:solidFill>
                  <a:srgbClr val="22373A"/>
                </a:solidFill>
                <a:latin typeface="Arial MT"/>
                <a:cs typeface="Arial MT"/>
              </a:rPr>
              <a:t> </a:t>
            </a:r>
            <a:r>
              <a:rPr sz="1100" spc="-55" dirty="0">
                <a:solidFill>
                  <a:srgbClr val="22373A"/>
                </a:solidFill>
                <a:latin typeface="Arial MT"/>
                <a:cs typeface="Arial MT"/>
              </a:rPr>
              <a:t>and</a:t>
            </a:r>
            <a:r>
              <a:rPr sz="1100" spc="5" dirty="0">
                <a:solidFill>
                  <a:srgbClr val="22373A"/>
                </a:solidFill>
                <a:latin typeface="Arial MT"/>
                <a:cs typeface="Arial MT"/>
              </a:rPr>
              <a:t> </a:t>
            </a:r>
            <a:r>
              <a:rPr sz="1100" dirty="0">
                <a:solidFill>
                  <a:srgbClr val="22373A"/>
                </a:solidFill>
                <a:latin typeface="Arial MT"/>
                <a:cs typeface="Arial MT"/>
              </a:rPr>
              <a:t>I.</a:t>
            </a:r>
            <a:r>
              <a:rPr sz="1100" spc="10" dirty="0">
                <a:solidFill>
                  <a:srgbClr val="22373A"/>
                </a:solidFill>
                <a:latin typeface="Arial MT"/>
                <a:cs typeface="Arial MT"/>
              </a:rPr>
              <a:t> </a:t>
            </a:r>
            <a:r>
              <a:rPr sz="1100" spc="-55" dirty="0">
                <a:solidFill>
                  <a:srgbClr val="22373A"/>
                </a:solidFill>
                <a:latin typeface="Arial MT"/>
                <a:cs typeface="Arial MT"/>
              </a:rPr>
              <a:t>Gurevych,</a:t>
            </a:r>
            <a:r>
              <a:rPr sz="1100" spc="40" dirty="0">
                <a:solidFill>
                  <a:srgbClr val="22373A"/>
                </a:solidFill>
                <a:latin typeface="Arial MT"/>
                <a:cs typeface="Arial MT"/>
              </a:rPr>
              <a:t> </a:t>
            </a:r>
            <a:r>
              <a:rPr sz="1100" b="1" spc="-160" dirty="0">
                <a:solidFill>
                  <a:srgbClr val="22373A"/>
                </a:solidFill>
                <a:latin typeface="Arial"/>
                <a:cs typeface="Arial"/>
              </a:rPr>
              <a:t>“</a:t>
            </a:r>
            <a:r>
              <a:rPr sz="1100" b="1" spc="-204" dirty="0">
                <a:solidFill>
                  <a:srgbClr val="22373A"/>
                </a:solidFill>
                <a:latin typeface="Arial"/>
                <a:cs typeface="Arial"/>
              </a:rPr>
              <a:t> </a:t>
            </a:r>
            <a:r>
              <a:rPr sz="1100" b="1" spc="-30" dirty="0">
                <a:solidFill>
                  <a:srgbClr val="22373A"/>
                </a:solidFill>
                <a:latin typeface="Arial"/>
                <a:cs typeface="Arial"/>
              </a:rPr>
              <a:t>Sentence-</a:t>
            </a:r>
            <a:r>
              <a:rPr sz="1100" b="1" dirty="0">
                <a:solidFill>
                  <a:srgbClr val="22373A"/>
                </a:solidFill>
                <a:latin typeface="Arial"/>
                <a:cs typeface="Arial"/>
              </a:rPr>
              <a:t>BERT:</a:t>
            </a:r>
            <a:r>
              <a:rPr sz="1100" b="1" spc="40" dirty="0">
                <a:solidFill>
                  <a:srgbClr val="22373A"/>
                </a:solidFill>
                <a:latin typeface="Arial"/>
                <a:cs typeface="Arial"/>
              </a:rPr>
              <a:t> </a:t>
            </a:r>
            <a:r>
              <a:rPr sz="1100" b="1" spc="-45" dirty="0">
                <a:solidFill>
                  <a:srgbClr val="22373A"/>
                </a:solidFill>
                <a:latin typeface="Arial"/>
                <a:cs typeface="Arial"/>
              </a:rPr>
              <a:t>Sentence</a:t>
            </a:r>
            <a:r>
              <a:rPr sz="1100" b="1" spc="40" dirty="0">
                <a:solidFill>
                  <a:srgbClr val="22373A"/>
                </a:solidFill>
                <a:latin typeface="Arial"/>
                <a:cs typeface="Arial"/>
              </a:rPr>
              <a:t> </a:t>
            </a:r>
            <a:r>
              <a:rPr sz="1100" b="1" spc="-55" dirty="0">
                <a:solidFill>
                  <a:srgbClr val="22373A"/>
                </a:solidFill>
                <a:latin typeface="Arial"/>
                <a:cs typeface="Arial"/>
              </a:rPr>
              <a:t>embeddings</a:t>
            </a:r>
            <a:r>
              <a:rPr sz="1100" b="1" spc="40" dirty="0">
                <a:solidFill>
                  <a:srgbClr val="22373A"/>
                </a:solidFill>
                <a:latin typeface="Arial"/>
                <a:cs typeface="Arial"/>
              </a:rPr>
              <a:t> </a:t>
            </a:r>
            <a:r>
              <a:rPr sz="1100" b="1" spc="-10" dirty="0">
                <a:solidFill>
                  <a:srgbClr val="22373A"/>
                </a:solidFill>
                <a:latin typeface="Arial"/>
                <a:cs typeface="Arial"/>
              </a:rPr>
              <a:t>using </a:t>
            </a:r>
            <a:r>
              <a:rPr sz="1100" b="1" spc="-65" dirty="0">
                <a:solidFill>
                  <a:srgbClr val="22373A"/>
                </a:solidFill>
                <a:latin typeface="Arial"/>
                <a:cs typeface="Arial"/>
              </a:rPr>
              <a:t>siamese</a:t>
            </a:r>
            <a:r>
              <a:rPr sz="1100" b="1" spc="25" dirty="0">
                <a:solidFill>
                  <a:srgbClr val="22373A"/>
                </a:solidFill>
                <a:latin typeface="Arial"/>
                <a:cs typeface="Arial"/>
              </a:rPr>
              <a:t> </a:t>
            </a:r>
            <a:r>
              <a:rPr sz="1100" b="1" dirty="0">
                <a:solidFill>
                  <a:srgbClr val="22373A"/>
                </a:solidFill>
                <a:latin typeface="Arial"/>
                <a:cs typeface="Arial"/>
              </a:rPr>
              <a:t>BERT-</a:t>
            </a:r>
            <a:r>
              <a:rPr sz="1100" b="1" spc="-45" dirty="0">
                <a:solidFill>
                  <a:srgbClr val="22373A"/>
                </a:solidFill>
                <a:latin typeface="Arial"/>
                <a:cs typeface="Arial"/>
              </a:rPr>
              <a:t>networks,”</a:t>
            </a:r>
            <a:r>
              <a:rPr sz="1100" b="1" spc="55" dirty="0">
                <a:solidFill>
                  <a:srgbClr val="22373A"/>
                </a:solidFill>
                <a:latin typeface="Arial"/>
                <a:cs typeface="Arial"/>
              </a:rPr>
              <a:t> </a:t>
            </a:r>
            <a:r>
              <a:rPr sz="1000" dirty="0">
                <a:solidFill>
                  <a:srgbClr val="6E7B7D"/>
                </a:solidFill>
                <a:latin typeface="Arial MT"/>
                <a:cs typeface="Arial MT"/>
              </a:rPr>
              <a:t>in</a:t>
            </a:r>
            <a:r>
              <a:rPr sz="1000" spc="-5" dirty="0">
                <a:solidFill>
                  <a:srgbClr val="6E7B7D"/>
                </a:solidFill>
                <a:latin typeface="Arial MT"/>
                <a:cs typeface="Arial MT"/>
              </a:rPr>
              <a:t> </a:t>
            </a:r>
            <a:r>
              <a:rPr sz="1000" i="1" spc="-40" dirty="0">
                <a:solidFill>
                  <a:srgbClr val="6E7B7D"/>
                </a:solidFill>
                <a:latin typeface="Arial"/>
                <a:cs typeface="Arial"/>
              </a:rPr>
              <a:t>EMNLP-</a:t>
            </a:r>
            <a:r>
              <a:rPr sz="1000" i="1" spc="-10" dirty="0">
                <a:solidFill>
                  <a:srgbClr val="6E7B7D"/>
                </a:solidFill>
                <a:latin typeface="Arial"/>
                <a:cs typeface="Arial"/>
              </a:rPr>
              <a:t>IJCNLP</a:t>
            </a:r>
            <a:r>
              <a:rPr sz="1000" i="1" dirty="0">
                <a:solidFill>
                  <a:srgbClr val="6E7B7D"/>
                </a:solidFill>
                <a:latin typeface="Arial"/>
                <a:cs typeface="Arial"/>
              </a:rPr>
              <a:t> </a:t>
            </a:r>
            <a:r>
              <a:rPr sz="1000" i="1" spc="-40" dirty="0">
                <a:solidFill>
                  <a:srgbClr val="6E7B7D"/>
                </a:solidFill>
                <a:latin typeface="Arial"/>
                <a:cs typeface="Arial"/>
              </a:rPr>
              <a:t>2019</a:t>
            </a:r>
            <a:r>
              <a:rPr sz="1000" i="1" spc="-5" dirty="0">
                <a:solidFill>
                  <a:srgbClr val="6E7B7D"/>
                </a:solidFill>
                <a:latin typeface="Arial"/>
                <a:cs typeface="Arial"/>
              </a:rPr>
              <a:t> </a:t>
            </a:r>
            <a:r>
              <a:rPr sz="1000" i="1" dirty="0">
                <a:solidFill>
                  <a:srgbClr val="6E7B7D"/>
                </a:solidFill>
                <a:latin typeface="Arial"/>
                <a:cs typeface="Arial"/>
              </a:rPr>
              <a:t>-</a:t>
            </a:r>
            <a:r>
              <a:rPr sz="1000" i="1" spc="-5" dirty="0">
                <a:solidFill>
                  <a:srgbClr val="6E7B7D"/>
                </a:solidFill>
                <a:latin typeface="Arial"/>
                <a:cs typeface="Arial"/>
              </a:rPr>
              <a:t> </a:t>
            </a:r>
            <a:r>
              <a:rPr sz="1000" i="1" spc="-40" dirty="0">
                <a:solidFill>
                  <a:srgbClr val="6E7B7D"/>
                </a:solidFill>
                <a:latin typeface="Arial"/>
                <a:cs typeface="Arial"/>
              </a:rPr>
              <a:t>2019</a:t>
            </a:r>
            <a:r>
              <a:rPr sz="1000" i="1" dirty="0">
                <a:solidFill>
                  <a:srgbClr val="6E7B7D"/>
                </a:solidFill>
                <a:latin typeface="Arial"/>
                <a:cs typeface="Arial"/>
              </a:rPr>
              <a:t> </a:t>
            </a:r>
            <a:r>
              <a:rPr sz="1000" i="1" spc="-55" dirty="0">
                <a:solidFill>
                  <a:srgbClr val="6E7B7D"/>
                </a:solidFill>
                <a:latin typeface="Arial"/>
                <a:cs typeface="Arial"/>
              </a:rPr>
              <a:t>Conference</a:t>
            </a:r>
            <a:r>
              <a:rPr sz="1000" i="1" dirty="0">
                <a:solidFill>
                  <a:srgbClr val="6E7B7D"/>
                </a:solidFill>
                <a:latin typeface="Arial"/>
                <a:cs typeface="Arial"/>
              </a:rPr>
              <a:t> on</a:t>
            </a:r>
            <a:r>
              <a:rPr sz="1000" i="1" spc="-5" dirty="0">
                <a:solidFill>
                  <a:srgbClr val="6E7B7D"/>
                </a:solidFill>
                <a:latin typeface="Arial"/>
                <a:cs typeface="Arial"/>
              </a:rPr>
              <a:t> </a:t>
            </a:r>
            <a:r>
              <a:rPr sz="1000" i="1" spc="-10" dirty="0">
                <a:solidFill>
                  <a:srgbClr val="6E7B7D"/>
                </a:solidFill>
                <a:latin typeface="Arial"/>
                <a:cs typeface="Arial"/>
              </a:rPr>
              <a:t>Empirical </a:t>
            </a:r>
            <a:r>
              <a:rPr sz="1000" i="1" spc="-25" dirty="0">
                <a:solidFill>
                  <a:srgbClr val="6E7B7D"/>
                </a:solidFill>
                <a:latin typeface="Arial"/>
                <a:cs typeface="Arial"/>
              </a:rPr>
              <a:t>Methods</a:t>
            </a:r>
            <a:r>
              <a:rPr sz="1000" i="1" spc="10" dirty="0">
                <a:solidFill>
                  <a:srgbClr val="6E7B7D"/>
                </a:solidFill>
                <a:latin typeface="Arial"/>
                <a:cs typeface="Arial"/>
              </a:rPr>
              <a:t> </a:t>
            </a:r>
            <a:r>
              <a:rPr sz="1000" i="1" dirty="0">
                <a:solidFill>
                  <a:srgbClr val="6E7B7D"/>
                </a:solidFill>
                <a:latin typeface="Arial"/>
                <a:cs typeface="Arial"/>
              </a:rPr>
              <a:t>in</a:t>
            </a:r>
            <a:r>
              <a:rPr sz="1000" i="1" spc="10" dirty="0">
                <a:solidFill>
                  <a:srgbClr val="6E7B7D"/>
                </a:solidFill>
                <a:latin typeface="Arial"/>
                <a:cs typeface="Arial"/>
              </a:rPr>
              <a:t> </a:t>
            </a:r>
            <a:r>
              <a:rPr sz="1000" i="1" spc="-10" dirty="0">
                <a:solidFill>
                  <a:srgbClr val="6E7B7D"/>
                </a:solidFill>
                <a:latin typeface="Arial"/>
                <a:cs typeface="Arial"/>
              </a:rPr>
              <a:t>Natural</a:t>
            </a:r>
            <a:r>
              <a:rPr sz="1000" i="1" spc="10" dirty="0">
                <a:solidFill>
                  <a:srgbClr val="6E7B7D"/>
                </a:solidFill>
                <a:latin typeface="Arial"/>
                <a:cs typeface="Arial"/>
              </a:rPr>
              <a:t> </a:t>
            </a:r>
            <a:r>
              <a:rPr sz="1000" i="1" spc="-50" dirty="0">
                <a:solidFill>
                  <a:srgbClr val="6E7B7D"/>
                </a:solidFill>
                <a:latin typeface="Arial"/>
                <a:cs typeface="Arial"/>
              </a:rPr>
              <a:t>Language</a:t>
            </a:r>
            <a:r>
              <a:rPr sz="1000" i="1" spc="10" dirty="0">
                <a:solidFill>
                  <a:srgbClr val="6E7B7D"/>
                </a:solidFill>
                <a:latin typeface="Arial"/>
                <a:cs typeface="Arial"/>
              </a:rPr>
              <a:t> </a:t>
            </a:r>
            <a:r>
              <a:rPr sz="1000" i="1" spc="-55" dirty="0">
                <a:solidFill>
                  <a:srgbClr val="6E7B7D"/>
                </a:solidFill>
                <a:latin typeface="Arial"/>
                <a:cs typeface="Arial"/>
              </a:rPr>
              <a:t>Processing</a:t>
            </a:r>
            <a:r>
              <a:rPr sz="1000" i="1" spc="10" dirty="0">
                <a:solidFill>
                  <a:srgbClr val="6E7B7D"/>
                </a:solidFill>
                <a:latin typeface="Arial"/>
                <a:cs typeface="Arial"/>
              </a:rPr>
              <a:t> </a:t>
            </a:r>
            <a:r>
              <a:rPr sz="1000" i="1" spc="-20" dirty="0">
                <a:solidFill>
                  <a:srgbClr val="6E7B7D"/>
                </a:solidFill>
                <a:latin typeface="Arial"/>
                <a:cs typeface="Arial"/>
              </a:rPr>
              <a:t>and</a:t>
            </a:r>
            <a:r>
              <a:rPr sz="1000" i="1" spc="10" dirty="0">
                <a:solidFill>
                  <a:srgbClr val="6E7B7D"/>
                </a:solidFill>
                <a:latin typeface="Arial"/>
                <a:cs typeface="Arial"/>
              </a:rPr>
              <a:t> </a:t>
            </a:r>
            <a:r>
              <a:rPr sz="1000" i="1" dirty="0">
                <a:solidFill>
                  <a:srgbClr val="6E7B7D"/>
                </a:solidFill>
                <a:latin typeface="Arial"/>
                <a:cs typeface="Arial"/>
              </a:rPr>
              <a:t>9th</a:t>
            </a:r>
            <a:r>
              <a:rPr sz="1000" i="1" spc="10" dirty="0">
                <a:solidFill>
                  <a:srgbClr val="6E7B7D"/>
                </a:solidFill>
                <a:latin typeface="Arial"/>
                <a:cs typeface="Arial"/>
              </a:rPr>
              <a:t> </a:t>
            </a:r>
            <a:r>
              <a:rPr sz="1000" i="1" spc="-20" dirty="0">
                <a:solidFill>
                  <a:srgbClr val="6E7B7D"/>
                </a:solidFill>
                <a:latin typeface="Arial"/>
                <a:cs typeface="Arial"/>
              </a:rPr>
              <a:t>International</a:t>
            </a:r>
            <a:r>
              <a:rPr sz="1000" i="1" spc="10" dirty="0">
                <a:solidFill>
                  <a:srgbClr val="6E7B7D"/>
                </a:solidFill>
                <a:latin typeface="Arial"/>
                <a:cs typeface="Arial"/>
              </a:rPr>
              <a:t> </a:t>
            </a:r>
            <a:r>
              <a:rPr sz="1000" i="1" dirty="0">
                <a:solidFill>
                  <a:srgbClr val="6E7B7D"/>
                </a:solidFill>
                <a:latin typeface="Arial"/>
                <a:cs typeface="Arial"/>
              </a:rPr>
              <a:t>Joint</a:t>
            </a:r>
            <a:r>
              <a:rPr sz="1000" i="1" spc="10" dirty="0">
                <a:solidFill>
                  <a:srgbClr val="6E7B7D"/>
                </a:solidFill>
                <a:latin typeface="Arial"/>
                <a:cs typeface="Arial"/>
              </a:rPr>
              <a:t> </a:t>
            </a:r>
            <a:r>
              <a:rPr sz="1000" i="1" spc="-55" dirty="0">
                <a:solidFill>
                  <a:srgbClr val="6E7B7D"/>
                </a:solidFill>
                <a:latin typeface="Arial"/>
                <a:cs typeface="Arial"/>
              </a:rPr>
              <a:t>Conference</a:t>
            </a:r>
            <a:r>
              <a:rPr sz="1000" i="1" spc="15" dirty="0">
                <a:solidFill>
                  <a:srgbClr val="6E7B7D"/>
                </a:solidFill>
                <a:latin typeface="Arial"/>
                <a:cs typeface="Arial"/>
              </a:rPr>
              <a:t> </a:t>
            </a:r>
            <a:r>
              <a:rPr sz="1000" i="1" spc="-25" dirty="0">
                <a:solidFill>
                  <a:srgbClr val="6E7B7D"/>
                </a:solidFill>
                <a:latin typeface="Arial"/>
                <a:cs typeface="Arial"/>
              </a:rPr>
              <a:t>on </a:t>
            </a:r>
            <a:r>
              <a:rPr sz="1000" i="1" spc="-10" dirty="0">
                <a:solidFill>
                  <a:srgbClr val="6E7B7D"/>
                </a:solidFill>
                <a:latin typeface="Arial"/>
                <a:cs typeface="Arial"/>
              </a:rPr>
              <a:t>Natural</a:t>
            </a:r>
            <a:r>
              <a:rPr sz="1000" i="1" dirty="0">
                <a:solidFill>
                  <a:srgbClr val="6E7B7D"/>
                </a:solidFill>
                <a:latin typeface="Arial"/>
                <a:cs typeface="Arial"/>
              </a:rPr>
              <a:t> </a:t>
            </a:r>
            <a:r>
              <a:rPr sz="1000" i="1" spc="-55" dirty="0">
                <a:solidFill>
                  <a:srgbClr val="6E7B7D"/>
                </a:solidFill>
                <a:latin typeface="Arial"/>
                <a:cs typeface="Arial"/>
              </a:rPr>
              <a:t>Language</a:t>
            </a:r>
            <a:r>
              <a:rPr sz="1000" i="1" spc="5" dirty="0">
                <a:solidFill>
                  <a:srgbClr val="6E7B7D"/>
                </a:solidFill>
                <a:latin typeface="Arial"/>
                <a:cs typeface="Arial"/>
              </a:rPr>
              <a:t> </a:t>
            </a:r>
            <a:r>
              <a:rPr sz="1000" i="1" spc="-50" dirty="0">
                <a:solidFill>
                  <a:srgbClr val="6E7B7D"/>
                </a:solidFill>
                <a:latin typeface="Arial"/>
                <a:cs typeface="Arial"/>
              </a:rPr>
              <a:t>Processing,</a:t>
            </a:r>
            <a:r>
              <a:rPr sz="1000" i="1" spc="5" dirty="0">
                <a:solidFill>
                  <a:srgbClr val="6E7B7D"/>
                </a:solidFill>
                <a:latin typeface="Arial"/>
                <a:cs typeface="Arial"/>
              </a:rPr>
              <a:t> </a:t>
            </a:r>
            <a:r>
              <a:rPr sz="1000" i="1" spc="-50" dirty="0">
                <a:solidFill>
                  <a:srgbClr val="6E7B7D"/>
                </a:solidFill>
                <a:latin typeface="Arial"/>
                <a:cs typeface="Arial"/>
              </a:rPr>
              <a:t>Proceedings</a:t>
            </a:r>
            <a:r>
              <a:rPr sz="1000" i="1" spc="5" dirty="0">
                <a:solidFill>
                  <a:srgbClr val="6E7B7D"/>
                </a:solidFill>
                <a:latin typeface="Arial"/>
                <a:cs typeface="Arial"/>
              </a:rPr>
              <a:t> </a:t>
            </a:r>
            <a:r>
              <a:rPr sz="1000" i="1" dirty="0">
                <a:solidFill>
                  <a:srgbClr val="6E7B7D"/>
                </a:solidFill>
                <a:latin typeface="Arial"/>
                <a:cs typeface="Arial"/>
              </a:rPr>
              <a:t>of</a:t>
            </a:r>
            <a:r>
              <a:rPr sz="1000" i="1" spc="10" dirty="0">
                <a:solidFill>
                  <a:srgbClr val="6E7B7D"/>
                </a:solidFill>
                <a:latin typeface="Arial"/>
                <a:cs typeface="Arial"/>
              </a:rPr>
              <a:t> </a:t>
            </a:r>
            <a:r>
              <a:rPr sz="1000" i="1" dirty="0">
                <a:solidFill>
                  <a:srgbClr val="6E7B7D"/>
                </a:solidFill>
                <a:latin typeface="Arial"/>
                <a:cs typeface="Arial"/>
              </a:rPr>
              <a:t>the</a:t>
            </a:r>
            <a:r>
              <a:rPr sz="1000" i="1" spc="5" dirty="0">
                <a:solidFill>
                  <a:srgbClr val="6E7B7D"/>
                </a:solidFill>
                <a:latin typeface="Arial"/>
                <a:cs typeface="Arial"/>
              </a:rPr>
              <a:t> </a:t>
            </a:r>
            <a:r>
              <a:rPr sz="1000" i="1" spc="-50" dirty="0">
                <a:solidFill>
                  <a:srgbClr val="6E7B7D"/>
                </a:solidFill>
                <a:latin typeface="Arial"/>
                <a:cs typeface="Arial"/>
              </a:rPr>
              <a:t>Conference</a:t>
            </a:r>
            <a:r>
              <a:rPr sz="1000" spc="-50" dirty="0">
                <a:solidFill>
                  <a:srgbClr val="6E7B7D"/>
                </a:solidFill>
                <a:latin typeface="Arial MT"/>
                <a:cs typeface="Arial MT"/>
              </a:rPr>
              <a:t>,</a:t>
            </a:r>
            <a:r>
              <a:rPr sz="1000" spc="5" dirty="0">
                <a:solidFill>
                  <a:srgbClr val="6E7B7D"/>
                </a:solidFill>
                <a:latin typeface="Arial MT"/>
                <a:cs typeface="Arial MT"/>
              </a:rPr>
              <a:t> </a:t>
            </a:r>
            <a:r>
              <a:rPr sz="1000" spc="-35" dirty="0">
                <a:solidFill>
                  <a:srgbClr val="6E7B7D"/>
                </a:solidFill>
                <a:latin typeface="Arial MT"/>
                <a:cs typeface="Arial MT"/>
              </a:rPr>
              <a:t>2019.</a:t>
            </a:r>
            <a:r>
              <a:rPr sz="1000" spc="5" dirty="0">
                <a:solidFill>
                  <a:srgbClr val="6E7B7D"/>
                </a:solidFill>
                <a:latin typeface="Arial MT"/>
                <a:cs typeface="Arial MT"/>
              </a:rPr>
              <a:t> </a:t>
            </a:r>
            <a:r>
              <a:rPr sz="1000" spc="30" dirty="0">
                <a:solidFill>
                  <a:srgbClr val="6E7B7D"/>
                </a:solidFill>
                <a:latin typeface="Cambria"/>
                <a:cs typeface="Cambria"/>
              </a:rPr>
              <a:t>doi</a:t>
            </a:r>
            <a:r>
              <a:rPr sz="1000" spc="30" dirty="0">
                <a:solidFill>
                  <a:srgbClr val="6E7B7D"/>
                </a:solidFill>
                <a:latin typeface="Arial MT"/>
                <a:cs typeface="Arial MT"/>
              </a:rPr>
              <a:t>: </a:t>
            </a:r>
            <a:r>
              <a:rPr sz="1000" dirty="0">
                <a:solidFill>
                  <a:srgbClr val="6E7B7D"/>
                </a:solidFill>
                <a:latin typeface="Cambria"/>
                <a:cs typeface="Cambria"/>
                <a:hlinkClick r:id="rId5"/>
              </a:rPr>
              <a:t>10.18653/v1/D19-</a:t>
            </a:r>
            <a:r>
              <a:rPr sz="1000" spc="-10" dirty="0">
                <a:solidFill>
                  <a:srgbClr val="6E7B7D"/>
                </a:solidFill>
                <a:latin typeface="Cambria"/>
                <a:cs typeface="Cambria"/>
                <a:hlinkClick r:id="rId5"/>
              </a:rPr>
              <a:t>1410</a:t>
            </a:r>
            <a:r>
              <a:rPr sz="1000" spc="-10" dirty="0">
                <a:solidFill>
                  <a:srgbClr val="6E7B7D"/>
                </a:solidFill>
                <a:latin typeface="Arial MT"/>
                <a:cs typeface="Arial MT"/>
              </a:rPr>
              <a:t>.</a:t>
            </a:r>
            <a:endParaRPr sz="1000">
              <a:latin typeface="Arial MT"/>
              <a:cs typeface="Arial MT"/>
            </a:endParaRPr>
          </a:p>
          <a:p>
            <a:pPr marL="12700">
              <a:lnSpc>
                <a:spcPts val="1215"/>
              </a:lnSpc>
              <a:spcBef>
                <a:spcPts val="50"/>
              </a:spcBef>
            </a:pPr>
            <a:r>
              <a:rPr sz="1100" dirty="0">
                <a:solidFill>
                  <a:srgbClr val="22373A"/>
                </a:solidFill>
                <a:latin typeface="Arial MT"/>
                <a:cs typeface="Arial MT"/>
              </a:rPr>
              <a:t>B.</a:t>
            </a:r>
            <a:r>
              <a:rPr sz="1100" spc="-10" dirty="0">
                <a:solidFill>
                  <a:srgbClr val="22373A"/>
                </a:solidFill>
                <a:latin typeface="Arial MT"/>
                <a:cs typeface="Arial MT"/>
              </a:rPr>
              <a:t> </a:t>
            </a:r>
            <a:r>
              <a:rPr sz="1100" dirty="0">
                <a:solidFill>
                  <a:srgbClr val="22373A"/>
                </a:solidFill>
                <a:latin typeface="Arial MT"/>
                <a:cs typeface="Arial MT"/>
              </a:rPr>
              <a:t>E.</a:t>
            </a:r>
            <a:r>
              <a:rPr sz="1100" spc="-5" dirty="0">
                <a:solidFill>
                  <a:srgbClr val="22373A"/>
                </a:solidFill>
                <a:latin typeface="Arial MT"/>
                <a:cs typeface="Arial MT"/>
              </a:rPr>
              <a:t> </a:t>
            </a:r>
            <a:r>
              <a:rPr sz="1100" spc="-10" dirty="0">
                <a:solidFill>
                  <a:srgbClr val="22373A"/>
                </a:solidFill>
                <a:latin typeface="Arial MT"/>
                <a:cs typeface="Arial MT"/>
              </a:rPr>
              <a:t>Strom,</a:t>
            </a:r>
            <a:r>
              <a:rPr sz="1100" spc="-5" dirty="0">
                <a:solidFill>
                  <a:srgbClr val="22373A"/>
                </a:solidFill>
                <a:latin typeface="Arial MT"/>
                <a:cs typeface="Arial MT"/>
              </a:rPr>
              <a:t> </a:t>
            </a:r>
            <a:r>
              <a:rPr sz="1100" dirty="0">
                <a:solidFill>
                  <a:srgbClr val="22373A"/>
                </a:solidFill>
                <a:latin typeface="Arial MT"/>
                <a:cs typeface="Arial MT"/>
              </a:rPr>
              <a:t>A.</a:t>
            </a:r>
            <a:r>
              <a:rPr sz="1100" spc="-5" dirty="0">
                <a:solidFill>
                  <a:srgbClr val="22373A"/>
                </a:solidFill>
                <a:latin typeface="Arial MT"/>
                <a:cs typeface="Arial MT"/>
              </a:rPr>
              <a:t> </a:t>
            </a:r>
            <a:r>
              <a:rPr sz="1100" spc="-50" dirty="0">
                <a:solidFill>
                  <a:srgbClr val="22373A"/>
                </a:solidFill>
                <a:latin typeface="Arial MT"/>
                <a:cs typeface="Arial MT"/>
              </a:rPr>
              <a:t>Applebaum,</a:t>
            </a:r>
            <a:r>
              <a:rPr sz="1100" spc="-5" dirty="0">
                <a:solidFill>
                  <a:srgbClr val="22373A"/>
                </a:solidFill>
                <a:latin typeface="Arial MT"/>
                <a:cs typeface="Arial MT"/>
              </a:rPr>
              <a:t> </a:t>
            </a:r>
            <a:r>
              <a:rPr sz="1100" dirty="0">
                <a:solidFill>
                  <a:srgbClr val="22373A"/>
                </a:solidFill>
                <a:latin typeface="Arial MT"/>
                <a:cs typeface="Arial MT"/>
              </a:rPr>
              <a:t>D.</a:t>
            </a:r>
            <a:r>
              <a:rPr sz="1100" spc="-5" dirty="0">
                <a:solidFill>
                  <a:srgbClr val="22373A"/>
                </a:solidFill>
                <a:latin typeface="Arial MT"/>
                <a:cs typeface="Arial MT"/>
              </a:rPr>
              <a:t> </a:t>
            </a:r>
            <a:r>
              <a:rPr sz="1100" spc="-20" dirty="0">
                <a:solidFill>
                  <a:srgbClr val="22373A"/>
                </a:solidFill>
                <a:latin typeface="Arial MT"/>
                <a:cs typeface="Arial MT"/>
              </a:rPr>
              <a:t>P.</a:t>
            </a:r>
            <a:r>
              <a:rPr sz="1100" spc="-5" dirty="0">
                <a:solidFill>
                  <a:srgbClr val="22373A"/>
                </a:solidFill>
                <a:latin typeface="Arial MT"/>
                <a:cs typeface="Arial MT"/>
              </a:rPr>
              <a:t> </a:t>
            </a:r>
            <a:r>
              <a:rPr sz="1100" dirty="0">
                <a:solidFill>
                  <a:srgbClr val="22373A"/>
                </a:solidFill>
                <a:latin typeface="Arial MT"/>
                <a:cs typeface="Arial MT"/>
              </a:rPr>
              <a:t>Miller,</a:t>
            </a:r>
            <a:r>
              <a:rPr sz="1100" spc="-5" dirty="0">
                <a:solidFill>
                  <a:srgbClr val="22373A"/>
                </a:solidFill>
                <a:latin typeface="Arial MT"/>
                <a:cs typeface="Arial MT"/>
              </a:rPr>
              <a:t> </a:t>
            </a:r>
            <a:r>
              <a:rPr sz="1100" dirty="0">
                <a:solidFill>
                  <a:srgbClr val="22373A"/>
                </a:solidFill>
                <a:latin typeface="Arial MT"/>
                <a:cs typeface="Arial MT"/>
              </a:rPr>
              <a:t>K.</a:t>
            </a:r>
            <a:r>
              <a:rPr sz="1100" spc="-5" dirty="0">
                <a:solidFill>
                  <a:srgbClr val="22373A"/>
                </a:solidFill>
                <a:latin typeface="Arial MT"/>
                <a:cs typeface="Arial MT"/>
              </a:rPr>
              <a:t> </a:t>
            </a:r>
            <a:r>
              <a:rPr sz="1100" dirty="0">
                <a:solidFill>
                  <a:srgbClr val="22373A"/>
                </a:solidFill>
                <a:latin typeface="Arial MT"/>
                <a:cs typeface="Arial MT"/>
              </a:rPr>
              <a:t>C.</a:t>
            </a:r>
            <a:r>
              <a:rPr sz="1100" spc="-5" dirty="0">
                <a:solidFill>
                  <a:srgbClr val="22373A"/>
                </a:solidFill>
                <a:latin typeface="Arial MT"/>
                <a:cs typeface="Arial MT"/>
              </a:rPr>
              <a:t> </a:t>
            </a:r>
            <a:r>
              <a:rPr sz="1100" spc="-45" dirty="0">
                <a:solidFill>
                  <a:srgbClr val="22373A"/>
                </a:solidFill>
                <a:latin typeface="Arial MT"/>
                <a:cs typeface="Arial MT"/>
              </a:rPr>
              <a:t>Nickels,</a:t>
            </a:r>
            <a:r>
              <a:rPr sz="1100" spc="-5" dirty="0">
                <a:solidFill>
                  <a:srgbClr val="22373A"/>
                </a:solidFill>
                <a:latin typeface="Arial MT"/>
                <a:cs typeface="Arial MT"/>
              </a:rPr>
              <a:t> </a:t>
            </a:r>
            <a:r>
              <a:rPr sz="1100" dirty="0">
                <a:solidFill>
                  <a:srgbClr val="22373A"/>
                </a:solidFill>
                <a:latin typeface="Arial MT"/>
                <a:cs typeface="Arial MT"/>
              </a:rPr>
              <a:t>A.</a:t>
            </a:r>
            <a:r>
              <a:rPr sz="1100" spc="-5" dirty="0">
                <a:solidFill>
                  <a:srgbClr val="22373A"/>
                </a:solidFill>
                <a:latin typeface="Arial MT"/>
                <a:cs typeface="Arial MT"/>
              </a:rPr>
              <a:t> </a:t>
            </a:r>
            <a:r>
              <a:rPr sz="1100" spc="-10" dirty="0">
                <a:solidFill>
                  <a:srgbClr val="22373A"/>
                </a:solidFill>
                <a:latin typeface="Arial MT"/>
                <a:cs typeface="Arial MT"/>
              </a:rPr>
              <a:t>G. </a:t>
            </a:r>
            <a:r>
              <a:rPr sz="1100" spc="-40" dirty="0">
                <a:solidFill>
                  <a:srgbClr val="22373A"/>
                </a:solidFill>
                <a:latin typeface="Arial MT"/>
                <a:cs typeface="Arial MT"/>
              </a:rPr>
              <a:t>Pennington,</a:t>
            </a:r>
            <a:r>
              <a:rPr sz="1100" spc="-5" dirty="0">
                <a:solidFill>
                  <a:srgbClr val="22373A"/>
                </a:solidFill>
                <a:latin typeface="Arial MT"/>
                <a:cs typeface="Arial MT"/>
              </a:rPr>
              <a:t> </a:t>
            </a:r>
            <a:r>
              <a:rPr sz="1100" spc="-25" dirty="0">
                <a:solidFill>
                  <a:srgbClr val="22373A"/>
                </a:solidFill>
                <a:latin typeface="Arial MT"/>
                <a:cs typeface="Arial MT"/>
              </a:rPr>
              <a:t>and</a:t>
            </a:r>
            <a:endParaRPr sz="1100">
              <a:latin typeface="Arial MT"/>
              <a:cs typeface="Arial MT"/>
            </a:endParaRPr>
          </a:p>
          <a:p>
            <a:pPr marL="12700" marR="207010">
              <a:lnSpc>
                <a:spcPct val="83500"/>
              </a:lnSpc>
              <a:spcBef>
                <a:spcPts val="110"/>
              </a:spcBef>
            </a:pPr>
            <a:r>
              <a:rPr sz="1100" dirty="0">
                <a:solidFill>
                  <a:srgbClr val="22373A"/>
                </a:solidFill>
                <a:latin typeface="Arial MT"/>
                <a:cs typeface="Arial MT"/>
              </a:rPr>
              <a:t>C.</a:t>
            </a:r>
            <a:r>
              <a:rPr sz="1100" spc="35" dirty="0">
                <a:solidFill>
                  <a:srgbClr val="22373A"/>
                </a:solidFill>
                <a:latin typeface="Arial MT"/>
                <a:cs typeface="Arial MT"/>
              </a:rPr>
              <a:t> </a:t>
            </a:r>
            <a:r>
              <a:rPr sz="1100" dirty="0">
                <a:solidFill>
                  <a:srgbClr val="22373A"/>
                </a:solidFill>
                <a:latin typeface="Arial MT"/>
                <a:cs typeface="Arial MT"/>
              </a:rPr>
              <a:t>B.</a:t>
            </a:r>
            <a:r>
              <a:rPr sz="1100" spc="45" dirty="0">
                <a:solidFill>
                  <a:srgbClr val="22373A"/>
                </a:solidFill>
                <a:latin typeface="Arial MT"/>
                <a:cs typeface="Arial MT"/>
              </a:rPr>
              <a:t> </a:t>
            </a:r>
            <a:r>
              <a:rPr sz="1100" spc="-35" dirty="0">
                <a:solidFill>
                  <a:srgbClr val="22373A"/>
                </a:solidFill>
                <a:latin typeface="Arial MT"/>
                <a:cs typeface="Arial MT"/>
              </a:rPr>
              <a:t>Thomas,</a:t>
            </a:r>
            <a:r>
              <a:rPr sz="1100" spc="80" dirty="0">
                <a:solidFill>
                  <a:srgbClr val="22373A"/>
                </a:solidFill>
                <a:latin typeface="Arial MT"/>
                <a:cs typeface="Arial MT"/>
              </a:rPr>
              <a:t> </a:t>
            </a:r>
            <a:r>
              <a:rPr sz="1100" b="1" spc="-160" dirty="0">
                <a:solidFill>
                  <a:srgbClr val="22373A"/>
                </a:solidFill>
                <a:latin typeface="Arial"/>
                <a:cs typeface="Arial"/>
              </a:rPr>
              <a:t>“</a:t>
            </a:r>
            <a:r>
              <a:rPr sz="1100" b="1" spc="-210" dirty="0">
                <a:solidFill>
                  <a:srgbClr val="22373A"/>
                </a:solidFill>
                <a:latin typeface="Arial"/>
                <a:cs typeface="Arial"/>
              </a:rPr>
              <a:t> </a:t>
            </a:r>
            <a:r>
              <a:rPr sz="1100" b="1" dirty="0">
                <a:solidFill>
                  <a:srgbClr val="22373A"/>
                </a:solidFill>
                <a:latin typeface="Arial"/>
                <a:cs typeface="Arial"/>
              </a:rPr>
              <a:t>MITRE</a:t>
            </a:r>
            <a:r>
              <a:rPr sz="1100" b="1" spc="80" dirty="0">
                <a:solidFill>
                  <a:srgbClr val="22373A"/>
                </a:solidFill>
                <a:latin typeface="Arial"/>
                <a:cs typeface="Arial"/>
              </a:rPr>
              <a:t> </a:t>
            </a:r>
            <a:r>
              <a:rPr sz="1100" b="1" dirty="0">
                <a:solidFill>
                  <a:srgbClr val="22373A"/>
                </a:solidFill>
                <a:latin typeface="Arial"/>
                <a:cs typeface="Arial"/>
              </a:rPr>
              <a:t>ATT&amp;CK:</a:t>
            </a:r>
            <a:r>
              <a:rPr sz="1100" b="1" spc="75" dirty="0">
                <a:solidFill>
                  <a:srgbClr val="22373A"/>
                </a:solidFill>
                <a:latin typeface="Arial"/>
                <a:cs typeface="Arial"/>
              </a:rPr>
              <a:t> </a:t>
            </a:r>
            <a:r>
              <a:rPr sz="1100" b="1" spc="-40" dirty="0">
                <a:solidFill>
                  <a:srgbClr val="22373A"/>
                </a:solidFill>
                <a:latin typeface="Arial"/>
                <a:cs typeface="Arial"/>
              </a:rPr>
              <a:t>Design</a:t>
            </a:r>
            <a:r>
              <a:rPr sz="1100" b="1" spc="75" dirty="0">
                <a:solidFill>
                  <a:srgbClr val="22373A"/>
                </a:solidFill>
                <a:latin typeface="Arial"/>
                <a:cs typeface="Arial"/>
              </a:rPr>
              <a:t> </a:t>
            </a:r>
            <a:r>
              <a:rPr sz="1100" b="1" spc="-10" dirty="0">
                <a:solidFill>
                  <a:srgbClr val="22373A"/>
                </a:solidFill>
                <a:latin typeface="Arial"/>
                <a:cs typeface="Arial"/>
              </a:rPr>
              <a:t>and</a:t>
            </a:r>
            <a:r>
              <a:rPr sz="1100" b="1" spc="75" dirty="0">
                <a:solidFill>
                  <a:srgbClr val="22373A"/>
                </a:solidFill>
                <a:latin typeface="Arial"/>
                <a:cs typeface="Arial"/>
              </a:rPr>
              <a:t> </a:t>
            </a:r>
            <a:r>
              <a:rPr sz="1100" b="1" spc="-50" dirty="0">
                <a:solidFill>
                  <a:srgbClr val="22373A"/>
                </a:solidFill>
                <a:latin typeface="Arial"/>
                <a:cs typeface="Arial"/>
              </a:rPr>
              <a:t>Philosophy,”</a:t>
            </a:r>
            <a:r>
              <a:rPr sz="1100" b="1" spc="110" dirty="0">
                <a:solidFill>
                  <a:srgbClr val="22373A"/>
                </a:solidFill>
                <a:latin typeface="Arial"/>
                <a:cs typeface="Arial"/>
              </a:rPr>
              <a:t> </a:t>
            </a:r>
            <a:r>
              <a:rPr sz="1000" dirty="0">
                <a:solidFill>
                  <a:srgbClr val="6E7B7D"/>
                </a:solidFill>
                <a:latin typeface="Arial MT"/>
                <a:cs typeface="Arial MT"/>
              </a:rPr>
              <a:t>The</a:t>
            </a:r>
            <a:r>
              <a:rPr sz="1000" spc="35" dirty="0">
                <a:solidFill>
                  <a:srgbClr val="6E7B7D"/>
                </a:solidFill>
                <a:latin typeface="Arial MT"/>
                <a:cs typeface="Arial MT"/>
              </a:rPr>
              <a:t> </a:t>
            </a:r>
            <a:r>
              <a:rPr sz="1000" spc="-10" dirty="0">
                <a:solidFill>
                  <a:srgbClr val="6E7B7D"/>
                </a:solidFill>
                <a:latin typeface="Arial MT"/>
                <a:cs typeface="Arial MT"/>
              </a:rPr>
              <a:t>MITRE </a:t>
            </a:r>
            <a:r>
              <a:rPr sz="1000" spc="-30" dirty="0">
                <a:solidFill>
                  <a:srgbClr val="6E7B7D"/>
                </a:solidFill>
                <a:latin typeface="Arial MT"/>
                <a:cs typeface="Arial MT"/>
              </a:rPr>
              <a:t>Corporation,</a:t>
            </a:r>
            <a:r>
              <a:rPr sz="1000" spc="-15" dirty="0">
                <a:solidFill>
                  <a:srgbClr val="6E7B7D"/>
                </a:solidFill>
                <a:latin typeface="Arial MT"/>
                <a:cs typeface="Arial MT"/>
              </a:rPr>
              <a:t> </a:t>
            </a:r>
            <a:r>
              <a:rPr sz="1000" spc="-35" dirty="0">
                <a:solidFill>
                  <a:srgbClr val="6E7B7D"/>
                </a:solidFill>
                <a:latin typeface="Arial MT"/>
                <a:cs typeface="Arial MT"/>
              </a:rPr>
              <a:t>Tech.</a:t>
            </a:r>
            <a:r>
              <a:rPr sz="1000" spc="-10" dirty="0">
                <a:solidFill>
                  <a:srgbClr val="6E7B7D"/>
                </a:solidFill>
                <a:latin typeface="Arial MT"/>
                <a:cs typeface="Arial MT"/>
              </a:rPr>
              <a:t> </a:t>
            </a:r>
            <a:r>
              <a:rPr sz="1000" spc="-35" dirty="0">
                <a:solidFill>
                  <a:srgbClr val="6E7B7D"/>
                </a:solidFill>
                <a:latin typeface="Arial MT"/>
                <a:cs typeface="Arial MT"/>
              </a:rPr>
              <a:t>Rep.,</a:t>
            </a:r>
            <a:r>
              <a:rPr sz="1000" spc="-10" dirty="0">
                <a:solidFill>
                  <a:srgbClr val="6E7B7D"/>
                </a:solidFill>
                <a:latin typeface="Arial MT"/>
                <a:cs typeface="Arial MT"/>
              </a:rPr>
              <a:t> </a:t>
            </a:r>
            <a:r>
              <a:rPr sz="1000" spc="-35" dirty="0">
                <a:solidFill>
                  <a:srgbClr val="6E7B7D"/>
                </a:solidFill>
                <a:latin typeface="Arial MT"/>
                <a:cs typeface="Arial MT"/>
              </a:rPr>
              <a:t>2018.</a:t>
            </a:r>
            <a:r>
              <a:rPr sz="1000" spc="-15" dirty="0">
                <a:solidFill>
                  <a:srgbClr val="6E7B7D"/>
                </a:solidFill>
                <a:latin typeface="Arial MT"/>
                <a:cs typeface="Arial MT"/>
              </a:rPr>
              <a:t> </a:t>
            </a:r>
            <a:r>
              <a:rPr sz="1000" spc="-20" dirty="0">
                <a:solidFill>
                  <a:srgbClr val="6E7B7D"/>
                </a:solidFill>
                <a:latin typeface="Arial MT"/>
                <a:cs typeface="Arial MT"/>
              </a:rPr>
              <a:t>[Online].</a:t>
            </a:r>
            <a:r>
              <a:rPr sz="1000" spc="-10" dirty="0">
                <a:solidFill>
                  <a:srgbClr val="6E7B7D"/>
                </a:solidFill>
                <a:latin typeface="Arial MT"/>
                <a:cs typeface="Arial MT"/>
              </a:rPr>
              <a:t> Available: </a:t>
            </a:r>
            <a:r>
              <a:rPr sz="1000" spc="70" dirty="0">
                <a:solidFill>
                  <a:srgbClr val="6E7B7D"/>
                </a:solidFill>
                <a:latin typeface="Cambria"/>
                <a:cs typeface="Cambria"/>
                <a:hlinkClick r:id="rId6"/>
              </a:rPr>
              <a:t>https://www.mitre.org/sites/default/files/publications/pr-</a:t>
            </a:r>
            <a:r>
              <a:rPr sz="1000" spc="50" dirty="0">
                <a:solidFill>
                  <a:srgbClr val="6E7B7D"/>
                </a:solidFill>
                <a:latin typeface="Cambria"/>
                <a:cs typeface="Cambria"/>
                <a:hlinkClick r:id="rId6"/>
              </a:rPr>
              <a:t>18-</a:t>
            </a:r>
            <a:r>
              <a:rPr sz="1000" dirty="0">
                <a:solidFill>
                  <a:srgbClr val="6E7B7D"/>
                </a:solidFill>
                <a:latin typeface="Cambria"/>
                <a:cs typeface="Cambria"/>
                <a:hlinkClick r:id="rId6"/>
              </a:rPr>
              <a:t>0944-11-</a:t>
            </a:r>
            <a:r>
              <a:rPr sz="1000" spc="75" dirty="0">
                <a:solidFill>
                  <a:srgbClr val="6E7B7D"/>
                </a:solidFill>
                <a:latin typeface="Cambria"/>
                <a:cs typeface="Cambria"/>
                <a:hlinkClick r:id="rId6"/>
              </a:rPr>
              <a:t>mitre-</a:t>
            </a:r>
            <a:r>
              <a:rPr sz="1000" spc="100" dirty="0">
                <a:solidFill>
                  <a:srgbClr val="6E7B7D"/>
                </a:solidFill>
                <a:latin typeface="Cambria"/>
                <a:cs typeface="Cambria"/>
                <a:hlinkClick r:id="rId6"/>
              </a:rPr>
              <a:t>attack-</a:t>
            </a:r>
            <a:r>
              <a:rPr sz="1000" spc="70" dirty="0">
                <a:solidFill>
                  <a:srgbClr val="6E7B7D"/>
                </a:solidFill>
                <a:latin typeface="Cambria"/>
                <a:cs typeface="Cambria"/>
                <a:hlinkClick r:id="rId6"/>
              </a:rPr>
              <a:t>design-</a:t>
            </a:r>
            <a:r>
              <a:rPr sz="1000" dirty="0">
                <a:solidFill>
                  <a:srgbClr val="6E7B7D"/>
                </a:solidFill>
                <a:latin typeface="Cambria"/>
                <a:cs typeface="Cambria"/>
                <a:hlinkClick r:id="rId6"/>
              </a:rPr>
              <a:t>and-</a:t>
            </a:r>
            <a:r>
              <a:rPr sz="1000" spc="45" dirty="0">
                <a:solidFill>
                  <a:srgbClr val="6E7B7D"/>
                </a:solidFill>
                <a:latin typeface="Cambria"/>
                <a:cs typeface="Cambria"/>
                <a:hlinkClick r:id="rId6"/>
              </a:rPr>
              <a:t>philosophy.pdf</a:t>
            </a:r>
            <a:r>
              <a:rPr sz="1000" spc="45" dirty="0">
                <a:solidFill>
                  <a:srgbClr val="6E7B7D"/>
                </a:solidFill>
                <a:latin typeface="Arial MT"/>
                <a:cs typeface="Arial MT"/>
              </a:rPr>
              <a:t>.</a:t>
            </a:r>
            <a:endParaRPr sz="1000">
              <a:latin typeface="Arial MT"/>
              <a:cs typeface="Arial MT"/>
            </a:endParaRPr>
          </a:p>
        </p:txBody>
      </p:sp>
      <p:pic>
        <p:nvPicPr>
          <p:cNvPr id="12" name="object 12"/>
          <p:cNvPicPr/>
          <p:nvPr/>
        </p:nvPicPr>
        <p:blipFill>
          <a:blip r:embed="rId7" cstate="print"/>
          <a:stretch>
            <a:fillRect/>
          </a:stretch>
        </p:blipFill>
        <p:spPr>
          <a:xfrm>
            <a:off x="101282" y="2998905"/>
            <a:ext cx="241983" cy="187117"/>
          </a:xfrm>
          <a:prstGeom prst="rect">
            <a:avLst/>
          </a:prstGeom>
        </p:spPr>
      </p:pic>
      <p:pic>
        <p:nvPicPr>
          <p:cNvPr id="13" name="object 13"/>
          <p:cNvPicPr/>
          <p:nvPr/>
        </p:nvPicPr>
        <p:blipFill>
          <a:blip r:embed="rId8" cstate="print"/>
          <a:stretch>
            <a:fillRect/>
          </a:stretch>
        </p:blipFill>
        <p:spPr>
          <a:xfrm>
            <a:off x="433285" y="2998965"/>
            <a:ext cx="187057" cy="187057"/>
          </a:xfrm>
          <a:prstGeom prst="rect">
            <a:avLst/>
          </a:prstGeom>
        </p:spPr>
      </p:pic>
      <p:pic>
        <p:nvPicPr>
          <p:cNvPr id="14" name="object 14"/>
          <p:cNvPicPr/>
          <p:nvPr/>
        </p:nvPicPr>
        <p:blipFill>
          <a:blip r:embed="rId9" cstate="print"/>
          <a:stretch>
            <a:fillRect/>
          </a:stretch>
        </p:blipFill>
        <p:spPr>
          <a:xfrm>
            <a:off x="710349" y="2998815"/>
            <a:ext cx="187208" cy="187208"/>
          </a:xfrm>
          <a:prstGeom prst="rect">
            <a:avLst/>
          </a:prstGeom>
        </p:spPr>
      </p:pic>
      <p:sp>
        <p:nvSpPr>
          <p:cNvPr id="15" name="object 15"/>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r>
              <a:rPr spc="-35" dirty="0"/>
              <a:t>31</a:t>
            </a:r>
            <a:r>
              <a:rPr spc="-80" dirty="0"/>
              <a:t> </a:t>
            </a:r>
            <a:r>
              <a:rPr spc="195" dirty="0"/>
              <a:t>/</a:t>
            </a:r>
            <a:r>
              <a:rPr spc="-75" dirty="0"/>
              <a:t> </a:t>
            </a:r>
            <a:r>
              <a:rPr spc="-25" dirty="0"/>
              <a:t>32</a:t>
            </a:r>
          </a:p>
        </p:txBody>
      </p:sp>
    </p:spTree>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50" dirty="0"/>
              <a:t>References</a:t>
            </a:r>
          </a:p>
        </p:txBody>
      </p:sp>
      <p:grpSp>
        <p:nvGrpSpPr>
          <p:cNvPr id="3" name="object 3"/>
          <p:cNvGrpSpPr/>
          <p:nvPr/>
        </p:nvGrpSpPr>
        <p:grpSpPr>
          <a:xfrm>
            <a:off x="0" y="376345"/>
            <a:ext cx="5760085" cy="5080"/>
            <a:chOff x="0" y="376345"/>
            <a:chExt cx="5760085" cy="5080"/>
          </a:xfrm>
        </p:grpSpPr>
        <p:sp>
          <p:nvSpPr>
            <p:cNvPr id="4" name="object 4"/>
            <p:cNvSpPr/>
            <p:nvPr/>
          </p:nvSpPr>
          <p:spPr>
            <a:xfrm>
              <a:off x="0" y="378879"/>
              <a:ext cx="5760085" cy="0"/>
            </a:xfrm>
            <a:custGeom>
              <a:avLst/>
              <a:gdLst/>
              <a:ahLst/>
              <a:cxnLst/>
              <a:rect l="l" t="t" r="r" b="b"/>
              <a:pathLst>
                <a:path w="5760085">
                  <a:moveTo>
                    <a:pt x="0" y="0"/>
                  </a:moveTo>
                  <a:lnTo>
                    <a:pt x="5759996" y="0"/>
                  </a:lnTo>
                </a:path>
              </a:pathLst>
            </a:custGeom>
            <a:ln w="5054">
              <a:solidFill>
                <a:srgbClr val="B9C5CE"/>
              </a:solidFill>
            </a:ln>
          </p:spPr>
          <p:txBody>
            <a:bodyPr wrap="square" lIns="0" tIns="0" rIns="0" bIns="0" rtlCol="0"/>
            <a:lstStyle/>
            <a:p>
              <a:endParaRPr/>
            </a:p>
          </p:txBody>
        </p:sp>
        <p:sp>
          <p:nvSpPr>
            <p:cNvPr id="5" name="object 5"/>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B9C5CE"/>
            </a:solidFill>
          </p:spPr>
          <p:txBody>
            <a:bodyPr wrap="square" lIns="0" tIns="0" rIns="0" bIns="0" rtlCol="0"/>
            <a:lstStyle/>
            <a:p>
              <a:endParaRPr/>
            </a:p>
          </p:txBody>
        </p:sp>
        <p:sp>
          <p:nvSpPr>
            <p:cNvPr id="6" name="object 6"/>
            <p:cNvSpPr/>
            <p:nvPr/>
          </p:nvSpPr>
          <p:spPr>
            <a:xfrm>
              <a:off x="0" y="376345"/>
              <a:ext cx="5760085" cy="5080"/>
            </a:xfrm>
            <a:custGeom>
              <a:avLst/>
              <a:gdLst/>
              <a:ahLst/>
              <a:cxnLst/>
              <a:rect l="l" t="t" r="r" b="b"/>
              <a:pathLst>
                <a:path w="5760085" h="5079">
                  <a:moveTo>
                    <a:pt x="0" y="5060"/>
                  </a:moveTo>
                  <a:lnTo>
                    <a:pt x="0" y="0"/>
                  </a:lnTo>
                  <a:lnTo>
                    <a:pt x="5760073" y="0"/>
                  </a:lnTo>
                  <a:lnTo>
                    <a:pt x="5760073" y="5060"/>
                  </a:lnTo>
                  <a:lnTo>
                    <a:pt x="0" y="5060"/>
                  </a:lnTo>
                  <a:close/>
                </a:path>
              </a:pathLst>
            </a:custGeom>
            <a:solidFill>
              <a:srgbClr val="2D7DB8"/>
            </a:solidFill>
          </p:spPr>
          <p:txBody>
            <a:bodyPr wrap="square" lIns="0" tIns="0" rIns="0" bIns="0" rtlCol="0"/>
            <a:lstStyle/>
            <a:p>
              <a:endParaRPr/>
            </a:p>
          </p:txBody>
        </p:sp>
      </p:grpSp>
      <p:sp>
        <p:nvSpPr>
          <p:cNvPr id="7" name="object 7"/>
          <p:cNvSpPr txBox="1"/>
          <p:nvPr/>
        </p:nvSpPr>
        <p:spPr>
          <a:xfrm>
            <a:off x="347294" y="584554"/>
            <a:ext cx="104139"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22373A"/>
                </a:solidFill>
                <a:latin typeface="Lucida Sans Unicode"/>
                <a:cs typeface="Lucida Sans Unicode"/>
              </a:rPr>
              <a:t>►</a:t>
            </a:r>
            <a:endParaRPr sz="800">
              <a:latin typeface="Lucida Sans Unicode"/>
              <a:cs typeface="Lucida Sans Unicode"/>
            </a:endParaRPr>
          </a:p>
        </p:txBody>
      </p:sp>
      <p:sp>
        <p:nvSpPr>
          <p:cNvPr id="8" name="object 8"/>
          <p:cNvSpPr txBox="1"/>
          <p:nvPr/>
        </p:nvSpPr>
        <p:spPr>
          <a:xfrm>
            <a:off x="347294" y="1161210"/>
            <a:ext cx="104139"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22373A"/>
                </a:solidFill>
                <a:latin typeface="Lucida Sans Unicode"/>
                <a:cs typeface="Lucida Sans Unicode"/>
              </a:rPr>
              <a:t>►</a:t>
            </a:r>
            <a:endParaRPr sz="800">
              <a:latin typeface="Lucida Sans Unicode"/>
              <a:cs typeface="Lucida Sans Unicode"/>
            </a:endParaRPr>
          </a:p>
        </p:txBody>
      </p:sp>
      <p:sp>
        <p:nvSpPr>
          <p:cNvPr id="9" name="object 9"/>
          <p:cNvSpPr txBox="1"/>
          <p:nvPr/>
        </p:nvSpPr>
        <p:spPr>
          <a:xfrm>
            <a:off x="347294" y="1886837"/>
            <a:ext cx="104139"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22373A"/>
                </a:solidFill>
                <a:latin typeface="Lucida Sans Unicode"/>
                <a:cs typeface="Lucida Sans Unicode"/>
              </a:rPr>
              <a:t>►</a:t>
            </a:r>
            <a:endParaRPr sz="800">
              <a:latin typeface="Lucida Sans Unicode"/>
              <a:cs typeface="Lucida Sans Unicode"/>
            </a:endParaRPr>
          </a:p>
        </p:txBody>
      </p:sp>
      <p:sp>
        <p:nvSpPr>
          <p:cNvPr id="10" name="object 10"/>
          <p:cNvSpPr txBox="1"/>
          <p:nvPr/>
        </p:nvSpPr>
        <p:spPr>
          <a:xfrm>
            <a:off x="347294" y="2326118"/>
            <a:ext cx="104139" cy="147320"/>
          </a:xfrm>
          <a:prstGeom prst="rect">
            <a:avLst/>
          </a:prstGeom>
        </p:spPr>
        <p:txBody>
          <a:bodyPr vert="horz" wrap="square" lIns="0" tIns="12065" rIns="0" bIns="0" rtlCol="0">
            <a:spAutoFit/>
          </a:bodyPr>
          <a:lstStyle/>
          <a:p>
            <a:pPr marL="12700">
              <a:lnSpc>
                <a:spcPct val="100000"/>
              </a:lnSpc>
              <a:spcBef>
                <a:spcPts val="95"/>
              </a:spcBef>
            </a:pPr>
            <a:r>
              <a:rPr sz="800" spc="-50" dirty="0">
                <a:solidFill>
                  <a:srgbClr val="22373A"/>
                </a:solidFill>
                <a:latin typeface="Lucida Sans Unicode"/>
                <a:cs typeface="Lucida Sans Unicode"/>
              </a:rPr>
              <a:t>►</a:t>
            </a:r>
            <a:endParaRPr sz="800">
              <a:latin typeface="Lucida Sans Unicode"/>
              <a:cs typeface="Lucida Sans Unicode"/>
            </a:endParaRPr>
          </a:p>
        </p:txBody>
      </p:sp>
      <p:sp>
        <p:nvSpPr>
          <p:cNvPr id="11" name="object 11"/>
          <p:cNvSpPr txBox="1"/>
          <p:nvPr/>
        </p:nvSpPr>
        <p:spPr>
          <a:xfrm>
            <a:off x="583311" y="563040"/>
            <a:ext cx="4784090" cy="2202180"/>
          </a:xfrm>
          <a:prstGeom prst="rect">
            <a:avLst/>
          </a:prstGeom>
        </p:spPr>
        <p:txBody>
          <a:bodyPr vert="horz" wrap="square" lIns="0" tIns="39370" rIns="0" bIns="0" rtlCol="0">
            <a:spAutoFit/>
          </a:bodyPr>
          <a:lstStyle/>
          <a:p>
            <a:pPr marL="12700" marR="79375">
              <a:lnSpc>
                <a:spcPct val="83400"/>
              </a:lnSpc>
              <a:spcBef>
                <a:spcPts val="310"/>
              </a:spcBef>
            </a:pPr>
            <a:r>
              <a:rPr sz="1100" dirty="0">
                <a:solidFill>
                  <a:srgbClr val="22373A"/>
                </a:solidFill>
                <a:latin typeface="Arial MT"/>
                <a:cs typeface="Arial MT"/>
              </a:rPr>
              <a:t>F.</a:t>
            </a:r>
            <a:r>
              <a:rPr sz="1100" spc="-15" dirty="0">
                <a:solidFill>
                  <a:srgbClr val="22373A"/>
                </a:solidFill>
                <a:latin typeface="Arial MT"/>
                <a:cs typeface="Arial MT"/>
              </a:rPr>
              <a:t> </a:t>
            </a:r>
            <a:r>
              <a:rPr sz="1100" spc="-25" dirty="0">
                <a:solidFill>
                  <a:srgbClr val="22373A"/>
                </a:solidFill>
                <a:latin typeface="Arial MT"/>
                <a:cs typeface="Arial MT"/>
              </a:rPr>
              <a:t>Blefari,</a:t>
            </a:r>
            <a:r>
              <a:rPr sz="1100" dirty="0">
                <a:solidFill>
                  <a:srgbClr val="22373A"/>
                </a:solidFill>
                <a:latin typeface="Arial MT"/>
                <a:cs typeface="Arial MT"/>
              </a:rPr>
              <a:t> C. </a:t>
            </a:r>
            <a:r>
              <a:rPr sz="1100" spc="-50" dirty="0">
                <a:solidFill>
                  <a:srgbClr val="22373A"/>
                </a:solidFill>
                <a:latin typeface="Arial MT"/>
                <a:cs typeface="Arial MT"/>
              </a:rPr>
              <a:t>Cosentino,</a:t>
            </a:r>
            <a:r>
              <a:rPr sz="1100" dirty="0">
                <a:solidFill>
                  <a:srgbClr val="22373A"/>
                </a:solidFill>
                <a:latin typeface="Arial MT"/>
                <a:cs typeface="Arial MT"/>
              </a:rPr>
              <a:t> F.</a:t>
            </a:r>
            <a:r>
              <a:rPr sz="1100" spc="-5" dirty="0">
                <a:solidFill>
                  <a:srgbClr val="22373A"/>
                </a:solidFill>
                <a:latin typeface="Arial MT"/>
                <a:cs typeface="Arial MT"/>
              </a:rPr>
              <a:t> </a:t>
            </a:r>
            <a:r>
              <a:rPr sz="1100" dirty="0">
                <a:solidFill>
                  <a:srgbClr val="22373A"/>
                </a:solidFill>
                <a:latin typeface="Arial MT"/>
                <a:cs typeface="Arial MT"/>
              </a:rPr>
              <a:t>A. Pironti, A. </a:t>
            </a:r>
            <a:r>
              <a:rPr sz="1100" spc="-30" dirty="0">
                <a:solidFill>
                  <a:srgbClr val="22373A"/>
                </a:solidFill>
                <a:latin typeface="Arial MT"/>
                <a:cs typeface="Arial MT"/>
              </a:rPr>
              <a:t>Furfaro,</a:t>
            </a:r>
            <a:r>
              <a:rPr sz="1100" dirty="0">
                <a:solidFill>
                  <a:srgbClr val="22373A"/>
                </a:solidFill>
                <a:latin typeface="Arial MT"/>
                <a:cs typeface="Arial MT"/>
              </a:rPr>
              <a:t> </a:t>
            </a:r>
            <a:r>
              <a:rPr sz="1100" spc="-55" dirty="0">
                <a:solidFill>
                  <a:srgbClr val="22373A"/>
                </a:solidFill>
                <a:latin typeface="Arial MT"/>
                <a:cs typeface="Arial MT"/>
              </a:rPr>
              <a:t>and</a:t>
            </a:r>
            <a:r>
              <a:rPr sz="1100" dirty="0">
                <a:solidFill>
                  <a:srgbClr val="22373A"/>
                </a:solidFill>
                <a:latin typeface="Arial MT"/>
                <a:cs typeface="Arial MT"/>
              </a:rPr>
              <a:t> F. </a:t>
            </a:r>
            <a:r>
              <a:rPr sz="1100" spc="-40" dirty="0">
                <a:solidFill>
                  <a:srgbClr val="22373A"/>
                </a:solidFill>
                <a:latin typeface="Arial MT"/>
                <a:cs typeface="Arial MT"/>
              </a:rPr>
              <a:t>Marozzo,</a:t>
            </a:r>
            <a:r>
              <a:rPr sz="1100" spc="30" dirty="0">
                <a:solidFill>
                  <a:srgbClr val="22373A"/>
                </a:solidFill>
                <a:latin typeface="Arial MT"/>
                <a:cs typeface="Arial MT"/>
              </a:rPr>
              <a:t> </a:t>
            </a:r>
            <a:r>
              <a:rPr sz="1100" b="1" spc="-160" dirty="0">
                <a:solidFill>
                  <a:srgbClr val="22373A"/>
                </a:solidFill>
                <a:latin typeface="Arial"/>
                <a:cs typeface="Arial"/>
              </a:rPr>
              <a:t>“</a:t>
            </a:r>
            <a:r>
              <a:rPr sz="1100" b="1" spc="-204" dirty="0">
                <a:solidFill>
                  <a:srgbClr val="22373A"/>
                </a:solidFill>
                <a:latin typeface="Arial"/>
                <a:cs typeface="Arial"/>
              </a:rPr>
              <a:t> </a:t>
            </a:r>
            <a:r>
              <a:rPr sz="1100" b="1" spc="-25" dirty="0">
                <a:solidFill>
                  <a:srgbClr val="22373A"/>
                </a:solidFill>
                <a:latin typeface="Arial"/>
                <a:cs typeface="Arial"/>
              </a:rPr>
              <a:t>CyberRAG: </a:t>
            </a:r>
            <a:r>
              <a:rPr sz="1100" b="1" dirty="0">
                <a:solidFill>
                  <a:srgbClr val="22373A"/>
                </a:solidFill>
                <a:latin typeface="Arial"/>
                <a:cs typeface="Arial"/>
              </a:rPr>
              <a:t>An</a:t>
            </a:r>
            <a:r>
              <a:rPr sz="1100" b="1" spc="-10" dirty="0">
                <a:solidFill>
                  <a:srgbClr val="22373A"/>
                </a:solidFill>
                <a:latin typeface="Arial"/>
                <a:cs typeface="Arial"/>
              </a:rPr>
              <a:t> </a:t>
            </a:r>
            <a:r>
              <a:rPr sz="1100" b="1" spc="-30" dirty="0">
                <a:solidFill>
                  <a:srgbClr val="22373A"/>
                </a:solidFill>
                <a:latin typeface="Arial"/>
                <a:cs typeface="Arial"/>
              </a:rPr>
              <a:t>agentic</a:t>
            </a:r>
            <a:r>
              <a:rPr sz="1100" b="1" spc="-5" dirty="0">
                <a:solidFill>
                  <a:srgbClr val="22373A"/>
                </a:solidFill>
                <a:latin typeface="Arial"/>
                <a:cs typeface="Arial"/>
              </a:rPr>
              <a:t> </a:t>
            </a:r>
            <a:r>
              <a:rPr sz="1100" b="1" dirty="0">
                <a:solidFill>
                  <a:srgbClr val="22373A"/>
                </a:solidFill>
                <a:latin typeface="Arial"/>
                <a:cs typeface="Arial"/>
              </a:rPr>
              <a:t>RAG </a:t>
            </a:r>
            <a:r>
              <a:rPr sz="1100" b="1" spc="-30" dirty="0">
                <a:solidFill>
                  <a:srgbClr val="22373A"/>
                </a:solidFill>
                <a:latin typeface="Arial"/>
                <a:cs typeface="Arial"/>
              </a:rPr>
              <a:t>cyber</a:t>
            </a:r>
            <a:r>
              <a:rPr sz="1100" b="1" spc="-5" dirty="0">
                <a:solidFill>
                  <a:srgbClr val="22373A"/>
                </a:solidFill>
                <a:latin typeface="Arial"/>
                <a:cs typeface="Arial"/>
              </a:rPr>
              <a:t> </a:t>
            </a:r>
            <a:r>
              <a:rPr sz="1100" b="1" dirty="0">
                <a:solidFill>
                  <a:srgbClr val="22373A"/>
                </a:solidFill>
                <a:latin typeface="Arial"/>
                <a:cs typeface="Arial"/>
              </a:rPr>
              <a:t>attack </a:t>
            </a:r>
            <a:r>
              <a:rPr sz="1100" b="1" spc="-45" dirty="0">
                <a:solidFill>
                  <a:srgbClr val="22373A"/>
                </a:solidFill>
                <a:latin typeface="Arial"/>
                <a:cs typeface="Arial"/>
              </a:rPr>
              <a:t>classification</a:t>
            </a:r>
            <a:r>
              <a:rPr sz="1100" b="1" spc="-5" dirty="0">
                <a:solidFill>
                  <a:srgbClr val="22373A"/>
                </a:solidFill>
                <a:latin typeface="Arial"/>
                <a:cs typeface="Arial"/>
              </a:rPr>
              <a:t> </a:t>
            </a:r>
            <a:r>
              <a:rPr sz="1100" b="1" spc="-10" dirty="0">
                <a:solidFill>
                  <a:srgbClr val="22373A"/>
                </a:solidFill>
                <a:latin typeface="Arial"/>
                <a:cs typeface="Arial"/>
              </a:rPr>
              <a:t>and</a:t>
            </a:r>
            <a:r>
              <a:rPr sz="1100" b="1" spc="-5" dirty="0">
                <a:solidFill>
                  <a:srgbClr val="22373A"/>
                </a:solidFill>
                <a:latin typeface="Arial"/>
                <a:cs typeface="Arial"/>
              </a:rPr>
              <a:t> </a:t>
            </a:r>
            <a:r>
              <a:rPr sz="1100" b="1" spc="-30" dirty="0">
                <a:solidFill>
                  <a:srgbClr val="22373A"/>
                </a:solidFill>
                <a:latin typeface="Arial"/>
                <a:cs typeface="Arial"/>
              </a:rPr>
              <a:t>reporting</a:t>
            </a:r>
            <a:r>
              <a:rPr sz="1100" b="1" spc="-5" dirty="0">
                <a:solidFill>
                  <a:srgbClr val="22373A"/>
                </a:solidFill>
                <a:latin typeface="Arial"/>
                <a:cs typeface="Arial"/>
              </a:rPr>
              <a:t> </a:t>
            </a:r>
            <a:r>
              <a:rPr sz="1100" b="1" spc="-10" dirty="0">
                <a:solidFill>
                  <a:srgbClr val="22373A"/>
                </a:solidFill>
                <a:latin typeface="Arial"/>
                <a:cs typeface="Arial"/>
              </a:rPr>
              <a:t>tool,”</a:t>
            </a:r>
            <a:r>
              <a:rPr sz="1100" b="1" spc="20" dirty="0">
                <a:solidFill>
                  <a:srgbClr val="22373A"/>
                </a:solidFill>
                <a:latin typeface="Arial"/>
                <a:cs typeface="Arial"/>
              </a:rPr>
              <a:t> </a:t>
            </a:r>
            <a:r>
              <a:rPr sz="1000" i="1" spc="-10" dirty="0">
                <a:solidFill>
                  <a:srgbClr val="6E7B7D"/>
                </a:solidFill>
                <a:latin typeface="Arial"/>
                <a:cs typeface="Arial"/>
              </a:rPr>
              <a:t>Future </a:t>
            </a:r>
            <a:r>
              <a:rPr sz="1000" i="1" spc="-45" dirty="0">
                <a:solidFill>
                  <a:srgbClr val="6E7B7D"/>
                </a:solidFill>
                <a:latin typeface="Arial"/>
                <a:cs typeface="Arial"/>
              </a:rPr>
              <a:t>Generation</a:t>
            </a:r>
            <a:r>
              <a:rPr sz="1000" i="1" spc="5" dirty="0">
                <a:solidFill>
                  <a:srgbClr val="6E7B7D"/>
                </a:solidFill>
                <a:latin typeface="Arial"/>
                <a:cs typeface="Arial"/>
              </a:rPr>
              <a:t> </a:t>
            </a:r>
            <a:r>
              <a:rPr sz="1000" i="1" spc="-35" dirty="0">
                <a:solidFill>
                  <a:srgbClr val="6E7B7D"/>
                </a:solidFill>
                <a:latin typeface="Arial"/>
                <a:cs typeface="Arial"/>
              </a:rPr>
              <a:t>Computer</a:t>
            </a:r>
            <a:r>
              <a:rPr sz="1000" i="1" spc="5" dirty="0">
                <a:solidFill>
                  <a:srgbClr val="6E7B7D"/>
                </a:solidFill>
                <a:latin typeface="Arial"/>
                <a:cs typeface="Arial"/>
              </a:rPr>
              <a:t> </a:t>
            </a:r>
            <a:r>
              <a:rPr sz="1000" i="1" spc="-50" dirty="0">
                <a:solidFill>
                  <a:srgbClr val="6E7B7D"/>
                </a:solidFill>
                <a:latin typeface="Arial"/>
                <a:cs typeface="Arial"/>
              </a:rPr>
              <a:t>Systems</a:t>
            </a:r>
            <a:r>
              <a:rPr sz="1000" spc="-50" dirty="0">
                <a:solidFill>
                  <a:srgbClr val="6E7B7D"/>
                </a:solidFill>
                <a:latin typeface="Arial MT"/>
                <a:cs typeface="Arial MT"/>
              </a:rPr>
              <a:t>,</a:t>
            </a:r>
            <a:r>
              <a:rPr sz="1000" spc="10" dirty="0">
                <a:solidFill>
                  <a:srgbClr val="6E7B7D"/>
                </a:solidFill>
                <a:latin typeface="Arial MT"/>
                <a:cs typeface="Arial MT"/>
              </a:rPr>
              <a:t> </a:t>
            </a:r>
            <a:r>
              <a:rPr sz="1000" dirty="0">
                <a:solidFill>
                  <a:srgbClr val="6E7B7D"/>
                </a:solidFill>
                <a:latin typeface="Arial MT"/>
                <a:cs typeface="Arial MT"/>
              </a:rPr>
              <a:t>vol.</a:t>
            </a:r>
            <a:r>
              <a:rPr sz="1000" spc="5" dirty="0">
                <a:solidFill>
                  <a:srgbClr val="6E7B7D"/>
                </a:solidFill>
                <a:latin typeface="Arial MT"/>
                <a:cs typeface="Arial MT"/>
              </a:rPr>
              <a:t> </a:t>
            </a:r>
            <a:r>
              <a:rPr sz="1000" spc="-20" dirty="0">
                <a:solidFill>
                  <a:srgbClr val="6E7B7D"/>
                </a:solidFill>
                <a:latin typeface="Arial MT"/>
                <a:cs typeface="Arial MT"/>
              </a:rPr>
              <a:t>176,</a:t>
            </a:r>
            <a:r>
              <a:rPr sz="1000" spc="10" dirty="0">
                <a:solidFill>
                  <a:srgbClr val="6E7B7D"/>
                </a:solidFill>
                <a:latin typeface="Arial MT"/>
                <a:cs typeface="Arial MT"/>
              </a:rPr>
              <a:t> </a:t>
            </a:r>
            <a:r>
              <a:rPr sz="1000" spc="-35" dirty="0">
                <a:solidFill>
                  <a:srgbClr val="6E7B7D"/>
                </a:solidFill>
                <a:latin typeface="Arial MT"/>
                <a:cs typeface="Arial MT"/>
              </a:rPr>
              <a:t>2026,</a:t>
            </a:r>
            <a:r>
              <a:rPr sz="1000" spc="5" dirty="0">
                <a:solidFill>
                  <a:srgbClr val="6E7B7D"/>
                </a:solidFill>
                <a:latin typeface="Arial MT"/>
                <a:cs typeface="Arial MT"/>
              </a:rPr>
              <a:t> </a:t>
            </a:r>
            <a:r>
              <a:rPr sz="1000" dirty="0">
                <a:solidFill>
                  <a:srgbClr val="6E7B7D"/>
                </a:solidFill>
                <a:latin typeface="Cambria"/>
                <a:cs typeface="Cambria"/>
              </a:rPr>
              <a:t>issn</a:t>
            </a:r>
            <a:r>
              <a:rPr sz="1000" dirty="0">
                <a:solidFill>
                  <a:srgbClr val="6E7B7D"/>
                </a:solidFill>
                <a:latin typeface="Arial MT"/>
                <a:cs typeface="Arial MT"/>
              </a:rPr>
              <a:t>:</a:t>
            </a:r>
            <a:r>
              <a:rPr sz="1000" spc="10" dirty="0">
                <a:solidFill>
                  <a:srgbClr val="6E7B7D"/>
                </a:solidFill>
                <a:latin typeface="Arial MT"/>
                <a:cs typeface="Arial MT"/>
              </a:rPr>
              <a:t> </a:t>
            </a:r>
            <a:r>
              <a:rPr sz="1000" spc="-40" dirty="0">
                <a:solidFill>
                  <a:srgbClr val="6E7B7D"/>
                </a:solidFill>
                <a:latin typeface="Arial MT"/>
                <a:cs typeface="Arial MT"/>
              </a:rPr>
              <a:t>0167739X.</a:t>
            </a:r>
            <a:r>
              <a:rPr sz="1000" spc="5" dirty="0">
                <a:solidFill>
                  <a:srgbClr val="6E7B7D"/>
                </a:solidFill>
                <a:latin typeface="Arial MT"/>
                <a:cs typeface="Arial MT"/>
              </a:rPr>
              <a:t> </a:t>
            </a:r>
            <a:r>
              <a:rPr sz="1000" spc="30" dirty="0">
                <a:solidFill>
                  <a:srgbClr val="6E7B7D"/>
                </a:solidFill>
                <a:latin typeface="Cambria"/>
                <a:cs typeface="Cambria"/>
              </a:rPr>
              <a:t>doi</a:t>
            </a:r>
            <a:r>
              <a:rPr sz="1000" spc="30" dirty="0">
                <a:solidFill>
                  <a:srgbClr val="6E7B7D"/>
                </a:solidFill>
                <a:latin typeface="Arial MT"/>
                <a:cs typeface="Arial MT"/>
              </a:rPr>
              <a:t>: </a:t>
            </a:r>
            <a:r>
              <a:rPr sz="1000" spc="40" dirty="0">
                <a:solidFill>
                  <a:srgbClr val="6E7B7D"/>
                </a:solidFill>
                <a:latin typeface="Cambria"/>
                <a:cs typeface="Cambria"/>
                <a:hlinkClick r:id="rId3"/>
              </a:rPr>
              <a:t>10.1016/j.future.2025.108186</a:t>
            </a:r>
            <a:r>
              <a:rPr sz="1000" spc="40" dirty="0">
                <a:solidFill>
                  <a:srgbClr val="6E7B7D"/>
                </a:solidFill>
                <a:latin typeface="Arial MT"/>
                <a:cs typeface="Arial MT"/>
              </a:rPr>
              <a:t>.</a:t>
            </a:r>
            <a:endParaRPr sz="1000">
              <a:latin typeface="Arial MT"/>
              <a:cs typeface="Arial MT"/>
            </a:endParaRPr>
          </a:p>
          <a:p>
            <a:pPr marL="12700" marR="120650">
              <a:lnSpc>
                <a:spcPct val="87000"/>
              </a:lnSpc>
              <a:spcBef>
                <a:spcPts val="290"/>
              </a:spcBef>
            </a:pPr>
            <a:r>
              <a:rPr sz="1100" spc="-10" dirty="0">
                <a:solidFill>
                  <a:srgbClr val="22373A"/>
                </a:solidFill>
                <a:latin typeface="Arial MT"/>
                <a:cs typeface="Arial MT"/>
              </a:rPr>
              <a:t>S.</a:t>
            </a:r>
            <a:r>
              <a:rPr sz="1100" spc="-40" dirty="0">
                <a:solidFill>
                  <a:srgbClr val="22373A"/>
                </a:solidFill>
                <a:latin typeface="Arial MT"/>
                <a:cs typeface="Arial MT"/>
              </a:rPr>
              <a:t> </a:t>
            </a:r>
            <a:r>
              <a:rPr sz="1100" spc="-60" dirty="0">
                <a:solidFill>
                  <a:srgbClr val="22373A"/>
                </a:solidFill>
                <a:latin typeface="Arial MT"/>
                <a:cs typeface="Arial MT"/>
              </a:rPr>
              <a:t>Bussari,</a:t>
            </a:r>
            <a:r>
              <a:rPr sz="1100" spc="-15" dirty="0">
                <a:solidFill>
                  <a:srgbClr val="22373A"/>
                </a:solidFill>
                <a:latin typeface="Arial MT"/>
                <a:cs typeface="Arial MT"/>
              </a:rPr>
              <a:t> </a:t>
            </a:r>
            <a:r>
              <a:rPr sz="1100" spc="-20" dirty="0">
                <a:solidFill>
                  <a:srgbClr val="22373A"/>
                </a:solidFill>
                <a:latin typeface="Arial MT"/>
                <a:cs typeface="Arial MT"/>
              </a:rPr>
              <a:t>P. </a:t>
            </a:r>
            <a:r>
              <a:rPr sz="1100" spc="-10" dirty="0">
                <a:solidFill>
                  <a:srgbClr val="22373A"/>
                </a:solidFill>
                <a:latin typeface="Arial MT"/>
                <a:cs typeface="Arial MT"/>
              </a:rPr>
              <a:t>Punj,</a:t>
            </a:r>
            <a:r>
              <a:rPr sz="1100" spc="-15" dirty="0">
                <a:solidFill>
                  <a:srgbClr val="22373A"/>
                </a:solidFill>
                <a:latin typeface="Arial MT"/>
                <a:cs typeface="Arial MT"/>
              </a:rPr>
              <a:t> </a:t>
            </a:r>
            <a:r>
              <a:rPr sz="1100" spc="-55" dirty="0">
                <a:solidFill>
                  <a:srgbClr val="22373A"/>
                </a:solidFill>
                <a:latin typeface="Arial MT"/>
                <a:cs typeface="Arial MT"/>
              </a:rPr>
              <a:t>and</a:t>
            </a:r>
            <a:r>
              <a:rPr sz="1100" spc="-20" dirty="0">
                <a:solidFill>
                  <a:srgbClr val="22373A"/>
                </a:solidFill>
                <a:latin typeface="Arial MT"/>
                <a:cs typeface="Arial MT"/>
              </a:rPr>
              <a:t> </a:t>
            </a:r>
            <a:r>
              <a:rPr sz="1100" spc="-10" dirty="0">
                <a:solidFill>
                  <a:srgbClr val="22373A"/>
                </a:solidFill>
                <a:latin typeface="Arial MT"/>
                <a:cs typeface="Arial MT"/>
              </a:rPr>
              <a:t>G.</a:t>
            </a:r>
            <a:r>
              <a:rPr sz="1100" spc="-15" dirty="0">
                <a:solidFill>
                  <a:srgbClr val="22373A"/>
                </a:solidFill>
                <a:latin typeface="Arial MT"/>
                <a:cs typeface="Arial MT"/>
              </a:rPr>
              <a:t> </a:t>
            </a:r>
            <a:r>
              <a:rPr sz="1100" spc="-40" dirty="0">
                <a:solidFill>
                  <a:srgbClr val="22373A"/>
                </a:solidFill>
                <a:latin typeface="Arial MT"/>
                <a:cs typeface="Arial MT"/>
              </a:rPr>
              <a:t>Balakumar,</a:t>
            </a:r>
            <a:r>
              <a:rPr sz="1100" spc="10" dirty="0">
                <a:solidFill>
                  <a:srgbClr val="22373A"/>
                </a:solidFill>
                <a:latin typeface="Arial MT"/>
                <a:cs typeface="Arial MT"/>
              </a:rPr>
              <a:t> </a:t>
            </a:r>
            <a:r>
              <a:rPr sz="1100" b="1" spc="-160" dirty="0">
                <a:solidFill>
                  <a:srgbClr val="22373A"/>
                </a:solidFill>
                <a:latin typeface="Arial"/>
                <a:cs typeface="Arial"/>
              </a:rPr>
              <a:t>“</a:t>
            </a:r>
            <a:r>
              <a:rPr sz="1100" b="1" spc="-204" dirty="0">
                <a:solidFill>
                  <a:srgbClr val="22373A"/>
                </a:solidFill>
                <a:latin typeface="Arial"/>
                <a:cs typeface="Arial"/>
              </a:rPr>
              <a:t> </a:t>
            </a:r>
            <a:r>
              <a:rPr sz="1100" b="1" spc="-45" dirty="0">
                <a:solidFill>
                  <a:srgbClr val="22373A"/>
                </a:solidFill>
                <a:latin typeface="Arial"/>
                <a:cs typeface="Arial"/>
              </a:rPr>
              <a:t>RAGSec:</a:t>
            </a:r>
            <a:r>
              <a:rPr sz="1100" b="1" spc="15" dirty="0">
                <a:solidFill>
                  <a:srgbClr val="22373A"/>
                </a:solidFill>
                <a:latin typeface="Arial"/>
                <a:cs typeface="Arial"/>
              </a:rPr>
              <a:t> </a:t>
            </a:r>
            <a:r>
              <a:rPr sz="1100" b="1" spc="-25" dirty="0">
                <a:solidFill>
                  <a:srgbClr val="22373A"/>
                </a:solidFill>
                <a:latin typeface="Arial"/>
                <a:cs typeface="Arial"/>
              </a:rPr>
              <a:t>Retrieval-</a:t>
            </a:r>
            <a:r>
              <a:rPr sz="1100" b="1" spc="-10" dirty="0">
                <a:solidFill>
                  <a:srgbClr val="22373A"/>
                </a:solidFill>
                <a:latin typeface="Arial"/>
                <a:cs typeface="Arial"/>
              </a:rPr>
              <a:t>Augmented </a:t>
            </a:r>
            <a:r>
              <a:rPr sz="1100" b="1" spc="-35" dirty="0">
                <a:solidFill>
                  <a:srgbClr val="22373A"/>
                </a:solidFill>
                <a:latin typeface="Arial"/>
                <a:cs typeface="Arial"/>
              </a:rPr>
              <a:t>Generation</a:t>
            </a:r>
            <a:r>
              <a:rPr sz="1100" b="1" spc="25" dirty="0">
                <a:solidFill>
                  <a:srgbClr val="22373A"/>
                </a:solidFill>
                <a:latin typeface="Arial"/>
                <a:cs typeface="Arial"/>
              </a:rPr>
              <a:t> </a:t>
            </a:r>
            <a:r>
              <a:rPr sz="1100" b="1" dirty="0">
                <a:solidFill>
                  <a:srgbClr val="22373A"/>
                </a:solidFill>
                <a:latin typeface="Arial"/>
                <a:cs typeface="Arial"/>
              </a:rPr>
              <a:t>for</a:t>
            </a:r>
            <a:r>
              <a:rPr sz="1100" b="1" spc="35" dirty="0">
                <a:solidFill>
                  <a:srgbClr val="22373A"/>
                </a:solidFill>
                <a:latin typeface="Arial"/>
                <a:cs typeface="Arial"/>
              </a:rPr>
              <a:t> </a:t>
            </a:r>
            <a:r>
              <a:rPr sz="1100" b="1" spc="-50" dirty="0">
                <a:solidFill>
                  <a:srgbClr val="22373A"/>
                </a:solidFill>
                <a:latin typeface="Arial"/>
                <a:cs typeface="Arial"/>
              </a:rPr>
              <a:t>Cybersecurity</a:t>
            </a:r>
            <a:r>
              <a:rPr sz="1100" b="1" spc="30" dirty="0">
                <a:solidFill>
                  <a:srgbClr val="22373A"/>
                </a:solidFill>
                <a:latin typeface="Arial"/>
                <a:cs typeface="Arial"/>
              </a:rPr>
              <a:t> </a:t>
            </a:r>
            <a:r>
              <a:rPr sz="1100" b="1" dirty="0">
                <a:solidFill>
                  <a:srgbClr val="22373A"/>
                </a:solidFill>
                <a:latin typeface="Arial"/>
                <a:cs typeface="Arial"/>
              </a:rPr>
              <a:t>Threat</a:t>
            </a:r>
            <a:r>
              <a:rPr sz="1100" b="1" spc="25" dirty="0">
                <a:solidFill>
                  <a:srgbClr val="22373A"/>
                </a:solidFill>
                <a:latin typeface="Arial"/>
                <a:cs typeface="Arial"/>
              </a:rPr>
              <a:t> </a:t>
            </a:r>
            <a:r>
              <a:rPr sz="1100" b="1" spc="-35" dirty="0">
                <a:solidFill>
                  <a:srgbClr val="22373A"/>
                </a:solidFill>
                <a:latin typeface="Arial"/>
                <a:cs typeface="Arial"/>
              </a:rPr>
              <a:t>Intelligence</a:t>
            </a:r>
            <a:r>
              <a:rPr sz="1100" b="1" spc="30" dirty="0">
                <a:solidFill>
                  <a:srgbClr val="22373A"/>
                </a:solidFill>
                <a:latin typeface="Arial"/>
                <a:cs typeface="Arial"/>
              </a:rPr>
              <a:t> </a:t>
            </a:r>
            <a:r>
              <a:rPr sz="1100" b="1" dirty="0">
                <a:solidFill>
                  <a:srgbClr val="22373A"/>
                </a:solidFill>
                <a:latin typeface="Arial"/>
                <a:cs typeface="Arial"/>
              </a:rPr>
              <a:t>in</a:t>
            </a:r>
            <a:r>
              <a:rPr sz="1100" b="1" spc="30" dirty="0">
                <a:solidFill>
                  <a:srgbClr val="22373A"/>
                </a:solidFill>
                <a:latin typeface="Arial"/>
                <a:cs typeface="Arial"/>
              </a:rPr>
              <a:t> </a:t>
            </a:r>
            <a:r>
              <a:rPr sz="1100" b="1" spc="-40" dirty="0">
                <a:solidFill>
                  <a:srgbClr val="22373A"/>
                </a:solidFill>
                <a:latin typeface="Arial"/>
                <a:cs typeface="Arial"/>
              </a:rPr>
              <a:t>Enterprise</a:t>
            </a:r>
            <a:r>
              <a:rPr sz="1100" b="1" spc="30" dirty="0">
                <a:solidFill>
                  <a:srgbClr val="22373A"/>
                </a:solidFill>
                <a:latin typeface="Arial"/>
                <a:cs typeface="Arial"/>
              </a:rPr>
              <a:t> </a:t>
            </a:r>
            <a:r>
              <a:rPr sz="1100" b="1" spc="-25" dirty="0">
                <a:solidFill>
                  <a:srgbClr val="22373A"/>
                </a:solidFill>
                <a:latin typeface="Arial"/>
                <a:cs typeface="Arial"/>
              </a:rPr>
              <a:t>Networks,” </a:t>
            </a:r>
            <a:r>
              <a:rPr sz="1000" i="1" spc="-40" dirty="0">
                <a:solidFill>
                  <a:srgbClr val="6E7B7D"/>
                </a:solidFill>
                <a:latin typeface="Arial"/>
                <a:cs typeface="Arial"/>
              </a:rPr>
              <a:t>2026</a:t>
            </a:r>
            <a:r>
              <a:rPr sz="1000" i="1" spc="5" dirty="0">
                <a:solidFill>
                  <a:srgbClr val="6E7B7D"/>
                </a:solidFill>
                <a:latin typeface="Arial"/>
                <a:cs typeface="Arial"/>
              </a:rPr>
              <a:t> </a:t>
            </a:r>
            <a:r>
              <a:rPr sz="1000" i="1" spc="-30" dirty="0">
                <a:solidFill>
                  <a:srgbClr val="6E7B7D"/>
                </a:solidFill>
                <a:latin typeface="Arial"/>
                <a:cs typeface="Arial"/>
              </a:rPr>
              <a:t>IEEE</a:t>
            </a:r>
            <a:r>
              <a:rPr sz="1000" i="1" spc="5" dirty="0">
                <a:solidFill>
                  <a:srgbClr val="6E7B7D"/>
                </a:solidFill>
                <a:latin typeface="Arial"/>
                <a:cs typeface="Arial"/>
              </a:rPr>
              <a:t> </a:t>
            </a:r>
            <a:r>
              <a:rPr sz="1000" i="1" dirty="0">
                <a:solidFill>
                  <a:srgbClr val="6E7B7D"/>
                </a:solidFill>
                <a:latin typeface="Arial"/>
                <a:cs typeface="Arial"/>
              </a:rPr>
              <a:t>5th</a:t>
            </a:r>
            <a:r>
              <a:rPr sz="1000" i="1" spc="5" dirty="0">
                <a:solidFill>
                  <a:srgbClr val="6E7B7D"/>
                </a:solidFill>
                <a:latin typeface="Arial"/>
                <a:cs typeface="Arial"/>
              </a:rPr>
              <a:t> </a:t>
            </a:r>
            <a:r>
              <a:rPr sz="1000" i="1" spc="-20" dirty="0">
                <a:solidFill>
                  <a:srgbClr val="6E7B7D"/>
                </a:solidFill>
                <a:latin typeface="Arial"/>
                <a:cs typeface="Arial"/>
              </a:rPr>
              <a:t>International</a:t>
            </a:r>
            <a:r>
              <a:rPr sz="1000" i="1" spc="5" dirty="0">
                <a:solidFill>
                  <a:srgbClr val="6E7B7D"/>
                </a:solidFill>
                <a:latin typeface="Arial"/>
                <a:cs typeface="Arial"/>
              </a:rPr>
              <a:t> </a:t>
            </a:r>
            <a:r>
              <a:rPr sz="1000" i="1" spc="-55" dirty="0">
                <a:solidFill>
                  <a:srgbClr val="6E7B7D"/>
                </a:solidFill>
                <a:latin typeface="Arial"/>
                <a:cs typeface="Arial"/>
              </a:rPr>
              <a:t>Conference</a:t>
            </a:r>
            <a:r>
              <a:rPr sz="1000" i="1" spc="10" dirty="0">
                <a:solidFill>
                  <a:srgbClr val="6E7B7D"/>
                </a:solidFill>
                <a:latin typeface="Arial"/>
                <a:cs typeface="Arial"/>
              </a:rPr>
              <a:t> </a:t>
            </a:r>
            <a:r>
              <a:rPr sz="1000" i="1" dirty="0">
                <a:solidFill>
                  <a:srgbClr val="6E7B7D"/>
                </a:solidFill>
                <a:latin typeface="Arial"/>
                <a:cs typeface="Arial"/>
              </a:rPr>
              <a:t>on</a:t>
            </a:r>
            <a:r>
              <a:rPr sz="1000" i="1" spc="5" dirty="0">
                <a:solidFill>
                  <a:srgbClr val="6E7B7D"/>
                </a:solidFill>
                <a:latin typeface="Arial"/>
                <a:cs typeface="Arial"/>
              </a:rPr>
              <a:t> </a:t>
            </a:r>
            <a:r>
              <a:rPr sz="1000" i="1" dirty="0">
                <a:solidFill>
                  <a:srgbClr val="6E7B7D"/>
                </a:solidFill>
                <a:latin typeface="Arial"/>
                <a:cs typeface="Arial"/>
              </a:rPr>
              <a:t>AI</a:t>
            </a:r>
            <a:r>
              <a:rPr sz="1000" i="1" spc="5" dirty="0">
                <a:solidFill>
                  <a:srgbClr val="6E7B7D"/>
                </a:solidFill>
                <a:latin typeface="Arial"/>
                <a:cs typeface="Arial"/>
              </a:rPr>
              <a:t> </a:t>
            </a:r>
            <a:r>
              <a:rPr sz="1000" i="1" dirty="0">
                <a:solidFill>
                  <a:srgbClr val="6E7B7D"/>
                </a:solidFill>
                <a:latin typeface="Arial"/>
                <a:cs typeface="Arial"/>
              </a:rPr>
              <a:t>in</a:t>
            </a:r>
            <a:r>
              <a:rPr sz="1000" i="1" spc="5" dirty="0">
                <a:solidFill>
                  <a:srgbClr val="6E7B7D"/>
                </a:solidFill>
                <a:latin typeface="Arial"/>
                <a:cs typeface="Arial"/>
              </a:rPr>
              <a:t> </a:t>
            </a:r>
            <a:r>
              <a:rPr sz="1000" i="1" spc="-45" dirty="0">
                <a:solidFill>
                  <a:srgbClr val="6E7B7D"/>
                </a:solidFill>
                <a:latin typeface="Arial"/>
                <a:cs typeface="Arial"/>
              </a:rPr>
              <a:t>Cybersecurity</a:t>
            </a:r>
            <a:r>
              <a:rPr sz="1000" i="1" spc="5" dirty="0">
                <a:solidFill>
                  <a:srgbClr val="6E7B7D"/>
                </a:solidFill>
                <a:latin typeface="Arial"/>
                <a:cs typeface="Arial"/>
              </a:rPr>
              <a:t> </a:t>
            </a:r>
            <a:r>
              <a:rPr sz="1000" i="1" spc="-10" dirty="0">
                <a:solidFill>
                  <a:srgbClr val="6E7B7D"/>
                </a:solidFill>
                <a:latin typeface="Arial"/>
                <a:cs typeface="Arial"/>
              </a:rPr>
              <a:t>(ICAIC)</a:t>
            </a:r>
            <a:r>
              <a:rPr sz="1000" spc="-10" dirty="0">
                <a:solidFill>
                  <a:srgbClr val="6E7B7D"/>
                </a:solidFill>
                <a:latin typeface="Arial MT"/>
                <a:cs typeface="Arial MT"/>
              </a:rPr>
              <a:t>,</a:t>
            </a:r>
            <a:r>
              <a:rPr sz="1000" spc="5" dirty="0">
                <a:solidFill>
                  <a:srgbClr val="6E7B7D"/>
                </a:solidFill>
                <a:latin typeface="Arial MT"/>
                <a:cs typeface="Arial MT"/>
              </a:rPr>
              <a:t> </a:t>
            </a:r>
            <a:r>
              <a:rPr sz="1000" dirty="0">
                <a:solidFill>
                  <a:srgbClr val="6E7B7D"/>
                </a:solidFill>
                <a:latin typeface="Arial MT"/>
                <a:cs typeface="Arial MT"/>
              </a:rPr>
              <a:t>pp.</a:t>
            </a:r>
            <a:r>
              <a:rPr sz="1000" spc="10" dirty="0">
                <a:solidFill>
                  <a:srgbClr val="6E7B7D"/>
                </a:solidFill>
                <a:latin typeface="Arial MT"/>
                <a:cs typeface="Arial MT"/>
              </a:rPr>
              <a:t> </a:t>
            </a:r>
            <a:r>
              <a:rPr sz="1000" spc="-55" dirty="0">
                <a:solidFill>
                  <a:srgbClr val="6E7B7D"/>
                </a:solidFill>
                <a:latin typeface="Arial MT"/>
                <a:cs typeface="Arial MT"/>
              </a:rPr>
              <a:t>1–</a:t>
            </a:r>
            <a:r>
              <a:rPr sz="1000" dirty="0">
                <a:solidFill>
                  <a:srgbClr val="6E7B7D"/>
                </a:solidFill>
                <a:latin typeface="Arial MT"/>
                <a:cs typeface="Arial MT"/>
              </a:rPr>
              <a:t>6,</a:t>
            </a:r>
            <a:r>
              <a:rPr sz="1000" spc="5" dirty="0">
                <a:solidFill>
                  <a:srgbClr val="6E7B7D"/>
                </a:solidFill>
                <a:latin typeface="Arial MT"/>
                <a:cs typeface="Arial MT"/>
              </a:rPr>
              <a:t> </a:t>
            </a:r>
            <a:r>
              <a:rPr sz="1000" spc="-20" dirty="0">
                <a:solidFill>
                  <a:srgbClr val="6E7B7D"/>
                </a:solidFill>
                <a:latin typeface="Arial MT"/>
                <a:cs typeface="Arial MT"/>
              </a:rPr>
              <a:t>Feb. </a:t>
            </a:r>
            <a:r>
              <a:rPr sz="1000" spc="-35" dirty="0">
                <a:solidFill>
                  <a:srgbClr val="6E7B7D"/>
                </a:solidFill>
                <a:latin typeface="Arial MT"/>
                <a:cs typeface="Arial MT"/>
              </a:rPr>
              <a:t>2026.</a:t>
            </a:r>
            <a:r>
              <a:rPr sz="1000" spc="100" dirty="0">
                <a:solidFill>
                  <a:srgbClr val="6E7B7D"/>
                </a:solidFill>
                <a:latin typeface="Arial MT"/>
                <a:cs typeface="Arial MT"/>
              </a:rPr>
              <a:t> </a:t>
            </a:r>
            <a:r>
              <a:rPr sz="1000" spc="50" dirty="0">
                <a:solidFill>
                  <a:srgbClr val="6E7B7D"/>
                </a:solidFill>
                <a:latin typeface="Cambria"/>
                <a:cs typeface="Cambria"/>
              </a:rPr>
              <a:t>doi</a:t>
            </a:r>
            <a:r>
              <a:rPr sz="1000" spc="50" dirty="0">
                <a:solidFill>
                  <a:srgbClr val="6E7B7D"/>
                </a:solidFill>
                <a:latin typeface="Arial MT"/>
                <a:cs typeface="Arial MT"/>
              </a:rPr>
              <a:t>:</a:t>
            </a:r>
            <a:r>
              <a:rPr sz="1000" spc="105" dirty="0">
                <a:solidFill>
                  <a:srgbClr val="6E7B7D"/>
                </a:solidFill>
                <a:latin typeface="Arial MT"/>
                <a:cs typeface="Arial MT"/>
              </a:rPr>
              <a:t> </a:t>
            </a:r>
            <a:r>
              <a:rPr sz="1000" dirty="0">
                <a:solidFill>
                  <a:srgbClr val="6E7B7D"/>
                </a:solidFill>
                <a:latin typeface="Cambria"/>
                <a:cs typeface="Cambria"/>
                <a:hlinkClick r:id="rId4"/>
              </a:rPr>
              <a:t>10.1109/ICAIC67076.2026.11395762</a:t>
            </a:r>
            <a:r>
              <a:rPr sz="1000" dirty="0">
                <a:solidFill>
                  <a:srgbClr val="6E7B7D"/>
                </a:solidFill>
                <a:latin typeface="Arial MT"/>
                <a:cs typeface="Arial MT"/>
              </a:rPr>
              <a:t>.</a:t>
            </a:r>
            <a:r>
              <a:rPr sz="1000" spc="105" dirty="0">
                <a:solidFill>
                  <a:srgbClr val="6E7B7D"/>
                </a:solidFill>
                <a:latin typeface="Arial MT"/>
                <a:cs typeface="Arial MT"/>
              </a:rPr>
              <a:t> </a:t>
            </a:r>
            <a:r>
              <a:rPr sz="1000" spc="-20" dirty="0">
                <a:solidFill>
                  <a:srgbClr val="6E7B7D"/>
                </a:solidFill>
                <a:latin typeface="Arial MT"/>
                <a:cs typeface="Arial MT"/>
              </a:rPr>
              <a:t>[Online].</a:t>
            </a:r>
            <a:r>
              <a:rPr sz="1000" spc="100" dirty="0">
                <a:solidFill>
                  <a:srgbClr val="6E7B7D"/>
                </a:solidFill>
                <a:latin typeface="Arial MT"/>
                <a:cs typeface="Arial MT"/>
              </a:rPr>
              <a:t> </a:t>
            </a:r>
            <a:r>
              <a:rPr sz="1000" spc="-10" dirty="0">
                <a:solidFill>
                  <a:srgbClr val="6E7B7D"/>
                </a:solidFill>
                <a:latin typeface="Arial MT"/>
                <a:cs typeface="Arial MT"/>
              </a:rPr>
              <a:t>Available:</a:t>
            </a:r>
            <a:endParaRPr sz="1000">
              <a:latin typeface="Arial MT"/>
              <a:cs typeface="Arial MT"/>
            </a:endParaRPr>
          </a:p>
          <a:p>
            <a:pPr marL="12700">
              <a:lnSpc>
                <a:spcPts val="1040"/>
              </a:lnSpc>
            </a:pPr>
            <a:r>
              <a:rPr sz="1000" spc="-10" dirty="0">
                <a:solidFill>
                  <a:srgbClr val="6E7B7D"/>
                </a:solidFill>
                <a:latin typeface="Cambria"/>
                <a:cs typeface="Cambria"/>
                <a:hlinkClick r:id="rId5"/>
              </a:rPr>
              <a:t>https://ieeexplore.ieee.org/document/11395762</a:t>
            </a:r>
            <a:r>
              <a:rPr sz="1000" spc="-10" dirty="0">
                <a:solidFill>
                  <a:srgbClr val="6E7B7D"/>
                </a:solidFill>
                <a:latin typeface="Arial MT"/>
                <a:cs typeface="Arial MT"/>
              </a:rPr>
              <a:t>.</a:t>
            </a:r>
            <a:endParaRPr sz="1000">
              <a:latin typeface="Arial MT"/>
              <a:cs typeface="Arial MT"/>
            </a:endParaRPr>
          </a:p>
          <a:p>
            <a:pPr marL="12700" marR="5080">
              <a:lnSpc>
                <a:spcPct val="84100"/>
              </a:lnSpc>
              <a:spcBef>
                <a:spcPts val="330"/>
              </a:spcBef>
            </a:pPr>
            <a:r>
              <a:rPr sz="1100" spc="-40" dirty="0">
                <a:solidFill>
                  <a:srgbClr val="22373A"/>
                </a:solidFill>
                <a:latin typeface="Arial MT"/>
                <a:cs typeface="Arial MT"/>
              </a:rPr>
              <a:t>Ismail</a:t>
            </a:r>
            <a:r>
              <a:rPr sz="1100" spc="-35" dirty="0">
                <a:solidFill>
                  <a:srgbClr val="22373A"/>
                </a:solidFill>
                <a:latin typeface="Arial MT"/>
                <a:cs typeface="Arial MT"/>
              </a:rPr>
              <a:t> </a:t>
            </a:r>
            <a:r>
              <a:rPr sz="1100" dirty="0">
                <a:solidFill>
                  <a:srgbClr val="22373A"/>
                </a:solidFill>
                <a:latin typeface="Arial MT"/>
                <a:cs typeface="Arial MT"/>
              </a:rPr>
              <a:t>et</a:t>
            </a:r>
            <a:r>
              <a:rPr sz="1100" spc="-20" dirty="0">
                <a:solidFill>
                  <a:srgbClr val="22373A"/>
                </a:solidFill>
                <a:latin typeface="Arial MT"/>
                <a:cs typeface="Arial MT"/>
              </a:rPr>
              <a:t> </a:t>
            </a:r>
            <a:r>
              <a:rPr sz="1100" dirty="0">
                <a:solidFill>
                  <a:srgbClr val="22373A"/>
                </a:solidFill>
                <a:latin typeface="Arial MT"/>
                <a:cs typeface="Arial MT"/>
              </a:rPr>
              <a:t>al.,</a:t>
            </a:r>
            <a:r>
              <a:rPr sz="1100" spc="15" dirty="0">
                <a:solidFill>
                  <a:srgbClr val="22373A"/>
                </a:solidFill>
                <a:latin typeface="Arial MT"/>
                <a:cs typeface="Arial MT"/>
              </a:rPr>
              <a:t> </a:t>
            </a:r>
            <a:r>
              <a:rPr sz="1100" b="1" spc="-160" dirty="0">
                <a:solidFill>
                  <a:srgbClr val="22373A"/>
                </a:solidFill>
                <a:latin typeface="Arial"/>
                <a:cs typeface="Arial"/>
              </a:rPr>
              <a:t>“</a:t>
            </a:r>
            <a:r>
              <a:rPr sz="1100" b="1" spc="-210" dirty="0">
                <a:solidFill>
                  <a:srgbClr val="22373A"/>
                </a:solidFill>
                <a:latin typeface="Arial"/>
                <a:cs typeface="Arial"/>
              </a:rPr>
              <a:t> </a:t>
            </a:r>
            <a:r>
              <a:rPr sz="1100" b="1" spc="-55" dirty="0">
                <a:solidFill>
                  <a:srgbClr val="22373A"/>
                </a:solidFill>
                <a:latin typeface="Arial"/>
                <a:cs typeface="Arial"/>
              </a:rPr>
              <a:t>Enhancing</a:t>
            </a:r>
            <a:r>
              <a:rPr sz="1100" b="1" spc="20" dirty="0">
                <a:solidFill>
                  <a:srgbClr val="22373A"/>
                </a:solidFill>
                <a:latin typeface="Arial"/>
                <a:cs typeface="Arial"/>
              </a:rPr>
              <a:t> </a:t>
            </a:r>
            <a:r>
              <a:rPr sz="1100" b="1" spc="-40" dirty="0">
                <a:solidFill>
                  <a:srgbClr val="22373A"/>
                </a:solidFill>
                <a:latin typeface="Arial"/>
                <a:cs typeface="Arial"/>
              </a:rPr>
              <a:t>Security</a:t>
            </a:r>
            <a:r>
              <a:rPr sz="1100" b="1" spc="10" dirty="0">
                <a:solidFill>
                  <a:srgbClr val="22373A"/>
                </a:solidFill>
                <a:latin typeface="Arial"/>
                <a:cs typeface="Arial"/>
              </a:rPr>
              <a:t> </a:t>
            </a:r>
            <a:r>
              <a:rPr sz="1100" b="1" spc="-30" dirty="0">
                <a:solidFill>
                  <a:srgbClr val="22373A"/>
                </a:solidFill>
                <a:latin typeface="Arial"/>
                <a:cs typeface="Arial"/>
              </a:rPr>
              <a:t>Operations</a:t>
            </a:r>
            <a:r>
              <a:rPr sz="1100" b="1" spc="15" dirty="0">
                <a:solidFill>
                  <a:srgbClr val="22373A"/>
                </a:solidFill>
                <a:latin typeface="Arial"/>
                <a:cs typeface="Arial"/>
              </a:rPr>
              <a:t> </a:t>
            </a:r>
            <a:r>
              <a:rPr sz="1100" b="1" spc="-10" dirty="0">
                <a:solidFill>
                  <a:srgbClr val="22373A"/>
                </a:solidFill>
                <a:latin typeface="Arial"/>
                <a:cs typeface="Arial"/>
              </a:rPr>
              <a:t>Center:</a:t>
            </a:r>
            <a:r>
              <a:rPr sz="1100" b="1" spc="10" dirty="0">
                <a:solidFill>
                  <a:srgbClr val="22373A"/>
                </a:solidFill>
                <a:latin typeface="Arial"/>
                <a:cs typeface="Arial"/>
              </a:rPr>
              <a:t> </a:t>
            </a:r>
            <a:r>
              <a:rPr sz="1100" b="1" spc="-10" dirty="0">
                <a:solidFill>
                  <a:srgbClr val="22373A"/>
                </a:solidFill>
                <a:latin typeface="Arial"/>
                <a:cs typeface="Arial"/>
              </a:rPr>
              <a:t>Wazuh</a:t>
            </a:r>
            <a:r>
              <a:rPr sz="1100" b="1" spc="15" dirty="0">
                <a:solidFill>
                  <a:srgbClr val="22373A"/>
                </a:solidFill>
                <a:latin typeface="Arial"/>
                <a:cs typeface="Arial"/>
              </a:rPr>
              <a:t> </a:t>
            </a:r>
            <a:r>
              <a:rPr sz="1100" b="1" spc="-40" dirty="0">
                <a:solidFill>
                  <a:srgbClr val="22373A"/>
                </a:solidFill>
                <a:latin typeface="Arial"/>
                <a:cs typeface="Arial"/>
              </a:rPr>
              <a:t>Security</a:t>
            </a:r>
            <a:r>
              <a:rPr sz="1100" b="1" spc="15" dirty="0">
                <a:solidFill>
                  <a:srgbClr val="22373A"/>
                </a:solidFill>
                <a:latin typeface="Arial"/>
                <a:cs typeface="Arial"/>
              </a:rPr>
              <a:t> </a:t>
            </a:r>
            <a:r>
              <a:rPr sz="1100" b="1" spc="-10" dirty="0">
                <a:solidFill>
                  <a:srgbClr val="22373A"/>
                </a:solidFill>
                <a:latin typeface="Arial"/>
                <a:cs typeface="Arial"/>
              </a:rPr>
              <a:t>Event </a:t>
            </a:r>
            <a:r>
              <a:rPr sz="1100" b="1" spc="-75" dirty="0">
                <a:solidFill>
                  <a:srgbClr val="22373A"/>
                </a:solidFill>
                <a:latin typeface="Arial"/>
                <a:cs typeface="Arial"/>
              </a:rPr>
              <a:t>Response</a:t>
            </a:r>
            <a:r>
              <a:rPr sz="1100" b="1" spc="45" dirty="0">
                <a:solidFill>
                  <a:srgbClr val="22373A"/>
                </a:solidFill>
                <a:latin typeface="Arial"/>
                <a:cs typeface="Arial"/>
              </a:rPr>
              <a:t> </a:t>
            </a:r>
            <a:r>
              <a:rPr sz="1100" b="1" dirty="0">
                <a:solidFill>
                  <a:srgbClr val="22373A"/>
                </a:solidFill>
                <a:latin typeface="Arial"/>
                <a:cs typeface="Arial"/>
              </a:rPr>
              <a:t>with</a:t>
            </a:r>
            <a:r>
              <a:rPr sz="1100" b="1" spc="50" dirty="0">
                <a:solidFill>
                  <a:srgbClr val="22373A"/>
                </a:solidFill>
                <a:latin typeface="Arial"/>
                <a:cs typeface="Arial"/>
              </a:rPr>
              <a:t> </a:t>
            </a:r>
            <a:r>
              <a:rPr sz="1100" b="1" spc="-25" dirty="0">
                <a:solidFill>
                  <a:srgbClr val="22373A"/>
                </a:solidFill>
                <a:latin typeface="Arial"/>
                <a:cs typeface="Arial"/>
              </a:rPr>
              <a:t>Retrieval-</a:t>
            </a:r>
            <a:r>
              <a:rPr sz="1100" b="1" spc="-40" dirty="0">
                <a:solidFill>
                  <a:srgbClr val="22373A"/>
                </a:solidFill>
                <a:latin typeface="Arial"/>
                <a:cs typeface="Arial"/>
              </a:rPr>
              <a:t>Augmented-</a:t>
            </a:r>
            <a:r>
              <a:rPr sz="1100" b="1" spc="-35" dirty="0">
                <a:solidFill>
                  <a:srgbClr val="22373A"/>
                </a:solidFill>
                <a:latin typeface="Arial"/>
                <a:cs typeface="Arial"/>
              </a:rPr>
              <a:t>Generation-</a:t>
            </a:r>
            <a:r>
              <a:rPr sz="1100" b="1" spc="-10" dirty="0">
                <a:solidFill>
                  <a:srgbClr val="22373A"/>
                </a:solidFill>
                <a:latin typeface="Arial"/>
                <a:cs typeface="Arial"/>
              </a:rPr>
              <a:t>Driven</a:t>
            </a:r>
            <a:r>
              <a:rPr sz="1100" b="1" spc="50" dirty="0">
                <a:solidFill>
                  <a:srgbClr val="22373A"/>
                </a:solidFill>
                <a:latin typeface="Arial"/>
                <a:cs typeface="Arial"/>
              </a:rPr>
              <a:t> </a:t>
            </a:r>
            <a:r>
              <a:rPr sz="1100" b="1" spc="-25" dirty="0">
                <a:solidFill>
                  <a:srgbClr val="22373A"/>
                </a:solidFill>
                <a:latin typeface="Arial"/>
                <a:cs typeface="Arial"/>
              </a:rPr>
              <a:t>Copilot,”</a:t>
            </a:r>
            <a:r>
              <a:rPr sz="1100" b="1" spc="80" dirty="0">
                <a:solidFill>
                  <a:srgbClr val="22373A"/>
                </a:solidFill>
                <a:latin typeface="Arial"/>
                <a:cs typeface="Arial"/>
              </a:rPr>
              <a:t> </a:t>
            </a:r>
            <a:r>
              <a:rPr sz="1000" i="1" spc="-10" dirty="0">
                <a:solidFill>
                  <a:srgbClr val="6E7B7D"/>
                </a:solidFill>
                <a:latin typeface="Arial"/>
                <a:cs typeface="Arial"/>
              </a:rPr>
              <a:t>Sensors</a:t>
            </a:r>
            <a:r>
              <a:rPr sz="1000" spc="-10" dirty="0">
                <a:solidFill>
                  <a:srgbClr val="6E7B7D"/>
                </a:solidFill>
                <a:latin typeface="Arial MT"/>
                <a:cs typeface="Arial MT"/>
              </a:rPr>
              <a:t>, </a:t>
            </a:r>
            <a:r>
              <a:rPr sz="1000" dirty="0">
                <a:solidFill>
                  <a:srgbClr val="6E7B7D"/>
                </a:solidFill>
                <a:latin typeface="Arial MT"/>
                <a:cs typeface="Arial MT"/>
              </a:rPr>
              <a:t>vol.</a:t>
            </a:r>
            <a:r>
              <a:rPr sz="1000" spc="5" dirty="0">
                <a:solidFill>
                  <a:srgbClr val="6E7B7D"/>
                </a:solidFill>
                <a:latin typeface="Arial MT"/>
                <a:cs typeface="Arial MT"/>
              </a:rPr>
              <a:t> </a:t>
            </a:r>
            <a:r>
              <a:rPr sz="1000" spc="-10" dirty="0">
                <a:solidFill>
                  <a:srgbClr val="6E7B7D"/>
                </a:solidFill>
                <a:latin typeface="Arial MT"/>
                <a:cs typeface="Arial MT"/>
              </a:rPr>
              <a:t>25,</a:t>
            </a:r>
            <a:r>
              <a:rPr sz="1000" spc="5" dirty="0">
                <a:solidFill>
                  <a:srgbClr val="6E7B7D"/>
                </a:solidFill>
                <a:latin typeface="Arial MT"/>
                <a:cs typeface="Arial MT"/>
              </a:rPr>
              <a:t> </a:t>
            </a:r>
            <a:r>
              <a:rPr sz="1000" dirty="0">
                <a:solidFill>
                  <a:srgbClr val="6E7B7D"/>
                </a:solidFill>
                <a:latin typeface="Arial MT"/>
                <a:cs typeface="Arial MT"/>
              </a:rPr>
              <a:t>no.</a:t>
            </a:r>
            <a:r>
              <a:rPr sz="1000" spc="5" dirty="0">
                <a:solidFill>
                  <a:srgbClr val="6E7B7D"/>
                </a:solidFill>
                <a:latin typeface="Arial MT"/>
                <a:cs typeface="Arial MT"/>
              </a:rPr>
              <a:t> </a:t>
            </a:r>
            <a:r>
              <a:rPr sz="1000" dirty="0">
                <a:solidFill>
                  <a:srgbClr val="6E7B7D"/>
                </a:solidFill>
                <a:latin typeface="Arial MT"/>
                <a:cs typeface="Arial MT"/>
              </a:rPr>
              <a:t>3,</a:t>
            </a:r>
            <a:r>
              <a:rPr sz="1000" spc="10" dirty="0">
                <a:solidFill>
                  <a:srgbClr val="6E7B7D"/>
                </a:solidFill>
                <a:latin typeface="Arial MT"/>
                <a:cs typeface="Arial MT"/>
              </a:rPr>
              <a:t> </a:t>
            </a:r>
            <a:r>
              <a:rPr sz="1000" spc="-35" dirty="0">
                <a:solidFill>
                  <a:srgbClr val="6E7B7D"/>
                </a:solidFill>
                <a:latin typeface="Arial MT"/>
                <a:cs typeface="Arial MT"/>
              </a:rPr>
              <a:t>2025,</a:t>
            </a:r>
            <a:r>
              <a:rPr sz="1000" spc="5" dirty="0">
                <a:solidFill>
                  <a:srgbClr val="6E7B7D"/>
                </a:solidFill>
                <a:latin typeface="Arial MT"/>
                <a:cs typeface="Arial MT"/>
              </a:rPr>
              <a:t> </a:t>
            </a:r>
            <a:r>
              <a:rPr sz="1000" dirty="0">
                <a:solidFill>
                  <a:srgbClr val="6E7B7D"/>
                </a:solidFill>
                <a:latin typeface="Cambria"/>
                <a:cs typeface="Cambria"/>
              </a:rPr>
              <a:t>issn</a:t>
            </a:r>
            <a:r>
              <a:rPr sz="1000" dirty="0">
                <a:solidFill>
                  <a:srgbClr val="6E7B7D"/>
                </a:solidFill>
                <a:latin typeface="Arial MT"/>
                <a:cs typeface="Arial MT"/>
              </a:rPr>
              <a:t>:</a:t>
            </a:r>
            <a:r>
              <a:rPr sz="1000" spc="5" dirty="0">
                <a:solidFill>
                  <a:srgbClr val="6E7B7D"/>
                </a:solidFill>
                <a:latin typeface="Arial MT"/>
                <a:cs typeface="Arial MT"/>
              </a:rPr>
              <a:t> </a:t>
            </a:r>
            <a:r>
              <a:rPr sz="1000" spc="-45" dirty="0">
                <a:solidFill>
                  <a:srgbClr val="6E7B7D"/>
                </a:solidFill>
                <a:latin typeface="Arial MT"/>
                <a:cs typeface="Arial MT"/>
              </a:rPr>
              <a:t>14248220.</a:t>
            </a:r>
            <a:r>
              <a:rPr sz="1000" spc="10" dirty="0">
                <a:solidFill>
                  <a:srgbClr val="6E7B7D"/>
                </a:solidFill>
                <a:latin typeface="Arial MT"/>
                <a:cs typeface="Arial MT"/>
              </a:rPr>
              <a:t> </a:t>
            </a:r>
            <a:r>
              <a:rPr sz="1000" spc="50" dirty="0">
                <a:solidFill>
                  <a:srgbClr val="6E7B7D"/>
                </a:solidFill>
                <a:latin typeface="Cambria"/>
                <a:cs typeface="Cambria"/>
              </a:rPr>
              <a:t>doi</a:t>
            </a:r>
            <a:r>
              <a:rPr sz="1000" spc="50" dirty="0">
                <a:solidFill>
                  <a:srgbClr val="6E7B7D"/>
                </a:solidFill>
                <a:latin typeface="Arial MT"/>
                <a:cs typeface="Arial MT"/>
              </a:rPr>
              <a:t>:</a:t>
            </a:r>
            <a:r>
              <a:rPr sz="1000" spc="5" dirty="0">
                <a:solidFill>
                  <a:srgbClr val="6E7B7D"/>
                </a:solidFill>
                <a:latin typeface="Arial MT"/>
                <a:cs typeface="Arial MT"/>
              </a:rPr>
              <a:t> </a:t>
            </a:r>
            <a:r>
              <a:rPr sz="1000" spc="-10" dirty="0">
                <a:solidFill>
                  <a:srgbClr val="6E7B7D"/>
                </a:solidFill>
                <a:latin typeface="Cambria"/>
                <a:cs typeface="Cambria"/>
                <a:hlinkClick r:id="rId6"/>
              </a:rPr>
              <a:t>10.3390/s25030870</a:t>
            </a:r>
            <a:r>
              <a:rPr sz="1000" spc="-10" dirty="0">
                <a:solidFill>
                  <a:srgbClr val="6E7B7D"/>
                </a:solidFill>
                <a:latin typeface="Arial MT"/>
                <a:cs typeface="Arial MT"/>
              </a:rPr>
              <a:t>.</a:t>
            </a:r>
            <a:endParaRPr sz="1000">
              <a:latin typeface="Arial MT"/>
              <a:cs typeface="Arial MT"/>
            </a:endParaRPr>
          </a:p>
          <a:p>
            <a:pPr marL="12700" marR="97790">
              <a:lnSpc>
                <a:spcPct val="84100"/>
              </a:lnSpc>
              <a:spcBef>
                <a:spcPts val="235"/>
              </a:spcBef>
            </a:pPr>
            <a:r>
              <a:rPr sz="1100" dirty="0">
                <a:solidFill>
                  <a:srgbClr val="22373A"/>
                </a:solidFill>
                <a:latin typeface="Arial MT"/>
                <a:cs typeface="Arial MT"/>
              </a:rPr>
              <a:t>W.</a:t>
            </a:r>
            <a:r>
              <a:rPr sz="1100" spc="-15" dirty="0">
                <a:solidFill>
                  <a:srgbClr val="22373A"/>
                </a:solidFill>
                <a:latin typeface="Arial MT"/>
                <a:cs typeface="Arial MT"/>
              </a:rPr>
              <a:t> </a:t>
            </a:r>
            <a:r>
              <a:rPr sz="1100" spc="-35" dirty="0">
                <a:solidFill>
                  <a:srgbClr val="22373A"/>
                </a:solidFill>
                <a:latin typeface="Arial MT"/>
                <a:cs typeface="Arial MT"/>
              </a:rPr>
              <a:t>Qiao</a:t>
            </a:r>
            <a:r>
              <a:rPr sz="1100" dirty="0">
                <a:solidFill>
                  <a:srgbClr val="22373A"/>
                </a:solidFill>
                <a:latin typeface="Arial MT"/>
                <a:cs typeface="Arial MT"/>
              </a:rPr>
              <a:t> et</a:t>
            </a:r>
            <a:r>
              <a:rPr sz="1100" spc="5" dirty="0">
                <a:solidFill>
                  <a:srgbClr val="22373A"/>
                </a:solidFill>
                <a:latin typeface="Arial MT"/>
                <a:cs typeface="Arial MT"/>
              </a:rPr>
              <a:t> </a:t>
            </a:r>
            <a:r>
              <a:rPr sz="1100" dirty="0">
                <a:solidFill>
                  <a:srgbClr val="22373A"/>
                </a:solidFill>
                <a:latin typeface="Arial MT"/>
                <a:cs typeface="Arial MT"/>
              </a:rPr>
              <a:t>al.,</a:t>
            </a:r>
            <a:r>
              <a:rPr sz="1100" spc="30" dirty="0">
                <a:solidFill>
                  <a:srgbClr val="22373A"/>
                </a:solidFill>
                <a:latin typeface="Arial MT"/>
                <a:cs typeface="Arial MT"/>
              </a:rPr>
              <a:t> </a:t>
            </a:r>
            <a:r>
              <a:rPr sz="1100" b="1" spc="-160" dirty="0">
                <a:solidFill>
                  <a:srgbClr val="22373A"/>
                </a:solidFill>
                <a:latin typeface="Arial"/>
                <a:cs typeface="Arial"/>
              </a:rPr>
              <a:t>“</a:t>
            </a:r>
            <a:r>
              <a:rPr sz="1100" b="1" spc="-204" dirty="0">
                <a:solidFill>
                  <a:srgbClr val="22373A"/>
                </a:solidFill>
                <a:latin typeface="Arial"/>
                <a:cs typeface="Arial"/>
              </a:rPr>
              <a:t> </a:t>
            </a:r>
            <a:r>
              <a:rPr sz="1100" b="1" spc="-60" dirty="0">
                <a:solidFill>
                  <a:srgbClr val="22373A"/>
                </a:solidFill>
                <a:latin typeface="Arial"/>
                <a:cs typeface="Arial"/>
              </a:rPr>
              <a:t>SauronEyes:</a:t>
            </a:r>
            <a:r>
              <a:rPr sz="1100" b="1" spc="30" dirty="0">
                <a:solidFill>
                  <a:srgbClr val="22373A"/>
                </a:solidFill>
                <a:latin typeface="Arial"/>
                <a:cs typeface="Arial"/>
              </a:rPr>
              <a:t> </a:t>
            </a:r>
            <a:r>
              <a:rPr sz="1100" b="1" spc="-40" dirty="0">
                <a:solidFill>
                  <a:srgbClr val="22373A"/>
                </a:solidFill>
                <a:latin typeface="Arial"/>
                <a:cs typeface="Arial"/>
              </a:rPr>
              <a:t>Disentangling</a:t>
            </a:r>
            <a:r>
              <a:rPr sz="1100" b="1" spc="35" dirty="0">
                <a:solidFill>
                  <a:srgbClr val="22373A"/>
                </a:solidFill>
                <a:latin typeface="Arial"/>
                <a:cs typeface="Arial"/>
              </a:rPr>
              <a:t> </a:t>
            </a:r>
            <a:r>
              <a:rPr sz="1100" b="1" spc="-50" dirty="0">
                <a:solidFill>
                  <a:srgbClr val="22373A"/>
                </a:solidFill>
                <a:latin typeface="Arial"/>
                <a:cs typeface="Arial"/>
              </a:rPr>
              <a:t>Voluminous</a:t>
            </a:r>
            <a:r>
              <a:rPr sz="1100" b="1" spc="35" dirty="0">
                <a:solidFill>
                  <a:srgbClr val="22373A"/>
                </a:solidFill>
                <a:latin typeface="Arial"/>
                <a:cs typeface="Arial"/>
              </a:rPr>
              <a:t> </a:t>
            </a:r>
            <a:r>
              <a:rPr sz="1100" b="1" spc="-60" dirty="0">
                <a:solidFill>
                  <a:srgbClr val="22373A"/>
                </a:solidFill>
                <a:latin typeface="Arial"/>
                <a:cs typeface="Arial"/>
              </a:rPr>
              <a:t>Logs</a:t>
            </a:r>
            <a:r>
              <a:rPr sz="1100" b="1" spc="35" dirty="0">
                <a:solidFill>
                  <a:srgbClr val="22373A"/>
                </a:solidFill>
                <a:latin typeface="Arial"/>
                <a:cs typeface="Arial"/>
              </a:rPr>
              <a:t> </a:t>
            </a:r>
            <a:r>
              <a:rPr sz="1100" b="1" dirty="0">
                <a:solidFill>
                  <a:srgbClr val="22373A"/>
                </a:solidFill>
                <a:latin typeface="Arial"/>
                <a:cs typeface="Arial"/>
              </a:rPr>
              <a:t>to</a:t>
            </a:r>
            <a:r>
              <a:rPr sz="1100" b="1" spc="30" dirty="0">
                <a:solidFill>
                  <a:srgbClr val="22373A"/>
                </a:solidFill>
                <a:latin typeface="Arial"/>
                <a:cs typeface="Arial"/>
              </a:rPr>
              <a:t> </a:t>
            </a:r>
            <a:r>
              <a:rPr sz="1100" b="1" spc="-10" dirty="0">
                <a:solidFill>
                  <a:srgbClr val="22373A"/>
                </a:solidFill>
                <a:latin typeface="Arial"/>
                <a:cs typeface="Arial"/>
              </a:rPr>
              <a:t>Unveil </a:t>
            </a:r>
            <a:r>
              <a:rPr sz="1100" b="1" spc="-40" dirty="0">
                <a:solidFill>
                  <a:srgbClr val="22373A"/>
                </a:solidFill>
                <a:latin typeface="Arial"/>
                <a:cs typeface="Arial"/>
              </a:rPr>
              <a:t>Camouflaged</a:t>
            </a:r>
            <a:r>
              <a:rPr sz="1100" b="1" spc="25" dirty="0">
                <a:solidFill>
                  <a:srgbClr val="22373A"/>
                </a:solidFill>
                <a:latin typeface="Arial"/>
                <a:cs typeface="Arial"/>
              </a:rPr>
              <a:t> </a:t>
            </a:r>
            <a:r>
              <a:rPr sz="1100" b="1" dirty="0">
                <a:solidFill>
                  <a:srgbClr val="22373A"/>
                </a:solidFill>
                <a:latin typeface="Arial"/>
                <a:cs typeface="Arial"/>
              </a:rPr>
              <a:t>Attack</a:t>
            </a:r>
            <a:r>
              <a:rPr sz="1100" b="1" spc="35" dirty="0">
                <a:solidFill>
                  <a:srgbClr val="22373A"/>
                </a:solidFill>
                <a:latin typeface="Arial"/>
                <a:cs typeface="Arial"/>
              </a:rPr>
              <a:t> </a:t>
            </a:r>
            <a:r>
              <a:rPr sz="1100" b="1" spc="-30" dirty="0">
                <a:solidFill>
                  <a:srgbClr val="22373A"/>
                </a:solidFill>
                <a:latin typeface="Arial"/>
                <a:cs typeface="Arial"/>
              </a:rPr>
              <a:t>Intentions,”</a:t>
            </a:r>
            <a:r>
              <a:rPr sz="1100" b="1" spc="55" dirty="0">
                <a:solidFill>
                  <a:srgbClr val="22373A"/>
                </a:solidFill>
                <a:latin typeface="Arial"/>
                <a:cs typeface="Arial"/>
              </a:rPr>
              <a:t> </a:t>
            </a:r>
            <a:r>
              <a:rPr sz="1000" i="1" spc="-30" dirty="0">
                <a:solidFill>
                  <a:srgbClr val="6E7B7D"/>
                </a:solidFill>
                <a:latin typeface="Arial"/>
                <a:cs typeface="Arial"/>
              </a:rPr>
              <a:t>IEEE</a:t>
            </a:r>
            <a:r>
              <a:rPr sz="1000" i="1" spc="5" dirty="0">
                <a:solidFill>
                  <a:srgbClr val="6E7B7D"/>
                </a:solidFill>
                <a:latin typeface="Arial"/>
                <a:cs typeface="Arial"/>
              </a:rPr>
              <a:t> </a:t>
            </a:r>
            <a:r>
              <a:rPr sz="1000" i="1" spc="-40" dirty="0">
                <a:solidFill>
                  <a:srgbClr val="6E7B7D"/>
                </a:solidFill>
                <a:latin typeface="Arial"/>
                <a:cs typeface="Arial"/>
              </a:rPr>
              <a:t>Transactions</a:t>
            </a:r>
            <a:r>
              <a:rPr sz="1000" i="1" spc="5" dirty="0">
                <a:solidFill>
                  <a:srgbClr val="6E7B7D"/>
                </a:solidFill>
                <a:latin typeface="Arial"/>
                <a:cs typeface="Arial"/>
              </a:rPr>
              <a:t> </a:t>
            </a:r>
            <a:r>
              <a:rPr sz="1000" i="1" dirty="0">
                <a:solidFill>
                  <a:srgbClr val="6E7B7D"/>
                </a:solidFill>
                <a:latin typeface="Arial"/>
                <a:cs typeface="Arial"/>
              </a:rPr>
              <a:t>on </a:t>
            </a:r>
            <a:r>
              <a:rPr sz="1000" i="1" spc="-20" dirty="0">
                <a:solidFill>
                  <a:srgbClr val="6E7B7D"/>
                </a:solidFill>
                <a:latin typeface="Arial"/>
                <a:cs typeface="Arial"/>
              </a:rPr>
              <a:t>Information</a:t>
            </a:r>
            <a:r>
              <a:rPr sz="1000" i="1" dirty="0">
                <a:solidFill>
                  <a:srgbClr val="6E7B7D"/>
                </a:solidFill>
                <a:latin typeface="Arial"/>
                <a:cs typeface="Arial"/>
              </a:rPr>
              <a:t> </a:t>
            </a:r>
            <a:r>
              <a:rPr sz="1000" i="1" spc="-70" dirty="0">
                <a:solidFill>
                  <a:srgbClr val="6E7B7D"/>
                </a:solidFill>
                <a:latin typeface="Arial"/>
                <a:cs typeface="Arial"/>
              </a:rPr>
              <a:t>Forensics</a:t>
            </a:r>
            <a:r>
              <a:rPr sz="1000" i="1" dirty="0">
                <a:solidFill>
                  <a:srgbClr val="6E7B7D"/>
                </a:solidFill>
                <a:latin typeface="Arial"/>
                <a:cs typeface="Arial"/>
              </a:rPr>
              <a:t> </a:t>
            </a:r>
            <a:r>
              <a:rPr sz="1000" i="1" spc="-25" dirty="0">
                <a:solidFill>
                  <a:srgbClr val="6E7B7D"/>
                </a:solidFill>
                <a:latin typeface="Arial"/>
                <a:cs typeface="Arial"/>
              </a:rPr>
              <a:t>and Security</a:t>
            </a:r>
            <a:r>
              <a:rPr sz="1000" spc="-25" dirty="0">
                <a:solidFill>
                  <a:srgbClr val="6E7B7D"/>
                </a:solidFill>
                <a:latin typeface="Arial MT"/>
                <a:cs typeface="Arial MT"/>
              </a:rPr>
              <a:t>,</a:t>
            </a:r>
            <a:r>
              <a:rPr sz="1000" spc="10" dirty="0">
                <a:solidFill>
                  <a:srgbClr val="6E7B7D"/>
                </a:solidFill>
                <a:latin typeface="Arial MT"/>
                <a:cs typeface="Arial MT"/>
              </a:rPr>
              <a:t> </a:t>
            </a:r>
            <a:r>
              <a:rPr sz="1000" dirty="0">
                <a:solidFill>
                  <a:srgbClr val="6E7B7D"/>
                </a:solidFill>
                <a:latin typeface="Arial MT"/>
                <a:cs typeface="Arial MT"/>
              </a:rPr>
              <a:t>vol.</a:t>
            </a:r>
            <a:r>
              <a:rPr sz="1000" spc="15" dirty="0">
                <a:solidFill>
                  <a:srgbClr val="6E7B7D"/>
                </a:solidFill>
                <a:latin typeface="Arial MT"/>
                <a:cs typeface="Arial MT"/>
              </a:rPr>
              <a:t> </a:t>
            </a:r>
            <a:r>
              <a:rPr sz="1000" spc="-10" dirty="0">
                <a:solidFill>
                  <a:srgbClr val="6E7B7D"/>
                </a:solidFill>
                <a:latin typeface="Arial MT"/>
                <a:cs typeface="Arial MT"/>
              </a:rPr>
              <a:t>20,</a:t>
            </a:r>
            <a:r>
              <a:rPr sz="1000" spc="10" dirty="0">
                <a:solidFill>
                  <a:srgbClr val="6E7B7D"/>
                </a:solidFill>
                <a:latin typeface="Arial MT"/>
                <a:cs typeface="Arial MT"/>
              </a:rPr>
              <a:t> </a:t>
            </a:r>
            <a:r>
              <a:rPr sz="1000" spc="-35" dirty="0">
                <a:solidFill>
                  <a:srgbClr val="6E7B7D"/>
                </a:solidFill>
                <a:latin typeface="Arial MT"/>
                <a:cs typeface="Arial MT"/>
              </a:rPr>
              <a:t>2025,</a:t>
            </a:r>
            <a:r>
              <a:rPr sz="1000" spc="15" dirty="0">
                <a:solidFill>
                  <a:srgbClr val="6E7B7D"/>
                </a:solidFill>
                <a:latin typeface="Arial MT"/>
                <a:cs typeface="Arial MT"/>
              </a:rPr>
              <a:t> </a:t>
            </a:r>
            <a:r>
              <a:rPr sz="1000" dirty="0">
                <a:solidFill>
                  <a:srgbClr val="6E7B7D"/>
                </a:solidFill>
                <a:latin typeface="Cambria"/>
                <a:cs typeface="Cambria"/>
              </a:rPr>
              <a:t>issn</a:t>
            </a:r>
            <a:r>
              <a:rPr sz="1000" dirty="0">
                <a:solidFill>
                  <a:srgbClr val="6E7B7D"/>
                </a:solidFill>
                <a:latin typeface="Arial MT"/>
                <a:cs typeface="Arial MT"/>
              </a:rPr>
              <a:t>:</a:t>
            </a:r>
            <a:r>
              <a:rPr sz="1000" spc="10" dirty="0">
                <a:solidFill>
                  <a:srgbClr val="6E7B7D"/>
                </a:solidFill>
                <a:latin typeface="Arial MT"/>
                <a:cs typeface="Arial MT"/>
              </a:rPr>
              <a:t> </a:t>
            </a:r>
            <a:r>
              <a:rPr sz="1000" spc="-45" dirty="0">
                <a:solidFill>
                  <a:srgbClr val="6E7B7D"/>
                </a:solidFill>
                <a:latin typeface="Arial MT"/>
                <a:cs typeface="Arial MT"/>
              </a:rPr>
              <a:t>15566021.</a:t>
            </a:r>
            <a:r>
              <a:rPr sz="1000" spc="15" dirty="0">
                <a:solidFill>
                  <a:srgbClr val="6E7B7D"/>
                </a:solidFill>
                <a:latin typeface="Arial MT"/>
                <a:cs typeface="Arial MT"/>
              </a:rPr>
              <a:t> </a:t>
            </a:r>
            <a:r>
              <a:rPr sz="1000" spc="50" dirty="0">
                <a:solidFill>
                  <a:srgbClr val="6E7B7D"/>
                </a:solidFill>
                <a:latin typeface="Cambria"/>
                <a:cs typeface="Cambria"/>
              </a:rPr>
              <a:t>doi</a:t>
            </a:r>
            <a:r>
              <a:rPr sz="1000" spc="50" dirty="0">
                <a:solidFill>
                  <a:srgbClr val="6E7B7D"/>
                </a:solidFill>
                <a:latin typeface="Arial MT"/>
                <a:cs typeface="Arial MT"/>
              </a:rPr>
              <a:t>:</a:t>
            </a:r>
            <a:r>
              <a:rPr sz="1000" spc="15" dirty="0">
                <a:solidFill>
                  <a:srgbClr val="6E7B7D"/>
                </a:solidFill>
                <a:latin typeface="Arial MT"/>
                <a:cs typeface="Arial MT"/>
              </a:rPr>
              <a:t> </a:t>
            </a:r>
            <a:r>
              <a:rPr sz="1000" spc="-10" dirty="0">
                <a:solidFill>
                  <a:srgbClr val="6E7B7D"/>
                </a:solidFill>
                <a:latin typeface="Cambria"/>
                <a:cs typeface="Cambria"/>
                <a:hlinkClick r:id="rId7"/>
              </a:rPr>
              <a:t>10.1109/TIFS.2025.3618381</a:t>
            </a:r>
            <a:r>
              <a:rPr sz="1000" spc="-10" dirty="0">
                <a:solidFill>
                  <a:srgbClr val="6E7B7D"/>
                </a:solidFill>
                <a:latin typeface="Arial MT"/>
                <a:cs typeface="Arial MT"/>
              </a:rPr>
              <a:t>.</a:t>
            </a:r>
            <a:endParaRPr sz="1000">
              <a:latin typeface="Arial MT"/>
              <a:cs typeface="Arial MT"/>
            </a:endParaRPr>
          </a:p>
        </p:txBody>
      </p:sp>
      <p:pic>
        <p:nvPicPr>
          <p:cNvPr id="12" name="object 12"/>
          <p:cNvPicPr/>
          <p:nvPr/>
        </p:nvPicPr>
        <p:blipFill>
          <a:blip r:embed="rId8" cstate="print"/>
          <a:stretch>
            <a:fillRect/>
          </a:stretch>
        </p:blipFill>
        <p:spPr>
          <a:xfrm>
            <a:off x="101282" y="2998905"/>
            <a:ext cx="241983" cy="187117"/>
          </a:xfrm>
          <a:prstGeom prst="rect">
            <a:avLst/>
          </a:prstGeom>
        </p:spPr>
      </p:pic>
      <p:pic>
        <p:nvPicPr>
          <p:cNvPr id="13" name="object 13"/>
          <p:cNvPicPr/>
          <p:nvPr/>
        </p:nvPicPr>
        <p:blipFill>
          <a:blip r:embed="rId9" cstate="print"/>
          <a:stretch>
            <a:fillRect/>
          </a:stretch>
        </p:blipFill>
        <p:spPr>
          <a:xfrm>
            <a:off x="433285" y="2998965"/>
            <a:ext cx="187057" cy="187057"/>
          </a:xfrm>
          <a:prstGeom prst="rect">
            <a:avLst/>
          </a:prstGeom>
        </p:spPr>
      </p:pic>
      <p:pic>
        <p:nvPicPr>
          <p:cNvPr id="14" name="object 14"/>
          <p:cNvPicPr/>
          <p:nvPr/>
        </p:nvPicPr>
        <p:blipFill>
          <a:blip r:embed="rId10" cstate="print"/>
          <a:stretch>
            <a:fillRect/>
          </a:stretch>
        </p:blipFill>
        <p:spPr>
          <a:xfrm>
            <a:off x="710349" y="2998815"/>
            <a:ext cx="187208" cy="187208"/>
          </a:xfrm>
          <a:prstGeom prst="rect">
            <a:avLst/>
          </a:prstGeom>
        </p:spPr>
      </p:pic>
      <p:sp>
        <p:nvSpPr>
          <p:cNvPr id="15" name="object 15"/>
          <p:cNvSpPr txBox="1"/>
          <p:nvPr/>
        </p:nvSpPr>
        <p:spPr>
          <a:xfrm>
            <a:off x="5307723" y="3024750"/>
            <a:ext cx="330200" cy="150495"/>
          </a:xfrm>
          <a:prstGeom prst="rect">
            <a:avLst/>
          </a:prstGeom>
        </p:spPr>
        <p:txBody>
          <a:bodyPr vert="horz" wrap="square" lIns="0" tIns="3175" rIns="0" bIns="0" rtlCol="0">
            <a:spAutoFit/>
          </a:bodyPr>
          <a:lstStyle/>
          <a:p>
            <a:pPr marL="12700">
              <a:lnSpc>
                <a:spcPct val="100000"/>
              </a:lnSpc>
              <a:spcBef>
                <a:spcPts val="25"/>
              </a:spcBef>
            </a:pPr>
            <a:r>
              <a:rPr sz="800" spc="-35" dirty="0">
                <a:solidFill>
                  <a:srgbClr val="6C6C6C"/>
                </a:solidFill>
                <a:latin typeface="Arial MT"/>
                <a:cs typeface="Arial MT"/>
              </a:rPr>
              <a:t>32</a:t>
            </a:r>
            <a:r>
              <a:rPr sz="800" spc="-80" dirty="0">
                <a:solidFill>
                  <a:srgbClr val="6C6C6C"/>
                </a:solidFill>
                <a:latin typeface="Arial MT"/>
                <a:cs typeface="Arial MT"/>
              </a:rPr>
              <a:t> </a:t>
            </a:r>
            <a:r>
              <a:rPr sz="800" spc="195" dirty="0">
                <a:solidFill>
                  <a:srgbClr val="6C6C6C"/>
                </a:solidFill>
                <a:latin typeface="Arial MT"/>
                <a:cs typeface="Arial MT"/>
              </a:rPr>
              <a:t>/</a:t>
            </a:r>
            <a:r>
              <a:rPr sz="800" spc="-75" dirty="0">
                <a:solidFill>
                  <a:srgbClr val="6C6C6C"/>
                </a:solidFill>
                <a:latin typeface="Arial MT"/>
                <a:cs typeface="Arial MT"/>
              </a:rPr>
              <a:t> </a:t>
            </a:r>
            <a:r>
              <a:rPr sz="800" spc="-25" dirty="0">
                <a:solidFill>
                  <a:srgbClr val="6C6C6C"/>
                </a:solidFill>
                <a:latin typeface="Arial MT"/>
                <a:cs typeface="Arial MT"/>
              </a:rPr>
              <a:t>32</a:t>
            </a:r>
            <a:endParaRPr sz="800">
              <a:latin typeface="Arial MT"/>
              <a:cs typeface="Arial MT"/>
            </a:endParaRPr>
          </a:p>
        </p:txBody>
      </p:sp>
    </p:spTree>
  </p:cSld>
  <p:clrMapOvr>
    <a:masterClrMapping/>
  </p:clrMapOvr>
  <p:transition>
    <p:cut/>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5760085" cy="3240405"/>
          </a:xfrm>
          <a:custGeom>
            <a:avLst/>
            <a:gdLst/>
            <a:ahLst/>
            <a:cxnLst/>
            <a:rect l="l" t="t" r="r" b="b"/>
            <a:pathLst>
              <a:path w="5760085" h="3240405">
                <a:moveTo>
                  <a:pt x="5759996" y="0"/>
                </a:moveTo>
                <a:lnTo>
                  <a:pt x="0" y="0"/>
                </a:lnTo>
                <a:lnTo>
                  <a:pt x="0" y="3239998"/>
                </a:lnTo>
                <a:lnTo>
                  <a:pt x="5759996" y="3239998"/>
                </a:lnTo>
                <a:lnTo>
                  <a:pt x="5759996" y="0"/>
                </a:lnTo>
                <a:close/>
              </a:path>
            </a:pathLst>
          </a:custGeom>
          <a:solidFill>
            <a:srgbClr val="22373A"/>
          </a:solidFill>
        </p:spPr>
        <p:txBody>
          <a:bodyPr wrap="square" lIns="0" tIns="0" rIns="0" bIns="0" rtlCol="0"/>
          <a:lstStyle/>
          <a:p>
            <a:endParaRPr/>
          </a:p>
        </p:txBody>
      </p:sp>
      <p:sp>
        <p:nvSpPr>
          <p:cNvPr id="3" name="object 3"/>
          <p:cNvSpPr txBox="1"/>
          <p:nvPr/>
        </p:nvSpPr>
        <p:spPr>
          <a:xfrm>
            <a:off x="2401671" y="1392501"/>
            <a:ext cx="956944" cy="244475"/>
          </a:xfrm>
          <a:prstGeom prst="rect">
            <a:avLst/>
          </a:prstGeom>
        </p:spPr>
        <p:txBody>
          <a:bodyPr vert="horz" wrap="square" lIns="0" tIns="17145" rIns="0" bIns="0" rtlCol="0">
            <a:spAutoFit/>
          </a:bodyPr>
          <a:lstStyle/>
          <a:p>
            <a:pPr marL="12700">
              <a:lnSpc>
                <a:spcPct val="100000"/>
              </a:lnSpc>
              <a:spcBef>
                <a:spcPts val="135"/>
              </a:spcBef>
            </a:pPr>
            <a:r>
              <a:rPr sz="1400" b="1" spc="50" dirty="0">
                <a:solidFill>
                  <a:srgbClr val="F9F9F9"/>
                </a:solidFill>
                <a:latin typeface="Arial"/>
                <a:cs typeface="Arial"/>
              </a:rPr>
              <a:t>Thank</a:t>
            </a:r>
            <a:r>
              <a:rPr sz="1400" b="1" spc="175" dirty="0">
                <a:solidFill>
                  <a:srgbClr val="F9F9F9"/>
                </a:solidFill>
                <a:latin typeface="Arial"/>
                <a:cs typeface="Arial"/>
              </a:rPr>
              <a:t> </a:t>
            </a:r>
            <a:r>
              <a:rPr sz="1400" b="1" spc="-25" dirty="0">
                <a:solidFill>
                  <a:srgbClr val="F9F9F9"/>
                </a:solidFill>
                <a:latin typeface="Arial"/>
                <a:cs typeface="Arial"/>
              </a:rPr>
              <a:t>you</a:t>
            </a:r>
            <a:endParaRPr sz="1400">
              <a:latin typeface="Arial"/>
              <a:cs typeface="Arial"/>
            </a:endParaRPr>
          </a:p>
        </p:txBody>
      </p:sp>
      <p:pic>
        <p:nvPicPr>
          <p:cNvPr id="4" name="object 4"/>
          <p:cNvPicPr/>
          <p:nvPr/>
        </p:nvPicPr>
        <p:blipFill>
          <a:blip r:embed="rId3" cstate="print"/>
          <a:stretch>
            <a:fillRect/>
          </a:stretch>
        </p:blipFill>
        <p:spPr>
          <a:xfrm>
            <a:off x="101282" y="2998905"/>
            <a:ext cx="241983" cy="187117"/>
          </a:xfrm>
          <a:prstGeom prst="rect">
            <a:avLst/>
          </a:prstGeom>
        </p:spPr>
      </p:pic>
      <p:pic>
        <p:nvPicPr>
          <p:cNvPr id="5" name="object 5"/>
          <p:cNvPicPr/>
          <p:nvPr/>
        </p:nvPicPr>
        <p:blipFill>
          <a:blip r:embed="rId4" cstate="print"/>
          <a:stretch>
            <a:fillRect/>
          </a:stretch>
        </p:blipFill>
        <p:spPr>
          <a:xfrm>
            <a:off x="433285" y="2998965"/>
            <a:ext cx="187057" cy="187057"/>
          </a:xfrm>
          <a:prstGeom prst="rect">
            <a:avLst/>
          </a:prstGeom>
        </p:spPr>
      </p:pic>
      <p:pic>
        <p:nvPicPr>
          <p:cNvPr id="6" name="object 6"/>
          <p:cNvPicPr/>
          <p:nvPr/>
        </p:nvPicPr>
        <p:blipFill>
          <a:blip r:embed="rId5" cstate="print"/>
          <a:stretch>
            <a:fillRect/>
          </a:stretch>
        </p:blipFill>
        <p:spPr>
          <a:xfrm>
            <a:off x="710349" y="2998815"/>
            <a:ext cx="187208" cy="187208"/>
          </a:xfrm>
          <a:prstGeom prst="rect">
            <a:avLst/>
          </a:prstGeom>
        </p:spPr>
      </p:pic>
      <p:sp>
        <p:nvSpPr>
          <p:cNvPr id="7" name="object 7"/>
          <p:cNvSpPr txBox="1"/>
          <p:nvPr/>
        </p:nvSpPr>
        <p:spPr>
          <a:xfrm>
            <a:off x="5307723" y="3024750"/>
            <a:ext cx="330200" cy="150495"/>
          </a:xfrm>
          <a:prstGeom prst="rect">
            <a:avLst/>
          </a:prstGeom>
        </p:spPr>
        <p:txBody>
          <a:bodyPr vert="horz" wrap="square" lIns="0" tIns="3175" rIns="0" bIns="0" rtlCol="0">
            <a:spAutoFit/>
          </a:bodyPr>
          <a:lstStyle/>
          <a:p>
            <a:pPr marL="12700">
              <a:lnSpc>
                <a:spcPct val="100000"/>
              </a:lnSpc>
              <a:spcBef>
                <a:spcPts val="25"/>
              </a:spcBef>
            </a:pPr>
            <a:r>
              <a:rPr sz="800" spc="-35" dirty="0">
                <a:solidFill>
                  <a:srgbClr val="6C6C6C"/>
                </a:solidFill>
                <a:latin typeface="Arial MT"/>
                <a:cs typeface="Arial MT"/>
              </a:rPr>
              <a:t>32</a:t>
            </a:r>
            <a:r>
              <a:rPr sz="800" spc="-80" dirty="0">
                <a:solidFill>
                  <a:srgbClr val="6C6C6C"/>
                </a:solidFill>
                <a:latin typeface="Arial MT"/>
                <a:cs typeface="Arial MT"/>
              </a:rPr>
              <a:t> </a:t>
            </a:r>
            <a:r>
              <a:rPr sz="800" spc="195" dirty="0">
                <a:solidFill>
                  <a:srgbClr val="6C6C6C"/>
                </a:solidFill>
                <a:latin typeface="Arial MT"/>
                <a:cs typeface="Arial MT"/>
              </a:rPr>
              <a:t>/</a:t>
            </a:r>
            <a:r>
              <a:rPr sz="800" spc="-75" dirty="0">
                <a:solidFill>
                  <a:srgbClr val="6C6C6C"/>
                </a:solidFill>
                <a:latin typeface="Arial MT"/>
                <a:cs typeface="Arial MT"/>
              </a:rPr>
              <a:t> </a:t>
            </a:r>
            <a:r>
              <a:rPr sz="800" spc="-25" dirty="0">
                <a:solidFill>
                  <a:srgbClr val="6C6C6C"/>
                </a:solidFill>
                <a:latin typeface="Arial MT"/>
                <a:cs typeface="Arial MT"/>
              </a:rPr>
              <a:t>32</a:t>
            </a:r>
            <a:endParaRPr sz="800">
              <a:latin typeface="Arial MT"/>
              <a:cs typeface="Arial MT"/>
            </a:endParaRP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182</TotalTime>
  <Words>5805</Words>
  <Application>Microsoft Office PowerPoint</Application>
  <PresentationFormat>Custom</PresentationFormat>
  <Paragraphs>699</Paragraphs>
  <Slides>32</Slides>
  <Notes>32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Arial MT</vt:lpstr>
      <vt:lpstr>Aptos</vt:lpstr>
      <vt:lpstr>Arial</vt:lpstr>
      <vt:lpstr>Cambria</vt:lpstr>
      <vt:lpstr>Lucida Sans Unicode</vt:lpstr>
      <vt:lpstr>Microsoft Sans Serif</vt:lpstr>
      <vt:lpstr>Microsoft Tai Le</vt:lpstr>
      <vt:lpstr>Times New Roman</vt:lpstr>
      <vt:lpstr>Trebuchet MS</vt:lpstr>
      <vt:lpstr>Office Theme</vt:lpstr>
      <vt:lpstr>From Fragmented Alerts to Actionable Intelligence:</vt:lpstr>
      <vt:lpstr>Contents</vt:lpstr>
      <vt:lpstr>The problem</vt:lpstr>
      <vt:lpstr>Three gaps in existing tools</vt:lpstr>
      <vt:lpstr>Research questions</vt:lpstr>
      <vt:lpstr>The pipeline</vt:lpstr>
      <vt:lpstr>Stage 1: Alerts become sentences</vt:lpstr>
      <vt:lpstr>Stages 2–3: Embed, then group</vt:lpstr>
      <vt:lpstr>Stage 4: Triple extraction</vt:lpstr>
      <vt:lpstr>Stage 5: Knowledge graph, bridged to ATT&amp;CK</vt:lpstr>
      <vt:lpstr>Stages 6–7: Scoped retrieval, structured report</vt:lpstr>
      <vt:lpstr>Datasets</vt:lpstr>
      <vt:lpstr>Models and hardware</vt:lpstr>
      <vt:lpstr>Evaluation</vt:lpstr>
      <vt:lpstr>Reproducibility</vt:lpstr>
      <vt:lpstr>RQ1: Clustering works</vt:lpstr>
      <vt:lpstr>Choosing the clustering threshold</vt:lpstr>
      <vt:lpstr>RQ2: The graph inherits the model’s biases</vt:lpstr>
      <vt:lpstr>Why the coder model reads floods everywhere</vt:lpstr>
      <vt:lpstr>RQ3: Classification results (CIC-IDS)</vt:lpstr>
      <vt:lpstr>The main finding</vt:lpstr>
      <vt:lpstr>Is the graph actually doing the work?</vt:lpstr>
      <vt:lpstr>Is the baseline comparison fair?</vt:lpstr>
      <vt:lpstr>Transfer to host audit logs (DARPA)</vt:lpstr>
      <vt:lpstr>Correctness and grounding can diverge</vt:lpstr>
      <vt:lpstr>Limitations</vt:lpstr>
      <vt:lpstr>Contributions</vt:lpstr>
      <vt:lpstr>Conclusions</vt:lpstr>
      <vt:lpstr>Future work</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Fragmented Alerts to Actionable Intelligence: - Semantic Clustering, Knowledge Graph Construction, and RAG-Based Incident Reporting on SIEM Log Streams</dc:title>
  <dc:creator>Joel Isaria Mwende</dc:creator>
  <cp:lastModifiedBy>MWENDE JOEL ISARIA</cp:lastModifiedBy>
  <cp:revision>6</cp:revision>
  <dcterms:created xsi:type="dcterms:W3CDTF">2026-08-15T10:23:33Z</dcterms:created>
  <dcterms:modified xsi:type="dcterms:W3CDTF">2026-08-15T13:49:25Z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2026-08-15T00:00:00Z</vt:filetime>
  </property>
  <property fmtid="{D5CDD505-2E9C-101B-9397-08002B2CF9AE}" pid="4" name="Creator">
    <vt:lpwstr>LaTeX with Beamer class</vt:lpwstr>
  </property>
  <property fmtid="{D5CDD505-2E9C-101B-9397-08002B2CF9AE}" pid="5" name="LastSaved">
    <vt:filetime>2026-08-15T00:00:00Z</vt:filetime>
  </property>
  <property fmtid="{D5CDD505-2E9C-101B-9397-08002B2CF9AE}" pid="6" name="PTEX.Fullbanner">
    <vt:lpwstr>This is pdfTeX, Version 3.141592653-2.6-1.40.27 (TeX Live 2025) kpathsea version 6.4.1</vt:lpwstr>
  </property>
  <property fmtid="{D5CDD505-2E9C-101B-9397-08002B2CF9AE}" pid="7" name="Producer">
    <vt:lpwstr>pdfTeX-1.40.27</vt:lpwstr>
  </property>
</Properties>
</file>